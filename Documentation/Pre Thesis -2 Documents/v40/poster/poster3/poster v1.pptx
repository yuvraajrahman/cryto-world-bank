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16459200" cx="21945600"/>
  <p:notesSz cx="16459200" cy="21945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iXHg0l7ACrI7H9+qHbCfQTuUzj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05F269-51AF-4428-9D36-CEBA47F052A4}">
  <a:tblStyle styleId="{F805F269-51AF-4428-9D36-CEBA47F052A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1945600" cy="22059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65760" y="80000"/>
            <a:ext cx="21214080" cy="5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None/>
            </a:pPr>
            <a:r>
              <a:rPr b="1" lang="en-US" sz="3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Decentralized Crypto World Bank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665000"/>
            <a:ext cx="2121408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DE6FB"/>
              </a:buClr>
              <a:buSzPts val="1700"/>
              <a:buFont typeface="Arial"/>
              <a:buNone/>
            </a:pPr>
            <a:r>
              <a:rPr i="1" lang="en-US" sz="1700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A Blockchain-Based Banking Platform with AI-Enhanced Security and Assistance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oster/logo_crop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44" y="360800"/>
            <a:ext cx="172152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2227750" y="892525"/>
            <a:ext cx="80001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BRAC University</a:t>
            </a:r>
            <a:b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500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3688325" y="1351650"/>
            <a:ext cx="8000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F2FC"/>
              </a:buClr>
              <a:buSzPts val="1500"/>
              <a:buFont typeface="Calibri"/>
              <a:buNone/>
            </a:pPr>
            <a:r>
              <a:rPr lang="en-US" sz="1800">
                <a:solidFill>
                  <a:srgbClr val="E6F2FC"/>
                </a:solidFill>
                <a:latin typeface="Calibri"/>
                <a:ea typeface="Calibri"/>
                <a:cs typeface="Calibri"/>
                <a:sym typeface="Calibri"/>
              </a:rPr>
              <a:t>Md. Bokhtiar Rahman Juboraz (20301138)  |  Md. Mahir Ahnaf Ahmed (20301083)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6F2FC"/>
              </a:buClr>
              <a:buSzPts val="1500"/>
              <a:buFont typeface="Calibri"/>
              <a:buNone/>
            </a:pPr>
            <a:r>
              <a:rPr lang="en-US" sz="1800">
                <a:solidFill>
                  <a:srgbClr val="E6F2FC"/>
                </a:solidFill>
                <a:latin typeface="Calibri"/>
                <a:ea typeface="Calibri"/>
                <a:cs typeface="Calibri"/>
                <a:sym typeface="Calibri"/>
              </a:rPr>
              <a:t>Supervisor: Mr. Annajiat Alim Rasel, Senior Lecturer, Dept. of CSE, BRAC University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2295960"/>
            <a:ext cx="6309360" cy="1938528"/>
          </a:xfrm>
          <a:prstGeom prst="rect">
            <a:avLst/>
          </a:prstGeom>
          <a:solidFill>
            <a:srgbClr val="DCEE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236911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48640" y="2826312"/>
            <a:ext cx="594360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institutional banking is organized in restrictive layers that limit equal access to financing. Crypto World Bank (CWB) specifies a four-tier, hierarchically-governed DeFi platform — World Bank reserve → National → Local Banks → Clients — mirroring real-world development finance while enforcing reserves, credit allocation, and risk analytics on-chain. Six on-chain banking functions (deposits, credit allocation, settlement, risk intermediation, liquidity management, ancillary services) sit behind a five-layer defense-in-depth security model. AI-driven fraud detection (</a:t>
            </a:r>
            <a:r>
              <a:rPr b="1" lang="en-US" sz="100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Random Forest + Isolation Forest, F1 = 0.891</a:t>
            </a: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and an optional MCP-based conversational agent enhance security and usability, showing a transparent, open-source alternative to flat DeFi lending is achievable.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65760" y="4307640"/>
            <a:ext cx="6309360" cy="5047488"/>
          </a:xfrm>
          <a:prstGeom prst="rect">
            <a:avLst/>
          </a:prstGeom>
          <a:solidFill>
            <a:srgbClr val="C2DD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40" y="438079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4837992"/>
            <a:ext cx="5943600" cy="4462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1.1  Background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Layered institutions (World → National → Local → Client) suffer settlement friction, opaque reserves, and idle correspondent-banking capital; flat DeFi (Aave, Compound, MakerDAO) ignores this hierarchy entirely.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1.2  Rationale / Motivation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Encode institutional hierarchy on a programmable ledger — enforced reserves, role-based governance, auditable capital flow — supporting (not replacing) human credit judgment.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1.3  Problem Statement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Six inefficiencies: low transparency, slow/costly settlement (~$45, 2–5 days), inconsistent risk evaluation, high trust/audit costs, no programmable savings, no on-chain group credit.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1.4  Objectives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Specify a 4-tier EVM lending architecture with an extended banking suite, off-chain ML risk analytics, and an optional conversational agent; deploy and evaluate on testnets.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1.5  Proposed Solution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Four-tier on-chain model (World Bank reserve → National → Local Banks → Clients) enforcing six banking functions on-chain: deposit mobilization, credit allocation, settlement, risk intermediation, liquidity management, ancillary services.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1" lang="en-US" sz="118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1.6  Key Contributions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Novel four-tier + AI/ML combination</a:t>
            </a:r>
            <a:r>
              <a:rPr lang="en-US" sz="10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five on-chain multi-entity mechanisms (interbank pools, upward deposits, syndicated loans, tranched pools, treasury swaps); commit–reveal ML oracle with immutable audit trail; five-layer defense-in-depth security; optional MCP-based conversational agent (Qwen3-8B, 17 banking tools).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65760" y="9428280"/>
            <a:ext cx="6309360" cy="3584448"/>
          </a:xfrm>
          <a:prstGeom prst="rect">
            <a:avLst/>
          </a:prstGeom>
          <a:solidFill>
            <a:srgbClr val="CFE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48640" y="950143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System Requirements Analysis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48640" y="995863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 FR/NFR sets are specified in the report; representative items below.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" name="Google Shape;31;p1"/>
          <p:cNvGraphicFramePr/>
          <p:nvPr/>
        </p:nvGraphicFramePr>
        <p:xfrm>
          <a:off x="548640" y="10296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{F805F269-51AF-4428-9D36-CEBA47F052A4}</a:tableStyleId>
              </a:tblPr>
              <a:tblGrid>
                <a:gridCol w="1188725"/>
                <a:gridCol w="685800"/>
                <a:gridCol w="4069075"/>
              </a:tblGrid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Four-tier hierarchy: World→National→Local→Client, role-gated capital allocation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 lifecycle: request → ML score → approval → disbursement → repayment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Non-Functional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NFR-01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Performance: ML inference ≤50ms; API p95 ≤500ms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Non-Functional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NFR-02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Security: RBAC, ReentrancyGuard, human approver gate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FR-03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Multi-entity ops: InterBankLendingPool, UpwardDepositFacility, SyndicatedLoan, TranchedPool, TreasurySwap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Google Shape;32;p1"/>
          <p:cNvSpPr/>
          <p:nvPr/>
        </p:nvSpPr>
        <p:spPr>
          <a:xfrm>
            <a:off x="365760" y="13085880"/>
            <a:ext cx="6309360" cy="3264408"/>
          </a:xfrm>
          <a:prstGeom prst="rect">
            <a:avLst/>
          </a:prstGeom>
          <a:solidFill>
            <a:srgbClr val="B5D3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48640" y="1315903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48640" y="13616232"/>
            <a:ext cx="5943600" cy="267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Agile/Scrum development across 4 phases (3–5 weeks each, 16 weeks total); team of 2, weekly Tuesday sync with supervisor.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Stack: Solidity · React · Express.js/FastAPI · PostgreSQL · scikit-learn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Testnets: Ethereum Sepolia &amp; Polygon zkEVM Cardona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Phase I–IV: architecture spec → loan-cycle demo → ML + oracle → evaluation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MVC pattern: contracts / frontend (React) / backend (Express)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Security: 5-layer defense-in-depth — contract guards → API/rate-limits → ML fraud screening → monitoring → multisig governance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766560" y="2295960"/>
            <a:ext cx="8412480" cy="5047488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766560" y="2369112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766560" y="7416600"/>
            <a:ext cx="8412480" cy="8933688"/>
          </a:xfrm>
          <a:prstGeom prst="rect">
            <a:avLst/>
          </a:prstGeom>
          <a:solidFill>
            <a:srgbClr val="D6E9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766560" y="7489752"/>
            <a:ext cx="8412480" cy="8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Four-Tier Hierarchy &amp; Cross-Tier Fund Flows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15270480" y="2295960"/>
            <a:ext cx="6309360" cy="6327648"/>
          </a:xfrm>
          <a:prstGeom prst="rect">
            <a:avLst/>
          </a:prstGeom>
          <a:solidFill>
            <a:srgbClr val="CFE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15453360" y="236911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Result Analysis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5453360" y="2826312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Dataset: BCCC-DeFiFraudTrans-2025 (York Univ.), 50,000-txn subsample, </a:t>
            </a:r>
            <a:r>
              <a:rPr b="1" lang="en-US" sz="103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8.65% fraud rate</a:t>
            </a:r>
            <a:r>
              <a:rPr lang="en-US" sz="103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21 features. Model: Random Forest (80 trees) + Isolation Forest (80 trees) + logistic stacking.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15453360" y="3466392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Model Performance (Confusion Matrix)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" name="Google Shape;47;p1"/>
          <p:cNvGraphicFramePr/>
          <p:nvPr/>
        </p:nvGraphicFramePr>
        <p:xfrm>
          <a:off x="15453360" y="375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{F805F269-51AF-4428-9D36-CEBA47F052A4}</a:tableStyleId>
              </a:tblPr>
              <a:tblGrid>
                <a:gridCol w="1981200"/>
                <a:gridCol w="1981200"/>
                <a:gridCol w="1981200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Predicted: Fraud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Predicted: Legit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Actual: Fraud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TP = 417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FN = 42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Actual: Legit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FP = 60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TN = 4,621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Google Shape;48;p1"/>
          <p:cNvSpPr/>
          <p:nvPr/>
        </p:nvSpPr>
        <p:spPr>
          <a:xfrm>
            <a:off x="15453360" y="5084880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BCCC Benchmark Results (Held-Out Test)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" name="Google Shape;49;p1"/>
          <p:cNvGraphicFramePr/>
          <p:nvPr/>
        </p:nvGraphicFramePr>
        <p:xfrm>
          <a:off x="15453360" y="5377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{F805F269-51AF-4428-9D36-CEBA47F052A4}</a:tableStyleId>
              </a:tblPr>
              <a:tblGrid>
                <a:gridCol w="990600"/>
                <a:gridCol w="990600"/>
                <a:gridCol w="990600"/>
                <a:gridCol w="990600"/>
                <a:gridCol w="990600"/>
                <a:gridCol w="9906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Split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Recall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ROC-AUC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0.874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0.908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0.891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5,140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FC6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Google Shape;50;p1"/>
          <p:cNvSpPr/>
          <p:nvPr/>
        </p:nvSpPr>
        <p:spPr>
          <a:xfrm>
            <a:off x="15453360" y="6090720"/>
            <a:ext cx="59436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Bands: </a:t>
            </a: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Approve s&lt;0.4  ·  Manual review 0.4–0.7  ·  Reject s≥0.7 (SHAP-explained, human-reviewed)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15270480" y="8696760"/>
            <a:ext cx="6309360" cy="4224528"/>
          </a:xfrm>
          <a:prstGeom prst="rect">
            <a:avLst/>
          </a:prstGeom>
          <a:solidFill>
            <a:srgbClr val="E3F1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15453360" y="876991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5453360" y="9227112"/>
            <a:ext cx="5943600" cy="3639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First specification combining a 4-tier institutional hierarchy with DeFi and AI/ML risk analytics — not previously demonstrated in the literature.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Shows a programmable lending platform can improve transparency and security across World→National→Local→Client capital flows.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Core DeFi stack follows conventional design; the 4-tier + AI/ML integration is the project's original contribution.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Economically viable at prototype scale: </a:t>
            </a:r>
            <a:r>
              <a:rPr b="1"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NPV ≈ $149.7k and positive ROI over a 3-year horizon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10% discount rate (Section 5.4).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Deploy on Polygon zkEVM Cardona; live reserve-transparency dashboard &amp; multisig admin.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Expand interbank pools, group lending, upward deposits; zkKYC/zkAML, Certora proofs, federated learning.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8A6314"/>
                </a:solidFill>
                <a:latin typeface="Arial"/>
                <a:ea typeface="Arial"/>
                <a:cs typeface="Arial"/>
                <a:sym typeface="Arial"/>
              </a:rPr>
              <a:t>➤</a:t>
            </a:r>
            <a:r>
              <a:rPr lang="en-US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Formal verification (Certora), GraphSAGE graph-ML fraud scoring, and Chainlink Functions/Automation/PoR for production-grade oracle upgrades.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15270480" y="12994440"/>
            <a:ext cx="6309360" cy="3355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15453360" y="13067592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15453360" y="13524792"/>
            <a:ext cx="5943600" cy="280720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  S.M. Werner et al. SoK: Decentralized Finance (DeFi). arXiv:2101.08778, 2022.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[9]  World Bank. The Global Findex Database 2021.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[13]  IFC. MSME Finance Gap. World Bank, 2017.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[18]  DefiLlama. Aave V3 TVL, Fees, Revenue &amp; Income Statement, 2026.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[99]  BCCC, York University. BCCC-DeFiFraudTrans-2025, 2025.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[15]  CPMI &amp; BIS. Correspondent Banking — Technical Report. BIS CPMI Papers No. 147, 2016.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[17]  World Bank. Remittance Prices Worldwide. Migration &amp; Development Brief 40, 2024.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[21]  Fensory. Maple Finance — Institutional DeFi Lending Protocol, 2026.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[25]  World Bank. World Bank Group Tracks Project Funds with New Blockchain Tool (FundsChain), 2025.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[26]  JPMorgan. Kinexys Digital Payments: Real-Time Multicurrency Payments, 2025.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Picture 58" descr="fig1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639620"/>
            <a:ext cx="7772400" cy="3456940"/>
          </a:xfrm>
          <a:prstGeom prst="rect">
            <a:avLst/>
          </a:prstGeom>
        </p:spPr>
      </p:pic>
      <p:pic>
        <p:nvPicPr>
          <p:cNvPr id="60" name="Picture 59" descr="fig2_fourti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9214500"/>
            <a:ext cx="7772400" cy="6888900"/>
          </a:xfrm>
          <a:prstGeom prst="rect">
            <a:avLst/>
          </a:prstGeom>
        </p:spPr>
      </p:pic>
      <p:pic>
        <p:nvPicPr>
          <p:cNvPr id="61" name="Picture 60" descr="fig3_ml_metr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99080" y="6456440"/>
            <a:ext cx="5852160" cy="2011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2026-08-05T18:47:09Z</dcterms:created>
  <dc:creator>PptxGenJS</dc:creator>
</cp:coreProperties>
</file>