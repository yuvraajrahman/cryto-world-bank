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16459200" cx="21945600"/>
  <p:notesSz cx="16459200" cy="219456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7" roundtripDataSignature="AMtx7miXHg0l7ACrI7H9+qHbCfQTuUzj6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805F269-51AF-4428-9D36-CEBA47F052A4}">
  <a:tblStyle styleId="{F805F269-51AF-4428-9D36-CEBA47F052A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21945600" cy="22059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365760" y="80000"/>
            <a:ext cx="21214080" cy="5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Arial"/>
              <a:buNone/>
            </a:pPr>
            <a:r>
              <a:rPr b="1" lang="en-US" sz="3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Decentralized Crypto World Bank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365760" y="665000"/>
            <a:ext cx="21214080" cy="2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DE6FB"/>
              </a:buClr>
              <a:buSzPts val="1700"/>
              <a:buFont typeface="Arial"/>
              <a:buNone/>
            </a:pPr>
            <a:r>
              <a:rPr i="1" lang="en-US" sz="1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Blockchain-Based Banking Platform with AI-Enhanced Security and Assistance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oster/logo_crop.png" id="19" name="Google Shape;1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44" y="360800"/>
            <a:ext cx="1721525" cy="16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"/>
          <p:cNvSpPr/>
          <p:nvPr/>
        </p:nvSpPr>
        <p:spPr>
          <a:xfrm>
            <a:off x="2227750" y="892525"/>
            <a:ext cx="8000100" cy="117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BRAC University</a:t>
            </a:r>
            <a:b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i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13688325" y="1351650"/>
            <a:ext cx="80001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6F2FC"/>
              </a:buClr>
              <a:buSzPts val="1500"/>
              <a:buFont typeface="Calibri"/>
              <a:buNone/>
            </a:pP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Md. Bokhtiar Rahman Juboraz (20301138)  |  Md. Mahir Ahnaf Ahmed (20301083)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6F2FC"/>
              </a:buClr>
              <a:buSzPts val="1500"/>
              <a:buFont typeface="Calibri"/>
              <a:buNone/>
            </a:pP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Supervisor: Mr. Annajiat Alim Rasel, Senior Lecturer, Dept. of CSE, BRAC University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365760" y="2295960"/>
            <a:ext cx="6309360" cy="1938528"/>
          </a:xfrm>
          <a:prstGeom prst="rect">
            <a:avLst/>
          </a:prstGeom>
          <a:solidFill>
            <a:srgbClr val="DCEEF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548640" y="2369112"/>
            <a:ext cx="594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Abstract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548640" y="2826312"/>
            <a:ext cx="5943600" cy="1353312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Modern institutional banking is organized in restrictive layers that limit equal access to financing. Crypto World Bank (CWB) specifies a four-tier, hierarchically-governed DeFi platform — World Bank reserve → National → Local Banks → Clients — mirroring real-world development finance while enforcing reserves, credit allocation, and risk analytics on-chain. Six on-chain banking functions (deposits, credit allocation, settlement, risk intermediation, liquidity management, ancillary services) sit behind a five-layer defense-in-depth security model. AI-driven fraud detection (</a:t>
            </a:r>
            <a:r>
              <a:rPr b="1" lang="en-US" sz="1000">
                <a:solidFill>
                  <a:srgbClr val="8A6314"/>
                </a:solidFill>
                <a:latin typeface="Arial"/>
                <a:ea typeface="Arial"/>
                <a:cs typeface="Arial"/>
                <a:sym typeface="Arial"/>
              </a:rPr>
              <a:t>Random Forest + Isolation Forest, F1 = 0.891</a:t>
            </a:r>
            <a:r>
              <a:rPr lang="en-U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and an optional MCP-based conversational agent enhance security and usability, showing a transparent, open-source alternative to flat DeFi lending is achievable.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365760" y="4307640"/>
            <a:ext cx="6309360" cy="3533241"/>
          </a:xfrm>
          <a:prstGeom prst="rect">
            <a:avLst/>
          </a:prstGeom>
          <a:solidFill>
            <a:srgbClr val="C2DDF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548640" y="4380792"/>
            <a:ext cx="594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502920" y="4856280"/>
            <a:ext cx="5989320" cy="29114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buClr>
                <a:srgbClr val="000000"/>
              </a:buClr>
              <a:buSzPts val="1180"/>
              <a:buFont typeface="Arial"/>
              <a:buNone/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000" b="1">
                <a:solidFill>
                  <a:srgbClr val="0E6EBD"/>
                </a:solidFill>
                <a:latin typeface="Calibri"/>
              </a:rPr>
              <a:t>1.1 Background</a:t>
            </a:r>
            <a:endParaRPr sz="11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Bef>
                <a:spcPts val="0"/>
              </a:spcBef>
              <a:spcAft>
                <a:spcPts val="100"/>
              </a:spcAft>
              <a:lnSpc>
                <a:spcPct val="100000"/>
              </a:lnSpc>
            </a:pPr>
            <a:r>
              <a:rPr sz="850" b="0">
                <a:solidFill>
                  <a:srgbClr val="334E68"/>
                </a:solidFill>
                <a:latin typeface="Calibri"/>
              </a:rPr>
              <a:t>World→National→Local→Client layers face settlement friction, opaque reserves, idle correspondent capital; flat DeFi ignores this hierarchy.</a:t>
            </a:r>
          </a:p>
          <a:p>
            <a:pPr>
              <a:spcBef>
                <a:spcPts val="200"/>
              </a:spcBef>
              <a:spcAft>
                <a:spcPts val="0"/>
              </a:spcAft>
              <a:lnSpc>
                <a:spcPct val="100000"/>
              </a:lnSpc>
            </a:pPr>
            <a:r>
              <a:rPr sz="1000" b="1">
                <a:solidFill>
                  <a:srgbClr val="0E6EBD"/>
                </a:solidFill>
                <a:latin typeface="Calibri"/>
              </a:rPr>
              <a:t>1.2 Rationale</a:t>
            </a:r>
          </a:p>
          <a:p>
            <a:pPr>
              <a:spcBef>
                <a:spcPts val="0"/>
              </a:spcBef>
              <a:spcAft>
                <a:spcPts val="100"/>
              </a:spcAft>
              <a:lnSpc>
                <a:spcPct val="100000"/>
              </a:lnSpc>
            </a:pPr>
            <a:r>
              <a:rPr sz="850" b="0">
                <a:solidFill>
                  <a:srgbClr val="334E68"/>
                </a:solidFill>
                <a:latin typeface="Calibri"/>
              </a:rPr>
              <a:t>Encode hierarchy on a programmable ledger—reserves, RBAC, auditable flows—supporting human credit judgment.</a:t>
            </a:r>
          </a:p>
          <a:p>
            <a:pPr>
              <a:spcBef>
                <a:spcPts val="200"/>
              </a:spcBef>
              <a:spcAft>
                <a:spcPts val="0"/>
              </a:spcAft>
              <a:lnSpc>
                <a:spcPct val="100000"/>
              </a:lnSpc>
            </a:pPr>
            <a:r>
              <a:rPr sz="1000" b="1">
                <a:solidFill>
                  <a:srgbClr val="0E6EBD"/>
                </a:solidFill>
                <a:latin typeface="Calibri"/>
              </a:rPr>
              <a:t>1.3 Problem</a:t>
            </a:r>
          </a:p>
          <a:p>
            <a:pPr>
              <a:spcBef>
                <a:spcPts val="0"/>
              </a:spcBef>
              <a:spcAft>
                <a:spcPts val="100"/>
              </a:spcAft>
              <a:lnSpc>
                <a:spcPct val="100000"/>
              </a:lnSpc>
            </a:pPr>
            <a:r>
              <a:rPr sz="850" b="0">
                <a:solidFill>
                  <a:srgbClr val="334E68"/>
                </a:solidFill>
                <a:latin typeface="Calibri"/>
              </a:rPr>
              <a:t>Six gaps: low transparency; slow/costly settlement (~$45, 2–5 days); inconsistent risk; high audit cost; no programmable savings/group credit.</a:t>
            </a:r>
          </a:p>
          <a:p>
            <a:pPr>
              <a:spcBef>
                <a:spcPts val="200"/>
              </a:spcBef>
              <a:spcAft>
                <a:spcPts val="0"/>
              </a:spcAft>
              <a:lnSpc>
                <a:spcPct val="100000"/>
              </a:lnSpc>
            </a:pPr>
            <a:r>
              <a:rPr sz="1000" b="1">
                <a:solidFill>
                  <a:srgbClr val="0E6EBD"/>
                </a:solidFill>
                <a:latin typeface="Calibri"/>
              </a:rPr>
              <a:t>1.4 Objectives</a:t>
            </a:r>
          </a:p>
          <a:p>
            <a:pPr>
              <a:spcBef>
                <a:spcPts val="0"/>
              </a:spcBef>
              <a:spcAft>
                <a:spcPts val="100"/>
              </a:spcAft>
              <a:lnSpc>
                <a:spcPct val="100000"/>
              </a:lnSpc>
            </a:pPr>
            <a:r>
              <a:rPr sz="850" b="0">
                <a:solidFill>
                  <a:srgbClr val="334E68"/>
                </a:solidFill>
                <a:latin typeface="Calibri"/>
              </a:rPr>
              <a:t>4-tier EVM lending + banking suite, off-chain ML risk analytics, optional agent; deploy/evaluate on testnets.</a:t>
            </a:r>
          </a:p>
          <a:p>
            <a:pPr>
              <a:spcBef>
                <a:spcPts val="200"/>
              </a:spcBef>
              <a:spcAft>
                <a:spcPts val="0"/>
              </a:spcAft>
              <a:lnSpc>
                <a:spcPct val="100000"/>
              </a:lnSpc>
            </a:pPr>
            <a:r>
              <a:rPr sz="1000" b="1">
                <a:solidFill>
                  <a:srgbClr val="0E6EBD"/>
                </a:solidFill>
                <a:latin typeface="Calibri"/>
              </a:rPr>
              <a:t>1.5 Solution</a:t>
            </a:r>
          </a:p>
          <a:p>
            <a:pPr>
              <a:spcBef>
                <a:spcPts val="0"/>
              </a:spcBef>
              <a:spcAft>
                <a:spcPts val="100"/>
              </a:spcAft>
              <a:lnSpc>
                <a:spcPct val="100000"/>
              </a:lnSpc>
            </a:pPr>
            <a:r>
              <a:rPr sz="850" b="0">
                <a:solidFill>
                  <a:srgbClr val="334E68"/>
                </a:solidFill>
                <a:latin typeface="Calibri"/>
              </a:rPr>
              <a:t>On-chain WB→NB→LB→Client model covering deposit, credit, settlement, risk, liquidity, and ancillary services.</a:t>
            </a:r>
          </a:p>
          <a:p>
            <a:pPr>
              <a:spcBef>
                <a:spcPts val="200"/>
              </a:spcBef>
              <a:spcAft>
                <a:spcPts val="0"/>
              </a:spcAft>
              <a:lnSpc>
                <a:spcPct val="100000"/>
              </a:lnSpc>
            </a:pPr>
            <a:r>
              <a:rPr sz="1000" b="1">
                <a:solidFill>
                  <a:srgbClr val="0E6EBD"/>
                </a:solidFill>
                <a:latin typeface="Calibri"/>
              </a:rPr>
              <a:t>1.6 Contributions</a:t>
            </a:r>
          </a:p>
          <a:p>
            <a:pPr>
              <a:spcBef>
                <a:spcPts val="0"/>
              </a:spcBef>
              <a:spcAft>
                <a:spcPts val="100"/>
              </a:spcAft>
              <a:lnSpc>
                <a:spcPct val="100000"/>
              </a:lnSpc>
            </a:pPr>
            <a:r>
              <a:rPr sz="850" b="0">
                <a:solidFill>
                  <a:srgbClr val="334E68"/>
                </a:solidFill>
                <a:latin typeface="Calibri"/>
              </a:rPr>
              <a:t>Novel 4-tier+AI/ML; five multi-entity mechanisms; commit–reveal ML oracle; 5-layer defense; optional MCP agent (Qwen3-8B).</a:t>
            </a:r>
          </a:p>
        </p:txBody>
      </p:sp>
      <p:sp>
        <p:nvSpPr>
          <p:cNvPr id="28" name="Google Shape;28;p1"/>
          <p:cNvSpPr/>
          <p:nvPr/>
        </p:nvSpPr>
        <p:spPr>
          <a:xfrm>
            <a:off x="365760" y="7914033"/>
            <a:ext cx="6309360" cy="3584448"/>
          </a:xfrm>
          <a:prstGeom prst="rect">
            <a:avLst/>
          </a:prstGeom>
          <a:solidFill>
            <a:srgbClr val="CFE5F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548640" y="7987185"/>
            <a:ext cx="594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System Requirements Analysis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548640" y="8444385"/>
            <a:ext cx="594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Full FR/NFR sets are specified in the report; representative items below.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1" name="Google Shape;31;p1"/>
          <p:cNvGraphicFramePr/>
          <p:nvPr/>
        </p:nvGraphicFramePr>
        <p:xfrm>
          <a:off x="548640" y="8782713"/>
          <a:ext cx="3000000" cy="2647287"/>
        </p:xfrm>
        <a:graphic>
          <a:graphicData uri="http://schemas.openxmlformats.org/drawingml/2006/table">
            <a:tbl>
              <a:tblPr>
                <a:noFill/>
                <a:tableStyleId>{F805F269-51AF-4428-9D36-CEBA47F052A4}</a:tableStyleId>
              </a:tblPr>
              <a:tblGrid>
                <a:gridCol w="1188725"/>
                <a:gridCol w="685800"/>
                <a:gridCol w="4069075"/>
              </a:tblGrid>
              <a:tr h="43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Description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</a:tr>
              <a:tr h="43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Functional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FR-01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Four-tier hierarchy: World→National→Local→Client, role-gated capital allocation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3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Functional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FR-02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Loan lifecycle: request → ML score → approval → disbursement → repayment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3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Non-Functional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NFR-01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Performance: ML inference ≤50ms; API p95 ≤500ms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3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Non-Functional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NFR-02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Security: RBAC, ReentrancyGuard, human approver gate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Functional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FR-03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Multi-entity ops: InterBankLendingPool, UpwardDepositFacility, SyndicatedLoan, TranchedPool, TreasurySwap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Google Shape;32;p1"/>
          <p:cNvSpPr/>
          <p:nvPr/>
        </p:nvSpPr>
        <p:spPr>
          <a:xfrm>
            <a:off x="365760" y="11571633"/>
            <a:ext cx="6309360" cy="4777838"/>
          </a:xfrm>
          <a:prstGeom prst="rect">
            <a:avLst/>
          </a:prstGeom>
          <a:solidFill>
            <a:srgbClr val="B5D3E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548640" y="11644785"/>
            <a:ext cx="594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Methodology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548640" y="12101985"/>
            <a:ext cx="594360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buClr>
                <a:srgbClr val="000000"/>
              </a:buClr>
              <a:buSzPts val="1150"/>
              <a:buFont typeface="Arial"/>
              <a:buNone/>
              <a:spcBef>
                <a:spcPts val="0"/>
              </a:spcBef>
              <a:spcAft>
                <a:spcPts val="200"/>
              </a:spcAft>
              <a:lnSpc>
                <a:spcPct val="100000"/>
              </a:lnSpc>
            </a:pPr>
            <a:r>
              <a:rPr sz="1050" b="0">
                <a:solidFill>
                  <a:srgbClr val="1F3864"/>
                </a:solidFill>
                <a:latin typeface="Calibri"/>
              </a:rPr>
              <a:t>Agile/Scrum across 4 phases (3–5 weeks each, 16 weeks); team of 2; weekly supervisor sync.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Bef>
                <a:spcPts val="0"/>
              </a:spcBef>
              <a:spcAft>
                <a:spcPts val="200"/>
              </a:spcAft>
              <a:lnSpc>
                <a:spcPct val="100000"/>
              </a:lnSpc>
            </a:pPr>
            <a:r>
              <a:rPr sz="1000">
                <a:solidFill>
                  <a:srgbClr val="334E68"/>
                </a:solidFill>
                <a:latin typeface="Calibri"/>
              </a:rPr>
              <a:t>➤  Stack: Solidity · React · Express.js/FastAPI · PostgreSQL · scikit-learn</a:t>
            </a:r>
          </a:p>
          <a:p>
            <a:pPr>
              <a:spcBef>
                <a:spcPts val="0"/>
              </a:spcBef>
              <a:spcAft>
                <a:spcPts val="200"/>
              </a:spcAft>
              <a:lnSpc>
                <a:spcPct val="100000"/>
              </a:lnSpc>
            </a:pPr>
            <a:r>
              <a:rPr sz="1000">
                <a:solidFill>
                  <a:srgbClr val="334E68"/>
                </a:solidFill>
                <a:latin typeface="Calibri"/>
              </a:rPr>
              <a:t>➤  Testnets: Ethereum Sepolia &amp; Polygon zkEVM Cardona · MVC (contracts/React/Express)</a:t>
            </a:r>
          </a:p>
          <a:p>
            <a:pPr>
              <a:spcBef>
                <a:spcPts val="0"/>
              </a:spcBef>
              <a:spcAft>
                <a:spcPts val="200"/>
              </a:spcAft>
              <a:lnSpc>
                <a:spcPct val="100000"/>
              </a:lnSpc>
            </a:pPr>
            <a:r>
              <a:rPr sz="1000">
                <a:solidFill>
                  <a:srgbClr val="334E68"/>
                </a:solidFill>
                <a:latin typeface="Calibri"/>
              </a:rPr>
              <a:t>➤  Security: 5-layer defense — contract guards → API → ML screening → monitoring → multisig</a:t>
            </a:r>
          </a:p>
        </p:txBody>
      </p:sp>
      <p:sp>
        <p:nvSpPr>
          <p:cNvPr id="35" name="Google Shape;35;p1"/>
          <p:cNvSpPr/>
          <p:nvPr/>
        </p:nvSpPr>
        <p:spPr>
          <a:xfrm>
            <a:off x="6766560" y="2295960"/>
            <a:ext cx="8412480" cy="4572000"/>
          </a:xfrm>
          <a:prstGeom prst="rect">
            <a:avLst/>
          </a:prstGeom>
          <a:solidFill>
            <a:srgbClr val="EAF4F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1"/>
          <p:cNvSpPr/>
          <p:nvPr/>
        </p:nvSpPr>
        <p:spPr>
          <a:xfrm>
            <a:off x="6766560" y="2369112"/>
            <a:ext cx="8412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System Architecture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1"/>
          <p:cNvSpPr/>
          <p:nvPr/>
        </p:nvSpPr>
        <p:spPr>
          <a:xfrm>
            <a:off x="6766560" y="10698480"/>
            <a:ext cx="8412480" cy="5532120"/>
          </a:xfrm>
          <a:prstGeom prst="rect">
            <a:avLst/>
          </a:prstGeom>
          <a:solidFill>
            <a:srgbClr val="D6E9F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1"/>
          <p:cNvSpPr/>
          <p:nvPr/>
        </p:nvSpPr>
        <p:spPr>
          <a:xfrm>
            <a:off x="6766560" y="10771632"/>
            <a:ext cx="8412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>
                <a:solidFill>
                  <a:srgbClr val="EED6A3"/>
                </a:solidFill>
              </a:rPr>
              <a:t>Four-Tier Hierarchy &amp; Cross-Tier Mechanisms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1"/>
          <p:cNvSpPr/>
          <p:nvPr/>
        </p:nvSpPr>
        <p:spPr>
          <a:xfrm>
            <a:off x="15270480" y="4900693"/>
            <a:ext cx="6309360" cy="3803904"/>
          </a:xfrm>
          <a:prstGeom prst="rect">
            <a:avLst/>
          </a:prstGeom>
          <a:solidFill>
            <a:srgbClr val="CFE5F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1"/>
          <p:cNvSpPr/>
          <p:nvPr/>
        </p:nvSpPr>
        <p:spPr>
          <a:xfrm>
            <a:off x="15453360" y="4973845"/>
            <a:ext cx="594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Result Analysis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1"/>
          <p:cNvSpPr/>
          <p:nvPr/>
        </p:nvSpPr>
        <p:spPr>
          <a:xfrm>
            <a:off x="15453360" y="5431045"/>
            <a:ext cx="5943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0"/>
              <a:buFont typeface="Arial"/>
              <a:buNone/>
            </a:pPr>
            <a:r>
              <a:rPr lang="en-US" sz="10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Dataset: BCCC-DeFiFraudTrans-2025 (York Univ.), 50,000-txn subsample, </a:t>
            </a:r>
            <a:r>
              <a:rPr b="1" lang="en-US" sz="1030">
                <a:solidFill>
                  <a:srgbClr val="8A6314"/>
                </a:solidFill>
                <a:latin typeface="Arial"/>
                <a:ea typeface="Arial"/>
                <a:cs typeface="Arial"/>
                <a:sym typeface="Arial"/>
              </a:rPr>
              <a:t>8.65% fraud rate</a:t>
            </a:r>
            <a:r>
              <a:rPr lang="en-US" sz="10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21 features. Model: Random Forest (80 trees) + Isolation Forest (80 trees) + logistic stacking.</a:t>
            </a:r>
            <a:endParaRPr sz="10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1"/>
          <p:cNvSpPr/>
          <p:nvPr/>
        </p:nvSpPr>
        <p:spPr>
          <a:xfrm>
            <a:off x="15270480" y="8878333"/>
            <a:ext cx="6309360" cy="4334256"/>
          </a:xfrm>
          <a:prstGeom prst="rect">
            <a:avLst/>
          </a:prstGeom>
          <a:solidFill>
            <a:srgbClr val="E3F1F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1"/>
          <p:cNvSpPr/>
          <p:nvPr/>
        </p:nvSpPr>
        <p:spPr>
          <a:xfrm>
            <a:off x="15453360" y="8951485"/>
            <a:ext cx="594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FutureWorkWash"/>
          <p:cNvSpPr/>
          <p:nvPr/>
        </p:nvSpPr>
        <p:spPr>
          <a:xfrm>
            <a:off x="15416784" y="11154373"/>
            <a:ext cx="6016752" cy="1783080"/>
          </a:xfrm>
          <a:prstGeom prst="rect">
            <a:avLst/>
          </a:prstGeom>
          <a:solidFill>
            <a:srgbClr val="D6EFFF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FutureWorkAccent"/>
          <p:cNvSpPr/>
          <p:nvPr/>
        </p:nvSpPr>
        <p:spPr>
          <a:xfrm>
            <a:off x="15343632" y="11200093"/>
            <a:ext cx="73152" cy="1691640"/>
          </a:xfrm>
          <a:prstGeom prst="rect">
            <a:avLst/>
          </a:prstGeom>
          <a:solidFill>
            <a:srgbClr val="156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Google Shape;55;p1"/>
          <p:cNvSpPr/>
          <p:nvPr/>
        </p:nvSpPr>
        <p:spPr>
          <a:xfrm>
            <a:off x="15453360" y="9408685"/>
            <a:ext cx="5943600" cy="3639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8A6314"/>
                </a:solidFill>
                <a:latin typeface="Arial"/>
                <a:ea typeface="Arial"/>
                <a:cs typeface="Arial"/>
                <a:sym typeface="Arial"/>
              </a:rPr>
              <a:t>➤</a:t>
            </a:r>
            <a:r>
              <a:rPr lang="en-US" sz="11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First specification combining a 4-tier institutional hierarchy with DeFi and AI/ML risk analytics — not previously demonstrated in the literature.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8A6314"/>
                </a:solidFill>
                <a:latin typeface="Arial"/>
                <a:ea typeface="Arial"/>
                <a:cs typeface="Arial"/>
                <a:sym typeface="Arial"/>
              </a:rPr>
              <a:t>➤</a:t>
            </a:r>
            <a:r>
              <a:rPr lang="en-US" sz="11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Shows a programmable lending platform can improve transparency and security across World→National→Local→Client capital flows.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8A6314"/>
                </a:solidFill>
                <a:latin typeface="Arial"/>
                <a:ea typeface="Arial"/>
                <a:cs typeface="Arial"/>
                <a:sym typeface="Arial"/>
              </a:rPr>
              <a:t>➤</a:t>
            </a:r>
            <a:r>
              <a:rPr lang="en-US" sz="11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Core DeFi stack follows conventional design; the 4-tier + AI/ML integration is the project's original contribution.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8A6314"/>
                </a:solidFill>
                <a:latin typeface="Arial"/>
                <a:ea typeface="Arial"/>
                <a:cs typeface="Arial"/>
                <a:sym typeface="Arial"/>
              </a:rPr>
              <a:t>➤</a:t>
            </a:r>
            <a:r>
              <a:rPr lang="en-US" sz="11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Economically viable at prototype scale: </a:t>
            </a:r>
            <a:r>
              <a:rPr b="1" lang="en-US" sz="1150">
                <a:solidFill>
                  <a:srgbClr val="8A6314"/>
                </a:solidFill>
                <a:latin typeface="Arial"/>
                <a:ea typeface="Arial"/>
                <a:cs typeface="Arial"/>
                <a:sym typeface="Arial"/>
              </a:rPr>
              <a:t>NPV ≈ $149.7k and positive ROI over a 3-year horizon</a:t>
            </a:r>
            <a:r>
              <a:rPr lang="en-US" sz="11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at 10% discount rate (Section 5.4).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buClr>
                <a:srgbClr val="000000"/>
              </a:buClr>
              <a:buSzPts val="1500"/>
              <a:buFont typeface="Arial"/>
              <a:buNone/>
              <a:spcBef>
                <a:spcPts val="1000"/>
              </a:spcBef>
              <a:spcAft>
                <a:spcPts val="400"/>
              </a:spcAft>
            </a:pPr>
            <a:r>
              <a:rPr b="1" lang="en-US" sz="1800">
                <a:solidFill>
                  <a:srgbClr val="0E6EBD"/>
                </a:solidFill>
                <a:latin typeface="Calibri"/>
                <a:ea typeface="Arial"/>
                <a:cs typeface="Arial"/>
                <a:sym typeface="Arial"/>
              </a:rPr>
              <a:t>Future Work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buClr>
                <a:srgbClr val="000000"/>
              </a:buClr>
              <a:buSzPts val="1150"/>
              <a:buFont typeface="Arial"/>
              <a:buNone/>
              <a:spcBef>
                <a:spcPts val="200"/>
              </a:spcBef>
              <a:spcAft>
                <a:spcPts val="300"/>
              </a:spcAft>
            </a:pPr>
            <a:r>
              <a:rPr lang="en-US" sz="1200" b="1">
                <a:solidFill>
                  <a:srgbClr val="0E6EBD"/>
                </a:solidFill>
                <a:latin typeface="Calibri"/>
                <a:ea typeface="Arial"/>
                <a:cs typeface="Arial"/>
                <a:sym typeface="Arial"/>
              </a:rPr>
              <a:t>➤</a:t>
            </a:r>
            <a:r>
              <a:rPr lang="en-US" sz="1200" b="0">
                <a:solidFill>
                  <a:srgbClr val="0B2A4A"/>
                </a:solidFill>
                <a:latin typeface="Calibri"/>
                <a:ea typeface="Arial"/>
                <a:cs typeface="Arial"/>
                <a:sym typeface="Arial"/>
              </a:rPr>
              <a:t>  Deploy on Polygon zkEVM Cardona; live reserve-transparency dashboard &amp; multisig admin.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buClr>
                <a:srgbClr val="000000"/>
              </a:buClr>
              <a:buSzPts val="1150"/>
              <a:buFont typeface="Arial"/>
              <a:buNone/>
              <a:spcBef>
                <a:spcPts val="200"/>
              </a:spcBef>
              <a:spcAft>
                <a:spcPts val="300"/>
              </a:spcAft>
            </a:pPr>
            <a:r>
              <a:rPr lang="en-US" sz="1200" b="1">
                <a:solidFill>
                  <a:srgbClr val="0E6EBD"/>
                </a:solidFill>
                <a:latin typeface="Calibri"/>
                <a:ea typeface="Arial"/>
                <a:cs typeface="Arial"/>
                <a:sym typeface="Arial"/>
              </a:rPr>
              <a:t>➤</a:t>
            </a:r>
            <a:r>
              <a:rPr lang="en-US" sz="1200" b="0">
                <a:solidFill>
                  <a:srgbClr val="0B2A4A"/>
                </a:solidFill>
                <a:latin typeface="Calibri"/>
                <a:ea typeface="Arial"/>
                <a:cs typeface="Arial"/>
                <a:sym typeface="Arial"/>
              </a:rPr>
              <a:t>  Expand interbank pools, group lending, upward deposits; zkKYC/zkAML, Certora proofs, federated learning.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buClr>
                <a:srgbClr val="000000"/>
              </a:buClr>
              <a:buSzPts val="1150"/>
              <a:buFont typeface="Arial"/>
              <a:buNone/>
              <a:spcBef>
                <a:spcPts val="200"/>
              </a:spcBef>
              <a:spcAft>
                <a:spcPts val="300"/>
              </a:spcAft>
            </a:pPr>
            <a:r>
              <a:rPr lang="en-US" sz="1200" b="1">
                <a:solidFill>
                  <a:srgbClr val="0E6EBD"/>
                </a:solidFill>
                <a:latin typeface="Calibri"/>
                <a:ea typeface="Arial"/>
                <a:cs typeface="Arial"/>
                <a:sym typeface="Arial"/>
              </a:rPr>
              <a:t>➤</a:t>
            </a:r>
            <a:r>
              <a:rPr lang="en-US" sz="1200" b="0">
                <a:solidFill>
                  <a:srgbClr val="0B2A4A"/>
                </a:solidFill>
                <a:latin typeface="Calibri"/>
                <a:ea typeface="Arial"/>
                <a:cs typeface="Arial"/>
                <a:sym typeface="Arial"/>
              </a:rPr>
              <a:t>  Formal verification (Certora), GraphSAGE graph-ML fraud scoring, and Chainlink Functions/Automation/PoR for production-grade oracle upgrades.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1"/>
          <p:cNvSpPr/>
          <p:nvPr/>
        </p:nvSpPr>
        <p:spPr>
          <a:xfrm>
            <a:off x="15270480" y="13304029"/>
            <a:ext cx="6309360" cy="29722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"/>
          <p:cNvSpPr/>
          <p:nvPr/>
        </p:nvSpPr>
        <p:spPr>
          <a:xfrm>
            <a:off x="15453359" y="13377181"/>
            <a:ext cx="594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-US" sz="220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References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"/>
          <p:cNvSpPr/>
          <p:nvPr/>
        </p:nvSpPr>
        <p:spPr>
          <a:xfrm>
            <a:off x="15453359" y="13889245"/>
            <a:ext cx="5943600" cy="2277346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marL="0" marR="0" rtl="0" algn="l">
              <a:buClr>
                <a:srgbClr val="000000"/>
              </a:buClr>
              <a:buSzPts val="1000"/>
              <a:buFont typeface="Arial"/>
              <a:buNone/>
              <a:spcAft>
                <a:spcPts val="180"/>
              </a:spcAft>
              <a:lnSpc>
                <a:spcPct val="108000"/>
              </a:lnSpc>
            </a:pPr>
            <a:r>
              <a:rPr sz="950">
                <a:solidFill>
                  <a:srgbClr val="3A526B"/>
                </a:solidFill>
                <a:latin typeface="Calibri"/>
              </a:rPr>
              <a:t>[1]  S.M. Werner et al. SoK: Decentralized Finance (DeFi). arXiv:2101.08778, 2022.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Aft>
                <a:spcPts val="180"/>
              </a:spcAft>
              <a:lnSpc>
                <a:spcPct val="108000"/>
              </a:lnSpc>
            </a:pPr>
            <a:r>
              <a:rPr sz="950">
                <a:solidFill>
                  <a:srgbClr val="3A526B"/>
                </a:solidFill>
                <a:latin typeface="Calibri"/>
              </a:rPr>
              <a:t>[9]  World Bank. The Global Findex Database 2021.</a:t>
            </a:r>
          </a:p>
          <a:p>
            <a:pPr>
              <a:spcAft>
                <a:spcPts val="180"/>
              </a:spcAft>
              <a:lnSpc>
                <a:spcPct val="108000"/>
              </a:lnSpc>
            </a:pPr>
            <a:r>
              <a:rPr sz="950">
                <a:solidFill>
                  <a:srgbClr val="3A526B"/>
                </a:solidFill>
                <a:latin typeface="Calibri"/>
              </a:rPr>
              <a:t>[13]  IFC. MSME Finance Gap. World Bank, 2017.</a:t>
            </a:r>
          </a:p>
          <a:p>
            <a:pPr>
              <a:spcAft>
                <a:spcPts val="180"/>
              </a:spcAft>
              <a:lnSpc>
                <a:spcPct val="108000"/>
              </a:lnSpc>
            </a:pPr>
            <a:r>
              <a:rPr sz="950">
                <a:solidFill>
                  <a:srgbClr val="3A526B"/>
                </a:solidFill>
                <a:latin typeface="Calibri"/>
              </a:rPr>
              <a:t>[18]  DefiLlama. Aave V3 TVL, Fees, Revenue &amp; Income Statement, 2026.</a:t>
            </a:r>
          </a:p>
          <a:p>
            <a:pPr>
              <a:spcAft>
                <a:spcPts val="180"/>
              </a:spcAft>
              <a:lnSpc>
                <a:spcPct val="108000"/>
              </a:lnSpc>
            </a:pPr>
            <a:r>
              <a:rPr sz="950">
                <a:solidFill>
                  <a:srgbClr val="3A526B"/>
                </a:solidFill>
                <a:latin typeface="Calibri"/>
              </a:rPr>
              <a:t>[99]  BCCC, York University. BCCC-DeFiFraudTrans-2025, 2025.</a:t>
            </a:r>
          </a:p>
          <a:p>
            <a:pPr>
              <a:spcAft>
                <a:spcPts val="180"/>
              </a:spcAft>
              <a:lnSpc>
                <a:spcPct val="108000"/>
              </a:lnSpc>
            </a:pPr>
            <a:r>
              <a:rPr sz="950">
                <a:solidFill>
                  <a:srgbClr val="3A526B"/>
                </a:solidFill>
                <a:latin typeface="Calibri"/>
              </a:rPr>
              <a:t>[15]  CPMI &amp; BIS. Correspondent Banking — Technical Report. BIS CPMI Papers No. 147, 2016.</a:t>
            </a:r>
          </a:p>
          <a:p>
            <a:pPr>
              <a:spcAft>
                <a:spcPts val="180"/>
              </a:spcAft>
              <a:lnSpc>
                <a:spcPct val="108000"/>
              </a:lnSpc>
            </a:pPr>
            <a:r>
              <a:rPr sz="950">
                <a:solidFill>
                  <a:srgbClr val="3A526B"/>
                </a:solidFill>
                <a:latin typeface="Calibri"/>
              </a:rPr>
              <a:t>[17]  World Bank. Remittance Prices Worldwide. Migration &amp; Development Brief 40, 2024.</a:t>
            </a:r>
          </a:p>
          <a:p>
            <a:pPr>
              <a:spcAft>
                <a:spcPts val="180"/>
              </a:spcAft>
              <a:lnSpc>
                <a:spcPct val="108000"/>
              </a:lnSpc>
            </a:pPr>
            <a:r>
              <a:rPr sz="950">
                <a:solidFill>
                  <a:srgbClr val="3A526B"/>
                </a:solidFill>
                <a:latin typeface="Calibri"/>
              </a:rPr>
              <a:t>[21]  Fensory. Maple Finance — Institutional DeFi Lending Protocol, 2026.</a:t>
            </a:r>
          </a:p>
          <a:p>
            <a:pPr>
              <a:spcAft>
                <a:spcPts val="180"/>
              </a:spcAft>
              <a:lnSpc>
                <a:spcPct val="108000"/>
              </a:lnSpc>
            </a:pPr>
            <a:r>
              <a:rPr sz="950">
                <a:solidFill>
                  <a:srgbClr val="3A526B"/>
                </a:solidFill>
                <a:latin typeface="Calibri"/>
              </a:rPr>
              <a:t>[25]  World Bank. World Bank Group Tracks Project Funds with New Blockchain Tool (FundsChain), 2025.</a:t>
            </a:r>
          </a:p>
          <a:p>
            <a:pPr>
              <a:spcAft>
                <a:spcPts val="180"/>
              </a:spcAft>
              <a:lnSpc>
                <a:spcPct val="108000"/>
              </a:lnSpc>
            </a:pPr>
            <a:r>
              <a:rPr sz="950">
                <a:solidFill>
                  <a:srgbClr val="3A526B"/>
                </a:solidFill>
                <a:latin typeface="Calibri"/>
              </a:rPr>
              <a:t>[26]  JPMorgan. Kinexys Digital Payments: Real-Time Multicurrency Payments, 2025.</a:t>
            </a:r>
          </a:p>
        </p:txBody>
      </p:sp>
      <p:pic>
        <p:nvPicPr>
          <p:cNvPr id="59" name="Picture 58" descr="fig1_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8090" y="2835456"/>
            <a:ext cx="8089419" cy="3941064"/>
          </a:xfrm>
          <a:prstGeom prst="rect">
            <a:avLst/>
          </a:prstGeom>
        </p:spPr>
      </p:pic>
      <p:pic>
        <p:nvPicPr>
          <p:cNvPr id="60" name="Picture 59" descr="fig2_fourti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3720" y="11201400"/>
            <a:ext cx="8138160" cy="4846320"/>
          </a:xfrm>
          <a:prstGeom prst="rect">
            <a:avLst/>
          </a:prstGeom>
        </p:spPr>
      </p:pic>
      <p:pic>
        <p:nvPicPr>
          <p:cNvPr id="61" name="Picture 60" descr="fig3_ml_metric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453359" y="6125173"/>
            <a:ext cx="5943600" cy="2468880"/>
          </a:xfrm>
          <a:prstGeom prst="rect">
            <a:avLst/>
          </a:prstGeom>
        </p:spPr>
      </p:pic>
      <p:sp>
        <p:nvSpPr>
          <p:cNvPr id="62" name="Rounded Rectangle 61"/>
          <p:cNvSpPr/>
          <p:nvPr/>
        </p:nvSpPr>
        <p:spPr>
          <a:xfrm>
            <a:off x="6766560" y="6949440"/>
            <a:ext cx="8412480" cy="3611880"/>
          </a:xfrm>
          <a:prstGeom prst="rect"/>
          <a:solidFill>
            <a:srgbClr val="E3F1FB"/>
          </a:solidFill>
          <a:ln w="1587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903720" y="7022592"/>
            <a:ext cx="81381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ED6A3"/>
                </a:solidFill>
                <a:latin typeface="Calibri"/>
              </a:defRPr>
            </a:pPr>
            <a:r>
              <a:rPr sz="2000" b="1">
                <a:solidFill>
                  <a:srgbClr val="1F3864"/>
                </a:solidFill>
              </a:rPr>
              <a:t>MCP Agent Pipeline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903720" y="7296912"/>
            <a:ext cx="8138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B8C9DC"/>
                </a:solidFill>
                <a:latin typeface="Calibri"/>
              </a:defRPr>
            </a:pPr>
            <a:r>
              <a:rPr sz="1100" b="0">
                <a:solidFill>
                  <a:srgbClr val="4A657A"/>
                </a:solidFill>
              </a:rPr>
              <a:t>Conversational agent with confirm-gated writes and append-only audit</a:t>
            </a:r>
          </a:p>
        </p:txBody>
      </p:sp>
      <p:pic>
        <p:nvPicPr>
          <p:cNvPr id="65" name="Picture 64" descr="figC_mcp_agent_pipelin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3720" y="7589520"/>
            <a:ext cx="8138160" cy="2651760"/>
          </a:xfrm>
          <a:prstGeom prst="rect">
            <a:avLst/>
          </a:prstGeom>
        </p:spPr>
      </p:pic>
      <p:sp>
        <p:nvSpPr>
          <p:cNvPr id="71" name="DefensePanel"/>
          <p:cNvSpPr/>
          <p:nvPr/>
        </p:nvSpPr>
        <p:spPr>
          <a:xfrm>
            <a:off x="15270480" y="2295144"/>
            <a:ext cx="6309360" cy="2513293"/>
          </a:xfrm>
          <a:prstGeom prst="roundRect">
            <a:avLst/>
          </a:prstGeom>
          <a:solidFill>
            <a:srgbClr val="CFE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6" name="Picture 65" descr="figD_defense_layer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453359" y="2679191"/>
            <a:ext cx="5943600" cy="2037805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6903720" y="10287000"/>
            <a:ext cx="8138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C9A86A"/>
                </a:solidFill>
                <a:latin typeface="Calibri"/>
              </a:defRPr>
            </a:pPr>
            <a:r>
              <a:rPr sz="1000" b="0">
                <a:solidFill>
                  <a:srgbClr val="1F3864"/>
                </a:solidFill>
              </a:rPr>
              <a:t>Fig. MCP agent path (confirm-gated writes)</a:t>
            </a:r>
          </a:p>
        </p:txBody>
      </p:sp>
      <p:sp>
        <p:nvSpPr>
          <p:cNvPr id="72" name="DefenseTitle"/>
          <p:cNvSpPr txBox="1"/>
          <p:nvPr/>
        </p:nvSpPr>
        <p:spPr>
          <a:xfrm>
            <a:off x="15453359" y="2350008"/>
            <a:ext cx="5943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864"/>
                </a:solidFill>
                <a:latin typeface="Calibri"/>
              </a:rPr>
              <a:t>Five-Layer Defense-in-Depth</a:t>
            </a:r>
          </a:p>
        </p:txBody>
      </p:sp>
      <p:pic>
        <p:nvPicPr>
          <p:cNvPr id="73" name="SDLCFigure" descr="figF_sdlc_phase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8371" y="13574169"/>
            <a:ext cx="5964137" cy="26838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2026-08-05T18:47:09Z</dcterms:created>
  <dc:creator>PptxGenJS</dc:creator>
</cp:coreProperties>
</file>