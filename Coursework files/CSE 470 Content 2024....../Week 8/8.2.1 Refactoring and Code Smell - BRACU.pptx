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hRWajGcH0HKVTrzBUt0SCvCDFq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7" name="Google Shape;857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8" name="Google Shape;878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7" name="Google Shape;907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3" name="Google Shape;923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4" name="Google Shape;1044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4" name="Google Shape;1144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9" name="Google Shape;1159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7" name="Google Shape;1177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2" name="Google Shape;1192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7" name="Google Shape;1207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2" name="Google Shape;1222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9" name="Google Shape;1239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6" name="Google Shape;1256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3" name="Google Shape;1273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2" name="Google Shape;1292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4" name="Google Shape;1314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3" name="Google Shape;1333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1" name="Google Shape;1351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19" lvl="0" marL="457200" algn="l">
              <a:lnSpc>
                <a:spcPct val="100000"/>
              </a:lnSpc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6" lvl="1" marL="9144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6" lvl="2" marL="1371600" algn="l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59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59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jpg"/><Relationship Id="rId6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image" Target="../media/image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4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4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8.png"/><Relationship Id="rId6" Type="http://schemas.openxmlformats.org/officeDocument/2006/relationships/image" Target="../media/image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.png"/><Relationship Id="rId4" Type="http://schemas.openxmlformats.org/officeDocument/2006/relationships/image" Target="../media/image46.png"/><Relationship Id="rId5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2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64" y="5161136"/>
            <a:ext cx="9616504" cy="86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/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15910"/>
            <a:ext cx="10199401" cy="3925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umbnail_fdbd8478-4071-48f9-881e-7f6c58f17549.png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325623" y="526421"/>
            <a:ext cx="9815278" cy="7347688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2413335" y="838200"/>
              <a:ext cx="57429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is Refactoring?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007626" y="2209879"/>
            <a:ext cx="78168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l">
              <a:lnSpc>
                <a:spcPct val="1219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Char char="❏"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series of </a:t>
            </a:r>
            <a:r>
              <a:rPr b="0" i="0" lang="en-US" sz="377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steps, each of which changes the program’s  </a:t>
            </a:r>
            <a:r>
              <a:rPr b="0" i="0" lang="en-US" sz="377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structure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changing its </a:t>
            </a:r>
            <a:r>
              <a:rPr b="0" i="0" lang="en-US" sz="377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 behavior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Martin Fowler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2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marR="0" rtl="0" algn="l">
              <a:lnSpc>
                <a:spcPct val="106024"/>
              </a:lnSpc>
              <a:spcBef>
                <a:spcPts val="1800"/>
              </a:spcBef>
              <a:spcAft>
                <a:spcPts val="0"/>
              </a:spcAft>
              <a:buSzPts val="1850"/>
              <a:buChar char="❏"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no change in external behavior by</a:t>
            </a:r>
            <a:r>
              <a:rPr lang="en-US"/>
              <a:t> </a:t>
            </a: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361" lvl="0" marL="457200" marR="0" rtl="0" algn="l">
              <a:lnSpc>
                <a:spcPct val="106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6"/>
              <a:buFont typeface="Times New Roman"/>
              <a:buChar char="❏"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right tool - 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361" lvl="0" marL="457200" marR="0" rtl="0" algn="l">
              <a:lnSpc>
                <a:spcPct val="106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6"/>
              <a:buFont typeface="Times New Roman"/>
              <a:buChar char="❏"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code analysis by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8361" lvl="0" marL="457200" marR="0" rtl="0" algn="l">
              <a:lnSpc>
                <a:spcPct val="106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6"/>
              <a:buFont typeface="Times New Roman"/>
              <a:buChar char="❏"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Being very, very </a:t>
            </a:r>
            <a:r>
              <a:rPr lang="en-US"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careful</a:t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77325" y="3576950"/>
            <a:ext cx="8737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9800" y="3898900"/>
            <a:ext cx="130904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77325" y="4441050"/>
            <a:ext cx="9063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debt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68" name="Google Shape;16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0" y="152400"/>
            <a:ext cx="10227807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900" y="5969000"/>
              <a:ext cx="44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WinterCharge(quantity);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199" name="Google Shape;199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2" name="Google Shape;20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28" name="Google Shape;2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5" name="Google Shape;235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6" name="Google Shape;236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8" name="Google Shape;23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2" name="Google Shape;24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78" name="Google Shape;27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294" name="Google Shape;2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6" name="Google Shape;30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09" name="Google Shape;30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14" name="Google Shape;3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1" name="Google Shape;321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2" name="Google Shape;322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749300" y="3327400"/>
              <a:ext cx="9112859" cy="4197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 tightly couples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29" name="Google Shape;3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6" name="Google Shape;336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7" name="Google Shape;337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9" name="Google Shape;33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0" name="Google Shape;35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2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57" name="Google Shape;357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8" name="Google Shape;358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0" name="Google Shape;3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1193800" y="2044700"/>
              <a:ext cx="3466851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5676900" y="2152650"/>
              <a:ext cx="3291504" cy="48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2781300" y="7372200"/>
              <a:ext cx="46716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rPr lang="en-US" sz="1448">
                  <a:solidFill>
                    <a:srgbClr val="0812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6000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83" name="Google Shape;3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86595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84" name="Google Shape;38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3"/>
          <p:cNvSpPr/>
          <p:nvPr/>
        </p:nvSpPr>
        <p:spPr>
          <a:xfrm>
            <a:off x="45725" y="0"/>
            <a:ext cx="101601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09" name="Google Shape;4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939800" y="2565400"/>
            <a:ext cx="870223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939800" y="4241800"/>
            <a:ext cx="3783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33" name="Google Shape;43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0" name="Google Shape;440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1" name="Google Shape;441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6" name="Google Shape;446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48" name="Google Shape;448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450" name="Google Shape;4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57" name="Google Shape;457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8" name="Google Shape;458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/>
                <a:buNone/>
              </a:pPr>
              <a:r>
                <a:t/>
              </a:r>
              <a:endParaRPr b="0" i="0" sz="2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rPr b="0" i="0" lang="en-US" sz="178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67" name="Google Shape;467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/>
              <a:buNone/>
            </a:pPr>
            <a:r>
              <a:rPr b="0" i="0" lang="en-US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78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68" name="Google Shape;4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5" name="Google Shape;475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6" name="Google Shape;476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78" name="Google Shape;47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85" name="Google Shape;4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2" name="Google Shape;492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3" name="Google Shape;493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03" name="Google Shape;5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0" name="Google Shape;510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1" name="Google Shape;511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28" name="Google Shape;5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5" name="Google Shape;535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6" name="Google Shape;536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44" name="Google Shape;5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0" name="Google Shape;550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1" name="Google Shape;551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2" name="Google Shape;552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0" name="Google Shape;5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22"/>
          <p:cNvGrpSpPr/>
          <p:nvPr/>
        </p:nvGrpSpPr>
        <p:grpSpPr>
          <a:xfrm>
            <a:off x="-152400" y="0"/>
            <a:ext cx="10420770" cy="7785100"/>
            <a:chOff x="-152400" y="0"/>
            <a:chExt cx="10420770" cy="7785100"/>
          </a:xfrm>
        </p:grpSpPr>
        <p:cxnSp>
          <p:nvCxnSpPr>
            <p:cNvPr id="567" name="Google Shape;567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8" name="Google Shape;568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0" name="Google Shape;57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1" name="Google Shape;571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-1524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83" name="Google Shape;5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OO code is easiest to understand and maintain with shorter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3"/>
          <p:cNvSpPr txBox="1"/>
          <p:nvPr/>
        </p:nvSpPr>
        <p:spPr>
          <a:xfrm>
            <a:off x="939800" y="3975100"/>
            <a:ext cx="4245924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0" name="Google Shape;61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2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17" name="Google Shape;617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8" name="Google Shape;618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3" name="Google Shape;623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25" name="Google Shape;6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4"/>
          <p:cNvSpPr txBox="1"/>
          <p:nvPr/>
        </p:nvSpPr>
        <p:spPr>
          <a:xfrm>
            <a:off x="4946334" y="3350586"/>
            <a:ext cx="410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2" name="Google Shape;632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3" name="Google Shape;633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4" name="Google Shape;634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8" name="Google Shape;638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43" name="Google Shape;6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9" name="Google Shape;649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0" name="Google Shape;650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1" name="Google Shape;651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0" name="Google Shape;6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9" name="Google Shape;669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0" name="Google Shape;670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83" name="Google Shape;6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7"/>
          <p:cNvSpPr txBox="1"/>
          <p:nvPr/>
        </p:nvSpPr>
        <p:spPr>
          <a:xfrm>
            <a:off x="4579879" y="5652705"/>
            <a:ext cx="53133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1" name="Google Shape;691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2" name="Google Shape;692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4" name="Google Shape;694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1" name="Google Shape;701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03" name="Google Shape;70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2" name="Google Shape;712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3" name="Google Shape;713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4" name="Google Shape;714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22" name="Google Shape;72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9" name="Google Shape;729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0" name="Google Shape;730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1" name="Google Shape;731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33" name="Google Shape;73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30"/>
            <p:cNvSpPr/>
            <p:nvPr/>
          </p:nvSpPr>
          <p:spPr>
            <a:xfrm>
              <a:off x="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8" name="Google Shape;738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0" name="Google Shape;7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7" name="Google Shape;747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48" name="Google Shape;748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9" name="Google Shape;749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</a:t>
              </a: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5" name="Google Shape;755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57" name="Google Shape;7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5" name="Google Shape;765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6" name="Google Shape;766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77" name="Google Shape;77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3" name="Google Shape;783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4" name="Google Shape;784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5" name="Google Shape;785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7" name="Google Shape;787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/>
                <a:buNone/>
              </a:pPr>
              <a:r>
                <a:rPr b="0" i="0" lang="en-US" sz="49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0" name="Google Shape;80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6" name="Google Shape;806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07" name="Google Shape;807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8" name="Google Shape;808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0" name="Google Shape;81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4" name="Google Shape;814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16" name="Google Shape;81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2" name="Google Shape;822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3" name="Google Shape;823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5" name="Google Shape;82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39" name="Google Shape;83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5" name="Google Shape;845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46" name="Google Shape;846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7" name="Google Shape;847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54" name="Google Shape;85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0" name="Google Shape;860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1" name="Google Shape;861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2" name="Google Shape;862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75" name="Google Shape;8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2" name="Google Shape;882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3" name="Google Shape;883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1" name="Google Shape;891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04" name="Google Shape;90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0" name="Google Shape;910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1" name="Google Shape;911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2" name="Google Shape;912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0" name="Google Shape;92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6" name="Google Shape;926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27" name="Google Shape;927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8" name="Google Shape;928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4" name="Google Shape;934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36" name="Google Shape;93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2" name="Google Shape;942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3" name="Google Shape;943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t/>
              </a:r>
              <a:endParaRPr b="0" i="0" sz="22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9" name="Google Shape;949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1" name="Google Shape;951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952" name="Google Shape;9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8" name="Google Shape;958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59" name="Google Shape;959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0" name="Google Shape;960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4" name="Google Shape;964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6" name="Google Shape;966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67" name="Google Shape;96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3" name="Google Shape;973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4" name="Google Shape;974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5" name="Google Shape;975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1" name="Google Shape;981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85" name="Google Shape;98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2" name="Google Shape;992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3" name="Google Shape;993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5" name="Google Shape;99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09" name="Google Shape;1009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5" name="Google Shape;1015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16" name="Google Shape;1016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7" name="Google Shape;1017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t/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2" name="Google Shape;1022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24" name="Google Shape;102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0" name="Google Shape;1030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1" name="Google Shape;1031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2" name="Google Shape;1032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4" name="Google Shape;1034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5" name="Google Shape;1035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9" name="Google Shape;1039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1" name="Google Shape;104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7" name="Google Shape;1047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48" name="Google Shape;1048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9" name="Google Shape;1049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1" name="Google Shape;1051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6" name="Google Shape;1056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58" name="Google Shape;105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4" name="Google Shape;1064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5" name="Google Shape;1065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7" name="Google Shape;106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1" name="Google Shape;108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2" name="Google Shape;108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8" name="Google Shape;108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9" name="Google Shape;1089;p49"/>
          <p:cNvGrpSpPr/>
          <p:nvPr/>
        </p:nvGrpSpPr>
        <p:grpSpPr>
          <a:xfrm>
            <a:off x="0" y="0"/>
            <a:ext cx="10253200" cy="7785100"/>
            <a:chOff x="0" y="0"/>
            <a:chExt cx="10253200" cy="7785100"/>
          </a:xfrm>
        </p:grpSpPr>
        <p:cxnSp>
          <p:nvCxnSpPr>
            <p:cNvPr id="1090" name="Google Shape;1090;p49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1" name="Google Shape;1091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3" name="Google Shape;1093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49"/>
            <p:cNvSpPr txBox="1"/>
            <p:nvPr/>
          </p:nvSpPr>
          <p:spPr>
            <a:xfrm>
              <a:off x="2376902" y="838200"/>
              <a:ext cx="58158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9"/>
            <p:cNvSpPr txBox="1"/>
            <p:nvPr/>
          </p:nvSpPr>
          <p:spPr>
            <a:xfrm>
              <a:off x="2781300" y="7346950"/>
              <a:ext cx="4671600" cy="1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6" name="Google Shape;1096;p49"/>
            <p:cNvSpPr txBox="1"/>
            <p:nvPr/>
          </p:nvSpPr>
          <p:spPr>
            <a:xfrm>
              <a:off x="9804400" y="7632700"/>
              <a:ext cx="44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9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04" name="Google Shape;110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50"/>
          <p:cNvGrpSpPr/>
          <p:nvPr/>
        </p:nvGrpSpPr>
        <p:grpSpPr>
          <a:xfrm>
            <a:off x="0" y="76200"/>
            <a:ext cx="10253200" cy="7708900"/>
            <a:chOff x="0" y="76200"/>
            <a:chExt cx="10253200" cy="7708900"/>
          </a:xfrm>
        </p:grpSpPr>
        <p:cxnSp>
          <p:nvCxnSpPr>
            <p:cNvPr id="1106" name="Google Shape;1106;p50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7" name="Google Shape;1107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09" name="Google Shape;1109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50"/>
            <p:cNvSpPr txBox="1"/>
            <p:nvPr/>
          </p:nvSpPr>
          <p:spPr>
            <a:xfrm>
              <a:off x="839167" y="838200"/>
              <a:ext cx="88911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0"/>
            <p:cNvSpPr txBox="1"/>
            <p:nvPr/>
          </p:nvSpPr>
          <p:spPr>
            <a:xfrm>
              <a:off x="2781300" y="7346950"/>
              <a:ext cx="4671600" cy="1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2" name="Google Shape;1112;p50"/>
            <p:cNvSpPr txBox="1"/>
            <p:nvPr/>
          </p:nvSpPr>
          <p:spPr>
            <a:xfrm>
              <a:off x="9804400" y="7632700"/>
              <a:ext cx="44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0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0" name="Google Shape;1120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1" name="Google Shape;1121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5" name="Google Shape;1125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27" name="Google Shape;112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2331" y="541751"/>
            <a:ext cx="5357850" cy="7181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28" name="Google Shape;112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4" name="Google Shape;1134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5" name="Google Shape;1135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/>
                <a:buNone/>
              </a:pPr>
              <a:r>
                <a:rPr b="0" i="0" lang="en-US" sz="69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9" name="Google Shape;1139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1" name="Google Shape;114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" name="Google Shape;114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7" name="Google Shape;1147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48" name="Google Shape;1148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9" name="Google Shape;1149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4" name="Google Shape;1154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56" name="Google Shape;115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Google Shape;11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2" name="Google Shape;1162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3" name="Google Shape;1163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4" name="Google Shape;1164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01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 - For and For Each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01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nd</a:t>
              </a: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 - Loop v/s Lines repeated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9" name="Google Shape;1169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i="0" lang="en-US" sz="1200" u="none" cap="none" strike="noStrike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73" name="Google Shape;117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54"/>
          <p:cNvSpPr txBox="1"/>
          <p:nvPr/>
        </p:nvSpPr>
        <p:spPr>
          <a:xfrm>
            <a:off x="6553037" y="1930400"/>
            <a:ext cx="29265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425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0" name="Google Shape;1180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1" name="Google Shape;1181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2" name="Google Shape;1182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7" name="Google Shape;1187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89" name="Google Shape;118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5" name="Google Shape;1195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96" name="Google Shape;1196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7" name="Google Shape;1197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2" name="Google Shape;1202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04" name="Google Shape;120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Google Shape;120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0" name="Google Shape;1210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1" name="Google Shape;1211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2" name="Google Shape;1212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7"/>
            <p:cNvSpPr txBox="1"/>
            <p:nvPr/>
          </p:nvSpPr>
          <p:spPr>
            <a:xfrm>
              <a:off x="749300" y="3581400"/>
              <a:ext cx="8521760" cy="394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7" name="Google Shape;1217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19" name="Google Shape;121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12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225" name="Google Shape;122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6" name="Google Shape;1226;p58"/>
          <p:cNvGrpSpPr/>
          <p:nvPr/>
        </p:nvGrpSpPr>
        <p:grpSpPr>
          <a:xfrm>
            <a:off x="16900" y="88900"/>
            <a:ext cx="10189700" cy="7785100"/>
            <a:chOff x="63500" y="0"/>
            <a:chExt cx="10189700" cy="7785100"/>
          </a:xfrm>
        </p:grpSpPr>
        <p:cxnSp>
          <p:nvCxnSpPr>
            <p:cNvPr id="1227" name="Google Shape;1227;p58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8" name="Google Shape;1228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0" name="Google Shape;1230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58"/>
            <p:cNvSpPr txBox="1"/>
            <p:nvPr/>
          </p:nvSpPr>
          <p:spPr>
            <a:xfrm>
              <a:off x="7247111" y="12700"/>
              <a:ext cx="299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8"/>
            <p:cNvSpPr txBox="1"/>
            <p:nvPr/>
          </p:nvSpPr>
          <p:spPr>
            <a:xfrm>
              <a:off x="3464432" y="889000"/>
              <a:ext cx="36408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8"/>
            <p:cNvSpPr txBox="1"/>
            <p:nvPr/>
          </p:nvSpPr>
          <p:spPr>
            <a:xfrm>
              <a:off x="2781300" y="7346950"/>
              <a:ext cx="4671600" cy="1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4" name="Google Shape;1234;p58"/>
            <p:cNvSpPr txBox="1"/>
            <p:nvPr/>
          </p:nvSpPr>
          <p:spPr>
            <a:xfrm>
              <a:off x="9804400" y="7632700"/>
              <a:ext cx="44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6" name="Google Shape;1236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242" name="Google Shape;1242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3" name="Google Shape;1243;p59"/>
          <p:cNvGrpSpPr/>
          <p:nvPr/>
        </p:nvGrpSpPr>
        <p:grpSpPr>
          <a:xfrm>
            <a:off x="0" y="0"/>
            <a:ext cx="10253200" cy="7785100"/>
            <a:chOff x="0" y="0"/>
            <a:chExt cx="10253200" cy="7785100"/>
          </a:xfrm>
        </p:grpSpPr>
        <p:cxnSp>
          <p:nvCxnSpPr>
            <p:cNvPr id="1244" name="Google Shape;1244;p59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7" name="Google Shape;1247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8" name="Google Shape;1248;p59"/>
            <p:cNvSpPr txBox="1"/>
            <p:nvPr/>
          </p:nvSpPr>
          <p:spPr>
            <a:xfrm>
              <a:off x="7247111" y="12700"/>
              <a:ext cx="299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9"/>
            <p:cNvSpPr txBox="1"/>
            <p:nvPr/>
          </p:nvSpPr>
          <p:spPr>
            <a:xfrm>
              <a:off x="2095525" y="889000"/>
              <a:ext cx="6378600" cy="6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9"/>
            <p:cNvSpPr txBox="1"/>
            <p:nvPr/>
          </p:nvSpPr>
          <p:spPr>
            <a:xfrm>
              <a:off x="2781300" y="7346950"/>
              <a:ext cx="4671600" cy="1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1" name="Google Shape;1251;p59"/>
            <p:cNvSpPr txBox="1"/>
            <p:nvPr/>
          </p:nvSpPr>
          <p:spPr>
            <a:xfrm>
              <a:off x="9804400" y="7632700"/>
              <a:ext cx="44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3" name="Google Shape;1253;p59"/>
            <p:cNvSpPr/>
            <p:nvPr/>
          </p:nvSpPr>
          <p:spPr>
            <a:xfrm>
              <a:off x="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8" name="Google Shape;125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9" name="Google Shape;1259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0" name="Google Shape;1260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1" name="Google Shape;1261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0" name="Google Shape;127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6" name="Google Shape;1276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77" name="Google Shape;1277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8" name="Google Shape;1278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89" name="Google Shape;12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5" name="Google Shape;1295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96" name="Google Shape;1296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7" name="Google Shape;1297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99" name="Google Shape;129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0" name="Google Shape;1300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62"/>
            <p:cNvSpPr txBox="1"/>
            <p:nvPr/>
          </p:nvSpPr>
          <p:spPr>
            <a:xfrm>
              <a:off x="723900" y="2679700"/>
              <a:ext cx="8689027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8" name="Google Shape;1308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1" name="Google Shape;1311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6" name="Google Shape;131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7" name="Google Shape;1317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18" name="Google Shape;1318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9" name="Google Shape;1319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4" name="Google Shape;1324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5" name="Google Shape;1325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29" name="Google Shape;132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0" name="Google Shape;133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6" name="Google Shape;1336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37" name="Google Shape;1337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8" name="Google Shape;1338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3" name="Google Shape;1343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4" name="Google Shape;1344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5" name="Google Shape;1345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47" name="Google Shape;134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48" name="Google Shape;1348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5" name="Google Shape;1355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6" name="Google Shape;1356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1" name="Google Shape;1361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63" name="Google Shape;136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