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embeddedFontLst>
    <p:embeddedFont>
      <p:font typeface="Gill Sans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i3vLzn+2mWhLjCxpsOts8sNhl7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illSans-regular.fntdata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Gill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 txBox="1"/>
          <p:nvPr>
            <p:ph type="ctrTitle"/>
          </p:nvPr>
        </p:nvSpPr>
        <p:spPr>
          <a:xfrm>
            <a:off x="1219200" y="38862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" type="subTitle"/>
          </p:nvPr>
        </p:nvSpPr>
        <p:spPr>
          <a:xfrm>
            <a:off x="1219200" y="512445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2pPr>
            <a:lvl3pPr lvl="2" algn="ctr">
              <a:spcBef>
                <a:spcPts val="500"/>
              </a:spcBef>
              <a:spcAft>
                <a:spcPts val="0"/>
              </a:spcAft>
              <a:buSzPts val="1368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26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35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1216152" y="6355080"/>
            <a:ext cx="121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1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11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cap="rnd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1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3" name="Google Shape;23;p1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type="title"/>
          </p:nvPr>
        </p:nvSpPr>
        <p:spPr>
          <a:xfrm>
            <a:off x="1219200" y="2971800"/>
            <a:ext cx="6858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sz="3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1295400" y="4267200"/>
            <a:ext cx="6781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600"/>
              </a:spcBef>
              <a:spcAft>
                <a:spcPts val="0"/>
              </a:spcAft>
              <a:buSzPts val="152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368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216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80"/>
              <a:buNone/>
              <a:defRPr sz="1400">
                <a:solidFill>
                  <a:srgbClr val="888888"/>
                </a:solidFill>
              </a:defRPr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6400800" y="635508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2898648" y="635508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069848" y="6355080"/>
            <a:ext cx="1520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13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7" name="Google Shape;37;p13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14"/>
          <p:cNvSpPr txBox="1"/>
          <p:nvPr>
            <p:ph idx="1" type="body"/>
          </p:nvPr>
        </p:nvSpPr>
        <p:spPr>
          <a:xfrm>
            <a:off x="457200" y="1219200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2" type="body"/>
          </p:nvPr>
        </p:nvSpPr>
        <p:spPr>
          <a:xfrm>
            <a:off x="4632198" y="1216152"/>
            <a:ext cx="4041648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" type="body"/>
          </p:nvPr>
        </p:nvSpPr>
        <p:spPr>
          <a:xfrm>
            <a:off x="457200" y="1285875"/>
            <a:ext cx="40401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2" type="body"/>
          </p:nvPr>
        </p:nvSpPr>
        <p:spPr>
          <a:xfrm>
            <a:off x="4648200" y="1295400"/>
            <a:ext cx="40417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824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1520"/>
              <a:buNone/>
              <a:defRPr b="1" sz="20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1368"/>
              <a:buNone/>
              <a:defRPr b="1" sz="18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15"/>
          <p:cNvSpPr txBox="1"/>
          <p:nvPr>
            <p:ph idx="3" type="body"/>
          </p:nvPr>
        </p:nvSpPr>
        <p:spPr>
          <a:xfrm>
            <a:off x="457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4" type="body"/>
          </p:nvPr>
        </p:nvSpPr>
        <p:spPr>
          <a:xfrm>
            <a:off x="4648200" y="2133600"/>
            <a:ext cx="4038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16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4" name="Google Shape;64;p17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5" name="Google Shape;65;p17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6324600" y="304800"/>
            <a:ext cx="2514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ill Sans"/>
              <a:buNone/>
              <a:defRPr b="1" sz="2000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6324600" y="1219200"/>
            <a:ext cx="2514600" cy="4843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37500"/>
              </a:lnSpc>
              <a:spcBef>
                <a:spcPts val="600"/>
              </a:spcBef>
              <a:spcAft>
                <a:spcPts val="0"/>
              </a:spcAft>
              <a:buSzPts val="1216"/>
              <a:buNone/>
              <a:defRPr sz="16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12"/>
              <a:buNone/>
              <a:defRPr sz="1200"/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760"/>
              <a:buNone/>
              <a:defRPr sz="1000"/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63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630"/>
              <a:buNone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2" name="Google Shape;72;p18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73" name="Google Shape;73;p18"/>
          <p:cNvCxnSpPr/>
          <p:nvPr/>
        </p:nvCxnSpPr>
        <p:spPr>
          <a:xfrm rot="5400000">
            <a:off x="3160645" y="3324225"/>
            <a:ext cx="603504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4" name="Google Shape;74;p18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18"/>
          <p:cNvSpPr txBox="1"/>
          <p:nvPr>
            <p:ph idx="2" type="body"/>
          </p:nvPr>
        </p:nvSpPr>
        <p:spPr>
          <a:xfrm>
            <a:off x="304800" y="304800"/>
            <a:ext cx="5715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/>
          <p:nvPr>
            <p:ph type="title"/>
          </p:nvPr>
        </p:nvSpPr>
        <p:spPr>
          <a:xfrm>
            <a:off x="457200" y="500856"/>
            <a:ext cx="8229600" cy="674688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274300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ookman Old Style"/>
              <a:buNone/>
              <a:defRPr b="0" sz="2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/>
          <p:nvPr>
            <p:ph idx="2" type="pic"/>
          </p:nvPr>
        </p:nvSpPr>
        <p:spPr>
          <a:xfrm>
            <a:off x="457200" y="1905000"/>
            <a:ext cx="8229600" cy="427024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457200" y="1219200"/>
            <a:ext cx="8229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00"/>
              </a:spcBef>
              <a:spcAft>
                <a:spcPts val="0"/>
              </a:spcAft>
              <a:buSzPts val="1064"/>
              <a:buFont typeface="Gill Sans"/>
              <a:buNone/>
              <a:defRPr sz="1400"/>
            </a:lvl1pPr>
            <a:lvl2pPr indent="-286512" lvl="1" marL="914400" algn="l">
              <a:spcBef>
                <a:spcPts val="500"/>
              </a:spcBef>
              <a:spcAft>
                <a:spcPts val="0"/>
              </a:spcAft>
              <a:buSzPts val="912"/>
              <a:buChar char="🞂"/>
              <a:defRPr sz="1200"/>
            </a:lvl2pPr>
            <a:lvl3pPr indent="-276860" lvl="2" marL="1371600" algn="l">
              <a:spcBef>
                <a:spcPts val="500"/>
              </a:spcBef>
              <a:spcAft>
                <a:spcPts val="0"/>
              </a:spcAft>
              <a:buSzPts val="760"/>
              <a:buChar char="🞂"/>
              <a:defRPr sz="1000"/>
            </a:lvl3pPr>
            <a:lvl4pPr indent="-268605" lvl="3" marL="1828800" algn="l">
              <a:spcBef>
                <a:spcPts val="400"/>
              </a:spcBef>
              <a:spcAft>
                <a:spcPts val="0"/>
              </a:spcAft>
              <a:buSzPts val="630"/>
              <a:buChar char="◻"/>
              <a:defRPr sz="900"/>
            </a:lvl4pPr>
            <a:lvl5pPr indent="-268604" lvl="4" marL="2286000" algn="l">
              <a:spcBef>
                <a:spcPts val="300"/>
              </a:spcBef>
              <a:spcAft>
                <a:spcPts val="0"/>
              </a:spcAft>
              <a:buSzPts val="630"/>
              <a:buChar char="◻"/>
              <a:defRPr sz="900"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3" name="Google Shape;83;p19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4" name="Google Shape;84;p19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1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" type="body"/>
          </p:nvPr>
        </p:nvSpPr>
        <p:spPr>
          <a:xfrm rot="5400000">
            <a:off x="2116836" y="-440436"/>
            <a:ext cx="4910328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89" name="Google Shape;89;p2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15468" lvl="0" marL="457200" algn="l">
              <a:spcBef>
                <a:spcPts val="600"/>
              </a:spcBef>
              <a:spcAft>
                <a:spcPts val="0"/>
              </a:spcAft>
              <a:buSzPts val="1368"/>
              <a:buChar char="🞂"/>
              <a:defRPr/>
            </a:lvl1pPr>
            <a:lvl2pPr indent="-315468" lvl="1" marL="9144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2pPr>
            <a:lvl3pPr indent="-315467" lvl="2" marL="1371600" algn="l">
              <a:spcBef>
                <a:spcPts val="500"/>
              </a:spcBef>
              <a:spcAft>
                <a:spcPts val="0"/>
              </a:spcAft>
              <a:buSzPts val="1368"/>
              <a:buChar char="🞂"/>
              <a:defRPr/>
            </a:lvl3pPr>
            <a:lvl4pPr indent="-308610" lvl="3" marL="1828800" algn="l">
              <a:spcBef>
                <a:spcPts val="400"/>
              </a:spcBef>
              <a:spcAft>
                <a:spcPts val="0"/>
              </a:spcAft>
              <a:buSzPts val="1260"/>
              <a:buChar char="◻"/>
              <a:defRPr/>
            </a:lvl4pPr>
            <a:lvl5pPr indent="-308610" lvl="4" marL="2286000" algn="l">
              <a:spcBef>
                <a:spcPts val="300"/>
              </a:spcBef>
              <a:spcAft>
                <a:spcPts val="0"/>
              </a:spcAft>
              <a:buSzPts val="1260"/>
              <a:buChar char="◻"/>
              <a:defRPr/>
            </a:lvl5pPr>
            <a:lvl6pPr indent="-314325" lvl="5" marL="27432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6pPr>
            <a:lvl7pPr indent="-314325" lvl="6" marL="32004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7pPr>
            <a:lvl8pPr indent="-314325" lvl="7" marL="36576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8pPr>
            <a:lvl9pPr indent="-314325" lvl="8" marL="4114800" algn="l">
              <a:spcBef>
                <a:spcPts val="300"/>
              </a:spcBef>
              <a:spcAft>
                <a:spcPts val="0"/>
              </a:spcAft>
              <a:buSzPts val="1350"/>
              <a:buChar char="🞂"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8" name="Google Shape;98;p21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9" name="Google Shape;99;p21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00" name="Google Shape;100;p21"/>
          <p:cNvCxnSpPr/>
          <p:nvPr/>
        </p:nvCxnSpPr>
        <p:spPr>
          <a:xfrm rot="5400000">
            <a:off x="3629607" y="3201952"/>
            <a:ext cx="585216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  <a:defRPr b="0" i="0" sz="3200" u="none" cap="none" strike="noStrike">
                <a:solidFill>
                  <a:schemeClr val="dk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076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76"/>
              <a:buFont typeface="Noto Sans Symbols"/>
              <a:buChar char="🞂"/>
              <a:defRPr b="0" i="0" sz="2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9597" lvl="1" marL="914400" marR="0" rtl="0" algn="l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748"/>
              <a:buFont typeface="Noto Sans Symbols"/>
              <a:buChar char="🞂"/>
              <a:defRPr b="0" i="0" sz="23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25119" lvl="2" marL="1371600" marR="0" rtl="0" algn="l">
              <a:spcBef>
                <a:spcPts val="500"/>
              </a:spcBef>
              <a:spcAft>
                <a:spcPts val="0"/>
              </a:spcAft>
              <a:buClr>
                <a:srgbClr val="BABABA"/>
              </a:buClr>
              <a:buSzPts val="1520"/>
              <a:buFont typeface="Noto Sans Symbols"/>
              <a:buChar char="🞂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0861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D58F3E"/>
              </a:buClr>
              <a:buSzPts val="1260"/>
              <a:buFont typeface="Noto Sans Symbols"/>
              <a:buChar char="◻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972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04800" lvl="5" marL="2743200" marR="0" rtl="0" algn="l">
              <a:spcBef>
                <a:spcPts val="300"/>
              </a:spcBef>
              <a:spcAft>
                <a:spcPts val="0"/>
              </a:spcAft>
              <a:buClr>
                <a:srgbClr val="8BA1B3"/>
              </a:buClr>
              <a:buSzPts val="1200"/>
              <a:buFont typeface="Noto Sans Symbols"/>
              <a:buChar char="🞂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5275" lvl="6" marL="3200400" marR="0" rtl="0" algn="l">
              <a:spcBef>
                <a:spcPts val="300"/>
              </a:spcBef>
              <a:spcAft>
                <a:spcPts val="0"/>
              </a:spcAft>
              <a:buClr>
                <a:srgbClr val="646C8F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5275" lvl="7" marL="3657600" marR="0" rtl="0" algn="l">
              <a:spcBef>
                <a:spcPts val="300"/>
              </a:spcBef>
              <a:spcAft>
                <a:spcPts val="0"/>
              </a:spcAft>
              <a:buClr>
                <a:srgbClr val="BABABA"/>
              </a:buClr>
              <a:buSzPts val="1050"/>
              <a:buFont typeface="Noto Sans Symbols"/>
              <a:buChar char="🞂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85750" lvl="8" marL="4114800" marR="0" rtl="0" algn="l">
              <a:spcBef>
                <a:spcPts val="300"/>
              </a:spcBef>
              <a:spcAft>
                <a:spcPts val="0"/>
              </a:spcAft>
              <a:buClr>
                <a:srgbClr val="9FB8CD"/>
              </a:buClr>
              <a:buSzPts val="900"/>
              <a:buFont typeface="Noto Sans Symbols"/>
              <a:buChar char="🞂"/>
              <a:defRPr b="0" i="0" sz="1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0"/>
          <p:cNvCxnSpPr/>
          <p:nvPr/>
        </p:nvCxnSpPr>
        <p:spPr>
          <a:xfrm>
            <a:off x="457200" y="6353175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" name="Google Shape;12;p10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" name="Google Shape;13;p10"/>
          <p:cNvSpPr/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gif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1143000" y="3810000"/>
            <a:ext cx="6858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man Old Style"/>
              <a:buNone/>
            </a:pPr>
            <a:r>
              <a:rPr lang="en-US"/>
              <a:t>CSE 470 – Layered Architecture</a:t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219200" y="5410200"/>
            <a:ext cx="6858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520"/>
              <a:buNone/>
            </a:pPr>
            <a:r>
              <a:rPr lang="en-US"/>
              <a:t>BRAC University</a:t>
            </a:r>
            <a:endParaRPr/>
          </a:p>
        </p:txBody>
      </p:sp>
      <p:pic>
        <p:nvPicPr>
          <p:cNvPr descr="software-engineering-5b4daa8bab12ae7f4848c482.jpg" id="107" name="Google Shape;10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08" name="Google Shape;10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Lets recall Monolithic Software</a:t>
            </a:r>
            <a:endParaRPr/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0" y="1371600"/>
            <a:ext cx="43434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976"/>
              <a:buChar char="🞂"/>
            </a:pPr>
            <a:r>
              <a:rPr lang="en-US"/>
              <a:t>The end product come at end of the process model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/>
              <a:t>There is no separation of concern (code) of different software components.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976"/>
              <a:buChar char="🞂"/>
            </a:pPr>
            <a:r>
              <a:rPr lang="en-US"/>
              <a:t>All code may be written in a single file with html, sql queries, logic checking etc.</a:t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grpSp>
        <p:nvGrpSpPr>
          <p:cNvPr id="115" name="Google Shape;115;p2"/>
          <p:cNvGrpSpPr/>
          <p:nvPr/>
        </p:nvGrpSpPr>
        <p:grpSpPr>
          <a:xfrm>
            <a:off x="6400800" y="1295400"/>
            <a:ext cx="2380953" cy="1523924"/>
            <a:chOff x="5943600" y="1524000"/>
            <a:chExt cx="2380953" cy="1523924"/>
          </a:xfrm>
        </p:grpSpPr>
        <p:pic>
          <p:nvPicPr>
            <p:cNvPr descr="go.png" id="116" name="Google Shape;11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43600" y="2438400"/>
              <a:ext cx="2380953" cy="6095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2"/>
            <p:cNvSpPr txBox="1"/>
            <p:nvPr/>
          </p:nvSpPr>
          <p:spPr>
            <a:xfrm>
              <a:off x="6172200" y="1524000"/>
              <a:ext cx="1981200" cy="923330"/>
            </a:xfrm>
            <a:prstGeom prst="rect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Customer Screen, Browser, Keyboard input</a:t>
              </a:r>
              <a:endParaRPr b="1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5858171" y="3048000"/>
            <a:ext cx="3285829" cy="1456730"/>
            <a:chOff x="2667000" y="3048000"/>
            <a:chExt cx="3285829" cy="1456730"/>
          </a:xfrm>
        </p:grpSpPr>
        <p:pic>
          <p:nvPicPr>
            <p:cNvPr descr="bus.png" id="119" name="Google Shape;119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581400" y="3048000"/>
              <a:ext cx="2371429" cy="6285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" name="Google Shape;120;p2"/>
            <p:cNvSpPr txBox="1"/>
            <p:nvPr/>
          </p:nvSpPr>
          <p:spPr>
            <a:xfrm>
              <a:off x="2667000" y="3581400"/>
              <a:ext cx="2438400" cy="923330"/>
            </a:xfrm>
            <a:prstGeom prst="rect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Operation on data – validate, aggregate, calculate</a:t>
              </a:r>
              <a:endParaRPr b="1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4029375" y="2267638"/>
            <a:ext cx="2371429" cy="1103700"/>
            <a:chOff x="6553200" y="3124200"/>
            <a:chExt cx="2371429" cy="1103700"/>
          </a:xfrm>
        </p:grpSpPr>
        <p:pic>
          <p:nvPicPr>
            <p:cNvPr descr="new.png" id="122" name="Google Shape;122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553200" y="3124200"/>
              <a:ext cx="2371429" cy="571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2"/>
            <p:cNvSpPr txBox="1"/>
            <p:nvPr/>
          </p:nvSpPr>
          <p:spPr>
            <a:xfrm>
              <a:off x="6705600" y="3581400"/>
              <a:ext cx="2057400" cy="646500"/>
            </a:xfrm>
            <a:prstGeom prst="rect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Read/ write data on the storage</a:t>
              </a:r>
              <a:endParaRPr b="1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3962400" y="4495800"/>
            <a:ext cx="3276600" cy="1179731"/>
            <a:chOff x="5029200" y="4343400"/>
            <a:chExt cx="3276600" cy="1179731"/>
          </a:xfrm>
        </p:grpSpPr>
        <p:pic>
          <p:nvPicPr>
            <p:cNvPr descr="dat.png" id="125" name="Google Shape;125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029200" y="4343400"/>
              <a:ext cx="2257143" cy="5714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2"/>
            <p:cNvSpPr txBox="1"/>
            <p:nvPr/>
          </p:nvSpPr>
          <p:spPr>
            <a:xfrm>
              <a:off x="6324600" y="4876800"/>
              <a:ext cx="1981200" cy="646331"/>
            </a:xfrm>
            <a:prstGeom prst="rect">
              <a:avLst/>
            </a:prstGeom>
            <a:noFill/>
            <a:ln cap="flat" cmpd="sng" w="222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70C0"/>
                  </a:solidFill>
                  <a:latin typeface="Gill Sans"/>
                  <a:ea typeface="Gill Sans"/>
                  <a:cs typeface="Gill Sans"/>
                  <a:sym typeface="Gill Sans"/>
                </a:rPr>
                <a:t>Actual residence of data</a:t>
              </a:r>
              <a:endParaRPr b="1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  <p:pic>
        <p:nvPicPr>
          <p:cNvPr descr="brac.png" id="127" name="Google Shape;12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 txBox="1"/>
          <p:nvPr>
            <p:ph idx="1" type="body"/>
          </p:nvPr>
        </p:nvSpPr>
        <p:spPr>
          <a:xfrm>
            <a:off x="2209800" y="3733800"/>
            <a:ext cx="4953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No separation between components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ct val="76000"/>
              <a:buChar char="🞂"/>
            </a:pPr>
            <a:r>
              <a:rPr lang="en-US"/>
              <a:t>Changing a component affects other components. For example – What if I want to change the UI from JavaScript to Angular ?</a:t>
            </a:r>
            <a:endParaRPr/>
          </a:p>
          <a:p>
            <a:pPr indent="-158254" lvl="0" marL="274320" rtl="0" algn="l">
              <a:spcBef>
                <a:spcPts val="600"/>
              </a:spcBef>
              <a:spcAft>
                <a:spcPts val="0"/>
              </a:spcAft>
              <a:buSzPct val="76000"/>
              <a:buNone/>
            </a:pPr>
            <a:r>
              <a:t/>
            </a:r>
            <a:endParaRPr/>
          </a:p>
        </p:txBody>
      </p:sp>
      <p:pic>
        <p:nvPicPr>
          <p:cNvPr descr="whPmtET.gif" id="134" name="Google Shape;13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609600"/>
            <a:ext cx="3619500" cy="300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35" name="Google Shape;13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Layered Architecture</a:t>
            </a:r>
            <a:endParaRPr/>
          </a:p>
        </p:txBody>
      </p:sp>
      <p:sp>
        <p:nvSpPr>
          <p:cNvPr id="141" name="Google Shape;141;p4"/>
          <p:cNvSpPr txBox="1"/>
          <p:nvPr>
            <p:ph idx="1" type="body"/>
          </p:nvPr>
        </p:nvSpPr>
        <p:spPr>
          <a:xfrm>
            <a:off x="457200" y="1219200"/>
            <a:ext cx="82296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128"/>
              <a:buChar char="🞂"/>
            </a:pPr>
            <a:r>
              <a:rPr lang="en-US" sz="2800"/>
              <a:t>Organises the system into a set of layers (or abstract machines) each of which provide a set of services.</a:t>
            </a:r>
            <a:endParaRPr/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2128"/>
              <a:buChar char="🞂"/>
            </a:pPr>
            <a:r>
              <a:rPr lang="en-US" sz="2800"/>
              <a:t>Supports the incremental development of sub-systems in different layers. When a layer interface changes, only the adjacent layer is affected.</a:t>
            </a:r>
            <a:endParaRPr/>
          </a:p>
          <a:p>
            <a:pPr indent="-148844" lvl="0" marL="274320" rtl="0" algn="l">
              <a:spcBef>
                <a:spcPts val="600"/>
              </a:spcBef>
              <a:spcAft>
                <a:spcPts val="0"/>
              </a:spcAft>
              <a:buSzPts val="1976"/>
              <a:buNone/>
            </a:pPr>
            <a:r>
              <a:t/>
            </a:r>
            <a:endParaRPr/>
          </a:p>
        </p:txBody>
      </p:sp>
      <p:pic>
        <p:nvPicPr>
          <p:cNvPr descr="brac.png" id="142" name="Google Shape;14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>
            <p:ph idx="1" type="body"/>
          </p:nvPr>
        </p:nvSpPr>
        <p:spPr>
          <a:xfrm>
            <a:off x="0" y="1066800"/>
            <a:ext cx="342900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1520"/>
              <a:buChar char="🞂"/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Organizes the system into layers with related functionality associated with each layer. </a:t>
            </a:r>
            <a:endParaRPr sz="2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74320" lvl="0" marL="274320" rtl="0" algn="l">
              <a:spcBef>
                <a:spcPts val="600"/>
              </a:spcBef>
              <a:spcAft>
                <a:spcPts val="0"/>
              </a:spcAft>
              <a:buSzPts val="1520"/>
              <a:buChar char="🞂"/>
            </a:pPr>
            <a:r>
              <a:rPr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layer provides services to the layer above it so the lowest-level layers represent core services that are likely to be used throughout the system. 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0" y="685800"/>
            <a:ext cx="5506420" cy="5030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49" name="Google Shape;14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pic>
        <p:nvPicPr>
          <p:cNvPr descr="lay1.PNG" id="155" name="Google Shape;15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914400"/>
            <a:ext cx="61722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0" y="1143000"/>
            <a:ext cx="2895600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Layers can be open or closed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closed layer can only be accessed by the layer above.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change in one layer does not affect others. It provides isolation.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Noto Sans Symbols"/>
              <a:buChar char="❑"/>
            </a:pPr>
            <a:r>
              <a:rPr b="1" lang="en-US" sz="1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However, 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what if we want to add a new layer where shared utilities will be provided to be used by the </a:t>
            </a:r>
            <a:r>
              <a:rPr b="1"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Business Layer. </a:t>
            </a: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But, we need to use it sometimes.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brac.png" id="157" name="Google Shape;15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t/>
            </a:r>
            <a:endParaRPr/>
          </a:p>
        </p:txBody>
      </p:sp>
      <p:pic>
        <p:nvPicPr>
          <p:cNvPr descr="lay2.PNG" id="163" name="Google Shape;163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95600" y="1066800"/>
            <a:ext cx="5953967" cy="4877481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 txBox="1"/>
          <p:nvPr/>
        </p:nvSpPr>
        <p:spPr>
          <a:xfrm>
            <a:off x="0" y="1600200"/>
            <a:ext cx="2895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Here comes the concept of open layers.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 open layer can be bypassed by upper layers.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US" sz="1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Too many open layers may affect the actual essence of layered architecture.</a:t>
            </a:r>
            <a:endParaRPr/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86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brac.png" id="165" name="Google Shape;16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 txBox="1"/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Bookman Old Style"/>
              <a:buNone/>
            </a:pPr>
            <a:r>
              <a:rPr lang="en-US"/>
              <a:t>Example !!</a:t>
            </a:r>
            <a:endParaRPr/>
          </a:p>
        </p:txBody>
      </p:sp>
      <p:pic>
        <p:nvPicPr>
          <p:cNvPr descr="lay3.PNG" id="171" name="Google Shape;17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219200"/>
            <a:ext cx="5458194" cy="51311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rac.png" id="172" name="Google Shape;17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 txBox="1"/>
          <p:nvPr/>
        </p:nvSpPr>
        <p:spPr>
          <a:xfrm>
            <a:off x="228600" y="381000"/>
            <a:ext cx="662940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When Used: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Used when building new facilities on top of existing systems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When the development is spread across several teams with each team responsibility for a layer of functionality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When there is a requirement for multi-level security.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2438400" y="2209800"/>
            <a:ext cx="6324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Advantages: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Allows  easy replacement or addition of entire layers so long as the interface is maintained.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Testing is easy as components are isolated </a:t>
            </a:r>
            <a:endParaRPr sz="1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304800" y="3657600"/>
            <a:ext cx="7467600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Disadvantages: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 practice, providing a clean separation between layers is often difficult and a high-level layer may have to interact directly with lower-level layers rather than through the layer immediately below it. </a:t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Performance can be a problem because of multiple levels of interpretation of a service request as it is processed at each layer.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Bookman Old Style"/>
              <a:buAutoNum type="arabicPeriod"/>
            </a:pPr>
            <a:r>
              <a:rPr lang="en-US" sz="18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change in any layer still requires to restart the application.</a:t>
            </a:r>
            <a:endParaRPr sz="18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brac.png" id="180" name="Google Shape;18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4800" y="5791200"/>
            <a:ext cx="1219200" cy="10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igin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2020-05-26T17:53:17Z</dcterms:created>
  <dc:creator>User</dc:creator>
</cp:coreProperties>
</file>