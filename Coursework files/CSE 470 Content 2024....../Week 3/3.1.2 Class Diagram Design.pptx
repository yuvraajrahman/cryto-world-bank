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bu0MHN3q8oCOvMvtrN/f69Su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uottawa.ca/academic/arts/writcent/hypergrammar/objcompl.html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Examine the text to identify potential objects, attributes, operations, and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Examine the text to identify potential objects, attributes, operations, and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Transitive Verb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meaning of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transitive verb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is incomplete without a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direct object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as in the following examples: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INCOMPLETE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		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COMPLETE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shelf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holds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	The shelf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holds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three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 books and a vase of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 flowers.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committee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named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The committee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named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new chairperson.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child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broke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	The child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broke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the plate. </a:t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Intransitive Verb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intransitive verb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on the other hand,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cannot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take a direct object.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Example:  This plant has thrived on the south windowsill.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Predicate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part of the sentence that contains a verb or verb phrase and its complements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Constraints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 of constraint:  attribute that can only be within a certain range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Look at the pre-conditions and post-conditions in the use cases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Decide how to handle violations to the constraints (how to handle errors/exceptions)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Redundant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potential classes differ only in name.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Irrelevant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that have nothing to do with the system.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computer connection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Vague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whose meaning is not clear at all.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in the list above are likely to be modeled as attributes rather as classes.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Operations: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likely to be operations rather than classes.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book search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Roles: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roles of objects involved in associations rather than classes.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Implementation Constructs: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Anything that is not part of the real-world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Redundant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potential classes differ only in name.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Irrelevant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that have nothing to do with the system.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computer connection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Vague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whose meaning is not clear at all.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in the list above are likely to be modeled as attributes rather as classes.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Operations: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likely to be operations rather than classes.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book search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Roles: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roles of objects involved in associations rather than classes. 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Implementation Constructs: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Anything that is not part of the real-world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011" lvl="0" marL="22501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-225011" lvl="0" marL="22501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Name typed in top compartment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-cassetteID: 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-cassetteVolumeNo: 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7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1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21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22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2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2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24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Class Diagram Design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274638"/>
            <a:ext cx="8229600" cy="1401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</a:t>
            </a:r>
            <a:endParaRPr sz="4000"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common or improper noun implies a class of objects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proper noun implies an instance of a class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collective noun implies a class of objects made up of groups of instances of another class</a:t>
            </a:r>
            <a:endParaRPr/>
          </a:p>
        </p:txBody>
      </p:sp>
      <p:pic>
        <p:nvPicPr>
          <p:cNvPr descr="brac.png"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 (2)</a:t>
            </a:r>
            <a:endParaRPr sz="4000"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An adjective implies an attribute of an object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doing verb implies an operation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being verb implies a relationship between an object and its class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having verb implies an aggregation or association relationship</a:t>
            </a:r>
            <a:endParaRPr/>
          </a:p>
        </p:txBody>
      </p:sp>
      <p:pic>
        <p:nvPicPr>
          <p:cNvPr descr="brac.png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 (3)</a:t>
            </a:r>
            <a:endParaRPr sz="4000"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transitive verb implies an operation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An intransitive verb implies an exception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 predicate or descriptive verb phrase implies an operation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An adverb implies an attribute of a relationship or an operation</a:t>
            </a:r>
            <a:endParaRPr/>
          </a:p>
        </p:txBody>
      </p:sp>
      <p:pic>
        <p:nvPicPr>
          <p:cNvPr descr="brac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457200" y="274638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457200" y="16002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Ensure that the classes are both necessary and sufficient to solve the underlying problem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no missing attributes or methods in each class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no extra or unused attributes or methods in each class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no missing or extra classes</a:t>
            </a:r>
            <a:endParaRPr/>
          </a:p>
        </p:txBody>
      </p:sp>
      <p:pic>
        <p:nvPicPr>
          <p:cNvPr descr="brac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Bookman Old Style"/>
              <a:buNone/>
            </a:pPr>
            <a:r>
              <a:rPr lang="en-US"/>
              <a:t>Discarding Unnecessary and Incorrect Classes</a:t>
            </a:r>
            <a:endParaRPr sz="4000"/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457200" y="16764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Redundant Classes: Some potential classes differ only in name.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Irrelevant Classes: Classes that have nothing to do with the system. Example: </a:t>
            </a:r>
            <a:r>
              <a:rPr i="1" lang="en-US" sz="3600"/>
              <a:t>computer connection</a:t>
            </a:r>
            <a:endParaRPr sz="36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Vague Classes: Classes whose meaning is not clear at all. Examples: </a:t>
            </a:r>
            <a:r>
              <a:rPr i="1" lang="en-US" sz="3600"/>
              <a:t>system</a:t>
            </a:r>
            <a:r>
              <a:rPr lang="en-US" sz="3600"/>
              <a:t> and </a:t>
            </a:r>
            <a:r>
              <a:rPr i="1" lang="en-US" sz="3600"/>
              <a:t>software</a:t>
            </a:r>
            <a:endParaRPr sz="3600"/>
          </a:p>
        </p:txBody>
      </p:sp>
      <p:pic>
        <p:nvPicPr>
          <p:cNvPr descr="brac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Bookman Old Style"/>
              <a:buNone/>
            </a:pPr>
            <a:r>
              <a:rPr lang="en-US"/>
              <a:t>Discarding Unnecessary and Incorrect Classes</a:t>
            </a:r>
            <a:endParaRPr sz="4000"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457200" y="16764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Attributes: Some nouns in the list above are likely to be modeled as attributes rather as classes. Examples: </a:t>
            </a:r>
            <a:r>
              <a:rPr i="1" lang="en-US" sz="2800"/>
              <a:t>author</a:t>
            </a:r>
            <a:r>
              <a:rPr lang="en-US" sz="2800"/>
              <a:t>, </a:t>
            </a:r>
            <a:r>
              <a:rPr i="1" lang="en-US" sz="2800"/>
              <a:t>title</a:t>
            </a:r>
            <a:r>
              <a:rPr lang="en-US" sz="2800"/>
              <a:t>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Operations: Some nouns are likely to be operations rather than classes. Example: </a:t>
            </a:r>
            <a:r>
              <a:rPr i="1" lang="en-US" sz="2800"/>
              <a:t>book search</a:t>
            </a:r>
            <a:r>
              <a:rPr lang="en-US" sz="2800"/>
              <a:t>.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Roles: Some nouns are roles of objects involved in associations rather than classes.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Implementation Constructs: Anything that is not part of the real-world problem.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457200" y="274638"/>
            <a:ext cx="8382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Types of Classes</a:t>
            </a:r>
            <a:endParaRPr sz="4000"/>
          </a:p>
        </p:txBody>
      </p:sp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457200" y="1371600"/>
            <a:ext cx="8382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Ones found during analysis: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people, places, events, and things about which the system will capture information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ones found in application domain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736"/>
              <a:buChar char="🞂"/>
            </a:pPr>
            <a:r>
              <a:rPr lang="en-US" sz="3600"/>
              <a:t>Ones found during design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2432"/>
              <a:buChar char="🞂"/>
            </a:pPr>
            <a:r>
              <a:rPr lang="en-US" sz="3200"/>
              <a:t>specific objects like windows and forms that are used to build the system</a:t>
            </a:r>
            <a:endParaRPr/>
          </a:p>
        </p:txBody>
      </p:sp>
      <p:pic>
        <p:nvPicPr>
          <p:cNvPr descr="brac.png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533400" y="4572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of a Class Diagram</a:t>
            </a:r>
            <a:endParaRPr b="1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838200" y="1568450"/>
            <a:ext cx="4800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Video Rental System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010400" y="5791200"/>
            <a:ext cx="1905000" cy="514350"/>
          </a:xfrm>
          <a:prstGeom prst="wedgeRoundRectCallout">
            <a:avLst>
              <a:gd fmla="val -76000" name="adj1"/>
              <a:gd fmla="val -159259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400800" y="2609850"/>
            <a:ext cx="2438400" cy="514350"/>
          </a:xfrm>
          <a:prstGeom prst="wedgeRoundRectCallout">
            <a:avLst>
              <a:gd fmla="val -42579" name="adj1"/>
              <a:gd fmla="val 152468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name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>
            <a:off x="5105400" y="3429000"/>
            <a:ext cx="3505200" cy="2066925"/>
            <a:chOff x="1584" y="2496"/>
            <a:chExt cx="2016" cy="1200"/>
          </a:xfrm>
        </p:grpSpPr>
        <p:sp>
          <p:nvSpPr>
            <p:cNvPr id="181" name="Google Shape;181;p9"/>
            <p:cNvSpPr/>
            <p:nvPr/>
          </p:nvSpPr>
          <p:spPr>
            <a:xfrm>
              <a:off x="1584" y="2496"/>
              <a:ext cx="2016" cy="1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82" name="Google Shape;182;p9"/>
            <p:cNvCxnSpPr/>
            <p:nvPr/>
          </p:nvCxnSpPr>
          <p:spPr>
            <a:xfrm>
              <a:off x="1584" y="2880"/>
              <a:ext cx="20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1584" y="3360"/>
              <a:ext cx="20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4" name="Google Shape;184;p9"/>
            <p:cNvSpPr txBox="1"/>
            <p:nvPr/>
          </p:nvSpPr>
          <p:spPr>
            <a:xfrm>
              <a:off x="2112" y="2592"/>
              <a:ext cx="912" cy="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Video</a:t>
              </a:r>
              <a:endParaRPr/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1728" y="2976"/>
              <a:ext cx="960" cy="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1728" y="3398"/>
              <a:ext cx="960" cy="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+rentMovie()</a:t>
              </a:r>
              <a:endParaRPr/>
            </a:p>
          </p:txBody>
        </p:sp>
      </p:grpSp>
      <p:sp>
        <p:nvSpPr>
          <p:cNvPr id="187" name="Google Shape;187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33400" y="3424238"/>
            <a:ext cx="3200400" cy="2143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533400" y="4110038"/>
            <a:ext cx="3200400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9"/>
          <p:cNvCxnSpPr/>
          <p:nvPr/>
        </p:nvCxnSpPr>
        <p:spPr>
          <a:xfrm>
            <a:off x="533400" y="4967288"/>
            <a:ext cx="3200400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9"/>
          <p:cNvSpPr txBox="1"/>
          <p:nvPr/>
        </p:nvSpPr>
        <p:spPr>
          <a:xfrm>
            <a:off x="914400" y="3595688"/>
            <a:ext cx="2362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Customer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762000" y="4114800"/>
            <a:ext cx="2895600" cy="119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-CID:  int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-name:  String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762000" y="5105400"/>
            <a:ext cx="25908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+authenticateCustomer ()</a:t>
            </a:r>
            <a:endParaRPr/>
          </a:p>
        </p:txBody>
      </p:sp>
      <p:cxnSp>
        <p:nvCxnSpPr>
          <p:cNvPr id="194" name="Google Shape;194;p9"/>
          <p:cNvCxnSpPr/>
          <p:nvPr/>
        </p:nvCxnSpPr>
        <p:spPr>
          <a:xfrm>
            <a:off x="3733800" y="4281488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9"/>
          <p:cNvSpPr/>
          <p:nvPr/>
        </p:nvSpPr>
        <p:spPr>
          <a:xfrm>
            <a:off x="4419600" y="5962650"/>
            <a:ext cx="2133600" cy="514350"/>
          </a:xfrm>
          <a:prstGeom prst="wedgeRoundRectCallout">
            <a:avLst>
              <a:gd fmla="val -56472" name="adj1"/>
              <a:gd fmla="val -278125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3962400" y="4403725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rents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4572000" y="3852863"/>
            <a:ext cx="609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1..*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3733800" y="3852863"/>
            <a:ext cx="609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1..*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505200" y="2590800"/>
            <a:ext cx="2209800" cy="514350"/>
          </a:xfrm>
          <a:prstGeom prst="wedgeRoundRectCallout">
            <a:avLst>
              <a:gd fmla="val -26292" name="adj1"/>
              <a:gd fmla="val 195986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multiplicity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828800" y="674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04800" y="2514600"/>
            <a:ext cx="2209800" cy="514350"/>
          </a:xfrm>
          <a:prstGeom prst="wedgeRoundRectCallout">
            <a:avLst>
              <a:gd fmla="val -24352" name="adj1"/>
              <a:gd fmla="val 275000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52400" y="5867400"/>
            <a:ext cx="1828800" cy="514350"/>
          </a:xfrm>
          <a:prstGeom prst="wedgeRoundRectCallout">
            <a:avLst>
              <a:gd fmla="val -22481" name="adj1"/>
              <a:gd fmla="val -308333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5257800" y="4267200"/>
            <a:ext cx="2971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334000" y="4114800"/>
            <a:ext cx="3124200" cy="7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-cassetteID : int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-cassetteVolumeNo:  int</a:t>
            </a:r>
            <a:endParaRPr/>
          </a:p>
        </p:txBody>
      </p:sp>
      <p:pic>
        <p:nvPicPr>
          <p:cNvPr descr="brac.pn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idx="12" type="sldNum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 example 1</a:t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38200" y="1387475"/>
            <a:ext cx="7620000" cy="4724400"/>
            <a:chOff x="528" y="912"/>
            <a:chExt cx="4800" cy="2976"/>
          </a:xfrm>
        </p:grpSpPr>
        <p:sp>
          <p:nvSpPr>
            <p:cNvPr id="213" name="Google Shape;213;p10"/>
            <p:cNvSpPr/>
            <p:nvPr/>
          </p:nvSpPr>
          <p:spPr>
            <a:xfrm>
              <a:off x="794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794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872" y="3482"/>
              <a:ext cx="48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DVD Movie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1634" y="3467"/>
              <a:ext cx="629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634" y="3467"/>
              <a:ext cx="629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1715" y="3482"/>
              <a:ext cx="47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VHS Movie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2473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2473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2522" y="3482"/>
              <a:ext cx="53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Game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1529" y="2504"/>
              <a:ext cx="839" cy="288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1529" y="2347"/>
              <a:ext cx="839" cy="24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Rental Item</a:t>
              </a: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3733" y="1868"/>
              <a:ext cx="840" cy="6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3733" y="186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3827" y="1917"/>
              <a:ext cx="60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Rental Invoice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3523" y="234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2448" y="2323"/>
              <a:ext cx="21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1..*</a:t>
              </a: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608" y="246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1529" y="1248"/>
              <a:ext cx="839" cy="52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1529" y="1248"/>
              <a:ext cx="839" cy="17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1741" y="1280"/>
              <a:ext cx="41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3523" y="213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3733" y="3338"/>
              <a:ext cx="840" cy="454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3733" y="333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3793" y="3387"/>
              <a:ext cx="73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Checkout Screen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7" name="Google Shape;237;p10"/>
            <p:cNvCxnSpPr/>
            <p:nvPr/>
          </p:nvCxnSpPr>
          <p:spPr>
            <a:xfrm flipH="1" rot="10800000">
              <a:off x="4153" y="2498"/>
              <a:ext cx="1" cy="84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10"/>
            <p:cNvSpPr/>
            <p:nvPr/>
          </p:nvSpPr>
          <p:spPr>
            <a:xfrm>
              <a:off x="4199" y="2520"/>
              <a:ext cx="24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0..1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2415" y="131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4512" y="2832"/>
              <a:ext cx="816" cy="384"/>
            </a:xfrm>
            <a:prstGeom prst="wedgeRoundRectCallout">
              <a:avLst>
                <a:gd fmla="val -92032" name="adj1"/>
                <a:gd fmla="val -80991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Association</a:t>
              </a:r>
              <a:endParaRPr/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720" y="1392"/>
              <a:ext cx="480" cy="288"/>
            </a:xfrm>
            <a:prstGeom prst="wedgeRoundRectCallout">
              <a:avLst>
                <a:gd fmla="val 117708" name="adj1"/>
                <a:gd fmla="val -70486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624" y="1872"/>
              <a:ext cx="624" cy="432"/>
            </a:xfrm>
            <a:prstGeom prst="wedgeRoundRectCallout">
              <a:avLst>
                <a:gd fmla="val 93111" name="adj1"/>
                <a:gd fmla="val 67130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Abstract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3168" y="1296"/>
              <a:ext cx="864" cy="336"/>
            </a:xfrm>
            <a:prstGeom prst="wedgeRoundRectCallout">
              <a:avLst>
                <a:gd fmla="val -1157" name="adj1"/>
                <a:gd fmla="val 179167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 </a:t>
              </a:r>
              <a:endParaRPr/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Aggregation</a:t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528" y="2928"/>
              <a:ext cx="912" cy="240"/>
            </a:xfrm>
            <a:prstGeom prst="wedgeRoundRectCallout">
              <a:avLst>
                <a:gd fmla="val 97477" name="adj1"/>
                <a:gd fmla="val -49167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Generalization</a:t>
              </a:r>
              <a:endParaRPr/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2640" y="2736"/>
              <a:ext cx="768" cy="384"/>
            </a:xfrm>
            <a:prstGeom prst="wedgeRoundRectCallout">
              <a:avLst>
                <a:gd fmla="val 70315" name="adj1"/>
                <a:gd fmla="val -117968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Composition</a:t>
              </a:r>
              <a:endParaRPr/>
            </a:p>
          </p:txBody>
        </p:sp>
        <p:cxnSp>
          <p:nvCxnSpPr>
            <p:cNvPr id="246" name="Google Shape;246;p10"/>
            <p:cNvCxnSpPr>
              <a:stCxn id="217" idx="0"/>
              <a:endCxn id="222" idx="2"/>
            </p:cNvCxnSpPr>
            <p:nvPr/>
          </p:nvCxnSpPr>
          <p:spPr>
            <a:xfrm rot="10800000">
              <a:off x="1949" y="2867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7" name="Google Shape;247;p10"/>
            <p:cNvSpPr/>
            <p:nvPr/>
          </p:nvSpPr>
          <p:spPr>
            <a:xfrm>
              <a:off x="1853" y="2792"/>
              <a:ext cx="191" cy="147"/>
            </a:xfrm>
            <a:prstGeom prst="flowChartExtra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48" name="Google Shape;248;p10"/>
            <p:cNvCxnSpPr>
              <a:stCxn id="214" idx="0"/>
              <a:endCxn id="220" idx="0"/>
            </p:cNvCxnSpPr>
            <p:nvPr/>
          </p:nvCxnSpPr>
          <p:spPr>
            <a:xfrm rot="10800000">
              <a:off x="2009" y="2567"/>
              <a:ext cx="0" cy="1800"/>
            </a:xfrm>
            <a:prstGeom prst="bentConnector3">
              <a:avLst>
                <a:gd fmla="val -34649294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9" name="Google Shape;249;p10"/>
            <p:cNvCxnSpPr>
              <a:stCxn id="227" idx="4"/>
              <a:endCxn id="222" idx="3"/>
            </p:cNvCxnSpPr>
            <p:nvPr/>
          </p:nvCxnSpPr>
          <p:spPr>
            <a:xfrm flipH="1">
              <a:off x="2368" y="2048"/>
              <a:ext cx="1200" cy="600"/>
            </a:xfrm>
            <a:prstGeom prst="bentConnector3">
              <a:avLst>
                <a:gd fmla="val 30486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50" name="Google Shape;250;p10"/>
            <p:cNvCxnSpPr>
              <a:stCxn id="233" idx="4"/>
              <a:endCxn id="230" idx="3"/>
            </p:cNvCxnSpPr>
            <p:nvPr/>
          </p:nvCxnSpPr>
          <p:spPr>
            <a:xfrm rot="10800000">
              <a:off x="2368" y="1511"/>
              <a:ext cx="1200" cy="600"/>
            </a:xfrm>
            <a:prstGeom prst="bentConnector3">
              <a:avLst>
                <a:gd fmla="val 30485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51" name="Google Shape;251;p10"/>
            <p:cNvSpPr/>
            <p:nvPr/>
          </p:nvSpPr>
          <p:spPr>
            <a:xfrm>
              <a:off x="3107" y="912"/>
              <a:ext cx="720" cy="288"/>
            </a:xfrm>
            <a:prstGeom prst="wedgeRoundRectCallout">
              <a:avLst>
                <a:gd fmla="val -127361" name="adj1"/>
                <a:gd fmla="val 116319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Multiplicity</a:t>
              </a:r>
              <a:endParaRPr/>
            </a:p>
          </p:txBody>
        </p:sp>
      </p:grpSp>
      <p:pic>
        <p:nvPicPr>
          <p:cNvPr descr="brac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idx="12" type="sldNum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 example 2</a:t>
            </a:r>
            <a:endParaRPr/>
          </a:p>
        </p:txBody>
      </p:sp>
      <p:pic>
        <p:nvPicPr>
          <p:cNvPr descr="cd2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96230"/>
            <a:ext cx="7961869" cy="4271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 txBox="1"/>
          <p:nvPr>
            <p:ph type="title"/>
          </p:nvPr>
        </p:nvSpPr>
        <p:spPr>
          <a:xfrm>
            <a:off x="571500" y="30480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 sz="3200"/>
              <a:t>Class Diagram </a:t>
            </a:r>
            <a:r>
              <a:rPr lang="en-US"/>
              <a:t>Example 3</a:t>
            </a:r>
            <a:endParaRPr sz="3200"/>
          </a:p>
        </p:txBody>
      </p:sp>
      <p:sp>
        <p:nvSpPr>
          <p:cNvPr id="266" name="Google Shape;266;p12"/>
          <p:cNvSpPr txBox="1"/>
          <p:nvPr>
            <p:ph idx="12" type="sldNum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Slide </a:t>
            </a: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650" y="740500"/>
            <a:ext cx="8305800" cy="586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268" name="Google Shape;2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