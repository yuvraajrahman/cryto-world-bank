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6858000" cx="9144000"/>
  <p:notesSz cx="6858000" cy="9144000"/>
  <p:embeddedFontLst>
    <p:embeddedFont>
      <p:font typeface="Gill Sans"/>
      <p:regular r:id="rId43"/>
      <p:bold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5" roundtripDataSignature="AMtx7mhGX56BE6R7IpROdqLSCCCvtjSqA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font" Target="fonts/GillSans-bold.fntdata"/><Relationship Id="rId21" Type="http://schemas.openxmlformats.org/officeDocument/2006/relationships/slide" Target="slides/slide16.xml"/><Relationship Id="rId43" Type="http://schemas.openxmlformats.org/officeDocument/2006/relationships/font" Target="fonts/GillSans-regular.fntdata"/><Relationship Id="rId24" Type="http://schemas.openxmlformats.org/officeDocument/2006/relationships/slide" Target="slides/slide19.xml"/><Relationship Id="rId23" Type="http://schemas.openxmlformats.org/officeDocument/2006/relationships/slide" Target="slides/slide18.xml"/><Relationship Id="rId45"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0" name="Google Shape;120;p2:notes"/>
          <p:cNvSpPr/>
          <p:nvPr>
            <p:ph idx="2" type="sldImg"/>
          </p:nvPr>
        </p:nvSpPr>
        <p:spPr>
          <a:xfrm>
            <a:off x="1144588"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 name="Google Shape;121;p2: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225011" lvl="0" marL="225011" rtl="0" algn="l">
              <a:lnSpc>
                <a:spcPct val="90000"/>
              </a:lnSpc>
              <a:spcBef>
                <a:spcPts val="0"/>
              </a:spcBef>
              <a:spcAft>
                <a:spcPts val="0"/>
              </a:spcAft>
              <a:buNone/>
            </a:pPr>
            <a:r>
              <a:rPr lang="en-US" sz="1400">
                <a:latin typeface="Arial"/>
                <a:ea typeface="Arial"/>
                <a:cs typeface="Arial"/>
                <a:sym typeface="Arial"/>
              </a:rPr>
              <a:t>Class</a:t>
            </a:r>
            <a:endParaRPr/>
          </a:p>
          <a:p>
            <a:pPr indent="-225011" lvl="0" marL="225011"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A description of a group of objects with common properties (attributes), common behavior (operations), common relationships to other objects, and common semantics</a:t>
            </a:r>
            <a:endParaRPr/>
          </a:p>
          <a:p>
            <a:pPr indent="-225011" lvl="0" marL="225011"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Each object is an instance of some class, and objects cannot be instances of more than one class</a:t>
            </a:r>
            <a:endParaRPr/>
          </a:p>
          <a:p>
            <a:pPr indent="-225011" lvl="0" marL="225011" rtl="0" algn="l">
              <a:lnSpc>
                <a:spcPct val="90000"/>
              </a:lnSpc>
              <a:spcBef>
                <a:spcPts val="0"/>
              </a:spcBef>
              <a:spcAft>
                <a:spcPts val="0"/>
              </a:spcAft>
              <a:buClr>
                <a:schemeClr val="dk1"/>
              </a:buClr>
              <a:buSzPts val="1400"/>
              <a:buFont typeface="Arial"/>
              <a:buChar char="•"/>
            </a:pPr>
            <a:r>
              <a:rPr b="1" lang="en-US" sz="1400">
                <a:latin typeface="Arial"/>
                <a:ea typeface="Arial"/>
                <a:cs typeface="Arial"/>
                <a:sym typeface="Arial"/>
              </a:rPr>
              <a:t>All objects of a given class are identical in structure (attributes) and behavior (methods) but contain different data in their attributes</a:t>
            </a:r>
            <a:endParaRPr/>
          </a:p>
          <a:p>
            <a:pPr indent="-225011" lvl="0" marL="225011"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A good class captures one and only one abstraction – it should have one major theme</a:t>
            </a:r>
            <a:endParaRPr/>
          </a:p>
          <a:p>
            <a:pPr indent="-225011" lvl="0" marL="225011"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Should be named using the vocabulary of the domain application</a:t>
            </a:r>
            <a:endParaRPr/>
          </a:p>
          <a:p>
            <a:pPr indent="-225011" lvl="0" marL="225011"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Name:  singular noun that best characterizes the abstraction</a:t>
            </a:r>
            <a:endParaRPr/>
          </a:p>
          <a:p>
            <a:pPr indent="-225011" lvl="0" marL="225011" rtl="0" algn="l">
              <a:lnSpc>
                <a:spcPct val="90000"/>
              </a:lnSpc>
              <a:spcBef>
                <a:spcPts val="0"/>
              </a:spcBef>
              <a:spcAft>
                <a:spcPts val="0"/>
              </a:spcAft>
              <a:buNone/>
            </a:pPr>
            <a:r>
              <a:t/>
            </a:r>
            <a:endParaRPr sz="1400">
              <a:latin typeface="Arial"/>
              <a:ea typeface="Arial"/>
              <a:cs typeface="Arial"/>
              <a:sym typeface="Arial"/>
            </a:endParaRPr>
          </a:p>
          <a:p>
            <a:pPr indent="-225011" lvl="0" marL="225011" rtl="0" algn="l">
              <a:lnSpc>
                <a:spcPct val="90000"/>
              </a:lnSpc>
              <a:spcBef>
                <a:spcPts val="0"/>
              </a:spcBef>
              <a:spcAft>
                <a:spcPts val="0"/>
              </a:spcAft>
              <a:buNone/>
            </a:pPr>
            <a:r>
              <a:rPr lang="en-US" sz="1400">
                <a:latin typeface="Arial"/>
                <a:ea typeface="Arial"/>
                <a:cs typeface="Arial"/>
                <a:sym typeface="Arial"/>
              </a:rPr>
              <a:t>An object or a class?  Subjective; may work on an object and then begin to realize that it really needs to be a class (so you can create multiple objects)</a:t>
            </a:r>
            <a:endParaRPr/>
          </a:p>
          <a:p>
            <a:pPr indent="-225011" lvl="0" marL="225011" rtl="0" algn="l">
              <a:lnSpc>
                <a:spcPct val="90000"/>
              </a:lnSpc>
              <a:spcBef>
                <a:spcPts val="0"/>
              </a:spcBef>
              <a:spcAft>
                <a:spcPts val="0"/>
              </a:spcAft>
              <a:buNone/>
            </a:pPr>
            <a:r>
              <a:t/>
            </a:r>
            <a:endParaRPr sz="1400">
              <a:latin typeface="Arial"/>
              <a:ea typeface="Arial"/>
              <a:cs typeface="Arial"/>
              <a:sym typeface="Arial"/>
            </a:endParaRPr>
          </a:p>
          <a:p>
            <a:pPr indent="-225011" lvl="0" marL="225011" rtl="0" algn="l">
              <a:lnSpc>
                <a:spcPct val="90000"/>
              </a:lnSpc>
              <a:spcBef>
                <a:spcPts val="0"/>
              </a:spcBef>
              <a:spcAft>
                <a:spcPts val="0"/>
              </a:spcAft>
              <a:buNone/>
            </a:pPr>
            <a:r>
              <a:t/>
            </a:r>
            <a:endParaRPr sz="1400">
              <a:latin typeface="Arial"/>
              <a:ea typeface="Arial"/>
              <a:cs typeface="Arial"/>
              <a:sym typeface="Arial"/>
            </a:endParaRPr>
          </a:p>
          <a:p>
            <a:pPr indent="-225011" lvl="0" marL="225011" rtl="0" algn="l">
              <a:lnSpc>
                <a:spcPct val="90000"/>
              </a:lnSpc>
              <a:spcBef>
                <a:spcPts val="0"/>
              </a:spcBef>
              <a:spcAft>
                <a:spcPts val="0"/>
              </a:spcAft>
              <a:buNone/>
            </a:pPr>
            <a:r>
              <a:t/>
            </a:r>
            <a:endParaRPr sz="1400">
              <a:latin typeface="Arial"/>
              <a:ea typeface="Arial"/>
              <a:cs typeface="Arial"/>
              <a:sym typeface="Arial"/>
            </a:endParaRPr>
          </a:p>
          <a:p>
            <a:pPr indent="-225011" lvl="0" marL="225011" rtl="0" algn="l">
              <a:lnSpc>
                <a:spcPct val="90000"/>
              </a:lnSpc>
              <a:spcBef>
                <a:spcPts val="0"/>
              </a:spcBef>
              <a:spcAft>
                <a:spcPts val="0"/>
              </a:spcAft>
              <a:buNone/>
            </a:pPr>
            <a:r>
              <a:t/>
            </a:r>
            <a:endParaRPr sz="1400">
              <a:latin typeface="Arial"/>
              <a:ea typeface="Arial"/>
              <a:cs typeface="Arial"/>
              <a:sym typeface="Arial"/>
            </a:endParaRPr>
          </a:p>
          <a:p>
            <a:pPr indent="-225011" lvl="0" marL="225011" rtl="0" algn="l">
              <a:lnSpc>
                <a:spcPct val="90000"/>
              </a:lnSpc>
              <a:spcBef>
                <a:spcPts val="0"/>
              </a:spcBef>
              <a:spcAft>
                <a:spcPts val="0"/>
              </a:spcAft>
              <a:buNone/>
            </a:pPr>
            <a:r>
              <a:t/>
            </a:r>
            <a:endParaRPr sz="1400">
              <a:latin typeface="Arial"/>
              <a:ea typeface="Arial"/>
              <a:cs typeface="Arial"/>
              <a:sym typeface="Arial"/>
            </a:endParaRPr>
          </a:p>
          <a:p>
            <a:pPr indent="-225011" lvl="0" marL="225011" rtl="0" algn="l">
              <a:lnSpc>
                <a:spcPct val="90000"/>
              </a:lnSpc>
              <a:spcBef>
                <a:spcPts val="0"/>
              </a:spcBef>
              <a:spcAft>
                <a:spcPts val="0"/>
              </a:spcAft>
              <a:buNone/>
            </a:pPr>
            <a:r>
              <a:t/>
            </a:r>
            <a:endParaRPr sz="1400">
              <a:latin typeface="Arial"/>
              <a:ea typeface="Arial"/>
              <a:cs typeface="Arial"/>
              <a:sym typeface="Arial"/>
            </a:endParaRPr>
          </a:p>
          <a:p>
            <a:pPr indent="-225011" lvl="0" marL="225011" rtl="0" algn="l">
              <a:lnSpc>
                <a:spcPct val="90000"/>
              </a:lnSpc>
              <a:spcBef>
                <a:spcPts val="0"/>
              </a:spcBef>
              <a:spcAft>
                <a:spcPts val="0"/>
              </a:spcAft>
              <a:buNone/>
            </a:pPr>
            <a:r>
              <a:t/>
            </a:r>
            <a:endParaRPr sz="1400">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8" name="Google Shape;128;p3:notes"/>
          <p:cNvSpPr/>
          <p:nvPr>
            <p:ph idx="2" type="sldImg"/>
          </p:nvPr>
        </p:nvSpPr>
        <p:spPr>
          <a:xfrm>
            <a:off x="1144588"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 name="Google Shape;129;p3: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225011" lvl="0" marL="225011" rtl="0" algn="l">
              <a:spcBef>
                <a:spcPts val="0"/>
              </a:spcBef>
              <a:spcAft>
                <a:spcPts val="0"/>
              </a:spcAft>
              <a:buNone/>
            </a:pPr>
            <a:r>
              <a:rPr b="1" lang="en-US" sz="1400">
                <a:latin typeface="Arial"/>
                <a:ea typeface="Arial"/>
                <a:cs typeface="Arial"/>
                <a:sym typeface="Arial"/>
              </a:rPr>
              <a:t>An object or a class?  Subjective; may work on an object and then begin to realize that it really needs to be a class (so you can create multiple objects)</a:t>
            </a:r>
            <a:endParaRPr/>
          </a:p>
          <a:p>
            <a:pPr indent="-225011" lvl="0" marL="225011" rtl="0" algn="l">
              <a:spcBef>
                <a:spcPts val="0"/>
              </a:spcBef>
              <a:spcAft>
                <a:spcPts val="0"/>
              </a:spcAft>
              <a:buNone/>
            </a:pPr>
            <a:r>
              <a:t/>
            </a:r>
            <a:endParaRPr b="1" sz="1400">
              <a:latin typeface="Arial"/>
              <a:ea typeface="Arial"/>
              <a:cs typeface="Arial"/>
              <a:sym typeface="Arial"/>
            </a:endParaRPr>
          </a:p>
          <a:p>
            <a:pPr indent="-225011" lvl="0" marL="225011" rtl="0" algn="l">
              <a:spcBef>
                <a:spcPts val="0"/>
              </a:spcBef>
              <a:spcAft>
                <a:spcPts val="0"/>
              </a:spcAft>
              <a:buNone/>
            </a:pPr>
            <a:r>
              <a:t/>
            </a:r>
            <a:endParaRPr b="1" sz="1400">
              <a:latin typeface="Arial"/>
              <a:ea typeface="Arial"/>
              <a:cs typeface="Arial"/>
              <a:sym typeface="Arial"/>
            </a:endParaRPr>
          </a:p>
          <a:p>
            <a:pPr indent="-225011" lvl="0" marL="225011" rtl="0" algn="l">
              <a:spcBef>
                <a:spcPts val="0"/>
              </a:spcBef>
              <a:spcAft>
                <a:spcPts val="0"/>
              </a:spcAft>
              <a:buNone/>
            </a:pPr>
            <a:r>
              <a:t/>
            </a:r>
            <a:endParaRPr sz="1400">
              <a:latin typeface="Arial"/>
              <a:ea typeface="Arial"/>
              <a:cs typeface="Arial"/>
              <a:sym typeface="Arial"/>
            </a:endParaRPr>
          </a:p>
          <a:p>
            <a:pPr indent="-225011" lvl="0" marL="225011" rtl="0" algn="l">
              <a:spcBef>
                <a:spcPts val="0"/>
              </a:spcBef>
              <a:spcAft>
                <a:spcPts val="0"/>
              </a:spcAft>
              <a:buNone/>
            </a:pPr>
            <a:r>
              <a:t/>
            </a:r>
            <a:endParaRPr sz="1400">
              <a:latin typeface="Arial"/>
              <a:ea typeface="Arial"/>
              <a:cs typeface="Arial"/>
              <a:sym typeface="Arial"/>
            </a:endParaRPr>
          </a:p>
          <a:p>
            <a:pPr indent="-225011" lvl="0" marL="225011" rtl="0" algn="l">
              <a:spcBef>
                <a:spcPts val="0"/>
              </a:spcBef>
              <a:spcAft>
                <a:spcPts val="0"/>
              </a:spcAft>
              <a:buNone/>
            </a:pPr>
            <a:r>
              <a:t/>
            </a:r>
            <a:endParaRPr sz="1400">
              <a:latin typeface="Arial"/>
              <a:ea typeface="Arial"/>
              <a:cs typeface="Arial"/>
              <a:sym typeface="Arial"/>
            </a:endParaRPr>
          </a:p>
          <a:p>
            <a:pPr indent="-225011" lvl="0" marL="225011" rtl="0" algn="l">
              <a:spcBef>
                <a:spcPts val="0"/>
              </a:spcBef>
              <a:spcAft>
                <a:spcPts val="0"/>
              </a:spcAft>
              <a:buNone/>
            </a:pPr>
            <a:r>
              <a:t/>
            </a:r>
            <a:endParaRPr sz="1400">
              <a:latin typeface="Arial"/>
              <a:ea typeface="Arial"/>
              <a:cs typeface="Arial"/>
              <a:sym typeface="Arial"/>
            </a:endParaRPr>
          </a:p>
          <a:p>
            <a:pPr indent="-225011" lvl="0" marL="225011" rtl="0" algn="l">
              <a:spcBef>
                <a:spcPts val="0"/>
              </a:spcBef>
              <a:spcAft>
                <a:spcPts val="0"/>
              </a:spcAft>
              <a:buNone/>
            </a:pPr>
            <a:r>
              <a:t/>
            </a:r>
            <a:endParaRPr sz="1400">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6" name="Google Shape;136;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 name="Google Shape;137;p4: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225011" lvl="0" marL="225011" rtl="0" algn="l">
              <a:spcBef>
                <a:spcPts val="0"/>
              </a:spcBef>
              <a:spcAft>
                <a:spcPts val="0"/>
              </a:spcAft>
              <a:buNone/>
            </a:pPr>
            <a:r>
              <a:rPr lang="en-US" sz="1400">
                <a:latin typeface="Arial"/>
                <a:ea typeface="Arial"/>
                <a:cs typeface="Arial"/>
                <a:sym typeface="Arial"/>
              </a:rPr>
              <a:t>Class diagram</a:t>
            </a:r>
            <a:endParaRPr/>
          </a:p>
          <a:p>
            <a:pPr indent="-225011" lvl="0" marL="225011" rtl="0" algn="l">
              <a:spcBef>
                <a:spcPts val="0"/>
              </a:spcBef>
              <a:spcAft>
                <a:spcPts val="0"/>
              </a:spcAft>
              <a:buClr>
                <a:schemeClr val="dk1"/>
              </a:buClr>
              <a:buSzPts val="1400"/>
              <a:buFont typeface="Arial"/>
              <a:buChar char="•"/>
            </a:pPr>
            <a:r>
              <a:rPr lang="en-US" sz="1400">
                <a:latin typeface="Arial"/>
                <a:ea typeface="Arial"/>
                <a:cs typeface="Arial"/>
                <a:sym typeface="Arial"/>
              </a:rPr>
              <a:t>Name typed in top compartment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1" name="Google Shape;151;p6:notes"/>
          <p:cNvSpPr/>
          <p:nvPr>
            <p:ph idx="2" type="sldImg"/>
          </p:nvPr>
        </p:nvSpPr>
        <p:spPr>
          <a:xfrm>
            <a:off x="1144588"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2" name="Google Shape;152;p6: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225011" lvl="0" marL="225011" rtl="0" algn="l">
              <a:spcBef>
                <a:spcPts val="0"/>
              </a:spcBef>
              <a:spcAft>
                <a:spcPts val="0"/>
              </a:spcAft>
              <a:buNone/>
            </a:pPr>
            <a:r>
              <a:rPr lang="en-US" sz="1400">
                <a:latin typeface="Arial"/>
                <a:ea typeface="Arial"/>
                <a:cs typeface="Arial"/>
                <a:sym typeface="Arial"/>
              </a:rPr>
              <a:t>Concrete</a:t>
            </a:r>
            <a:endParaRPr/>
          </a:p>
          <a:p>
            <a:pPr indent="-225011" lvl="0" marL="225011" rtl="0" algn="l">
              <a:spcBef>
                <a:spcPts val="0"/>
              </a:spcBef>
              <a:spcAft>
                <a:spcPts val="0"/>
              </a:spcAft>
              <a:buClr>
                <a:schemeClr val="dk1"/>
              </a:buClr>
              <a:buSzPts val="1400"/>
              <a:buFont typeface="Arial"/>
              <a:buChar char="•"/>
            </a:pPr>
            <a:r>
              <a:rPr lang="en-US" sz="1400">
                <a:latin typeface="Arial"/>
                <a:ea typeface="Arial"/>
                <a:cs typeface="Arial"/>
                <a:sym typeface="Arial"/>
              </a:rPr>
              <a:t>Used to create objects</a:t>
            </a:r>
            <a:endParaRPr/>
          </a:p>
          <a:p>
            <a:pPr indent="-225011" lvl="0" marL="225011" rtl="0" algn="l">
              <a:spcBef>
                <a:spcPts val="0"/>
              </a:spcBef>
              <a:spcAft>
                <a:spcPts val="0"/>
              </a:spcAft>
              <a:buNone/>
            </a:pPr>
            <a:r>
              <a:t/>
            </a:r>
            <a:endParaRPr sz="1400">
              <a:latin typeface="Arial"/>
              <a:ea typeface="Arial"/>
              <a:cs typeface="Arial"/>
              <a:sym typeface="Arial"/>
            </a:endParaRPr>
          </a:p>
          <a:p>
            <a:pPr indent="-225011" lvl="0" marL="225011" rtl="0" algn="l">
              <a:spcBef>
                <a:spcPts val="0"/>
              </a:spcBef>
              <a:spcAft>
                <a:spcPts val="0"/>
              </a:spcAft>
              <a:buNone/>
            </a:pPr>
            <a:r>
              <a:rPr lang="en-US" sz="1400">
                <a:latin typeface="Arial"/>
                <a:ea typeface="Arial"/>
                <a:cs typeface="Arial"/>
                <a:sym typeface="Arial"/>
              </a:rPr>
              <a:t>Abstract</a:t>
            </a:r>
            <a:endParaRPr/>
          </a:p>
          <a:p>
            <a:pPr indent="-225011" lvl="0" marL="225011" rtl="0" algn="l">
              <a:spcBef>
                <a:spcPts val="0"/>
              </a:spcBef>
              <a:spcAft>
                <a:spcPts val="0"/>
              </a:spcAft>
              <a:buClr>
                <a:schemeClr val="dk1"/>
              </a:buClr>
              <a:buSzPts val="1400"/>
              <a:buFont typeface="Arial"/>
              <a:buChar char="•"/>
            </a:pPr>
            <a:r>
              <a:rPr lang="en-US" sz="1400">
                <a:latin typeface="Arial"/>
                <a:ea typeface="Arial"/>
                <a:cs typeface="Arial"/>
                <a:sym typeface="Arial"/>
              </a:rPr>
              <a:t>Person class is really a generalization from Customer class and Employee class</a:t>
            </a:r>
            <a:endParaRPr/>
          </a:p>
          <a:p>
            <a:pPr indent="-225011" lvl="1" marL="675033" rtl="0" algn="l">
              <a:spcBef>
                <a:spcPts val="0"/>
              </a:spcBef>
              <a:spcAft>
                <a:spcPts val="0"/>
              </a:spcAft>
              <a:buClr>
                <a:schemeClr val="dk1"/>
              </a:buClr>
              <a:buSzPts val="1400"/>
              <a:buFont typeface="Arial"/>
              <a:buChar char="•"/>
            </a:pPr>
            <a:r>
              <a:rPr lang="en-US" sz="1400">
                <a:latin typeface="Arial"/>
                <a:ea typeface="Arial"/>
                <a:cs typeface="Arial"/>
                <a:sym typeface="Arial"/>
              </a:rPr>
              <a:t>Attributes and methods common to both Customer class and Employee class</a:t>
            </a:r>
            <a:endParaRPr/>
          </a:p>
          <a:p>
            <a:pPr indent="-225011" lvl="1" marL="675033" rtl="0" algn="l">
              <a:spcBef>
                <a:spcPts val="0"/>
              </a:spcBef>
              <a:spcAft>
                <a:spcPts val="0"/>
              </a:spcAft>
              <a:buClr>
                <a:schemeClr val="dk1"/>
              </a:buClr>
              <a:buSzPts val="1400"/>
              <a:buFont typeface="Arial"/>
              <a:buChar char="•"/>
            </a:pPr>
            <a:r>
              <a:rPr lang="en-US" sz="1400">
                <a:latin typeface="Arial"/>
                <a:ea typeface="Arial"/>
                <a:cs typeface="Arial"/>
                <a:sym typeface="Arial"/>
              </a:rPr>
              <a:t>Examples of common attributes:  name, address, birthdate, phone number, email address</a:t>
            </a:r>
            <a:endParaRPr/>
          </a:p>
          <a:p>
            <a:pPr indent="-225011" lvl="0" marL="225011" rtl="0" algn="l">
              <a:spcBef>
                <a:spcPts val="0"/>
              </a:spcBef>
              <a:spcAft>
                <a:spcPts val="0"/>
              </a:spcAft>
              <a:buClr>
                <a:schemeClr val="dk1"/>
              </a:buClr>
              <a:buSzPts val="1400"/>
              <a:buFont typeface="Arial"/>
              <a:buChar char="•"/>
            </a:pPr>
            <a:r>
              <a:rPr lang="en-US" sz="1400">
                <a:latin typeface="Arial"/>
                <a:ea typeface="Arial"/>
                <a:cs typeface="Arial"/>
                <a:sym typeface="Arial"/>
              </a:rPr>
              <a:t>Generally do not create objects from Person class but rather create and use employee and customer objects</a:t>
            </a:r>
            <a:endParaRPr/>
          </a:p>
          <a:p>
            <a:pPr indent="-225011" lvl="0" marL="225011" rtl="0" algn="l">
              <a:spcBef>
                <a:spcPts val="0"/>
              </a:spcBef>
              <a:spcAft>
                <a:spcPts val="0"/>
              </a:spcAft>
              <a:buNone/>
            </a:pPr>
            <a:r>
              <a:t/>
            </a:r>
            <a:endParaRPr sz="1400">
              <a:latin typeface="Arial"/>
              <a:ea typeface="Arial"/>
              <a:cs typeface="Arial"/>
              <a:sym typeface="Arial"/>
            </a:endParaRPr>
          </a:p>
          <a:p>
            <a:pPr indent="-225011" lvl="0" marL="225011" rtl="0" algn="l">
              <a:spcBef>
                <a:spcPts val="0"/>
              </a:spcBef>
              <a:spcAft>
                <a:spcPts val="0"/>
              </a:spcAft>
              <a:buNone/>
            </a:pPr>
            <a:r>
              <a:rPr b="1" lang="en-US" sz="1400">
                <a:latin typeface="Arial"/>
                <a:ea typeface="Arial"/>
                <a:cs typeface="Arial"/>
                <a:sym typeface="Arial"/>
              </a:rPr>
              <a:t>Later in the design and implementation phases, we will also identify other classes such as user interface classes, data structure classes, document classes, file structure classes, operating environment classes, and various types of multimedia classes.</a:t>
            </a:r>
            <a:endParaRPr/>
          </a:p>
          <a:p>
            <a:pPr indent="-225011" lvl="0" marL="225011" rtl="0" algn="l">
              <a:spcBef>
                <a:spcPts val="0"/>
              </a:spcBef>
              <a:spcAft>
                <a:spcPts val="0"/>
              </a:spcAft>
              <a:buNone/>
            </a:pPr>
            <a:r>
              <a:t/>
            </a:r>
            <a:endParaRPr sz="1400">
              <a:latin typeface="Arial"/>
              <a:ea typeface="Arial"/>
              <a:cs typeface="Arial"/>
              <a:sym typeface="Arial"/>
            </a:endParaRPr>
          </a:p>
          <a:p>
            <a:pPr indent="-225011" lvl="0" marL="225011" rtl="0" algn="l">
              <a:spcBef>
                <a:spcPts val="0"/>
              </a:spcBef>
              <a:spcAft>
                <a:spcPts val="0"/>
              </a:spcAft>
              <a:buNone/>
            </a:pPr>
            <a:r>
              <a:t/>
            </a:r>
            <a:endParaRPr sz="1400">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83" name="Google Shape;183;p9:notes"/>
          <p:cNvSpPr/>
          <p:nvPr>
            <p:ph idx="2" type="sldImg"/>
          </p:nvPr>
        </p:nvSpPr>
        <p:spPr>
          <a:xfrm>
            <a:off x="1144588"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 name="Google Shape;184;p9: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400">
                <a:latin typeface="Arial"/>
                <a:ea typeface="Arial"/>
                <a:cs typeface="Arial"/>
                <a:sym typeface="Arial"/>
              </a:rPr>
              <a:t>Attributes in a Class</a:t>
            </a:r>
            <a:endParaRPr/>
          </a:p>
          <a:p>
            <a:pPr indent="-88900" lvl="0" marL="0" rtl="0" algn="l">
              <a:spcBef>
                <a:spcPts val="0"/>
              </a:spcBef>
              <a:spcAft>
                <a:spcPts val="0"/>
              </a:spcAft>
              <a:buClr>
                <a:schemeClr val="dk1"/>
              </a:buClr>
              <a:buSzPts val="1400"/>
              <a:buFont typeface="Arial"/>
              <a:buChar char="•"/>
            </a:pPr>
            <a:r>
              <a:rPr lang="en-US" sz="1400">
                <a:latin typeface="Arial"/>
                <a:ea typeface="Arial"/>
                <a:cs typeface="Arial"/>
                <a:sym typeface="Arial"/>
              </a:rPr>
              <a:t>Contains information that the </a:t>
            </a:r>
            <a:r>
              <a:rPr lang="en-US" sz="1400" u="sng">
                <a:latin typeface="Arial"/>
                <a:ea typeface="Arial"/>
                <a:cs typeface="Arial"/>
                <a:sym typeface="Arial"/>
              </a:rPr>
              <a:t>analyst or user</a:t>
            </a:r>
            <a:r>
              <a:rPr lang="en-US" sz="1400">
                <a:latin typeface="Arial"/>
                <a:ea typeface="Arial"/>
                <a:cs typeface="Arial"/>
                <a:sym typeface="Arial"/>
              </a:rPr>
              <a:t> feels that the system should store</a:t>
            </a:r>
            <a:endParaRPr/>
          </a:p>
          <a:p>
            <a:pPr indent="-88900" lvl="0" marL="0" rtl="0" algn="l">
              <a:spcBef>
                <a:spcPts val="0"/>
              </a:spcBef>
              <a:spcAft>
                <a:spcPts val="0"/>
              </a:spcAft>
              <a:buClr>
                <a:schemeClr val="dk1"/>
              </a:buClr>
              <a:buSzPts val="1400"/>
              <a:buFont typeface="Arial"/>
              <a:buChar char="•"/>
            </a:pPr>
            <a:r>
              <a:rPr lang="en-US" sz="1400">
                <a:latin typeface="Arial"/>
                <a:ea typeface="Arial"/>
                <a:cs typeface="Arial"/>
                <a:sym typeface="Arial"/>
              </a:rPr>
              <a:t>Represents properties that describe the state of the object</a:t>
            </a:r>
            <a:endParaRPr/>
          </a:p>
          <a:p>
            <a:pPr indent="-88900" lvl="0" marL="0" rtl="0" algn="l">
              <a:spcBef>
                <a:spcPts val="0"/>
              </a:spcBef>
              <a:spcAft>
                <a:spcPts val="0"/>
              </a:spcAft>
              <a:buClr>
                <a:schemeClr val="dk1"/>
              </a:buClr>
              <a:buSzPts val="1400"/>
              <a:buFont typeface="Arial"/>
              <a:buChar char="•"/>
            </a:pPr>
            <a:r>
              <a:rPr lang="en-US" sz="1400">
                <a:latin typeface="Arial"/>
                <a:ea typeface="Arial"/>
                <a:cs typeface="Arial"/>
                <a:sym typeface="Arial"/>
              </a:rPr>
              <a:t>Only attributes important to the task should be included in the class</a:t>
            </a:r>
            <a:endParaRPr/>
          </a:p>
          <a:p>
            <a:pPr indent="-88900" lvl="1" marL="457200" rtl="0" algn="l">
              <a:spcBef>
                <a:spcPts val="0"/>
              </a:spcBef>
              <a:spcAft>
                <a:spcPts val="0"/>
              </a:spcAft>
              <a:buClr>
                <a:schemeClr val="dk1"/>
              </a:buClr>
              <a:buSzPts val="1400"/>
              <a:buFont typeface="Arial"/>
              <a:buChar char="•"/>
            </a:pPr>
            <a:r>
              <a:rPr lang="en-US" sz="1400">
                <a:latin typeface="Arial"/>
                <a:ea typeface="Arial"/>
                <a:cs typeface="Arial"/>
                <a:sym typeface="Arial"/>
              </a:rPr>
              <a:t>For example, for employee, employee name is a good attribute; employee hair color is not (not relevant in the business application)</a:t>
            </a:r>
            <a:endParaRPr/>
          </a:p>
          <a:p>
            <a:pPr indent="-88900" lvl="0" marL="0" rtl="0" algn="l">
              <a:spcBef>
                <a:spcPts val="0"/>
              </a:spcBef>
              <a:spcAft>
                <a:spcPts val="0"/>
              </a:spcAft>
              <a:buClr>
                <a:schemeClr val="dk1"/>
              </a:buClr>
              <a:buSzPts val="1400"/>
              <a:buFont typeface="Arial"/>
              <a:buChar char="•"/>
            </a:pPr>
            <a:r>
              <a:rPr lang="en-US" sz="1400">
                <a:latin typeface="Arial"/>
                <a:ea typeface="Arial"/>
                <a:cs typeface="Arial"/>
                <a:sym typeface="Arial"/>
              </a:rPr>
              <a:t>Primitive or atomic types</a:t>
            </a:r>
            <a:endParaRPr/>
          </a:p>
          <a:p>
            <a:pPr indent="-88900" lvl="1" marL="457200" rtl="0" algn="l">
              <a:spcBef>
                <a:spcPts val="0"/>
              </a:spcBef>
              <a:spcAft>
                <a:spcPts val="0"/>
              </a:spcAft>
              <a:buClr>
                <a:schemeClr val="dk1"/>
              </a:buClr>
              <a:buSzPts val="1400"/>
              <a:buFont typeface="Arial"/>
              <a:buChar char="•"/>
            </a:pPr>
            <a:r>
              <a:rPr lang="en-US" sz="1400">
                <a:latin typeface="Arial"/>
                <a:ea typeface="Arial"/>
                <a:cs typeface="Arial"/>
                <a:sym typeface="Arial"/>
              </a:rPr>
              <a:t>Such as integer, string, double, date, time, boolean, …</a:t>
            </a:r>
            <a:endParaRPr/>
          </a:p>
          <a:p>
            <a:pPr indent="-88900" lvl="1" marL="457200" rtl="0" algn="l">
              <a:spcBef>
                <a:spcPts val="0"/>
              </a:spcBef>
              <a:spcAft>
                <a:spcPts val="0"/>
              </a:spcAft>
              <a:buClr>
                <a:schemeClr val="dk1"/>
              </a:buClr>
              <a:buSzPts val="1400"/>
              <a:buFont typeface="Arial"/>
              <a:buChar char="•"/>
            </a:pPr>
            <a:r>
              <a:rPr lang="en-US" sz="1400">
                <a:latin typeface="Arial"/>
                <a:ea typeface="Arial"/>
                <a:cs typeface="Arial"/>
                <a:sym typeface="Arial"/>
              </a:rPr>
              <a:t>Generally complex or compound attributes are really placeholders for relationships between classes </a:t>
            </a:r>
            <a:endParaRPr/>
          </a:p>
          <a:p>
            <a:pPr indent="0" lvl="0" marL="0" rtl="0" algn="l">
              <a:spcBef>
                <a:spcPts val="0"/>
              </a:spcBef>
              <a:spcAft>
                <a:spcPts val="0"/>
              </a:spcAft>
              <a:buNone/>
            </a:pPr>
            <a:r>
              <a:t/>
            </a:r>
            <a:endParaRPr sz="1400">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91" name="Google Shape;191;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2" name="Google Shape;192;p10: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225011" lvl="0" marL="225011" rtl="0" algn="l">
              <a:spcBef>
                <a:spcPts val="0"/>
              </a:spcBef>
              <a:spcAft>
                <a:spcPts val="0"/>
              </a:spcAft>
              <a:buNone/>
            </a:pPr>
            <a:r>
              <a:rPr lang="en-US" sz="1400">
                <a:latin typeface="Arial"/>
                <a:ea typeface="Arial"/>
                <a:cs typeface="Arial"/>
                <a:sym typeface="Arial"/>
              </a:rPr>
              <a:t>Attributes in a class diagram</a:t>
            </a:r>
            <a:endParaRPr/>
          </a:p>
          <a:p>
            <a:pPr indent="-225011" lvl="0" marL="225011" rtl="0" algn="l">
              <a:spcBef>
                <a:spcPts val="0"/>
              </a:spcBef>
              <a:spcAft>
                <a:spcPts val="0"/>
              </a:spcAft>
              <a:buClr>
                <a:schemeClr val="dk1"/>
              </a:buClr>
              <a:buSzPts val="1400"/>
              <a:buFont typeface="Arial"/>
              <a:buChar char="•"/>
            </a:pPr>
            <a:r>
              <a:rPr lang="en-US" sz="1400">
                <a:latin typeface="Arial"/>
                <a:ea typeface="Arial"/>
                <a:cs typeface="Arial"/>
                <a:sym typeface="Arial"/>
              </a:rPr>
              <a:t>Typed in middle compartment</a:t>
            </a:r>
            <a:endParaRPr/>
          </a:p>
          <a:p>
            <a:pPr indent="-225011" lvl="0" marL="225011" rtl="0" algn="l">
              <a:spcBef>
                <a:spcPts val="0"/>
              </a:spcBef>
              <a:spcAft>
                <a:spcPts val="0"/>
              </a:spcAft>
              <a:buClr>
                <a:schemeClr val="dk1"/>
              </a:buClr>
              <a:buSzPts val="1400"/>
              <a:buFont typeface="Arial"/>
              <a:buChar char="•"/>
            </a:pPr>
            <a:r>
              <a:rPr lang="en-US" sz="1400">
                <a:latin typeface="Arial"/>
                <a:ea typeface="Arial"/>
                <a:cs typeface="Arial"/>
                <a:sym typeface="Arial"/>
              </a:rPr>
              <a:t>Derived attributes</a:t>
            </a:r>
            <a:endParaRPr/>
          </a:p>
          <a:p>
            <a:pPr indent="-225010" lvl="2" marL="1125055" rtl="0" algn="l">
              <a:spcBef>
                <a:spcPts val="0"/>
              </a:spcBef>
              <a:spcAft>
                <a:spcPts val="0"/>
              </a:spcAft>
              <a:buClr>
                <a:schemeClr val="dk1"/>
              </a:buClr>
              <a:buSzPts val="1400"/>
              <a:buFont typeface="Arial"/>
              <a:buChar char="•"/>
            </a:pPr>
            <a:r>
              <a:rPr lang="en-US" sz="1400">
                <a:latin typeface="Arial"/>
                <a:ea typeface="Arial"/>
                <a:cs typeface="Arial"/>
                <a:sym typeface="Arial"/>
              </a:rPr>
              <a:t>Examples: age (subtracting birthdate from current date), GPA (calculated from grades and credit hours)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22" name="Google Shape;222;p13:notes"/>
          <p:cNvSpPr/>
          <p:nvPr>
            <p:ph idx="2" type="sldImg"/>
          </p:nvPr>
        </p:nvSpPr>
        <p:spPr>
          <a:xfrm>
            <a:off x="1144588"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3" name="Google Shape;223;p13: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225011" lvl="0" marL="225011" rtl="0" algn="l">
              <a:lnSpc>
                <a:spcPct val="90000"/>
              </a:lnSpc>
              <a:spcBef>
                <a:spcPts val="0"/>
              </a:spcBef>
              <a:spcAft>
                <a:spcPts val="0"/>
              </a:spcAft>
              <a:buNone/>
            </a:pPr>
            <a:r>
              <a:rPr lang="en-US" sz="1190">
                <a:latin typeface="Arial"/>
                <a:ea typeface="Arial"/>
                <a:cs typeface="Arial"/>
                <a:sym typeface="Arial"/>
              </a:rPr>
              <a:t>Operations in a Class</a:t>
            </a:r>
            <a:endParaRPr/>
          </a:p>
          <a:p>
            <a:pPr indent="-225011" lvl="0" marL="225011" rtl="0" algn="l">
              <a:lnSpc>
                <a:spcPct val="90000"/>
              </a:lnSpc>
              <a:spcBef>
                <a:spcPts val="0"/>
              </a:spcBef>
              <a:spcAft>
                <a:spcPts val="0"/>
              </a:spcAft>
              <a:buClr>
                <a:schemeClr val="dk1"/>
              </a:buClr>
              <a:buSzPts val="1190"/>
              <a:buFont typeface="Arial"/>
              <a:buChar char="•"/>
            </a:pPr>
            <a:r>
              <a:rPr lang="en-US" sz="1190">
                <a:latin typeface="Arial"/>
                <a:ea typeface="Arial"/>
                <a:cs typeface="Arial"/>
                <a:sym typeface="Arial"/>
              </a:rPr>
              <a:t>Represents the actions or functions that a class can perform</a:t>
            </a:r>
            <a:endParaRPr/>
          </a:p>
          <a:p>
            <a:pPr indent="-225011" lvl="0" marL="225011" rtl="0" algn="l">
              <a:lnSpc>
                <a:spcPct val="90000"/>
              </a:lnSpc>
              <a:spcBef>
                <a:spcPts val="0"/>
              </a:spcBef>
              <a:spcAft>
                <a:spcPts val="0"/>
              </a:spcAft>
              <a:buClr>
                <a:schemeClr val="dk1"/>
              </a:buClr>
              <a:buSzPts val="1190"/>
              <a:buFont typeface="Arial"/>
              <a:buChar char="•"/>
            </a:pPr>
            <a:r>
              <a:rPr lang="en-US" sz="1190">
                <a:latin typeface="Arial"/>
                <a:ea typeface="Arial"/>
                <a:cs typeface="Arial"/>
                <a:sym typeface="Arial"/>
              </a:rPr>
              <a:t>In later phases, the operations are converted to methods (functions in C++)</a:t>
            </a:r>
            <a:endParaRPr/>
          </a:p>
          <a:p>
            <a:pPr indent="-225011" lvl="0" marL="225011" rtl="0" algn="l">
              <a:lnSpc>
                <a:spcPct val="90000"/>
              </a:lnSpc>
              <a:spcBef>
                <a:spcPts val="0"/>
              </a:spcBef>
              <a:spcAft>
                <a:spcPts val="0"/>
              </a:spcAft>
              <a:buClr>
                <a:schemeClr val="dk1"/>
              </a:buClr>
              <a:buSzPts val="1190"/>
              <a:buFont typeface="Arial"/>
              <a:buChar char="•"/>
            </a:pPr>
            <a:r>
              <a:rPr b="1" lang="en-US" sz="1190">
                <a:latin typeface="Arial"/>
                <a:ea typeface="Arial"/>
                <a:cs typeface="Arial"/>
                <a:sym typeface="Arial"/>
              </a:rPr>
              <a:t>Only problem domain-specific operations</a:t>
            </a:r>
            <a:r>
              <a:rPr lang="en-US" sz="1190">
                <a:latin typeface="Arial"/>
                <a:ea typeface="Arial"/>
                <a:cs typeface="Arial"/>
                <a:sym typeface="Arial"/>
              </a:rPr>
              <a:t> that are relevant to the problem should be considered</a:t>
            </a:r>
            <a:endParaRPr/>
          </a:p>
          <a:p>
            <a:pPr indent="-225011" lvl="1" marL="675033" rtl="0" algn="l">
              <a:lnSpc>
                <a:spcPct val="90000"/>
              </a:lnSpc>
              <a:spcBef>
                <a:spcPts val="0"/>
              </a:spcBef>
              <a:spcAft>
                <a:spcPts val="0"/>
              </a:spcAft>
              <a:buClr>
                <a:schemeClr val="dk1"/>
              </a:buClr>
              <a:buSzPts val="1190"/>
              <a:buFont typeface="Arial"/>
              <a:buChar char="•"/>
            </a:pPr>
            <a:r>
              <a:rPr lang="en-US" sz="1190">
                <a:latin typeface="Arial"/>
                <a:ea typeface="Arial"/>
                <a:cs typeface="Arial"/>
                <a:sym typeface="Arial"/>
              </a:rPr>
              <a:t>Classes normally are required to provide the means to create instances, delete instances, access individual attribute values, set individual attribute values, and other basic types of operations</a:t>
            </a:r>
            <a:endParaRPr/>
          </a:p>
          <a:p>
            <a:pPr indent="-225011" lvl="1" marL="675033" rtl="0" algn="l">
              <a:lnSpc>
                <a:spcPct val="90000"/>
              </a:lnSpc>
              <a:spcBef>
                <a:spcPts val="0"/>
              </a:spcBef>
              <a:spcAft>
                <a:spcPts val="0"/>
              </a:spcAft>
              <a:buClr>
                <a:schemeClr val="dk1"/>
              </a:buClr>
              <a:buSzPts val="1190"/>
              <a:buFont typeface="Arial"/>
              <a:buChar char="•"/>
            </a:pPr>
            <a:r>
              <a:rPr lang="en-US" sz="1190">
                <a:latin typeface="Arial"/>
                <a:ea typeface="Arial"/>
                <a:cs typeface="Arial"/>
                <a:sym typeface="Arial"/>
              </a:rPr>
              <a:t>At this point in development, </a:t>
            </a:r>
            <a:r>
              <a:rPr lang="en-US" sz="1190" u="sng">
                <a:latin typeface="Arial"/>
                <a:ea typeface="Arial"/>
                <a:cs typeface="Arial"/>
                <a:sym typeface="Arial"/>
              </a:rPr>
              <a:t>don’t clutter</a:t>
            </a:r>
            <a:r>
              <a:rPr lang="en-US" sz="1190">
                <a:latin typeface="Arial"/>
                <a:ea typeface="Arial"/>
                <a:cs typeface="Arial"/>
                <a:sym typeface="Arial"/>
              </a:rPr>
              <a:t> up the definition of the class </a:t>
            </a:r>
            <a:r>
              <a:rPr lang="en-US" sz="1190" u="sng">
                <a:latin typeface="Arial"/>
                <a:ea typeface="Arial"/>
                <a:cs typeface="Arial"/>
                <a:sym typeface="Arial"/>
              </a:rPr>
              <a:t>with these basic types</a:t>
            </a:r>
            <a:r>
              <a:rPr lang="en-US" sz="1190">
                <a:latin typeface="Arial"/>
                <a:ea typeface="Arial"/>
                <a:cs typeface="Arial"/>
                <a:sym typeface="Arial"/>
              </a:rPr>
              <a:t> of operations</a:t>
            </a:r>
            <a:endParaRPr/>
          </a:p>
          <a:p>
            <a:pPr indent="-225011" lvl="1" marL="675033" rtl="0" algn="l">
              <a:lnSpc>
                <a:spcPct val="90000"/>
              </a:lnSpc>
              <a:spcBef>
                <a:spcPts val="0"/>
              </a:spcBef>
              <a:spcAft>
                <a:spcPts val="0"/>
              </a:spcAft>
              <a:buClr>
                <a:schemeClr val="dk1"/>
              </a:buClr>
              <a:buSzPts val="1190"/>
              <a:buFont typeface="Arial"/>
              <a:buChar char="•"/>
            </a:pPr>
            <a:r>
              <a:rPr lang="en-US" sz="1190" u="sng">
                <a:latin typeface="Arial"/>
                <a:ea typeface="Arial"/>
                <a:cs typeface="Arial"/>
                <a:sym typeface="Arial"/>
              </a:rPr>
              <a:t>Focus only</a:t>
            </a:r>
            <a:r>
              <a:rPr lang="en-US" sz="1190">
                <a:latin typeface="Arial"/>
                <a:ea typeface="Arial"/>
                <a:cs typeface="Arial"/>
                <a:sym typeface="Arial"/>
              </a:rPr>
              <a:t> on relevant problem domain-specific operations</a:t>
            </a:r>
            <a:endParaRPr/>
          </a:p>
          <a:p>
            <a:pPr indent="-225011" lvl="0" marL="225011" rtl="0" algn="l">
              <a:lnSpc>
                <a:spcPct val="90000"/>
              </a:lnSpc>
              <a:spcBef>
                <a:spcPts val="0"/>
              </a:spcBef>
              <a:spcAft>
                <a:spcPts val="0"/>
              </a:spcAft>
              <a:buNone/>
            </a:pPr>
            <a:r>
              <a:rPr lang="en-US" sz="1190">
                <a:latin typeface="Arial"/>
                <a:ea typeface="Arial"/>
                <a:cs typeface="Arial"/>
                <a:sym typeface="Arial"/>
              </a:rPr>
              <a:t>1)Constructor operation</a:t>
            </a:r>
            <a:endParaRPr/>
          </a:p>
          <a:p>
            <a:pPr indent="-225011" lvl="0" marL="225011" rtl="0" algn="l">
              <a:lnSpc>
                <a:spcPct val="90000"/>
              </a:lnSpc>
              <a:spcBef>
                <a:spcPts val="0"/>
              </a:spcBef>
              <a:spcAft>
                <a:spcPts val="0"/>
              </a:spcAft>
              <a:buClr>
                <a:schemeClr val="dk1"/>
              </a:buClr>
              <a:buSzPts val="1190"/>
              <a:buFont typeface="Arial"/>
              <a:buChar char="•"/>
            </a:pPr>
            <a:r>
              <a:rPr lang="en-US" sz="1190">
                <a:latin typeface="Arial"/>
                <a:ea typeface="Arial"/>
                <a:cs typeface="Arial"/>
                <a:sym typeface="Arial"/>
              </a:rPr>
              <a:t>Creates a new instance of a class</a:t>
            </a:r>
            <a:endParaRPr/>
          </a:p>
          <a:p>
            <a:pPr indent="-225011" lvl="0" marL="225011" rtl="0" algn="l">
              <a:lnSpc>
                <a:spcPct val="90000"/>
              </a:lnSpc>
              <a:spcBef>
                <a:spcPts val="0"/>
              </a:spcBef>
              <a:spcAft>
                <a:spcPts val="0"/>
              </a:spcAft>
              <a:buClr>
                <a:schemeClr val="dk1"/>
              </a:buClr>
              <a:buSzPts val="1190"/>
              <a:buFont typeface="Arial"/>
              <a:buChar char="•"/>
            </a:pPr>
            <a:r>
              <a:rPr lang="en-US" sz="1190">
                <a:latin typeface="Arial"/>
                <a:ea typeface="Arial"/>
                <a:cs typeface="Arial"/>
                <a:sym typeface="Arial"/>
              </a:rPr>
              <a:t>Since creation is normally available to all classes, typically will not see constructor methods at this point in the development of the class diagram</a:t>
            </a:r>
            <a:endParaRPr/>
          </a:p>
          <a:p>
            <a:pPr indent="-225011" lvl="0" marL="225011" rtl="0" algn="l">
              <a:lnSpc>
                <a:spcPct val="90000"/>
              </a:lnSpc>
              <a:spcBef>
                <a:spcPts val="0"/>
              </a:spcBef>
              <a:spcAft>
                <a:spcPts val="0"/>
              </a:spcAft>
              <a:buNone/>
            </a:pPr>
            <a:r>
              <a:rPr lang="en-US" sz="1190">
                <a:latin typeface="Arial"/>
                <a:ea typeface="Arial"/>
                <a:cs typeface="Arial"/>
                <a:sym typeface="Arial"/>
              </a:rPr>
              <a:t>2)Query operation</a:t>
            </a:r>
            <a:endParaRPr/>
          </a:p>
          <a:p>
            <a:pPr indent="-225011" lvl="0" marL="225011" rtl="0" algn="l">
              <a:lnSpc>
                <a:spcPct val="90000"/>
              </a:lnSpc>
              <a:spcBef>
                <a:spcPts val="0"/>
              </a:spcBef>
              <a:spcAft>
                <a:spcPts val="0"/>
              </a:spcAft>
              <a:buClr>
                <a:schemeClr val="dk1"/>
              </a:buClr>
              <a:buSzPts val="1190"/>
              <a:buFont typeface="Arial"/>
              <a:buChar char="•"/>
            </a:pPr>
            <a:r>
              <a:rPr lang="en-US" sz="1190">
                <a:latin typeface="Arial"/>
                <a:ea typeface="Arial"/>
                <a:cs typeface="Arial"/>
                <a:sym typeface="Arial"/>
              </a:rPr>
              <a:t>Makes information about the state of an object available to other objects but will not alter the object in any way</a:t>
            </a:r>
            <a:endParaRPr/>
          </a:p>
          <a:p>
            <a:pPr indent="-225011" lvl="0" marL="225011" rtl="0" algn="l">
              <a:lnSpc>
                <a:spcPct val="90000"/>
              </a:lnSpc>
              <a:spcBef>
                <a:spcPts val="0"/>
              </a:spcBef>
              <a:spcAft>
                <a:spcPts val="0"/>
              </a:spcAft>
              <a:buNone/>
            </a:pPr>
            <a:r>
              <a:rPr lang="en-US" sz="1190">
                <a:latin typeface="Arial"/>
                <a:ea typeface="Arial"/>
                <a:cs typeface="Arial"/>
                <a:sym typeface="Arial"/>
              </a:rPr>
              <a:t>3)Update operation</a:t>
            </a:r>
            <a:endParaRPr/>
          </a:p>
          <a:p>
            <a:pPr indent="-225011" lvl="0" marL="225011" rtl="0" algn="l">
              <a:lnSpc>
                <a:spcPct val="90000"/>
              </a:lnSpc>
              <a:spcBef>
                <a:spcPts val="0"/>
              </a:spcBef>
              <a:spcAft>
                <a:spcPts val="0"/>
              </a:spcAft>
              <a:buClr>
                <a:schemeClr val="dk1"/>
              </a:buClr>
              <a:buSzPts val="1190"/>
              <a:buFont typeface="Arial"/>
              <a:buChar char="•"/>
            </a:pPr>
            <a:r>
              <a:rPr lang="en-US" sz="1190">
                <a:latin typeface="Arial"/>
                <a:ea typeface="Arial"/>
                <a:cs typeface="Arial"/>
                <a:sym typeface="Arial"/>
              </a:rPr>
              <a:t>Changes the value of some or all of the object’s attributes which may result in a change in the object’s state</a:t>
            </a:r>
            <a:endParaRPr/>
          </a:p>
          <a:p>
            <a:pPr indent="-225011" lvl="0" marL="225011" rtl="0" algn="l">
              <a:lnSpc>
                <a:spcPct val="90000"/>
              </a:lnSpc>
              <a:spcBef>
                <a:spcPts val="0"/>
              </a:spcBef>
              <a:spcAft>
                <a:spcPts val="0"/>
              </a:spcAft>
              <a:buNone/>
            </a:pPr>
            <a:r>
              <a:t/>
            </a:r>
            <a:endParaRPr sz="1190">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79" name="Google Shape;279;p17:notes"/>
          <p:cNvSpPr/>
          <p:nvPr>
            <p:ph idx="2" type="sldImg"/>
          </p:nvPr>
        </p:nvSpPr>
        <p:spPr>
          <a:xfrm>
            <a:off x="1144588"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0" name="Google Shape;280;p17: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400">
                <a:latin typeface="Arial"/>
                <a:ea typeface="Arial"/>
                <a:cs typeface="Arial"/>
                <a:sym typeface="Arial"/>
              </a:rPr>
              <a:t>Class representation</a:t>
            </a:r>
            <a:endParaRPr/>
          </a:p>
          <a:p>
            <a:pPr indent="-88900" lvl="0" marL="0" rtl="0" algn="l">
              <a:spcBef>
                <a:spcPts val="0"/>
              </a:spcBef>
              <a:spcAft>
                <a:spcPts val="0"/>
              </a:spcAft>
              <a:buClr>
                <a:schemeClr val="dk1"/>
              </a:buClr>
              <a:buSzPts val="1400"/>
              <a:buFont typeface="Arial"/>
              <a:buChar char="•"/>
            </a:pPr>
            <a:r>
              <a:rPr lang="en-US" sz="1400">
                <a:latin typeface="Arial"/>
                <a:ea typeface="Arial"/>
                <a:cs typeface="Arial"/>
                <a:sym typeface="Arial"/>
              </a:rPr>
              <a:t>Compartmentalized rectangles</a:t>
            </a:r>
            <a:endParaRPr/>
          </a:p>
          <a:p>
            <a:pPr indent="-88900" lvl="0" marL="0" rtl="0" algn="l">
              <a:spcBef>
                <a:spcPts val="0"/>
              </a:spcBef>
              <a:spcAft>
                <a:spcPts val="0"/>
              </a:spcAft>
              <a:buClr>
                <a:schemeClr val="dk1"/>
              </a:buClr>
              <a:buSzPts val="1400"/>
              <a:buFont typeface="Arial"/>
              <a:buChar char="•"/>
            </a:pPr>
            <a:r>
              <a:rPr lang="en-US" sz="1400">
                <a:latin typeface="Arial"/>
                <a:ea typeface="Arial"/>
                <a:cs typeface="Arial"/>
                <a:sym typeface="Arial"/>
              </a:rPr>
              <a:t>Top compartment:  name of class</a:t>
            </a:r>
            <a:endParaRPr/>
          </a:p>
          <a:p>
            <a:pPr indent="-88900" lvl="0" marL="0" rtl="0" algn="l">
              <a:spcBef>
                <a:spcPts val="0"/>
              </a:spcBef>
              <a:spcAft>
                <a:spcPts val="0"/>
              </a:spcAft>
              <a:buClr>
                <a:schemeClr val="dk1"/>
              </a:buClr>
              <a:buSzPts val="1400"/>
              <a:buFont typeface="Arial"/>
              <a:buChar char="•"/>
            </a:pPr>
            <a:r>
              <a:rPr lang="en-US" sz="1400">
                <a:latin typeface="Arial"/>
                <a:ea typeface="Arial"/>
                <a:cs typeface="Arial"/>
                <a:sym typeface="Arial"/>
              </a:rPr>
              <a:t>Middle compartment:  structure of the class (attributes)</a:t>
            </a:r>
            <a:endParaRPr/>
          </a:p>
          <a:p>
            <a:pPr indent="-88900" lvl="0" marL="0" rtl="0" algn="l">
              <a:spcBef>
                <a:spcPts val="0"/>
              </a:spcBef>
              <a:spcAft>
                <a:spcPts val="0"/>
              </a:spcAft>
              <a:buClr>
                <a:schemeClr val="dk1"/>
              </a:buClr>
              <a:buSzPts val="1400"/>
              <a:buFont typeface="Arial"/>
              <a:buChar char="•"/>
            </a:pPr>
            <a:r>
              <a:rPr lang="en-US" sz="1400">
                <a:latin typeface="Arial"/>
                <a:ea typeface="Arial"/>
                <a:cs typeface="Arial"/>
                <a:sym typeface="Arial"/>
              </a:rPr>
              <a:t>Bottom compartment:  behavior of the class (operations)</a:t>
            </a:r>
            <a:endParaRPr>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92" name="Google Shape;292;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3" name="Google Shape;293;p18: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225011" lvl="0" marL="225011" rtl="0" algn="l">
              <a:spcBef>
                <a:spcPts val="0"/>
              </a:spcBef>
              <a:spcAft>
                <a:spcPts val="0"/>
              </a:spcAft>
              <a:buNone/>
            </a:pPr>
            <a:r>
              <a:rPr lang="en-US" sz="1400">
                <a:latin typeface="Arial"/>
                <a:ea typeface="Arial"/>
                <a:cs typeface="Arial"/>
                <a:sym typeface="Arial"/>
              </a:rPr>
              <a:t>Visibility in a class diagram</a:t>
            </a:r>
            <a:endParaRPr/>
          </a:p>
          <a:p>
            <a:pPr indent="-225011" lvl="0" marL="225011" rtl="0" algn="l">
              <a:spcBef>
                <a:spcPts val="0"/>
              </a:spcBef>
              <a:spcAft>
                <a:spcPts val="0"/>
              </a:spcAft>
              <a:buClr>
                <a:schemeClr val="dk1"/>
              </a:buClr>
              <a:buSzPts val="1400"/>
              <a:buFont typeface="Arial"/>
              <a:buChar char="•"/>
            </a:pPr>
            <a:r>
              <a:rPr lang="en-US" sz="1400">
                <a:latin typeface="Arial"/>
                <a:ea typeface="Arial"/>
                <a:cs typeface="Arial"/>
                <a:sym typeface="Arial"/>
              </a:rPr>
              <a:t>Shown on attributes and methods</a:t>
            </a:r>
            <a:endParaRPr/>
          </a:p>
          <a:p>
            <a:pPr indent="-225011" lvl="0" marL="225011" rtl="0" algn="l">
              <a:spcBef>
                <a:spcPts val="0"/>
              </a:spcBef>
              <a:spcAft>
                <a:spcPts val="0"/>
              </a:spcAft>
              <a:buClr>
                <a:schemeClr val="dk1"/>
              </a:buClr>
              <a:buSzPts val="1400"/>
              <a:buFont typeface="Arial"/>
              <a:buAutoNum type="arabicParenR"/>
            </a:pPr>
            <a:r>
              <a:rPr lang="en-US" sz="1400">
                <a:latin typeface="Arial"/>
                <a:ea typeface="Arial"/>
                <a:cs typeface="Arial"/>
                <a:sym typeface="Arial"/>
              </a:rPr>
              <a:t> Public</a:t>
            </a:r>
            <a:endParaRPr/>
          </a:p>
          <a:p>
            <a:pPr indent="-225011" lvl="0" marL="225011" rtl="0" algn="l">
              <a:spcBef>
                <a:spcPts val="0"/>
              </a:spcBef>
              <a:spcAft>
                <a:spcPts val="0"/>
              </a:spcAft>
              <a:buClr>
                <a:schemeClr val="dk1"/>
              </a:buClr>
              <a:buSzPts val="1400"/>
              <a:buFont typeface="Arial"/>
              <a:buChar char="•"/>
            </a:pPr>
            <a:r>
              <a:rPr lang="en-US" sz="1400">
                <a:latin typeface="Arial"/>
                <a:ea typeface="Arial"/>
                <a:cs typeface="Arial"/>
                <a:sym typeface="Arial"/>
              </a:rPr>
              <a:t>One that is not hidden from any other object</a:t>
            </a:r>
            <a:endParaRPr/>
          </a:p>
          <a:p>
            <a:pPr indent="-225011" lvl="0" marL="225011" rtl="0" algn="l">
              <a:spcBef>
                <a:spcPts val="0"/>
              </a:spcBef>
              <a:spcAft>
                <a:spcPts val="0"/>
              </a:spcAft>
              <a:buClr>
                <a:schemeClr val="dk1"/>
              </a:buClr>
              <a:buSzPts val="1400"/>
              <a:buFont typeface="Arial"/>
              <a:buChar char="•"/>
            </a:pPr>
            <a:r>
              <a:rPr b="1" lang="en-US" sz="1400">
                <a:latin typeface="Arial"/>
                <a:ea typeface="Arial"/>
                <a:cs typeface="Arial"/>
                <a:sym typeface="Arial"/>
              </a:rPr>
              <a:t>Default visibility for an method</a:t>
            </a:r>
            <a:endParaRPr sz="1400">
              <a:latin typeface="Arial"/>
              <a:ea typeface="Arial"/>
              <a:cs typeface="Arial"/>
              <a:sym typeface="Arial"/>
            </a:endParaRPr>
          </a:p>
          <a:p>
            <a:pPr indent="-225011" lvl="0" marL="225011" rtl="0" algn="l">
              <a:spcBef>
                <a:spcPts val="0"/>
              </a:spcBef>
              <a:spcAft>
                <a:spcPts val="0"/>
              </a:spcAft>
              <a:buNone/>
            </a:pPr>
            <a:r>
              <a:rPr lang="en-US" sz="1400">
                <a:latin typeface="Arial"/>
                <a:ea typeface="Arial"/>
                <a:cs typeface="Arial"/>
                <a:sym typeface="Arial"/>
              </a:rPr>
              <a:t>2) Protected</a:t>
            </a:r>
            <a:endParaRPr/>
          </a:p>
          <a:p>
            <a:pPr indent="-225011" lvl="0" marL="225011" rtl="0" algn="l">
              <a:spcBef>
                <a:spcPts val="0"/>
              </a:spcBef>
              <a:spcAft>
                <a:spcPts val="0"/>
              </a:spcAft>
              <a:buClr>
                <a:schemeClr val="dk1"/>
              </a:buClr>
              <a:buSzPts val="1400"/>
              <a:buFont typeface="Arial"/>
              <a:buChar char="•"/>
            </a:pPr>
            <a:r>
              <a:rPr lang="en-US" sz="1400">
                <a:latin typeface="Arial"/>
                <a:ea typeface="Arial"/>
                <a:cs typeface="Arial"/>
                <a:sym typeface="Arial"/>
              </a:rPr>
              <a:t>One that is hidden from all other classes except its </a:t>
            </a:r>
            <a:r>
              <a:rPr lang="en-US" sz="1400" u="sng">
                <a:latin typeface="Arial"/>
                <a:ea typeface="Arial"/>
                <a:cs typeface="Arial"/>
                <a:sym typeface="Arial"/>
              </a:rPr>
              <a:t>immediate</a:t>
            </a:r>
            <a:r>
              <a:rPr lang="en-US" sz="1400">
                <a:latin typeface="Arial"/>
                <a:ea typeface="Arial"/>
                <a:cs typeface="Arial"/>
                <a:sym typeface="Arial"/>
              </a:rPr>
              <a:t> subclasses</a:t>
            </a:r>
            <a:endParaRPr/>
          </a:p>
          <a:p>
            <a:pPr indent="-225011" lvl="0" marL="225011" rtl="0" algn="l">
              <a:spcBef>
                <a:spcPts val="0"/>
              </a:spcBef>
              <a:spcAft>
                <a:spcPts val="0"/>
              </a:spcAft>
              <a:buNone/>
            </a:pPr>
            <a:r>
              <a:rPr lang="en-US" sz="1400">
                <a:latin typeface="Arial"/>
                <a:ea typeface="Arial"/>
                <a:cs typeface="Arial"/>
                <a:sym typeface="Arial"/>
              </a:rPr>
              <a:t>3) Private</a:t>
            </a:r>
            <a:endParaRPr/>
          </a:p>
          <a:p>
            <a:pPr indent="-225011" lvl="0" marL="225011" rtl="0" algn="l">
              <a:spcBef>
                <a:spcPts val="0"/>
              </a:spcBef>
              <a:spcAft>
                <a:spcPts val="0"/>
              </a:spcAft>
              <a:buClr>
                <a:schemeClr val="dk1"/>
              </a:buClr>
              <a:buSzPts val="1400"/>
              <a:buFont typeface="Arial"/>
              <a:buChar char="•"/>
            </a:pPr>
            <a:r>
              <a:rPr lang="en-US" sz="1400">
                <a:latin typeface="Arial"/>
                <a:ea typeface="Arial"/>
                <a:cs typeface="Arial"/>
                <a:sym typeface="Arial"/>
              </a:rPr>
              <a:t>One that is hidden from all other classes</a:t>
            </a:r>
            <a:endParaRPr/>
          </a:p>
          <a:p>
            <a:pPr indent="-225011" lvl="0" marL="225011" rtl="0" algn="l">
              <a:spcBef>
                <a:spcPts val="0"/>
              </a:spcBef>
              <a:spcAft>
                <a:spcPts val="0"/>
              </a:spcAft>
              <a:buClr>
                <a:schemeClr val="dk1"/>
              </a:buClr>
              <a:buSzPts val="1400"/>
              <a:buFont typeface="Arial"/>
              <a:buChar char="•"/>
            </a:pPr>
            <a:r>
              <a:rPr b="1" lang="en-US" sz="1400">
                <a:latin typeface="Arial"/>
                <a:ea typeface="Arial"/>
                <a:cs typeface="Arial"/>
                <a:sym typeface="Arial"/>
              </a:rPr>
              <a:t>Default visibility for an attribute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00" name="Google Shape;300;p19:notes"/>
          <p:cNvSpPr/>
          <p:nvPr>
            <p:ph idx="2" type="sldImg"/>
          </p:nvPr>
        </p:nvSpPr>
        <p:spPr>
          <a:xfrm>
            <a:off x="1144588"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1" name="Google Shape;301;p19: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225011" lvl="0" marL="225011" rtl="0" algn="l">
              <a:spcBef>
                <a:spcPts val="0"/>
              </a:spcBef>
              <a:spcAft>
                <a:spcPts val="0"/>
              </a:spcAft>
              <a:buNone/>
            </a:pPr>
            <a:r>
              <a:rPr lang="en-US" sz="1400">
                <a:latin typeface="Arial"/>
                <a:ea typeface="Arial"/>
                <a:cs typeface="Arial"/>
                <a:sym typeface="Arial"/>
              </a:rPr>
              <a:t>Operations in a Class</a:t>
            </a:r>
            <a:endParaRPr/>
          </a:p>
          <a:p>
            <a:pPr indent="-225011" lvl="0" marL="225011" rtl="0" algn="l">
              <a:spcBef>
                <a:spcPts val="0"/>
              </a:spcBef>
              <a:spcAft>
                <a:spcPts val="0"/>
              </a:spcAft>
              <a:buClr>
                <a:schemeClr val="dk1"/>
              </a:buClr>
              <a:buSzPts val="1400"/>
              <a:buFont typeface="Arial"/>
              <a:buChar char="•"/>
            </a:pPr>
            <a:r>
              <a:rPr lang="en-US" sz="1400">
                <a:latin typeface="Arial"/>
                <a:ea typeface="Arial"/>
                <a:cs typeface="Arial"/>
                <a:sym typeface="Arial"/>
              </a:rPr>
              <a:t>Also can be shown on attributes</a:t>
            </a:r>
            <a:endParaRPr/>
          </a:p>
          <a:p>
            <a:pPr indent="-225011" lvl="0" marL="225011" rtl="0" algn="l">
              <a:spcBef>
                <a:spcPts val="0"/>
              </a:spcBef>
              <a:spcAft>
                <a:spcPts val="0"/>
              </a:spcAft>
              <a:buClr>
                <a:schemeClr val="dk1"/>
              </a:buClr>
              <a:buSzPts val="1400"/>
              <a:buFont typeface="Arial"/>
              <a:buChar char="•"/>
            </a:pPr>
            <a:r>
              <a:rPr lang="en-US" sz="1400">
                <a:latin typeface="Arial"/>
                <a:ea typeface="Arial"/>
                <a:cs typeface="Arial"/>
                <a:sym typeface="Arial"/>
              </a:rPr>
              <a:t>Put in front of the name of the attribute or operation on the class diagram</a:t>
            </a:r>
            <a:endParaRPr/>
          </a:p>
          <a:p>
            <a:pPr indent="-225011" lvl="0" marL="225011" rtl="0" algn="l">
              <a:spcBef>
                <a:spcPts val="0"/>
              </a:spcBef>
              <a:spcAft>
                <a:spcPts val="0"/>
              </a:spcAft>
              <a:buClr>
                <a:schemeClr val="dk1"/>
              </a:buClr>
              <a:buSzPts val="1400"/>
              <a:buFont typeface="Arial"/>
              <a:buChar char="•"/>
            </a:pPr>
            <a:r>
              <a:rPr b="1" lang="en-US" sz="1400">
                <a:latin typeface="Arial"/>
                <a:ea typeface="Arial"/>
                <a:cs typeface="Arial"/>
                <a:sym typeface="Arial"/>
              </a:rPr>
              <a:t>Visibility</a:t>
            </a:r>
            <a:r>
              <a:rPr lang="en-US" sz="1400">
                <a:latin typeface="Arial"/>
                <a:ea typeface="Arial"/>
                <a:cs typeface="Arial"/>
                <a:sym typeface="Arial"/>
              </a:rPr>
              <a:t> of the attribute/operation in the system</a:t>
            </a:r>
            <a:endParaRPr/>
          </a:p>
          <a:p>
            <a:pPr indent="-225010" lvl="2" marL="1125055" rtl="0" algn="l">
              <a:spcBef>
                <a:spcPts val="0"/>
              </a:spcBef>
              <a:spcAft>
                <a:spcPts val="0"/>
              </a:spcAft>
              <a:buClr>
                <a:schemeClr val="dk1"/>
              </a:buClr>
              <a:buSzPts val="1400"/>
              <a:buFont typeface="Arial"/>
              <a:buChar char="•"/>
            </a:pPr>
            <a:r>
              <a:rPr lang="en-US" sz="1400">
                <a:latin typeface="Arial"/>
                <a:ea typeface="Arial"/>
                <a:cs typeface="Arial"/>
                <a:sym typeface="Arial"/>
              </a:rPr>
              <a:t>Public – not hidden from any object</a:t>
            </a:r>
            <a:endParaRPr/>
          </a:p>
          <a:p>
            <a:pPr indent="-225010" lvl="2" marL="1125055" rtl="0" algn="l">
              <a:spcBef>
                <a:spcPts val="0"/>
              </a:spcBef>
              <a:spcAft>
                <a:spcPts val="0"/>
              </a:spcAft>
              <a:buClr>
                <a:schemeClr val="dk1"/>
              </a:buClr>
              <a:buSzPts val="1400"/>
              <a:buFont typeface="Arial"/>
              <a:buChar char="•"/>
            </a:pPr>
            <a:r>
              <a:rPr lang="en-US" sz="1400">
                <a:latin typeface="Arial"/>
                <a:ea typeface="Arial"/>
                <a:cs typeface="Arial"/>
                <a:sym typeface="Arial"/>
              </a:rPr>
              <a:t>Protected – hidden from all other classes except its immediate subclasses</a:t>
            </a:r>
            <a:endParaRPr/>
          </a:p>
          <a:p>
            <a:pPr indent="-225010" lvl="2" marL="1125055" rtl="0" algn="l">
              <a:spcBef>
                <a:spcPts val="0"/>
              </a:spcBef>
              <a:spcAft>
                <a:spcPts val="0"/>
              </a:spcAft>
              <a:buClr>
                <a:schemeClr val="dk1"/>
              </a:buClr>
              <a:buSzPts val="1400"/>
              <a:buFont typeface="Arial"/>
              <a:buChar char="•"/>
            </a:pPr>
            <a:r>
              <a:rPr lang="en-US" sz="1400">
                <a:latin typeface="Arial"/>
                <a:ea typeface="Arial"/>
                <a:cs typeface="Arial"/>
                <a:sym typeface="Arial"/>
              </a:rPr>
              <a:t>Private – default; hidden from all other classes</a:t>
            </a:r>
            <a:endParaRPr/>
          </a:p>
          <a:p>
            <a:pPr indent="-225011" lvl="0" marL="225011" rtl="0" algn="l">
              <a:spcBef>
                <a:spcPts val="0"/>
              </a:spcBef>
              <a:spcAft>
                <a:spcPts val="0"/>
              </a:spcAft>
              <a:buNone/>
            </a:pPr>
            <a:r>
              <a:t/>
            </a:r>
            <a:endParaRPr sz="1400">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45" name="Google Shape;345;p21:notes"/>
          <p:cNvSpPr/>
          <p:nvPr>
            <p:ph idx="2" type="sldImg"/>
          </p:nvPr>
        </p:nvSpPr>
        <p:spPr>
          <a:xfrm>
            <a:off x="1144588"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6" name="Google Shape;346;p21: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400">
                <a:latin typeface="Arial"/>
                <a:ea typeface="Arial"/>
                <a:cs typeface="Arial"/>
                <a:sym typeface="Arial"/>
              </a:rPr>
              <a:t>Relationships between Classes</a:t>
            </a:r>
            <a:endParaRPr/>
          </a:p>
          <a:p>
            <a:pPr indent="-88900" lvl="0" marL="0" rtl="0" algn="l">
              <a:spcBef>
                <a:spcPts val="0"/>
              </a:spcBef>
              <a:spcAft>
                <a:spcPts val="0"/>
              </a:spcAft>
              <a:buClr>
                <a:schemeClr val="dk1"/>
              </a:buClr>
              <a:buSzPts val="1400"/>
              <a:buFont typeface="Arial"/>
              <a:buChar char="•"/>
            </a:pPr>
            <a:r>
              <a:rPr b="1" lang="en-US" sz="1400">
                <a:latin typeface="Arial"/>
                <a:ea typeface="Arial"/>
                <a:cs typeface="Arial"/>
                <a:sym typeface="Arial"/>
              </a:rPr>
              <a:t>One of primary purposes of a class diagram is to show the relationships that classes have with other another</a:t>
            </a:r>
            <a:endParaRPr/>
          </a:p>
          <a:p>
            <a:pPr indent="-88900" lvl="0" marL="0" rtl="0" algn="l">
              <a:spcBef>
                <a:spcPts val="0"/>
              </a:spcBef>
              <a:spcAft>
                <a:spcPts val="0"/>
              </a:spcAft>
              <a:buClr>
                <a:schemeClr val="dk1"/>
              </a:buClr>
              <a:buSzPts val="1400"/>
              <a:buFont typeface="Arial"/>
              <a:buChar char="•"/>
            </a:pPr>
            <a:r>
              <a:rPr lang="en-US" sz="1400">
                <a:latin typeface="Arial"/>
                <a:ea typeface="Arial"/>
                <a:cs typeface="Arial"/>
                <a:sym typeface="Arial"/>
              </a:rPr>
              <a:t>All systems are made up of many classes/objects; system behavior is achieved through the collaborations of the objects of the system</a:t>
            </a:r>
            <a:endParaRPr/>
          </a:p>
          <a:p>
            <a:pPr indent="0" lvl="0" marL="0" rtl="0" algn="l">
              <a:spcBef>
                <a:spcPts val="0"/>
              </a:spcBef>
              <a:spcAft>
                <a:spcPts val="0"/>
              </a:spcAft>
              <a:buNone/>
            </a:pPr>
            <a:r>
              <a:t/>
            </a:r>
            <a:endParaRPr sz="1400">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53" name="Google Shape;353;p22:notes"/>
          <p:cNvSpPr/>
          <p:nvPr>
            <p:ph idx="2" type="sldImg"/>
          </p:nvPr>
        </p:nvSpPr>
        <p:spPr>
          <a:xfrm>
            <a:off x="1144588"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4" name="Google Shape;354;p22: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400">
                <a:latin typeface="Arial"/>
                <a:ea typeface="Arial"/>
                <a:cs typeface="Arial"/>
                <a:sym typeface="Arial"/>
              </a:rPr>
              <a:t>Association Relationship</a:t>
            </a:r>
            <a:endParaRPr/>
          </a:p>
          <a:p>
            <a:pPr indent="-88900" lvl="0" marL="0" rtl="0" algn="l">
              <a:spcBef>
                <a:spcPts val="0"/>
              </a:spcBef>
              <a:spcAft>
                <a:spcPts val="0"/>
              </a:spcAft>
              <a:buClr>
                <a:schemeClr val="dk1"/>
              </a:buClr>
              <a:buSzPts val="1400"/>
              <a:buFont typeface="Arial"/>
              <a:buChar char="•"/>
            </a:pPr>
            <a:r>
              <a:rPr lang="en-US" sz="1400">
                <a:latin typeface="Arial"/>
                <a:ea typeface="Arial"/>
                <a:cs typeface="Arial"/>
                <a:sym typeface="Arial"/>
              </a:rPr>
              <a:t>An association between classes means there is a link between the objects in the associated classes</a:t>
            </a:r>
            <a:endParaRPr/>
          </a:p>
          <a:p>
            <a:pPr indent="-88900" lvl="0" marL="0" rtl="0" algn="l">
              <a:spcBef>
                <a:spcPts val="0"/>
              </a:spcBef>
              <a:spcAft>
                <a:spcPts val="0"/>
              </a:spcAft>
              <a:buClr>
                <a:schemeClr val="dk1"/>
              </a:buClr>
              <a:buSzPts val="1400"/>
              <a:buFont typeface="Arial"/>
              <a:buChar char="•"/>
            </a:pPr>
            <a:r>
              <a:rPr lang="en-US" sz="1400">
                <a:latin typeface="Arial"/>
                <a:ea typeface="Arial"/>
                <a:cs typeface="Arial"/>
                <a:sym typeface="Arial"/>
              </a:rPr>
              <a:t>Not a data flow (though data may flow in either direction across the association)</a:t>
            </a:r>
            <a:endParaRPr/>
          </a:p>
          <a:p>
            <a:pPr indent="0" lvl="0" marL="0" rtl="0" algn="l">
              <a:spcBef>
                <a:spcPts val="0"/>
              </a:spcBef>
              <a:spcAft>
                <a:spcPts val="0"/>
              </a:spcAft>
              <a:buClr>
                <a:schemeClr val="dk1"/>
              </a:buClr>
              <a:buSzPts val="1400"/>
              <a:buFont typeface="Calibri"/>
              <a:buNone/>
            </a:pPr>
            <a:r>
              <a:t/>
            </a:r>
            <a:endParaRPr sz="1400">
              <a:latin typeface="Arial"/>
              <a:ea typeface="Arial"/>
              <a:cs typeface="Arial"/>
              <a:sym typeface="Arial"/>
            </a:endParaRPr>
          </a:p>
          <a:p>
            <a:pPr indent="0" lvl="0" marL="0" rtl="0" algn="l">
              <a:spcBef>
                <a:spcPts val="0"/>
              </a:spcBef>
              <a:spcAft>
                <a:spcPts val="0"/>
              </a:spcAft>
              <a:buNone/>
            </a:pPr>
            <a:r>
              <a:t/>
            </a:r>
            <a:endParaRPr b="1" sz="1400">
              <a:latin typeface="Arial"/>
              <a:ea typeface="Arial"/>
              <a:cs typeface="Arial"/>
              <a:sym typeface="Arial"/>
            </a:endParaRPr>
          </a:p>
          <a:p>
            <a:pPr indent="0" lvl="0" marL="0" rtl="0" algn="l">
              <a:spcBef>
                <a:spcPts val="0"/>
              </a:spcBef>
              <a:spcAft>
                <a:spcPts val="0"/>
              </a:spcAft>
              <a:buNone/>
            </a:pPr>
            <a:r>
              <a:t/>
            </a:r>
            <a:endParaRPr sz="1400">
              <a:latin typeface="Arial"/>
              <a:ea typeface="Arial"/>
              <a:cs typeface="Arial"/>
              <a:sym typeface="Arial"/>
            </a:endParaRPr>
          </a:p>
          <a:p>
            <a:pPr indent="0" lvl="0" marL="0" rtl="0" algn="l">
              <a:spcBef>
                <a:spcPts val="0"/>
              </a:spcBef>
              <a:spcAft>
                <a:spcPts val="0"/>
              </a:spcAft>
              <a:buNone/>
            </a:pPr>
            <a:r>
              <a:t/>
            </a:r>
            <a:endParaRPr sz="1400">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61" name="Google Shape;361;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2" name="Google Shape;362;p23: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225011" lvl="0" marL="225011" rtl="0" algn="l">
              <a:spcBef>
                <a:spcPts val="0"/>
              </a:spcBef>
              <a:spcAft>
                <a:spcPts val="0"/>
              </a:spcAft>
              <a:buNone/>
            </a:pPr>
            <a:r>
              <a:rPr lang="en-US" sz="1400">
                <a:latin typeface="Arial"/>
                <a:ea typeface="Arial"/>
                <a:cs typeface="Arial"/>
                <a:sym typeface="Arial"/>
              </a:rPr>
              <a:t>Relationships in a class diagram</a:t>
            </a:r>
            <a:endParaRPr/>
          </a:p>
          <a:p>
            <a:pPr indent="-225011" lvl="0" marL="225011" rtl="0" algn="l">
              <a:spcBef>
                <a:spcPts val="0"/>
              </a:spcBef>
              <a:spcAft>
                <a:spcPts val="0"/>
              </a:spcAft>
              <a:buClr>
                <a:schemeClr val="dk1"/>
              </a:buClr>
              <a:buSzPts val="1400"/>
              <a:buFont typeface="Arial"/>
              <a:buChar char="•"/>
            </a:pPr>
            <a:r>
              <a:rPr b="1" lang="en-US" sz="1400">
                <a:latin typeface="Arial"/>
                <a:ea typeface="Arial"/>
                <a:cs typeface="Arial"/>
                <a:sym typeface="Arial"/>
              </a:rPr>
              <a:t>Primary purpose of the class diagram is to show the relationships or associations that classes have with one another</a:t>
            </a:r>
            <a:endParaRPr/>
          </a:p>
          <a:p>
            <a:pPr indent="-225011" lvl="0" marL="225011" rtl="0" algn="l">
              <a:spcBef>
                <a:spcPts val="0"/>
              </a:spcBef>
              <a:spcAft>
                <a:spcPts val="0"/>
              </a:spcAft>
              <a:buClr>
                <a:schemeClr val="dk1"/>
              </a:buClr>
              <a:buSzPts val="1400"/>
              <a:buFont typeface="Arial"/>
              <a:buChar char="•"/>
            </a:pPr>
            <a:r>
              <a:rPr lang="en-US" sz="1400">
                <a:latin typeface="Arial"/>
                <a:ea typeface="Arial"/>
                <a:cs typeface="Arial"/>
                <a:sym typeface="Arial"/>
              </a:rPr>
              <a:t>Shown by drawing lines between classes</a:t>
            </a:r>
            <a:endParaRPr/>
          </a:p>
          <a:p>
            <a:pPr indent="-225011" lvl="0" marL="225011" rtl="0" algn="l">
              <a:spcBef>
                <a:spcPts val="0"/>
              </a:spcBef>
              <a:spcAft>
                <a:spcPts val="0"/>
              </a:spcAft>
              <a:buClr>
                <a:schemeClr val="dk1"/>
              </a:buClr>
              <a:buSzPts val="1400"/>
              <a:buFont typeface="Arial"/>
              <a:buChar char="•"/>
            </a:pPr>
            <a:r>
              <a:rPr lang="en-US" sz="1400">
                <a:latin typeface="Arial"/>
                <a:ea typeface="Arial"/>
                <a:cs typeface="Arial"/>
                <a:sym typeface="Arial"/>
              </a:rPr>
              <a:t>Triangle</a:t>
            </a:r>
            <a:endParaRPr/>
          </a:p>
          <a:p>
            <a:pPr indent="-225010" lvl="2" marL="1125055" rtl="0" algn="l">
              <a:spcBef>
                <a:spcPts val="0"/>
              </a:spcBef>
              <a:spcAft>
                <a:spcPts val="0"/>
              </a:spcAft>
              <a:buClr>
                <a:schemeClr val="dk1"/>
              </a:buClr>
              <a:buSzPts val="1400"/>
              <a:buFont typeface="Arial"/>
              <a:buChar char="•"/>
            </a:pPr>
            <a:r>
              <a:rPr lang="en-US" sz="1400">
                <a:latin typeface="Arial"/>
                <a:ea typeface="Arial"/>
                <a:cs typeface="Arial"/>
                <a:sym typeface="Arial"/>
              </a:rPr>
              <a:t>Increases the readability of the diagram</a:t>
            </a:r>
            <a:endParaRPr/>
          </a:p>
          <a:p>
            <a:pPr indent="-225010" lvl="2" marL="1125055" rtl="0" algn="l">
              <a:spcBef>
                <a:spcPts val="0"/>
              </a:spcBef>
              <a:spcAft>
                <a:spcPts val="0"/>
              </a:spcAft>
              <a:buClr>
                <a:schemeClr val="dk1"/>
              </a:buClr>
              <a:buSzPts val="1400"/>
              <a:buFont typeface="Arial"/>
              <a:buChar char="•"/>
            </a:pPr>
            <a:r>
              <a:rPr lang="en-US" sz="1400">
                <a:latin typeface="Arial"/>
                <a:ea typeface="Arial"/>
                <a:cs typeface="Arial"/>
                <a:sym typeface="Arial"/>
              </a:rPr>
              <a:t>Is read as “The patients provides medical history”</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 name="Google Shape;376;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9" name="Google Shape;399;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11" name="Google Shape;411;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2" name="Google Shape;412;p27: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225011" lvl="0" marL="225011" rtl="0" algn="l">
              <a:spcBef>
                <a:spcPts val="0"/>
              </a:spcBef>
              <a:spcAft>
                <a:spcPts val="0"/>
              </a:spcAft>
              <a:buNone/>
            </a:pPr>
            <a:r>
              <a:rPr lang="en-US" sz="1400">
                <a:latin typeface="Arial"/>
                <a:ea typeface="Arial"/>
                <a:cs typeface="Arial"/>
                <a:sym typeface="Arial"/>
              </a:rPr>
              <a:t>Relationships in a class diagram</a:t>
            </a:r>
            <a:endParaRPr/>
          </a:p>
          <a:p>
            <a:pPr indent="-225011" lvl="0" marL="225011" rtl="0" algn="l">
              <a:spcBef>
                <a:spcPts val="0"/>
              </a:spcBef>
              <a:spcAft>
                <a:spcPts val="0"/>
              </a:spcAft>
              <a:buClr>
                <a:schemeClr val="dk1"/>
              </a:buClr>
              <a:buSzPts val="1400"/>
              <a:buFont typeface="Arial"/>
              <a:buChar char="•"/>
            </a:pPr>
            <a:r>
              <a:rPr b="1" lang="en-US" sz="1400">
                <a:latin typeface="Arial"/>
                <a:ea typeface="Arial"/>
                <a:cs typeface="Arial"/>
                <a:sym typeface="Arial"/>
              </a:rPr>
              <a:t>Notice no triangle needed on a role</a:t>
            </a:r>
            <a:endParaRPr sz="1400">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26" name="Google Shape;426;p28:notes"/>
          <p:cNvSpPr/>
          <p:nvPr>
            <p:ph idx="2" type="sldImg"/>
          </p:nvPr>
        </p:nvSpPr>
        <p:spPr>
          <a:xfrm>
            <a:off x="1144588"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7" name="Google Shape;427;p28: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sz="1400">
                <a:latin typeface="Arial"/>
                <a:ea typeface="Arial"/>
                <a:cs typeface="Arial"/>
                <a:sym typeface="Arial"/>
              </a:rPr>
              <a:t>Aggregation Relationship</a:t>
            </a:r>
            <a:endParaRPr/>
          </a:p>
          <a:p>
            <a:pPr indent="-88900" lvl="0" marL="0"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You can identify these kinds of associations when you need to use words like “is a part of” or “is made up of” to describe a relationship between classes</a:t>
            </a:r>
            <a:endParaRPr/>
          </a:p>
          <a:p>
            <a:pPr indent="-88900" lvl="0" marL="0"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When classes actually comprise other classes</a:t>
            </a:r>
            <a:endParaRPr/>
          </a:p>
          <a:p>
            <a:pPr indent="-88900" lvl="0" marL="0"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For example, CourseOffering class is </a:t>
            </a:r>
            <a:r>
              <a:rPr i="1" lang="en-US" sz="1400">
                <a:latin typeface="Arial"/>
                <a:ea typeface="Arial"/>
                <a:cs typeface="Arial"/>
                <a:sym typeface="Arial"/>
              </a:rPr>
              <a:t>a-part-of</a:t>
            </a:r>
            <a:r>
              <a:rPr lang="en-US" sz="1400">
                <a:latin typeface="Arial"/>
                <a:ea typeface="Arial"/>
                <a:cs typeface="Arial"/>
                <a:sym typeface="Arial"/>
              </a:rPr>
              <a:t> the Course class</a:t>
            </a:r>
            <a:endParaRPr/>
          </a:p>
          <a:p>
            <a:pPr indent="-88900" lvl="2" marL="914400"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One way to recognize:  are some operations on the whole automatically applied to its parts? For example, deleting a course will also delete all of its course offerings</a:t>
            </a:r>
            <a:endParaRPr/>
          </a:p>
          <a:p>
            <a:pPr indent="-88900" lvl="2" marL="914400"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One way to recognize:  is there an intrinsic asymmetry to the relationship where one class is subordinate to the other?</a:t>
            </a:r>
            <a:endParaRPr/>
          </a:p>
          <a:p>
            <a:pPr indent="0" lvl="2" marL="914400" rtl="0" algn="l">
              <a:lnSpc>
                <a:spcPct val="90000"/>
              </a:lnSpc>
              <a:spcBef>
                <a:spcPts val="0"/>
              </a:spcBef>
              <a:spcAft>
                <a:spcPts val="0"/>
              </a:spcAft>
              <a:buNone/>
            </a:pPr>
            <a:r>
              <a:t/>
            </a:r>
            <a:endParaRPr sz="1400">
              <a:latin typeface="Arial"/>
              <a:ea typeface="Arial"/>
              <a:cs typeface="Arial"/>
              <a:sym typeface="Arial"/>
            </a:endParaRPr>
          </a:p>
          <a:p>
            <a:pPr indent="-88900" lvl="0" marL="0" rtl="0" algn="l">
              <a:lnSpc>
                <a:spcPct val="90000"/>
              </a:lnSpc>
              <a:spcBef>
                <a:spcPts val="0"/>
              </a:spcBef>
              <a:spcAft>
                <a:spcPts val="0"/>
              </a:spcAft>
              <a:buClr>
                <a:schemeClr val="dk1"/>
              </a:buClr>
              <a:buSzPts val="1400"/>
              <a:buFont typeface="Arial"/>
              <a:buChar char="•"/>
            </a:pPr>
            <a:r>
              <a:rPr b="1" lang="en-US" sz="1400">
                <a:latin typeface="Arial"/>
                <a:ea typeface="Arial"/>
                <a:cs typeface="Arial"/>
                <a:sym typeface="Arial"/>
              </a:rPr>
              <a:t>UML notation for an aggregation relationship is an association with a diamond next to the class denoting the aggregate</a:t>
            </a:r>
            <a:endParaRPr/>
          </a:p>
          <a:p>
            <a:pPr indent="-88900" lvl="0" marL="0" rtl="0" algn="l">
              <a:lnSpc>
                <a:spcPct val="90000"/>
              </a:lnSpc>
              <a:spcBef>
                <a:spcPts val="0"/>
              </a:spcBef>
              <a:spcAft>
                <a:spcPts val="0"/>
              </a:spcAft>
              <a:buClr>
                <a:schemeClr val="dk1"/>
              </a:buClr>
              <a:buSzPts val="1400"/>
              <a:buFont typeface="Arial"/>
              <a:buChar char="•"/>
            </a:pPr>
            <a:r>
              <a:rPr b="1" lang="en-US" sz="1400">
                <a:latin typeface="Arial"/>
                <a:ea typeface="Arial"/>
                <a:cs typeface="Arial"/>
                <a:sym typeface="Arial"/>
              </a:rPr>
              <a:t>Aggregations are denoted by a hollow-diamond adornment</a:t>
            </a:r>
            <a:endParaRPr/>
          </a:p>
          <a:p>
            <a:pPr indent="0" lvl="0" marL="0" rtl="0" algn="l">
              <a:lnSpc>
                <a:spcPct val="90000"/>
              </a:lnSpc>
              <a:spcBef>
                <a:spcPts val="0"/>
              </a:spcBef>
              <a:spcAft>
                <a:spcPts val="0"/>
              </a:spcAft>
              <a:buNone/>
            </a:pPr>
            <a:r>
              <a:t/>
            </a:r>
            <a:endParaRPr sz="1400">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34" name="Google Shape;434;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5" name="Google Shape;435;p29: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225011" lvl="0" marL="225011" rtl="0" algn="l">
              <a:spcBef>
                <a:spcPts val="0"/>
              </a:spcBef>
              <a:spcAft>
                <a:spcPts val="0"/>
              </a:spcAft>
              <a:buNone/>
            </a:pPr>
            <a:r>
              <a:rPr lang="en-US" sz="1400">
                <a:latin typeface="Arial"/>
                <a:ea typeface="Arial"/>
                <a:cs typeface="Arial"/>
                <a:sym typeface="Arial"/>
              </a:rPr>
              <a:t>Relationships in a class diagram</a:t>
            </a:r>
            <a:endParaRPr/>
          </a:p>
          <a:p>
            <a:pPr indent="-225011" lvl="0" marL="225011" rtl="0" algn="l">
              <a:spcBef>
                <a:spcPts val="0"/>
              </a:spcBef>
              <a:spcAft>
                <a:spcPts val="0"/>
              </a:spcAft>
              <a:buClr>
                <a:schemeClr val="dk1"/>
              </a:buClr>
              <a:buSzPts val="1400"/>
              <a:buFont typeface="Arial"/>
              <a:buChar char="•"/>
            </a:pPr>
            <a:r>
              <a:rPr b="1" lang="en-US" sz="1400">
                <a:latin typeface="Arial"/>
                <a:ea typeface="Arial"/>
                <a:cs typeface="Arial"/>
                <a:sym typeface="Arial"/>
              </a:rPr>
              <a:t>Engine and Transmission are “part of” the Car; it can exist without the patient</a:t>
            </a:r>
            <a:endParaRPr sz="1400">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3" name="Google Shape;453;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latin typeface="Arial"/>
                <a:ea typeface="Arial"/>
                <a:cs typeface="Arial"/>
                <a:sym typeface="Arial"/>
              </a:rPr>
              <a:t>Without the Window rest of them has no existence</a:t>
            </a:r>
            <a:endParaRPr>
              <a:latin typeface="Arial"/>
              <a:ea typeface="Arial"/>
              <a:cs typeface="Arial"/>
              <a:sym typeface="Arial"/>
            </a:endParaRPr>
          </a:p>
        </p:txBody>
      </p:sp>
      <p:sp>
        <p:nvSpPr>
          <p:cNvPr id="454" name="Google Shape;454;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77" name="Google Shape;477;p31:notes"/>
          <p:cNvSpPr/>
          <p:nvPr>
            <p:ph idx="2" type="sldImg"/>
          </p:nvPr>
        </p:nvSpPr>
        <p:spPr>
          <a:xfrm>
            <a:off x="1144588"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8" name="Google Shape;478;p31: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rPr lang="en-US" sz="1190">
                <a:latin typeface="Arial"/>
                <a:ea typeface="Arial"/>
                <a:cs typeface="Arial"/>
                <a:sym typeface="Arial"/>
              </a:rPr>
              <a:t>Generalization Relationship</a:t>
            </a:r>
            <a:endParaRPr/>
          </a:p>
          <a:p>
            <a:pPr indent="-75565" lvl="0" marL="0" rtl="0" algn="l">
              <a:lnSpc>
                <a:spcPct val="80000"/>
              </a:lnSpc>
              <a:spcBef>
                <a:spcPts val="0"/>
              </a:spcBef>
              <a:spcAft>
                <a:spcPts val="0"/>
              </a:spcAft>
              <a:buClr>
                <a:schemeClr val="dk1"/>
              </a:buClr>
              <a:buSzPts val="1190"/>
              <a:buFont typeface="Arial"/>
              <a:buChar char="•"/>
            </a:pPr>
            <a:r>
              <a:rPr lang="en-US" sz="1190">
                <a:latin typeface="Arial"/>
                <a:ea typeface="Arial"/>
                <a:cs typeface="Arial"/>
                <a:sym typeface="Arial"/>
              </a:rPr>
              <a:t>The analyst creates a </a:t>
            </a:r>
            <a:r>
              <a:rPr b="1" lang="en-US" sz="1190">
                <a:latin typeface="Arial"/>
                <a:ea typeface="Arial"/>
                <a:cs typeface="Arial"/>
                <a:sym typeface="Arial"/>
              </a:rPr>
              <a:t>superclass</a:t>
            </a:r>
            <a:r>
              <a:rPr lang="en-US" sz="1190">
                <a:latin typeface="Arial"/>
                <a:ea typeface="Arial"/>
                <a:cs typeface="Arial"/>
                <a:sym typeface="Arial"/>
              </a:rPr>
              <a:t> that contains the basic attributes and operations that will be used in several </a:t>
            </a:r>
            <a:r>
              <a:rPr b="1" lang="en-US" sz="1190">
                <a:latin typeface="Arial"/>
                <a:ea typeface="Arial"/>
                <a:cs typeface="Arial"/>
                <a:sym typeface="Arial"/>
              </a:rPr>
              <a:t>subclasses</a:t>
            </a:r>
            <a:r>
              <a:rPr lang="en-US" sz="1190">
                <a:latin typeface="Arial"/>
                <a:ea typeface="Arial"/>
                <a:cs typeface="Arial"/>
                <a:sym typeface="Arial"/>
              </a:rPr>
              <a:t>.</a:t>
            </a:r>
            <a:endParaRPr/>
          </a:p>
          <a:p>
            <a:pPr indent="-75565" lvl="0" marL="0" rtl="0" algn="l">
              <a:lnSpc>
                <a:spcPct val="80000"/>
              </a:lnSpc>
              <a:spcBef>
                <a:spcPts val="0"/>
              </a:spcBef>
              <a:spcAft>
                <a:spcPts val="0"/>
              </a:spcAft>
              <a:buClr>
                <a:schemeClr val="dk1"/>
              </a:buClr>
              <a:buSzPts val="1190"/>
              <a:buFont typeface="Arial"/>
              <a:buChar char="•"/>
            </a:pPr>
            <a:r>
              <a:rPr lang="en-US" sz="1190">
                <a:latin typeface="Arial"/>
                <a:ea typeface="Arial"/>
                <a:cs typeface="Arial"/>
                <a:sym typeface="Arial"/>
              </a:rPr>
              <a:t>Subclasses inherit the attributes and operations of their superclass and can also contain attributes and operations that are unique just to them</a:t>
            </a:r>
            <a:endParaRPr/>
          </a:p>
          <a:p>
            <a:pPr indent="-75564" lvl="3" marL="1371600" rtl="0" algn="l">
              <a:lnSpc>
                <a:spcPct val="80000"/>
              </a:lnSpc>
              <a:spcBef>
                <a:spcPts val="0"/>
              </a:spcBef>
              <a:spcAft>
                <a:spcPts val="0"/>
              </a:spcAft>
              <a:buClr>
                <a:schemeClr val="dk1"/>
              </a:buClr>
              <a:buSzPts val="1190"/>
              <a:buFont typeface="Arial"/>
              <a:buChar char="•"/>
            </a:pPr>
            <a:r>
              <a:rPr lang="en-US" sz="1190">
                <a:latin typeface="Arial"/>
                <a:ea typeface="Arial"/>
                <a:cs typeface="Arial"/>
                <a:sym typeface="Arial"/>
              </a:rPr>
              <a:t>For example, a customer class and an employee class can be generalized into a person class by extracting the attributes and operations they have in common and placing them into a new superclass, Person</a:t>
            </a:r>
            <a:endParaRPr/>
          </a:p>
          <a:p>
            <a:pPr indent="-75564" lvl="3" marL="1371600" rtl="0" algn="l">
              <a:lnSpc>
                <a:spcPct val="80000"/>
              </a:lnSpc>
              <a:spcBef>
                <a:spcPts val="0"/>
              </a:spcBef>
              <a:spcAft>
                <a:spcPts val="0"/>
              </a:spcAft>
              <a:buClr>
                <a:schemeClr val="dk1"/>
              </a:buClr>
              <a:buSzPts val="1190"/>
              <a:buFont typeface="Arial"/>
              <a:buChar char="•"/>
            </a:pPr>
            <a:r>
              <a:rPr lang="en-US" sz="1190">
                <a:latin typeface="Arial"/>
                <a:ea typeface="Arial"/>
                <a:cs typeface="Arial"/>
                <a:sym typeface="Arial"/>
              </a:rPr>
              <a:t>Subclasses (with no children) must be concrete classes</a:t>
            </a:r>
            <a:endParaRPr/>
          </a:p>
          <a:p>
            <a:pPr indent="-75564" lvl="3" marL="1371600" rtl="0" algn="l">
              <a:lnSpc>
                <a:spcPct val="80000"/>
              </a:lnSpc>
              <a:spcBef>
                <a:spcPts val="0"/>
              </a:spcBef>
              <a:spcAft>
                <a:spcPts val="0"/>
              </a:spcAft>
              <a:buClr>
                <a:schemeClr val="dk1"/>
              </a:buClr>
              <a:buSzPts val="1190"/>
              <a:buFont typeface="Arial"/>
              <a:buChar char="•"/>
            </a:pPr>
            <a:r>
              <a:rPr lang="en-US" sz="1190">
                <a:latin typeface="Arial"/>
                <a:ea typeface="Arial"/>
                <a:cs typeface="Arial"/>
                <a:sym typeface="Arial"/>
              </a:rPr>
              <a:t>Superclasses may be abstract or concrete</a:t>
            </a:r>
            <a:endParaRPr/>
          </a:p>
          <a:p>
            <a:pPr indent="-75565" lvl="0" marL="0" rtl="0" algn="l">
              <a:lnSpc>
                <a:spcPct val="80000"/>
              </a:lnSpc>
              <a:spcBef>
                <a:spcPts val="0"/>
              </a:spcBef>
              <a:spcAft>
                <a:spcPts val="0"/>
              </a:spcAft>
              <a:buClr>
                <a:schemeClr val="dk1"/>
              </a:buClr>
              <a:buSzPts val="1190"/>
              <a:buFont typeface="Arial"/>
              <a:buChar char="•"/>
            </a:pPr>
            <a:r>
              <a:rPr lang="en-US" sz="1190">
                <a:latin typeface="Arial"/>
                <a:ea typeface="Arial"/>
                <a:cs typeface="Arial"/>
                <a:sym typeface="Arial"/>
              </a:rPr>
              <a:t>Encourages analyst to </a:t>
            </a:r>
            <a:r>
              <a:rPr b="1" lang="en-US" sz="1190">
                <a:latin typeface="Arial"/>
                <a:ea typeface="Arial"/>
                <a:cs typeface="Arial"/>
                <a:sym typeface="Arial"/>
              </a:rPr>
              <a:t>focus on the properties that make each class unique</a:t>
            </a:r>
            <a:r>
              <a:rPr lang="en-US" sz="1190">
                <a:latin typeface="Arial"/>
                <a:ea typeface="Arial"/>
                <a:cs typeface="Arial"/>
                <a:sym typeface="Arial"/>
              </a:rPr>
              <a:t> by allowing the similarities to be factored into superclasses</a:t>
            </a:r>
            <a:endParaRPr sz="1190">
              <a:latin typeface="Arial"/>
              <a:ea typeface="Arial"/>
              <a:cs typeface="Arial"/>
              <a:sym typeface="Arial"/>
            </a:endParaRPr>
          </a:p>
          <a:p>
            <a:pPr indent="-75565" lvl="0" marL="0" rtl="0" algn="l">
              <a:lnSpc>
                <a:spcPct val="80000"/>
              </a:lnSpc>
              <a:spcBef>
                <a:spcPts val="0"/>
              </a:spcBef>
              <a:spcAft>
                <a:spcPts val="0"/>
              </a:spcAft>
              <a:buClr>
                <a:schemeClr val="dk1"/>
              </a:buClr>
              <a:buSzPts val="1190"/>
              <a:buFont typeface="Arial"/>
              <a:buChar char="•"/>
            </a:pPr>
            <a:r>
              <a:rPr b="1" lang="en-US" sz="1190">
                <a:latin typeface="Arial"/>
                <a:ea typeface="Arial"/>
                <a:cs typeface="Arial"/>
                <a:sym typeface="Arial"/>
              </a:rPr>
              <a:t>Advantage: reduces redundancy in the class definitions</a:t>
            </a:r>
            <a:endParaRPr/>
          </a:p>
          <a:p>
            <a:pPr indent="0" lvl="0" marL="0" rtl="0" algn="l">
              <a:lnSpc>
                <a:spcPct val="80000"/>
              </a:lnSpc>
              <a:spcBef>
                <a:spcPts val="0"/>
              </a:spcBef>
              <a:spcAft>
                <a:spcPts val="0"/>
              </a:spcAft>
              <a:buNone/>
            </a:pPr>
            <a:r>
              <a:t/>
            </a:r>
            <a:endParaRPr sz="1190">
              <a:latin typeface="Arial"/>
              <a:ea typeface="Arial"/>
              <a:cs typeface="Arial"/>
              <a:sym typeface="Arial"/>
            </a:endParaRPr>
          </a:p>
          <a:p>
            <a:pPr indent="-75565" lvl="0" marL="0" rtl="0" algn="l">
              <a:lnSpc>
                <a:spcPct val="80000"/>
              </a:lnSpc>
              <a:spcBef>
                <a:spcPts val="0"/>
              </a:spcBef>
              <a:spcAft>
                <a:spcPts val="0"/>
              </a:spcAft>
              <a:buClr>
                <a:schemeClr val="dk1"/>
              </a:buClr>
              <a:buSzPts val="1190"/>
              <a:buFont typeface="Arial"/>
              <a:buChar char="•"/>
            </a:pPr>
            <a:r>
              <a:rPr lang="en-US" sz="1190">
                <a:latin typeface="Arial"/>
                <a:ea typeface="Arial"/>
                <a:cs typeface="Arial"/>
                <a:sym typeface="Arial"/>
              </a:rPr>
              <a:t>Is represented with the </a:t>
            </a:r>
            <a:r>
              <a:rPr i="1" lang="en-US" sz="1190">
                <a:latin typeface="Arial"/>
                <a:ea typeface="Arial"/>
                <a:cs typeface="Arial"/>
                <a:sym typeface="Arial"/>
              </a:rPr>
              <a:t>a-kind-of</a:t>
            </a:r>
            <a:r>
              <a:rPr lang="en-US" sz="1190">
                <a:latin typeface="Arial"/>
                <a:ea typeface="Arial"/>
                <a:cs typeface="Arial"/>
                <a:sym typeface="Arial"/>
              </a:rPr>
              <a:t> relationship</a:t>
            </a:r>
            <a:endParaRPr/>
          </a:p>
          <a:p>
            <a:pPr indent="-75564" lvl="3" marL="1371600" rtl="0" algn="l">
              <a:lnSpc>
                <a:spcPct val="80000"/>
              </a:lnSpc>
              <a:spcBef>
                <a:spcPts val="0"/>
              </a:spcBef>
              <a:spcAft>
                <a:spcPts val="0"/>
              </a:spcAft>
              <a:buClr>
                <a:schemeClr val="dk1"/>
              </a:buClr>
              <a:buSzPts val="1190"/>
              <a:buFont typeface="Arial"/>
              <a:buChar char="•"/>
            </a:pPr>
            <a:r>
              <a:rPr lang="en-US" sz="1190">
                <a:latin typeface="Arial"/>
                <a:ea typeface="Arial"/>
                <a:cs typeface="Arial"/>
                <a:sym typeface="Arial"/>
              </a:rPr>
              <a:t>Employee is a-kind-of person</a:t>
            </a:r>
            <a:endParaRPr/>
          </a:p>
          <a:p>
            <a:pPr indent="0" lvl="0" marL="0" rtl="0" algn="l">
              <a:lnSpc>
                <a:spcPct val="80000"/>
              </a:lnSpc>
              <a:spcBef>
                <a:spcPts val="0"/>
              </a:spcBef>
              <a:spcAft>
                <a:spcPts val="0"/>
              </a:spcAft>
              <a:buNone/>
            </a:pPr>
            <a:r>
              <a:t/>
            </a:r>
            <a:endParaRPr sz="1190">
              <a:latin typeface="Arial"/>
              <a:ea typeface="Arial"/>
              <a:cs typeface="Arial"/>
              <a:sym typeface="Arial"/>
            </a:endParaRPr>
          </a:p>
          <a:p>
            <a:pPr indent="0" lvl="0" marL="0" rtl="0" algn="l">
              <a:lnSpc>
                <a:spcPct val="80000"/>
              </a:lnSpc>
              <a:spcBef>
                <a:spcPts val="0"/>
              </a:spcBef>
              <a:spcAft>
                <a:spcPts val="0"/>
              </a:spcAft>
              <a:buNone/>
            </a:pPr>
            <a:r>
              <a:rPr lang="en-US" sz="1190">
                <a:latin typeface="Arial"/>
                <a:ea typeface="Arial"/>
                <a:cs typeface="Arial"/>
                <a:sym typeface="Arial"/>
              </a:rPr>
              <a:t>Specialization relationship</a:t>
            </a:r>
            <a:endParaRPr/>
          </a:p>
          <a:p>
            <a:pPr indent="-75565" lvl="0" marL="0" rtl="0" algn="l">
              <a:lnSpc>
                <a:spcPct val="80000"/>
              </a:lnSpc>
              <a:spcBef>
                <a:spcPts val="0"/>
              </a:spcBef>
              <a:spcAft>
                <a:spcPts val="0"/>
              </a:spcAft>
              <a:buClr>
                <a:schemeClr val="dk1"/>
              </a:buClr>
              <a:buSzPts val="1190"/>
              <a:buFont typeface="Arial"/>
              <a:buChar char="•"/>
            </a:pPr>
            <a:r>
              <a:rPr lang="en-US" sz="1190">
                <a:latin typeface="Arial"/>
                <a:ea typeface="Arial"/>
                <a:cs typeface="Arial"/>
                <a:sym typeface="Arial"/>
              </a:rPr>
              <a:t>Flip side of generalization relationship</a:t>
            </a:r>
            <a:endParaRPr/>
          </a:p>
          <a:p>
            <a:pPr indent="-75565" lvl="0" marL="0" rtl="0" algn="l">
              <a:lnSpc>
                <a:spcPct val="80000"/>
              </a:lnSpc>
              <a:spcBef>
                <a:spcPts val="0"/>
              </a:spcBef>
              <a:spcAft>
                <a:spcPts val="0"/>
              </a:spcAft>
              <a:buClr>
                <a:schemeClr val="dk1"/>
              </a:buClr>
              <a:buSzPts val="1190"/>
              <a:buFont typeface="Arial"/>
              <a:buChar char="•"/>
            </a:pPr>
            <a:r>
              <a:rPr lang="en-US" sz="1190">
                <a:latin typeface="Arial"/>
                <a:ea typeface="Arial"/>
                <a:cs typeface="Arial"/>
                <a:sym typeface="Arial"/>
              </a:rPr>
              <a:t>For example, an employee class can be specialized into a manager class and an engineer class</a:t>
            </a:r>
            <a:endParaRPr/>
          </a:p>
          <a:p>
            <a:pPr indent="0" lvl="0" marL="0" rtl="0" algn="l">
              <a:lnSpc>
                <a:spcPct val="80000"/>
              </a:lnSpc>
              <a:spcBef>
                <a:spcPts val="0"/>
              </a:spcBef>
              <a:spcAft>
                <a:spcPts val="0"/>
              </a:spcAft>
              <a:buNone/>
            </a:pPr>
            <a:r>
              <a:t/>
            </a:r>
            <a:endParaRPr sz="1190">
              <a:latin typeface="Arial"/>
              <a:ea typeface="Arial"/>
              <a:cs typeface="Arial"/>
              <a:sym typeface="Arial"/>
            </a:endParaRPr>
          </a:p>
          <a:p>
            <a:pPr indent="0" lvl="0" marL="0" rtl="0" algn="l">
              <a:lnSpc>
                <a:spcPct val="80000"/>
              </a:lnSpc>
              <a:spcBef>
                <a:spcPts val="0"/>
              </a:spcBef>
              <a:spcAft>
                <a:spcPts val="0"/>
              </a:spcAft>
              <a:buNone/>
            </a:pPr>
            <a:r>
              <a:t/>
            </a:r>
            <a:endParaRPr sz="1190">
              <a:latin typeface="Arial"/>
              <a:ea typeface="Arial"/>
              <a:cs typeface="Arial"/>
              <a:sym typeface="Arial"/>
            </a:endParaRPr>
          </a:p>
          <a:p>
            <a:pPr indent="0" lvl="0" marL="0" rtl="0" algn="l">
              <a:lnSpc>
                <a:spcPct val="80000"/>
              </a:lnSpc>
              <a:spcBef>
                <a:spcPts val="0"/>
              </a:spcBef>
              <a:spcAft>
                <a:spcPts val="0"/>
              </a:spcAft>
              <a:buNone/>
            </a:pPr>
            <a:r>
              <a:t/>
            </a:r>
            <a:endParaRPr sz="1190">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5" name="Google Shape;485;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8" name="Google Shape;498;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13" name="Google Shape;513;p34:notes"/>
          <p:cNvSpPr/>
          <p:nvPr>
            <p:ph idx="2" type="sldImg"/>
          </p:nvPr>
        </p:nvSpPr>
        <p:spPr>
          <a:xfrm>
            <a:off x="1144588"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4" name="Google Shape;514;p34: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rPr b="1" lang="en-US" sz="1295">
                <a:latin typeface="Arial"/>
                <a:ea typeface="Arial"/>
                <a:cs typeface="Arial"/>
                <a:sym typeface="Arial"/>
              </a:rPr>
              <a:t>UML notation is the arrowhead line with the arrowhead being toward the superclass</a:t>
            </a:r>
            <a:endParaRPr b="1" sz="1295">
              <a:latin typeface="Arial"/>
              <a:ea typeface="Arial"/>
              <a:cs typeface="Arial"/>
              <a:sym typeface="Arial"/>
            </a:endParaRPr>
          </a:p>
          <a:p>
            <a:pPr indent="0" lvl="0" marL="0" rtl="0" algn="l">
              <a:lnSpc>
                <a:spcPct val="80000"/>
              </a:lnSpc>
              <a:spcBef>
                <a:spcPts val="0"/>
              </a:spcBef>
              <a:spcAft>
                <a:spcPts val="0"/>
              </a:spcAft>
              <a:buNone/>
            </a:pPr>
            <a:r>
              <a:t/>
            </a:r>
            <a:endParaRPr sz="1295">
              <a:latin typeface="Arial"/>
              <a:ea typeface="Arial"/>
              <a:cs typeface="Arial"/>
              <a:sym typeface="Arial"/>
            </a:endParaRPr>
          </a:p>
          <a:p>
            <a:pPr indent="0" lvl="0" marL="0" rtl="0" algn="l">
              <a:lnSpc>
                <a:spcPct val="80000"/>
              </a:lnSpc>
              <a:spcBef>
                <a:spcPts val="0"/>
              </a:spcBef>
              <a:spcAft>
                <a:spcPts val="0"/>
              </a:spcAft>
              <a:buNone/>
            </a:pPr>
            <a:r>
              <a:rPr lang="en-US" sz="1295">
                <a:latin typeface="Arial"/>
                <a:ea typeface="Arial"/>
                <a:cs typeface="Arial"/>
                <a:sym typeface="Arial"/>
              </a:rPr>
              <a:t>Generalization relationships form generalization hierarchies between classes</a:t>
            </a:r>
            <a:endParaRPr/>
          </a:p>
          <a:p>
            <a:pPr indent="0" lvl="0" marL="0" rtl="0" algn="l">
              <a:lnSpc>
                <a:spcPct val="80000"/>
              </a:lnSpc>
              <a:spcBef>
                <a:spcPts val="0"/>
              </a:spcBef>
              <a:spcAft>
                <a:spcPts val="0"/>
              </a:spcAft>
              <a:buNone/>
            </a:pPr>
            <a:r>
              <a:t/>
            </a:r>
            <a:endParaRPr sz="1295">
              <a:latin typeface="Arial"/>
              <a:ea typeface="Arial"/>
              <a:cs typeface="Arial"/>
              <a:sym typeface="Arial"/>
            </a:endParaRPr>
          </a:p>
          <a:p>
            <a:pPr indent="0" lvl="0" marL="0" rtl="0" algn="l">
              <a:lnSpc>
                <a:spcPct val="80000"/>
              </a:lnSpc>
              <a:spcBef>
                <a:spcPts val="0"/>
              </a:spcBef>
              <a:spcAft>
                <a:spcPts val="0"/>
              </a:spcAft>
              <a:buNone/>
            </a:pPr>
            <a:r>
              <a:rPr lang="en-US" sz="1295">
                <a:latin typeface="Arial"/>
                <a:ea typeface="Arial"/>
                <a:cs typeface="Arial"/>
                <a:sym typeface="Arial"/>
              </a:rPr>
              <a:t>Inheritance</a:t>
            </a:r>
            <a:endParaRPr/>
          </a:p>
          <a:p>
            <a:pPr indent="-82232" lvl="0" marL="0" rtl="0" algn="l">
              <a:lnSpc>
                <a:spcPct val="80000"/>
              </a:lnSpc>
              <a:spcBef>
                <a:spcPts val="0"/>
              </a:spcBef>
              <a:spcAft>
                <a:spcPts val="0"/>
              </a:spcAft>
              <a:buClr>
                <a:schemeClr val="dk1"/>
              </a:buClr>
              <a:buSzPts val="1295"/>
              <a:buFont typeface="Arial"/>
              <a:buChar char="•"/>
            </a:pPr>
            <a:r>
              <a:rPr lang="en-US" sz="1295">
                <a:latin typeface="Arial"/>
                <a:ea typeface="Arial"/>
                <a:cs typeface="Arial"/>
                <a:sym typeface="Arial"/>
              </a:rPr>
              <a:t>A relationship between classes where one class is the parent class of another</a:t>
            </a:r>
            <a:endParaRPr/>
          </a:p>
          <a:p>
            <a:pPr indent="-82232" lvl="0" marL="0" rtl="0" algn="l">
              <a:lnSpc>
                <a:spcPct val="80000"/>
              </a:lnSpc>
              <a:spcBef>
                <a:spcPts val="0"/>
              </a:spcBef>
              <a:spcAft>
                <a:spcPts val="0"/>
              </a:spcAft>
              <a:buClr>
                <a:schemeClr val="dk1"/>
              </a:buClr>
              <a:buSzPts val="1295"/>
              <a:buFont typeface="Arial"/>
              <a:buChar char="•"/>
            </a:pPr>
            <a:r>
              <a:rPr lang="en-US" sz="1295">
                <a:latin typeface="Arial"/>
                <a:ea typeface="Arial"/>
                <a:cs typeface="Arial"/>
                <a:sym typeface="Arial"/>
              </a:rPr>
              <a:t>The child class inherits all of the parent’s attributes and operations</a:t>
            </a:r>
            <a:endParaRPr/>
          </a:p>
          <a:p>
            <a:pPr indent="-82232" lvl="0" marL="0" rtl="0" algn="l">
              <a:lnSpc>
                <a:spcPct val="80000"/>
              </a:lnSpc>
              <a:spcBef>
                <a:spcPts val="0"/>
              </a:spcBef>
              <a:spcAft>
                <a:spcPts val="0"/>
              </a:spcAft>
              <a:buClr>
                <a:schemeClr val="dk1"/>
              </a:buClr>
              <a:buSzPts val="1295"/>
              <a:buFont typeface="Arial"/>
              <a:buChar char="•"/>
            </a:pPr>
            <a:r>
              <a:rPr lang="en-US" sz="1295">
                <a:latin typeface="Arial"/>
                <a:ea typeface="Arial"/>
                <a:cs typeface="Arial"/>
                <a:sym typeface="Arial"/>
              </a:rPr>
              <a:t>Supports idea of reusable code</a:t>
            </a:r>
            <a:endParaRPr/>
          </a:p>
          <a:p>
            <a:pPr indent="-82232" lvl="0" marL="0" rtl="0" algn="l">
              <a:lnSpc>
                <a:spcPct val="80000"/>
              </a:lnSpc>
              <a:spcBef>
                <a:spcPts val="0"/>
              </a:spcBef>
              <a:spcAft>
                <a:spcPts val="0"/>
              </a:spcAft>
              <a:buClr>
                <a:schemeClr val="dk1"/>
              </a:buClr>
              <a:buSzPts val="1295"/>
              <a:buFont typeface="Arial"/>
              <a:buChar char="•"/>
            </a:pPr>
            <a:r>
              <a:rPr lang="en-US" sz="1295">
                <a:latin typeface="Arial"/>
                <a:ea typeface="Arial"/>
                <a:cs typeface="Arial"/>
                <a:sym typeface="Arial"/>
              </a:rPr>
              <a:t>New data types can be defined as extensions of previously defined types (rather than having to be defined from scratch)</a:t>
            </a:r>
            <a:endParaRPr/>
          </a:p>
          <a:p>
            <a:pPr indent="-82232" lvl="0" marL="0" rtl="0" algn="l">
              <a:lnSpc>
                <a:spcPct val="80000"/>
              </a:lnSpc>
              <a:spcBef>
                <a:spcPts val="0"/>
              </a:spcBef>
              <a:spcAft>
                <a:spcPts val="0"/>
              </a:spcAft>
              <a:buClr>
                <a:schemeClr val="dk1"/>
              </a:buClr>
              <a:buSzPts val="1295"/>
              <a:buFont typeface="Arial"/>
              <a:buChar char="•"/>
            </a:pPr>
            <a:r>
              <a:rPr lang="en-US" sz="1295">
                <a:latin typeface="Arial"/>
                <a:ea typeface="Arial"/>
                <a:cs typeface="Arial"/>
                <a:sym typeface="Arial"/>
              </a:rPr>
              <a:t>Example: student and undergraduate student, graduate student</a:t>
            </a:r>
            <a:endParaRPr/>
          </a:p>
          <a:p>
            <a:pPr indent="0" lvl="0" marL="0" rtl="0" algn="l">
              <a:lnSpc>
                <a:spcPct val="80000"/>
              </a:lnSpc>
              <a:spcBef>
                <a:spcPts val="0"/>
              </a:spcBef>
              <a:spcAft>
                <a:spcPts val="0"/>
              </a:spcAft>
              <a:buNone/>
            </a:pPr>
            <a:r>
              <a:t/>
            </a:r>
            <a:endParaRPr sz="1295">
              <a:latin typeface="Arial"/>
              <a:ea typeface="Arial"/>
              <a:cs typeface="Arial"/>
              <a:sym typeface="Arial"/>
            </a:endParaRPr>
          </a:p>
          <a:p>
            <a:pPr indent="0" lvl="0" marL="0" rtl="0" algn="l">
              <a:lnSpc>
                <a:spcPct val="80000"/>
              </a:lnSpc>
              <a:spcBef>
                <a:spcPts val="0"/>
              </a:spcBef>
              <a:spcAft>
                <a:spcPts val="0"/>
              </a:spcAft>
              <a:buNone/>
            </a:pPr>
            <a:r>
              <a:rPr lang="en-US" sz="1295">
                <a:latin typeface="Arial"/>
                <a:ea typeface="Arial"/>
                <a:cs typeface="Arial"/>
                <a:sym typeface="Arial"/>
              </a:rPr>
              <a:t>Traversal of hierarchy</a:t>
            </a:r>
            <a:endParaRPr/>
          </a:p>
          <a:p>
            <a:pPr indent="-82232" lvl="0" marL="0" rtl="0" algn="l">
              <a:lnSpc>
                <a:spcPct val="80000"/>
              </a:lnSpc>
              <a:spcBef>
                <a:spcPts val="0"/>
              </a:spcBef>
              <a:spcAft>
                <a:spcPts val="0"/>
              </a:spcAft>
              <a:buClr>
                <a:schemeClr val="dk1"/>
              </a:buClr>
              <a:buSzPts val="1295"/>
              <a:buFont typeface="Arial"/>
              <a:buChar char="•"/>
            </a:pPr>
            <a:r>
              <a:rPr lang="en-US" sz="1295">
                <a:latin typeface="Arial"/>
                <a:ea typeface="Arial"/>
                <a:cs typeface="Arial"/>
                <a:sym typeface="Arial"/>
              </a:rPr>
              <a:t>Traversal goes </a:t>
            </a:r>
            <a:r>
              <a:rPr lang="en-US" sz="1295" u="sng">
                <a:latin typeface="Arial"/>
                <a:ea typeface="Arial"/>
                <a:cs typeface="Arial"/>
                <a:sym typeface="Arial"/>
              </a:rPr>
              <a:t>up</a:t>
            </a:r>
            <a:r>
              <a:rPr lang="en-US" sz="1295">
                <a:latin typeface="Arial"/>
                <a:ea typeface="Arial"/>
                <a:cs typeface="Arial"/>
                <a:sym typeface="Arial"/>
              </a:rPr>
              <a:t> the hierarchy to find a match</a:t>
            </a:r>
            <a:endParaRPr/>
          </a:p>
          <a:p>
            <a:pPr indent="-82232" lvl="0" marL="0" rtl="0" algn="l">
              <a:lnSpc>
                <a:spcPct val="80000"/>
              </a:lnSpc>
              <a:spcBef>
                <a:spcPts val="0"/>
              </a:spcBef>
              <a:spcAft>
                <a:spcPts val="0"/>
              </a:spcAft>
              <a:buClr>
                <a:schemeClr val="dk1"/>
              </a:buClr>
              <a:buSzPts val="1295"/>
              <a:buFont typeface="Arial"/>
              <a:buChar char="•"/>
            </a:pPr>
            <a:r>
              <a:rPr lang="en-US" sz="1295">
                <a:latin typeface="Arial"/>
                <a:ea typeface="Arial"/>
                <a:cs typeface="Arial"/>
                <a:sym typeface="Arial"/>
              </a:rPr>
              <a:t>Executes the </a:t>
            </a:r>
            <a:r>
              <a:rPr lang="en-US" sz="1295" u="sng">
                <a:latin typeface="Arial"/>
                <a:ea typeface="Arial"/>
                <a:cs typeface="Arial"/>
                <a:sym typeface="Arial"/>
              </a:rPr>
              <a:t>first</a:t>
            </a:r>
            <a:r>
              <a:rPr lang="en-US" sz="1295">
                <a:latin typeface="Arial"/>
                <a:ea typeface="Arial"/>
                <a:cs typeface="Arial"/>
                <a:sym typeface="Arial"/>
              </a:rPr>
              <a:t> match that it finds</a:t>
            </a:r>
            <a:endParaRPr/>
          </a:p>
          <a:p>
            <a:pPr indent="-82232" lvl="0" marL="0" rtl="0" algn="l">
              <a:lnSpc>
                <a:spcPct val="80000"/>
              </a:lnSpc>
              <a:spcBef>
                <a:spcPts val="0"/>
              </a:spcBef>
              <a:spcAft>
                <a:spcPts val="0"/>
              </a:spcAft>
              <a:buClr>
                <a:schemeClr val="dk1"/>
              </a:buClr>
              <a:buSzPts val="1295"/>
              <a:buFont typeface="Arial"/>
              <a:buChar char="•"/>
            </a:pPr>
            <a:r>
              <a:rPr lang="en-US" sz="1295">
                <a:latin typeface="Arial"/>
                <a:ea typeface="Arial"/>
                <a:cs typeface="Arial"/>
                <a:sym typeface="Arial"/>
              </a:rPr>
              <a:t>For example, if the attribute </a:t>
            </a:r>
            <a:r>
              <a:rPr b="1" lang="en-US" sz="1295">
                <a:latin typeface="Arial"/>
                <a:ea typeface="Arial"/>
                <a:cs typeface="Arial"/>
                <a:sym typeface="Arial"/>
              </a:rPr>
              <a:t>name </a:t>
            </a:r>
            <a:r>
              <a:rPr lang="en-US" sz="1295">
                <a:latin typeface="Arial"/>
                <a:ea typeface="Arial"/>
                <a:cs typeface="Arial"/>
                <a:sym typeface="Arial"/>
              </a:rPr>
              <a:t>was used in the </a:t>
            </a:r>
            <a:r>
              <a:rPr b="1" lang="en-US" sz="1295">
                <a:latin typeface="Arial"/>
                <a:ea typeface="Arial"/>
                <a:cs typeface="Arial"/>
                <a:sym typeface="Arial"/>
              </a:rPr>
              <a:t>Engineer</a:t>
            </a:r>
            <a:r>
              <a:rPr lang="en-US" sz="1295">
                <a:latin typeface="Arial"/>
                <a:ea typeface="Arial"/>
                <a:cs typeface="Arial"/>
                <a:sym typeface="Arial"/>
              </a:rPr>
              <a:t> class but was not defined in that class, the object will traverse its hierarchy until it finds the matching attribute; same for an operation</a:t>
            </a:r>
            <a:endParaRPr b="1" sz="1295">
              <a:latin typeface="Arial"/>
              <a:ea typeface="Arial"/>
              <a:cs typeface="Arial"/>
              <a:sym typeface="Arial"/>
            </a:endParaRPr>
          </a:p>
          <a:p>
            <a:pPr indent="0" lvl="0" marL="0" rtl="0" algn="l">
              <a:lnSpc>
                <a:spcPct val="80000"/>
              </a:lnSpc>
              <a:spcBef>
                <a:spcPts val="0"/>
              </a:spcBef>
              <a:spcAft>
                <a:spcPts val="0"/>
              </a:spcAft>
              <a:buNone/>
            </a:pPr>
            <a:r>
              <a:t/>
            </a:r>
            <a:endParaRPr sz="1295">
              <a:latin typeface="Arial"/>
              <a:ea typeface="Arial"/>
              <a:cs typeface="Arial"/>
              <a:sym typeface="Arial"/>
            </a:endParaRPr>
          </a:p>
          <a:p>
            <a:pPr indent="0" lvl="0" marL="0" rtl="0" algn="l">
              <a:lnSpc>
                <a:spcPct val="80000"/>
              </a:lnSpc>
              <a:spcBef>
                <a:spcPts val="0"/>
              </a:spcBef>
              <a:spcAft>
                <a:spcPts val="0"/>
              </a:spcAft>
              <a:buNone/>
            </a:pPr>
            <a:r>
              <a:t/>
            </a:r>
            <a:endParaRPr sz="1295">
              <a:latin typeface="Arial"/>
              <a:ea typeface="Arial"/>
              <a:cs typeface="Arial"/>
              <a:sym typeface="Arial"/>
            </a:endParaRPr>
          </a:p>
          <a:p>
            <a:pPr indent="0" lvl="0" marL="0" rtl="0" algn="l">
              <a:lnSpc>
                <a:spcPct val="80000"/>
              </a:lnSpc>
              <a:spcBef>
                <a:spcPts val="0"/>
              </a:spcBef>
              <a:spcAft>
                <a:spcPts val="0"/>
              </a:spcAft>
              <a:buNone/>
            </a:pPr>
            <a:r>
              <a:t/>
            </a:r>
            <a:endParaRPr sz="1295">
              <a:latin typeface="Arial"/>
              <a:ea typeface="Arial"/>
              <a:cs typeface="Arial"/>
              <a:sym typeface="Arial"/>
            </a:endParaRPr>
          </a:p>
          <a:p>
            <a:pPr indent="0" lvl="0" marL="0" rtl="0" algn="l">
              <a:lnSpc>
                <a:spcPct val="80000"/>
              </a:lnSpc>
              <a:spcBef>
                <a:spcPts val="0"/>
              </a:spcBef>
              <a:spcAft>
                <a:spcPts val="0"/>
              </a:spcAft>
              <a:buNone/>
            </a:pPr>
            <a:r>
              <a:t/>
            </a:r>
            <a:endParaRPr sz="1295">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38" name="Google Shape;538;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9" name="Google Shape;539;p35: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sz="1400">
                <a:latin typeface="Arial"/>
                <a:ea typeface="Arial"/>
                <a:cs typeface="Arial"/>
                <a:sym typeface="Arial"/>
              </a:rPr>
              <a:t>Point out:</a:t>
            </a:r>
            <a:endParaRPr/>
          </a:p>
          <a:p>
            <a:pPr indent="-88900" lvl="0" marL="0"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Attributes and operations/behavior of each class</a:t>
            </a:r>
            <a:endParaRPr/>
          </a:p>
          <a:p>
            <a:pPr indent="-88900" lvl="0" marL="0" rtl="0" algn="l">
              <a:lnSpc>
                <a:spcPct val="90000"/>
              </a:lnSpc>
              <a:spcBef>
                <a:spcPts val="0"/>
              </a:spcBef>
              <a:spcAft>
                <a:spcPts val="0"/>
              </a:spcAft>
              <a:buClr>
                <a:schemeClr val="dk1"/>
              </a:buClr>
              <a:buSzPts val="1400"/>
              <a:buFont typeface="Arial"/>
              <a:buChar char="•"/>
            </a:pPr>
            <a:r>
              <a:rPr b="1" lang="en-US" sz="1400">
                <a:latin typeface="Arial"/>
                <a:ea typeface="Arial"/>
                <a:cs typeface="Arial"/>
                <a:sym typeface="Arial"/>
              </a:rPr>
              <a:t>Superclass</a:t>
            </a:r>
            <a:endParaRPr b="1" sz="1400">
              <a:latin typeface="Arial"/>
              <a:ea typeface="Arial"/>
              <a:cs typeface="Arial"/>
              <a:sym typeface="Arial"/>
            </a:endParaRPr>
          </a:p>
          <a:p>
            <a:pPr indent="-88900" lvl="2" marL="914400"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Employee class</a:t>
            </a:r>
            <a:endParaRPr/>
          </a:p>
          <a:p>
            <a:pPr indent="-88900" lvl="2" marL="914400" rtl="0" algn="l">
              <a:lnSpc>
                <a:spcPct val="90000"/>
              </a:lnSpc>
              <a:spcBef>
                <a:spcPts val="0"/>
              </a:spcBef>
              <a:spcAft>
                <a:spcPts val="0"/>
              </a:spcAft>
              <a:buClr>
                <a:schemeClr val="dk1"/>
              </a:buClr>
              <a:buSzPts val="1400"/>
              <a:buFont typeface="Arial"/>
              <a:buChar char="•"/>
            </a:pPr>
            <a:r>
              <a:rPr lang="en-US" sz="1400" u="sng">
                <a:latin typeface="Arial"/>
                <a:ea typeface="Arial"/>
                <a:cs typeface="Arial"/>
                <a:sym typeface="Arial"/>
              </a:rPr>
              <a:t>Generalization</a:t>
            </a:r>
            <a:r>
              <a:rPr lang="en-US" sz="1400">
                <a:latin typeface="Arial"/>
                <a:ea typeface="Arial"/>
                <a:cs typeface="Arial"/>
                <a:sym typeface="Arial"/>
              </a:rPr>
              <a:t> that contains attributes and operations common to all subclasses</a:t>
            </a:r>
            <a:endParaRPr/>
          </a:p>
          <a:p>
            <a:pPr indent="-88900" lvl="0" marL="0" rtl="0" algn="l">
              <a:lnSpc>
                <a:spcPct val="90000"/>
              </a:lnSpc>
              <a:spcBef>
                <a:spcPts val="0"/>
              </a:spcBef>
              <a:spcAft>
                <a:spcPts val="0"/>
              </a:spcAft>
              <a:buClr>
                <a:schemeClr val="dk1"/>
              </a:buClr>
              <a:buSzPts val="1400"/>
              <a:buFont typeface="Arial"/>
              <a:buChar char="•"/>
            </a:pPr>
            <a:r>
              <a:rPr b="1" lang="en-US" sz="1400">
                <a:latin typeface="Arial"/>
                <a:ea typeface="Arial"/>
                <a:cs typeface="Arial"/>
                <a:sym typeface="Arial"/>
              </a:rPr>
              <a:t>Subclass</a:t>
            </a:r>
            <a:endParaRPr/>
          </a:p>
          <a:p>
            <a:pPr indent="-88900" lvl="2" marL="914400"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Manger and Engineer classes</a:t>
            </a:r>
            <a:endParaRPr/>
          </a:p>
          <a:p>
            <a:pPr indent="-88900" lvl="2" marL="914400" rtl="0" algn="l">
              <a:lnSpc>
                <a:spcPct val="90000"/>
              </a:lnSpc>
              <a:spcBef>
                <a:spcPts val="0"/>
              </a:spcBef>
              <a:spcAft>
                <a:spcPts val="0"/>
              </a:spcAft>
              <a:buClr>
                <a:schemeClr val="dk1"/>
              </a:buClr>
              <a:buSzPts val="1400"/>
              <a:buFont typeface="Arial"/>
              <a:buChar char="•"/>
            </a:pPr>
            <a:r>
              <a:rPr lang="en-US" sz="1400" u="sng">
                <a:latin typeface="Arial"/>
                <a:ea typeface="Arial"/>
                <a:cs typeface="Arial"/>
                <a:sym typeface="Arial"/>
              </a:rPr>
              <a:t>Specialization</a:t>
            </a:r>
            <a:r>
              <a:rPr lang="en-US" sz="1400">
                <a:latin typeface="Arial"/>
                <a:ea typeface="Arial"/>
                <a:cs typeface="Arial"/>
                <a:sym typeface="Arial"/>
              </a:rPr>
              <a:t>s of a superclass</a:t>
            </a:r>
            <a:endParaRPr sz="1400">
              <a:latin typeface="Arial"/>
              <a:ea typeface="Arial"/>
              <a:cs typeface="Arial"/>
              <a:sym typeface="Arial"/>
            </a:endParaRPr>
          </a:p>
          <a:p>
            <a:pPr indent="0" lvl="0" marL="0" rtl="0" algn="l">
              <a:lnSpc>
                <a:spcPct val="90000"/>
              </a:lnSpc>
              <a:spcBef>
                <a:spcPts val="0"/>
              </a:spcBef>
              <a:spcAft>
                <a:spcPts val="0"/>
              </a:spcAft>
              <a:buNone/>
            </a:pPr>
            <a:r>
              <a:t/>
            </a:r>
            <a:endParaRPr sz="1400">
              <a:latin typeface="Arial"/>
              <a:ea typeface="Arial"/>
              <a:cs typeface="Arial"/>
              <a:sym typeface="Arial"/>
            </a:endParaRPr>
          </a:p>
          <a:p>
            <a:pPr indent="-88900" lvl="0" marL="0"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hireDate, receivePay and performWork are also part of Manager and Engineer</a:t>
            </a:r>
            <a:endParaRPr/>
          </a:p>
          <a:p>
            <a:pPr indent="0" lvl="0" marL="0" rtl="0" algn="l">
              <a:lnSpc>
                <a:spcPct val="90000"/>
              </a:lnSpc>
              <a:spcBef>
                <a:spcPts val="0"/>
              </a:spcBef>
              <a:spcAft>
                <a:spcPts val="0"/>
              </a:spcAft>
              <a:buNone/>
            </a:pPr>
            <a:r>
              <a:t/>
            </a:r>
            <a:endParaRPr sz="1400">
              <a:latin typeface="Arial"/>
              <a:ea typeface="Arial"/>
              <a:cs typeface="Arial"/>
              <a:sym typeface="Arial"/>
            </a:endParaRPr>
          </a:p>
          <a:p>
            <a:pPr indent="-88900" lvl="0" marL="0"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In addition to having hireDate, receivePay and performWork the class Manager also has department, bonus, hireEmployee, promoteEmployee</a:t>
            </a:r>
            <a:endParaRPr sz="1400">
              <a:latin typeface="Arial"/>
              <a:ea typeface="Arial"/>
              <a:cs typeface="Arial"/>
              <a:sym typeface="Arial"/>
            </a:endParaRPr>
          </a:p>
          <a:p>
            <a:pPr indent="-88900" lvl="0" marL="0"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In addition to having hireDate, receivePay and performWork the class Engineer also has certifications, analyze, and design</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68" name="Google Shape;568;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9" name="Google Shape;569;p36: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225011" lvl="0" marL="225011" rtl="0" algn="l">
              <a:spcBef>
                <a:spcPts val="0"/>
              </a:spcBef>
              <a:spcAft>
                <a:spcPts val="0"/>
              </a:spcAft>
              <a:buNone/>
            </a:pPr>
            <a:r>
              <a:rPr lang="en-US" sz="1400">
                <a:latin typeface="Arial"/>
                <a:ea typeface="Arial"/>
                <a:cs typeface="Arial"/>
                <a:sym typeface="Arial"/>
              </a:rPr>
              <a:t>Relationships in a class diagram</a:t>
            </a:r>
            <a:endParaRPr/>
          </a:p>
          <a:p>
            <a:pPr indent="-225011" lvl="0" marL="225011" rtl="0" algn="l">
              <a:spcBef>
                <a:spcPts val="0"/>
              </a:spcBef>
              <a:spcAft>
                <a:spcPts val="0"/>
              </a:spcAft>
              <a:buClr>
                <a:schemeClr val="dk1"/>
              </a:buClr>
              <a:buSzPts val="1400"/>
              <a:buFont typeface="Arial"/>
              <a:buChar char="•"/>
            </a:pPr>
            <a:r>
              <a:rPr b="1" lang="en-US" sz="1400">
                <a:latin typeface="Arial"/>
                <a:ea typeface="Arial"/>
                <a:cs typeface="Arial"/>
                <a:sym typeface="Arial"/>
              </a:rPr>
              <a:t>Example is read “</a:t>
            </a:r>
            <a:r>
              <a:rPr b="1" lang="en-US" sz="1400" u="sng">
                <a:latin typeface="Arial"/>
                <a:ea typeface="Arial"/>
                <a:cs typeface="Arial"/>
                <a:sym typeface="Arial"/>
              </a:rPr>
              <a:t>Exactly one</a:t>
            </a:r>
            <a:r>
              <a:rPr b="1" lang="en-US" sz="1400">
                <a:latin typeface="Arial"/>
                <a:ea typeface="Arial"/>
                <a:cs typeface="Arial"/>
                <a:sym typeface="Arial"/>
              </a:rPr>
              <a:t> patient provides </a:t>
            </a:r>
            <a:r>
              <a:rPr b="1" lang="en-US" sz="1400" u="sng">
                <a:latin typeface="Arial"/>
                <a:ea typeface="Arial"/>
                <a:cs typeface="Arial"/>
                <a:sym typeface="Arial"/>
              </a:rPr>
              <a:t>zero or one</a:t>
            </a:r>
            <a:r>
              <a:rPr b="1" lang="en-US" sz="1400">
                <a:latin typeface="Arial"/>
                <a:ea typeface="Arial"/>
                <a:cs typeface="Arial"/>
                <a:sym typeface="Arial"/>
              </a:rPr>
              <a:t> medical histories”</a:t>
            </a:r>
            <a:endParaRPr/>
          </a:p>
          <a:p>
            <a:pPr indent="-225011" lvl="0" marL="225011" rtl="0" algn="l">
              <a:spcBef>
                <a:spcPts val="0"/>
              </a:spcBef>
              <a:spcAft>
                <a:spcPts val="0"/>
              </a:spcAft>
              <a:buClr>
                <a:schemeClr val="dk1"/>
              </a:buClr>
              <a:buSzPts val="1400"/>
              <a:buFont typeface="Arial"/>
              <a:buChar char="•"/>
            </a:pPr>
            <a:r>
              <a:rPr lang="en-US" sz="1400">
                <a:latin typeface="Arial"/>
                <a:ea typeface="Arial"/>
                <a:cs typeface="Arial"/>
                <a:sym typeface="Arial"/>
              </a:rPr>
              <a:t>Used because you may want to restrict the number of instances a class may have</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86" name="Google Shape;586;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7" name="Google Shape;587;p37: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225011" lvl="0" marL="225011" rtl="0" algn="l">
              <a:spcBef>
                <a:spcPts val="0"/>
              </a:spcBef>
              <a:spcAft>
                <a:spcPts val="0"/>
              </a:spcAft>
              <a:buNone/>
            </a:pPr>
            <a:r>
              <a:rPr lang="en-US" sz="1400">
                <a:latin typeface="Arial"/>
                <a:ea typeface="Arial"/>
                <a:cs typeface="Arial"/>
                <a:sym typeface="Arial"/>
              </a:rPr>
              <a:t>Relationships in a class diagram</a:t>
            </a:r>
            <a:endParaRPr/>
          </a:p>
          <a:p>
            <a:pPr indent="-225011" lvl="0" marL="225011" rtl="0" algn="l">
              <a:spcBef>
                <a:spcPts val="0"/>
              </a:spcBef>
              <a:spcAft>
                <a:spcPts val="0"/>
              </a:spcAft>
              <a:buClr>
                <a:schemeClr val="dk1"/>
              </a:buClr>
              <a:buSzPts val="1400"/>
              <a:buFont typeface="Arial"/>
              <a:buChar char="•"/>
            </a:pPr>
            <a:r>
              <a:rPr lang="en-US" sz="1400">
                <a:latin typeface="Arial"/>
                <a:ea typeface="Arial"/>
                <a:cs typeface="Arial"/>
                <a:sym typeface="Arial"/>
              </a:rPr>
              <a:t>Used because you may want to restrict the number of instances a class may have</a:t>
            </a:r>
            <a:endParaRPr/>
          </a:p>
          <a:p>
            <a:pPr indent="-225011" lvl="0" marL="225011" rtl="0" algn="l">
              <a:spcBef>
                <a:spcPts val="0"/>
              </a:spcBef>
              <a:spcAft>
                <a:spcPts val="0"/>
              </a:spcAft>
              <a:buClr>
                <a:schemeClr val="dk1"/>
              </a:buClr>
              <a:buSzPts val="1400"/>
              <a:buFont typeface="Arial"/>
              <a:buChar char="•"/>
            </a:pPr>
            <a:r>
              <a:rPr lang="en-US" sz="1400">
                <a:latin typeface="Arial"/>
                <a:ea typeface="Arial"/>
                <a:cs typeface="Arial"/>
                <a:sym typeface="Arial"/>
              </a:rPr>
              <a:t>Zero/one or more use </a:t>
            </a:r>
            <a:r>
              <a:rPr b="1" lang="en-US" sz="1400">
                <a:latin typeface="Arial"/>
                <a:ea typeface="Arial"/>
                <a:cs typeface="Arial"/>
                <a:sym typeface="Arial"/>
              </a:rPr>
              <a:t>m</a:t>
            </a:r>
            <a:r>
              <a:rPr lang="en-US" sz="1400">
                <a:latin typeface="Arial"/>
                <a:ea typeface="Arial"/>
                <a:cs typeface="Arial"/>
                <a:sym typeface="Arial"/>
              </a:rPr>
              <a:t> or </a:t>
            </a:r>
            <a:r>
              <a:rPr lang="en-US" sz="1400" u="sng">
                <a:latin typeface="Arial"/>
                <a:ea typeface="Arial"/>
                <a:cs typeface="Arial"/>
                <a:sym typeface="Arial"/>
              </a:rPr>
              <a:t>some other variable name</a:t>
            </a:r>
            <a:r>
              <a:rPr lang="en-US" sz="1400">
                <a:latin typeface="Arial"/>
                <a:ea typeface="Arial"/>
                <a:cs typeface="Arial"/>
                <a:sym typeface="Arial"/>
              </a:rPr>
              <a:t> when there is a </a:t>
            </a:r>
            <a:r>
              <a:rPr b="1" lang="en-US" sz="1400">
                <a:latin typeface="Arial"/>
                <a:ea typeface="Arial"/>
                <a:cs typeface="Arial"/>
                <a:sym typeface="Arial"/>
              </a:rPr>
              <a:t>specific number</a:t>
            </a:r>
            <a:r>
              <a:rPr lang="en-US" sz="1400">
                <a:latin typeface="Arial"/>
                <a:ea typeface="Arial"/>
                <a:cs typeface="Arial"/>
                <a:sym typeface="Arial"/>
              </a:rPr>
              <a:t> in the problem</a:t>
            </a:r>
            <a:endParaRPr/>
          </a:p>
          <a:p>
            <a:pPr indent="-225011" lvl="0" marL="225011" rtl="0" algn="l">
              <a:spcBef>
                <a:spcPts val="0"/>
              </a:spcBef>
              <a:spcAft>
                <a:spcPts val="0"/>
              </a:spcAft>
              <a:buClr>
                <a:schemeClr val="dk1"/>
              </a:buClr>
              <a:buSzPts val="1400"/>
              <a:buFont typeface="Arial"/>
              <a:buChar char="•"/>
            </a:pPr>
            <a:r>
              <a:rPr lang="en-US" sz="1400">
                <a:latin typeface="Arial"/>
                <a:ea typeface="Arial"/>
                <a:cs typeface="Arial"/>
                <a:sym typeface="Arial"/>
              </a:rPr>
              <a:t>Specified range 2 to 4 instances</a:t>
            </a:r>
            <a:endParaRPr/>
          </a:p>
          <a:p>
            <a:pPr indent="-225011" lvl="0" marL="225011" rtl="0" algn="l">
              <a:spcBef>
                <a:spcPts val="0"/>
              </a:spcBef>
              <a:spcAft>
                <a:spcPts val="0"/>
              </a:spcAft>
              <a:buClr>
                <a:schemeClr val="dk1"/>
              </a:buClr>
              <a:buSzPts val="1400"/>
              <a:buFont typeface="Arial"/>
              <a:buChar char="•"/>
            </a:pPr>
            <a:r>
              <a:rPr lang="en-US" sz="1400">
                <a:latin typeface="Arial"/>
                <a:ea typeface="Arial"/>
                <a:cs typeface="Arial"/>
                <a:sym typeface="Arial"/>
              </a:rPr>
              <a:t>Multiple, disjoint ranges 1..3, 5 == 1 to 3 or 5 instances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39"/>
          <p:cNvSpPr txBox="1"/>
          <p:nvPr>
            <p:ph type="ctrTitle"/>
          </p:nvPr>
        </p:nvSpPr>
        <p:spPr>
          <a:xfrm>
            <a:off x="1219200" y="3886200"/>
            <a:ext cx="6858000" cy="990600"/>
          </a:xfrm>
          <a:prstGeom prst="rect">
            <a:avLst/>
          </a:prstGeom>
          <a:noFill/>
          <a:ln>
            <a:noFill/>
          </a:ln>
        </p:spPr>
        <p:txBody>
          <a:bodyPr anchorCtr="0" anchor="t" bIns="45700" lIns="91425" spcFirstLastPara="1" rIns="91425" wrap="square" tIns="45700">
            <a:normAutofit/>
          </a:bodyPr>
          <a:lstStyle>
            <a:lvl1pPr lvl="0" algn="r">
              <a:spcBef>
                <a:spcPts val="0"/>
              </a:spcBef>
              <a:spcAft>
                <a:spcPts val="0"/>
              </a:spcAft>
              <a:buClr>
                <a:schemeClr val="dk1"/>
              </a:buClr>
              <a:buSzPts val="3200"/>
              <a:buFont typeface="Bookman Old Style"/>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39"/>
          <p:cNvSpPr txBox="1"/>
          <p:nvPr>
            <p:ph idx="1" type="subTitle"/>
          </p:nvPr>
        </p:nvSpPr>
        <p:spPr>
          <a:xfrm>
            <a:off x="1219200" y="5124450"/>
            <a:ext cx="6858000" cy="533400"/>
          </a:xfrm>
          <a:prstGeom prst="rect">
            <a:avLst/>
          </a:prstGeom>
          <a:noFill/>
          <a:ln>
            <a:noFill/>
          </a:ln>
        </p:spPr>
        <p:txBody>
          <a:bodyPr anchorCtr="0" anchor="t" bIns="45700" lIns="91425" spcFirstLastPara="1" rIns="91425" wrap="square" tIns="45700">
            <a:normAutofit/>
          </a:bodyPr>
          <a:lstStyle>
            <a:lvl1pPr lvl="0" algn="r">
              <a:spcBef>
                <a:spcPts val="600"/>
              </a:spcBef>
              <a:spcAft>
                <a:spcPts val="0"/>
              </a:spcAft>
              <a:buSzPts val="1520"/>
              <a:buNone/>
              <a:defRPr sz="2000">
                <a:solidFill>
                  <a:schemeClr val="dk2"/>
                </a:solidFill>
                <a:latin typeface="Bookman Old Style"/>
                <a:ea typeface="Bookman Old Style"/>
                <a:cs typeface="Bookman Old Style"/>
                <a:sym typeface="Bookman Old Style"/>
              </a:defRPr>
            </a:lvl1pPr>
            <a:lvl2pPr lvl="1" algn="ctr">
              <a:spcBef>
                <a:spcPts val="500"/>
              </a:spcBef>
              <a:spcAft>
                <a:spcPts val="0"/>
              </a:spcAft>
              <a:buSzPts val="1368"/>
              <a:buNone/>
              <a:defRPr/>
            </a:lvl2pPr>
            <a:lvl3pPr lvl="2" algn="ctr">
              <a:spcBef>
                <a:spcPts val="500"/>
              </a:spcBef>
              <a:spcAft>
                <a:spcPts val="0"/>
              </a:spcAft>
              <a:buSzPts val="1368"/>
              <a:buNone/>
              <a:defRPr/>
            </a:lvl3pPr>
            <a:lvl4pPr lvl="3" algn="ctr">
              <a:spcBef>
                <a:spcPts val="400"/>
              </a:spcBef>
              <a:spcAft>
                <a:spcPts val="0"/>
              </a:spcAft>
              <a:buSzPts val="1260"/>
              <a:buNone/>
              <a:defRPr/>
            </a:lvl4pPr>
            <a:lvl5pPr lvl="4" algn="ctr">
              <a:spcBef>
                <a:spcPts val="300"/>
              </a:spcBef>
              <a:spcAft>
                <a:spcPts val="0"/>
              </a:spcAft>
              <a:buSzPts val="1260"/>
              <a:buNone/>
              <a:defRPr/>
            </a:lvl5pPr>
            <a:lvl6pPr lvl="5" algn="ctr">
              <a:spcBef>
                <a:spcPts val="300"/>
              </a:spcBef>
              <a:spcAft>
                <a:spcPts val="0"/>
              </a:spcAft>
              <a:buSzPts val="1350"/>
              <a:buNone/>
              <a:defRPr/>
            </a:lvl6pPr>
            <a:lvl7pPr lvl="6" algn="ctr">
              <a:spcBef>
                <a:spcPts val="300"/>
              </a:spcBef>
              <a:spcAft>
                <a:spcPts val="0"/>
              </a:spcAft>
              <a:buSzPts val="1350"/>
              <a:buNone/>
              <a:defRPr/>
            </a:lvl7pPr>
            <a:lvl8pPr lvl="7" algn="ctr">
              <a:spcBef>
                <a:spcPts val="300"/>
              </a:spcBef>
              <a:spcAft>
                <a:spcPts val="0"/>
              </a:spcAft>
              <a:buSzPts val="1350"/>
              <a:buNone/>
              <a:defRPr/>
            </a:lvl8pPr>
            <a:lvl9pPr lvl="8" algn="ctr">
              <a:spcBef>
                <a:spcPts val="300"/>
              </a:spcBef>
              <a:spcAft>
                <a:spcPts val="0"/>
              </a:spcAft>
              <a:buSzPts val="1350"/>
              <a:buNone/>
              <a:defRPr/>
            </a:lvl9pPr>
          </a:lstStyle>
          <a:p/>
        </p:txBody>
      </p:sp>
      <p:sp>
        <p:nvSpPr>
          <p:cNvPr id="21" name="Google Shape;21;p39"/>
          <p:cNvSpPr txBox="1"/>
          <p:nvPr>
            <p:ph idx="10" type="dt"/>
          </p:nvPr>
        </p:nvSpPr>
        <p:spPr>
          <a:xfrm>
            <a:off x="6400800" y="6355080"/>
            <a:ext cx="2286000"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sz="1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9"/>
          <p:cNvSpPr txBox="1"/>
          <p:nvPr>
            <p:ph idx="11" type="ftr"/>
          </p:nvPr>
        </p:nvSpPr>
        <p:spPr>
          <a:xfrm>
            <a:off x="2898648" y="6355080"/>
            <a:ext cx="347472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9"/>
          <p:cNvSpPr txBox="1"/>
          <p:nvPr>
            <p:ph idx="12" type="sldNum"/>
          </p:nvPr>
        </p:nvSpPr>
        <p:spPr>
          <a:xfrm>
            <a:off x="1216152" y="6355080"/>
            <a:ext cx="1219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24" name="Google Shape;24;p39"/>
          <p:cNvSpPr/>
          <p:nvPr/>
        </p:nvSpPr>
        <p:spPr>
          <a:xfrm>
            <a:off x="904875" y="3648075"/>
            <a:ext cx="7315200" cy="1280160"/>
          </a:xfrm>
          <a:prstGeom prst="rect">
            <a:avLst/>
          </a:prstGeom>
          <a:noFill/>
          <a:ln cap="rnd"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25" name="Google Shape;25;p39"/>
          <p:cNvSpPr/>
          <p:nvPr/>
        </p:nvSpPr>
        <p:spPr>
          <a:xfrm>
            <a:off x="914400" y="5048250"/>
            <a:ext cx="7315200" cy="685800"/>
          </a:xfrm>
          <a:prstGeom prst="rect">
            <a:avLst/>
          </a:prstGeom>
          <a:noFill/>
          <a:ln cap="rnd" cmpd="sng" w="952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26" name="Google Shape;26;p39"/>
          <p:cNvSpPr/>
          <p:nvPr/>
        </p:nvSpPr>
        <p:spPr>
          <a:xfrm>
            <a:off x="904875" y="3648075"/>
            <a:ext cx="228600" cy="12801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27" name="Google Shape;27;p39"/>
          <p:cNvSpPr/>
          <p:nvPr/>
        </p:nvSpPr>
        <p:spPr>
          <a:xfrm>
            <a:off x="914400" y="5048250"/>
            <a:ext cx="228600" cy="6858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40"/>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40"/>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0"/>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0"/>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33" name="Google Shape;33;p40"/>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Text" type="objAndTx">
  <p:cSld name="OBJECT_AND_TEXT">
    <p:spTree>
      <p:nvGrpSpPr>
        <p:cNvPr id="34" name="Shape 34"/>
        <p:cNvGrpSpPr/>
        <p:nvPr/>
      </p:nvGrpSpPr>
      <p:grpSpPr>
        <a:xfrm>
          <a:off x="0" y="0"/>
          <a:ext cx="0" cy="0"/>
          <a:chOff x="0" y="0"/>
          <a:chExt cx="0" cy="0"/>
        </a:xfrm>
      </p:grpSpPr>
      <p:sp>
        <p:nvSpPr>
          <p:cNvPr id="35" name="Google Shape;35;p41"/>
          <p:cNvSpPr txBox="1"/>
          <p:nvPr>
            <p:ph type="title"/>
          </p:nvPr>
        </p:nvSpPr>
        <p:spPr>
          <a:xfrm>
            <a:off x="685800" y="381000"/>
            <a:ext cx="7848600" cy="533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41"/>
          <p:cNvSpPr txBox="1"/>
          <p:nvPr>
            <p:ph idx="1" type="body"/>
          </p:nvPr>
        </p:nvSpPr>
        <p:spPr>
          <a:xfrm>
            <a:off x="685800" y="1066800"/>
            <a:ext cx="3848100" cy="48768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37" name="Google Shape;37;p41"/>
          <p:cNvSpPr txBox="1"/>
          <p:nvPr>
            <p:ph idx="2" type="body"/>
          </p:nvPr>
        </p:nvSpPr>
        <p:spPr>
          <a:xfrm>
            <a:off x="4686300" y="1066800"/>
            <a:ext cx="3848100" cy="48768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38" name="Google Shape;38;p41"/>
          <p:cNvSpPr txBox="1"/>
          <p:nvPr>
            <p:ph idx="11" type="ftr"/>
          </p:nvPr>
        </p:nvSpPr>
        <p:spPr>
          <a:xfrm>
            <a:off x="2362200" y="6400800"/>
            <a:ext cx="4038600" cy="4572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42"/>
          <p:cNvSpPr txBox="1"/>
          <p:nvPr>
            <p:ph type="title"/>
          </p:nvPr>
        </p:nvSpPr>
        <p:spPr>
          <a:xfrm>
            <a:off x="457200" y="228600"/>
            <a:ext cx="8229600" cy="914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42"/>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42"/>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42"/>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44" name="Google Shape;44;p42"/>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5" name="Shape 45"/>
        <p:cNvGrpSpPr/>
        <p:nvPr/>
      </p:nvGrpSpPr>
      <p:grpSpPr>
        <a:xfrm>
          <a:off x="0" y="0"/>
          <a:ext cx="0" cy="0"/>
          <a:chOff x="0" y="0"/>
          <a:chExt cx="0" cy="0"/>
        </a:xfrm>
      </p:grpSpPr>
      <p:sp>
        <p:nvSpPr>
          <p:cNvPr id="46" name="Google Shape;46;p43"/>
          <p:cNvSpPr txBox="1"/>
          <p:nvPr>
            <p:ph type="title"/>
          </p:nvPr>
        </p:nvSpPr>
        <p:spPr>
          <a:xfrm>
            <a:off x="1219200" y="2971800"/>
            <a:ext cx="6858000" cy="1066800"/>
          </a:xfrm>
          <a:prstGeom prst="rect">
            <a:avLst/>
          </a:prstGeom>
          <a:noFill/>
          <a:ln>
            <a:noFill/>
          </a:ln>
        </p:spPr>
        <p:txBody>
          <a:bodyPr anchorCtr="0" anchor="t" bIns="45700" lIns="91425" spcFirstLastPara="1" rIns="91425" wrap="square" tIns="45700">
            <a:normAutofit/>
          </a:bodyPr>
          <a:lstStyle>
            <a:lvl1pPr lvl="0" algn="r">
              <a:spcBef>
                <a:spcPts val="0"/>
              </a:spcBef>
              <a:spcAft>
                <a:spcPts val="0"/>
              </a:spcAft>
              <a:buClr>
                <a:schemeClr val="dk2"/>
              </a:buClr>
              <a:buSzPts val="3200"/>
              <a:buFont typeface="Bookman Old Style"/>
              <a:buNone/>
              <a:defRPr b="0" sz="32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43"/>
          <p:cNvSpPr txBox="1"/>
          <p:nvPr>
            <p:ph idx="1" type="body"/>
          </p:nvPr>
        </p:nvSpPr>
        <p:spPr>
          <a:xfrm>
            <a:off x="1295400" y="4267200"/>
            <a:ext cx="6781800" cy="1143000"/>
          </a:xfrm>
          <a:prstGeom prst="rect">
            <a:avLst/>
          </a:prstGeom>
          <a:noFill/>
          <a:ln>
            <a:noFill/>
          </a:ln>
        </p:spPr>
        <p:txBody>
          <a:bodyPr anchorCtr="0" anchor="t" bIns="45700" lIns="91425" spcFirstLastPara="1" rIns="91425" wrap="square" tIns="45700">
            <a:normAutofit/>
          </a:bodyPr>
          <a:lstStyle>
            <a:lvl1pPr indent="-228600" lvl="0" marL="457200" algn="r">
              <a:spcBef>
                <a:spcPts val="600"/>
              </a:spcBef>
              <a:spcAft>
                <a:spcPts val="0"/>
              </a:spcAft>
              <a:buSzPts val="1520"/>
              <a:buNone/>
              <a:defRPr sz="2000">
                <a:solidFill>
                  <a:srgbClr val="888888"/>
                </a:solidFill>
              </a:defRPr>
            </a:lvl1pPr>
            <a:lvl2pPr indent="-228600" lvl="1" marL="914400" algn="l">
              <a:spcBef>
                <a:spcPts val="500"/>
              </a:spcBef>
              <a:spcAft>
                <a:spcPts val="0"/>
              </a:spcAft>
              <a:buSzPts val="1368"/>
              <a:buNone/>
              <a:defRPr sz="1800">
                <a:solidFill>
                  <a:srgbClr val="888888"/>
                </a:solidFill>
              </a:defRPr>
            </a:lvl2pPr>
            <a:lvl3pPr indent="-228600" lvl="2" marL="1371600" algn="l">
              <a:spcBef>
                <a:spcPts val="500"/>
              </a:spcBef>
              <a:spcAft>
                <a:spcPts val="0"/>
              </a:spcAft>
              <a:buSzPts val="1216"/>
              <a:buNone/>
              <a:defRPr sz="1600">
                <a:solidFill>
                  <a:srgbClr val="888888"/>
                </a:solidFill>
              </a:defRPr>
            </a:lvl3pPr>
            <a:lvl4pPr indent="-228600" lvl="3" marL="1828800" algn="l">
              <a:spcBef>
                <a:spcPts val="400"/>
              </a:spcBef>
              <a:spcAft>
                <a:spcPts val="0"/>
              </a:spcAft>
              <a:buSzPts val="980"/>
              <a:buNone/>
              <a:defRPr sz="1400">
                <a:solidFill>
                  <a:srgbClr val="888888"/>
                </a:solidFill>
              </a:defRPr>
            </a:lvl4pPr>
            <a:lvl5pPr indent="-228600" lvl="4" marL="2286000" algn="l">
              <a:spcBef>
                <a:spcPts val="300"/>
              </a:spcBef>
              <a:spcAft>
                <a:spcPts val="0"/>
              </a:spcAft>
              <a:buSzPts val="980"/>
              <a:buNone/>
              <a:defRPr sz="1400">
                <a:solidFill>
                  <a:srgbClr val="888888"/>
                </a:solidFill>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48" name="Google Shape;48;p43"/>
          <p:cNvSpPr txBox="1"/>
          <p:nvPr>
            <p:ph idx="10" type="dt"/>
          </p:nvPr>
        </p:nvSpPr>
        <p:spPr>
          <a:xfrm>
            <a:off x="6400800" y="6355080"/>
            <a:ext cx="2286000"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43"/>
          <p:cNvSpPr txBox="1"/>
          <p:nvPr>
            <p:ph idx="11" type="ftr"/>
          </p:nvPr>
        </p:nvSpPr>
        <p:spPr>
          <a:xfrm>
            <a:off x="2898648" y="6355080"/>
            <a:ext cx="347472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43"/>
          <p:cNvSpPr txBox="1"/>
          <p:nvPr>
            <p:ph idx="12" type="sldNum"/>
          </p:nvPr>
        </p:nvSpPr>
        <p:spPr>
          <a:xfrm>
            <a:off x="1069848" y="6355080"/>
            <a:ext cx="1520952"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51" name="Google Shape;51;p43"/>
          <p:cNvSpPr/>
          <p:nvPr/>
        </p:nvSpPr>
        <p:spPr>
          <a:xfrm>
            <a:off x="914400" y="2819400"/>
            <a:ext cx="7315200" cy="1280160"/>
          </a:xfrm>
          <a:prstGeom prst="rect">
            <a:avLst/>
          </a:prstGeom>
          <a:noFill/>
          <a:ln cap="rnd"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52" name="Google Shape;52;p43"/>
          <p:cNvSpPr/>
          <p:nvPr/>
        </p:nvSpPr>
        <p:spPr>
          <a:xfrm>
            <a:off x="914400" y="2819400"/>
            <a:ext cx="228600" cy="12801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3" name="Shape 53"/>
        <p:cNvGrpSpPr/>
        <p:nvPr/>
      </p:nvGrpSpPr>
      <p:grpSpPr>
        <a:xfrm>
          <a:off x="0" y="0"/>
          <a:ext cx="0" cy="0"/>
          <a:chOff x="0" y="0"/>
          <a:chExt cx="0" cy="0"/>
        </a:xfrm>
      </p:grpSpPr>
      <p:sp>
        <p:nvSpPr>
          <p:cNvPr id="54" name="Google Shape;54;p44"/>
          <p:cNvSpPr txBox="1"/>
          <p:nvPr>
            <p:ph type="title"/>
          </p:nvPr>
        </p:nvSpPr>
        <p:spPr>
          <a:xfrm>
            <a:off x="457200" y="228600"/>
            <a:ext cx="8229600" cy="914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44"/>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44"/>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4"/>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58" name="Google Shape;58;p44"/>
          <p:cNvSpPr txBox="1"/>
          <p:nvPr>
            <p:ph idx="1" type="body"/>
          </p:nvPr>
        </p:nvSpPr>
        <p:spPr>
          <a:xfrm>
            <a:off x="457200" y="1219200"/>
            <a:ext cx="4041648" cy="493776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59" name="Google Shape;59;p44"/>
          <p:cNvSpPr txBox="1"/>
          <p:nvPr>
            <p:ph idx="2" type="body"/>
          </p:nvPr>
        </p:nvSpPr>
        <p:spPr>
          <a:xfrm>
            <a:off x="4632198" y="1216152"/>
            <a:ext cx="4041648" cy="493776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0" name="Shape 60"/>
        <p:cNvGrpSpPr/>
        <p:nvPr/>
      </p:nvGrpSpPr>
      <p:grpSpPr>
        <a:xfrm>
          <a:off x="0" y="0"/>
          <a:ext cx="0" cy="0"/>
          <a:chOff x="0" y="0"/>
          <a:chExt cx="0" cy="0"/>
        </a:xfrm>
      </p:grpSpPr>
      <p:sp>
        <p:nvSpPr>
          <p:cNvPr id="61" name="Google Shape;61;p45"/>
          <p:cNvSpPr txBox="1"/>
          <p:nvPr>
            <p:ph type="title"/>
          </p:nvPr>
        </p:nvSpPr>
        <p:spPr>
          <a:xfrm>
            <a:off x="457200" y="228600"/>
            <a:ext cx="8229600" cy="9144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3200"/>
              <a:buFont typeface="Bookman Old Style"/>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45"/>
          <p:cNvSpPr txBox="1"/>
          <p:nvPr>
            <p:ph idx="1" type="body"/>
          </p:nvPr>
        </p:nvSpPr>
        <p:spPr>
          <a:xfrm>
            <a:off x="457200" y="1285875"/>
            <a:ext cx="4040188" cy="685800"/>
          </a:xfrm>
          <a:prstGeom prst="rect">
            <a:avLst/>
          </a:prstGeom>
          <a:noFill/>
          <a:ln>
            <a:noFill/>
          </a:ln>
        </p:spPr>
        <p:txBody>
          <a:bodyPr anchorCtr="0" anchor="b" bIns="45700" lIns="91425" spcFirstLastPara="1" rIns="91425" wrap="square" tIns="45700">
            <a:noAutofit/>
          </a:bodyPr>
          <a:lstStyle>
            <a:lvl1pPr indent="-228600" lvl="0" marL="457200" algn="l">
              <a:spcBef>
                <a:spcPts val="600"/>
              </a:spcBef>
              <a:spcAft>
                <a:spcPts val="0"/>
              </a:spcAft>
              <a:buSzPts val="1824"/>
              <a:buNone/>
              <a:defRPr b="1" sz="2400">
                <a:solidFill>
                  <a:schemeClr val="accent2"/>
                </a:solidFill>
              </a:defRPr>
            </a:lvl1pPr>
            <a:lvl2pPr indent="-228600" lvl="1" marL="914400" algn="l">
              <a:spcBef>
                <a:spcPts val="500"/>
              </a:spcBef>
              <a:spcAft>
                <a:spcPts val="0"/>
              </a:spcAft>
              <a:buSzPts val="1520"/>
              <a:buNone/>
              <a:defRPr b="1" sz="2000"/>
            </a:lvl2pPr>
            <a:lvl3pPr indent="-228600" lvl="2" marL="1371600" algn="l">
              <a:spcBef>
                <a:spcPts val="500"/>
              </a:spcBef>
              <a:spcAft>
                <a:spcPts val="0"/>
              </a:spcAft>
              <a:buSzPts val="1368"/>
              <a:buNone/>
              <a:defRPr b="1" sz="1800"/>
            </a:lvl3pPr>
            <a:lvl4pPr indent="-228600" lvl="3" marL="1828800" algn="l">
              <a:spcBef>
                <a:spcPts val="400"/>
              </a:spcBef>
              <a:spcAft>
                <a:spcPts val="0"/>
              </a:spcAft>
              <a:buSzPts val="1120"/>
              <a:buNone/>
              <a:defRPr b="1" sz="1600"/>
            </a:lvl4pPr>
            <a:lvl5pPr indent="-228600" lvl="4" marL="2286000" algn="l">
              <a:spcBef>
                <a:spcPts val="300"/>
              </a:spcBef>
              <a:spcAft>
                <a:spcPts val="0"/>
              </a:spcAft>
              <a:buSzPts val="1120"/>
              <a:buNone/>
              <a:defRPr b="1" sz="16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63" name="Google Shape;63;p45"/>
          <p:cNvSpPr txBox="1"/>
          <p:nvPr>
            <p:ph idx="2" type="body"/>
          </p:nvPr>
        </p:nvSpPr>
        <p:spPr>
          <a:xfrm>
            <a:off x="4648200" y="1295400"/>
            <a:ext cx="4041775" cy="685800"/>
          </a:xfrm>
          <a:prstGeom prst="rect">
            <a:avLst/>
          </a:prstGeom>
          <a:noFill/>
          <a:ln>
            <a:noFill/>
          </a:ln>
        </p:spPr>
        <p:txBody>
          <a:bodyPr anchorCtr="0" anchor="b" bIns="45700" lIns="91425" spcFirstLastPara="1" rIns="91425" wrap="square" tIns="45700">
            <a:normAutofit/>
          </a:bodyPr>
          <a:lstStyle>
            <a:lvl1pPr indent="-228600" lvl="0" marL="457200" algn="l">
              <a:spcBef>
                <a:spcPts val="600"/>
              </a:spcBef>
              <a:spcAft>
                <a:spcPts val="0"/>
              </a:spcAft>
              <a:buSzPts val="1824"/>
              <a:buNone/>
              <a:defRPr b="1" sz="2400">
                <a:solidFill>
                  <a:schemeClr val="accent2"/>
                </a:solidFill>
              </a:defRPr>
            </a:lvl1pPr>
            <a:lvl2pPr indent="-228600" lvl="1" marL="914400" algn="l">
              <a:spcBef>
                <a:spcPts val="500"/>
              </a:spcBef>
              <a:spcAft>
                <a:spcPts val="0"/>
              </a:spcAft>
              <a:buSzPts val="1520"/>
              <a:buNone/>
              <a:defRPr b="1" sz="2000"/>
            </a:lvl2pPr>
            <a:lvl3pPr indent="-228600" lvl="2" marL="1371600" algn="l">
              <a:spcBef>
                <a:spcPts val="500"/>
              </a:spcBef>
              <a:spcAft>
                <a:spcPts val="0"/>
              </a:spcAft>
              <a:buSzPts val="1368"/>
              <a:buNone/>
              <a:defRPr b="1" sz="1800"/>
            </a:lvl3pPr>
            <a:lvl4pPr indent="-228600" lvl="3" marL="1828800" algn="l">
              <a:spcBef>
                <a:spcPts val="400"/>
              </a:spcBef>
              <a:spcAft>
                <a:spcPts val="0"/>
              </a:spcAft>
              <a:buSzPts val="1120"/>
              <a:buNone/>
              <a:defRPr b="1" sz="1600"/>
            </a:lvl4pPr>
            <a:lvl5pPr indent="-228600" lvl="4" marL="2286000" algn="l">
              <a:spcBef>
                <a:spcPts val="300"/>
              </a:spcBef>
              <a:spcAft>
                <a:spcPts val="0"/>
              </a:spcAft>
              <a:buSzPts val="1120"/>
              <a:buNone/>
              <a:defRPr b="1" sz="16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64" name="Google Shape;64;p45"/>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45"/>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5"/>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67" name="Google Shape;67;p45"/>
          <p:cNvSpPr txBox="1"/>
          <p:nvPr>
            <p:ph idx="3" type="body"/>
          </p:nvPr>
        </p:nvSpPr>
        <p:spPr>
          <a:xfrm>
            <a:off x="457200" y="2133600"/>
            <a:ext cx="4038600" cy="40386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68" name="Google Shape;68;p45"/>
          <p:cNvSpPr txBox="1"/>
          <p:nvPr>
            <p:ph idx="4" type="body"/>
          </p:nvPr>
        </p:nvSpPr>
        <p:spPr>
          <a:xfrm>
            <a:off x="4648200" y="2133600"/>
            <a:ext cx="4038600" cy="40386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9" name="Shape 69"/>
        <p:cNvGrpSpPr/>
        <p:nvPr/>
      </p:nvGrpSpPr>
      <p:grpSpPr>
        <a:xfrm>
          <a:off x="0" y="0"/>
          <a:ext cx="0" cy="0"/>
          <a:chOff x="0" y="0"/>
          <a:chExt cx="0" cy="0"/>
        </a:xfrm>
      </p:grpSpPr>
      <p:sp>
        <p:nvSpPr>
          <p:cNvPr id="70" name="Google Shape;70;p46"/>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6"/>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6"/>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73" name="Google Shape;73;p46"/>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sp>
        <p:nvSpPr>
          <p:cNvPr id="74" name="Google Shape;74;p46"/>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5" name="Shape 75"/>
        <p:cNvGrpSpPr/>
        <p:nvPr/>
      </p:nvGrpSpPr>
      <p:grpSpPr>
        <a:xfrm>
          <a:off x="0" y="0"/>
          <a:ext cx="0" cy="0"/>
          <a:chOff x="0" y="0"/>
          <a:chExt cx="0" cy="0"/>
        </a:xfrm>
      </p:grpSpPr>
      <p:sp>
        <p:nvSpPr>
          <p:cNvPr id="76" name="Google Shape;76;p47"/>
          <p:cNvSpPr txBox="1"/>
          <p:nvPr>
            <p:ph type="title"/>
          </p:nvPr>
        </p:nvSpPr>
        <p:spPr>
          <a:xfrm>
            <a:off x="6324600" y="304800"/>
            <a:ext cx="2514600" cy="838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2000"/>
              <a:buFont typeface="Gill Sans"/>
              <a:buNone/>
              <a:defRPr b="1" sz="2000">
                <a:solidFill>
                  <a:schemeClr val="dk2"/>
                </a:solidFill>
                <a:latin typeface="Gill Sans"/>
                <a:ea typeface="Gill Sans"/>
                <a:cs typeface="Gill Sans"/>
                <a:sym typeface="Gill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47"/>
          <p:cNvSpPr txBox="1"/>
          <p:nvPr>
            <p:ph idx="1" type="body"/>
          </p:nvPr>
        </p:nvSpPr>
        <p:spPr>
          <a:xfrm>
            <a:off x="6324600" y="1219200"/>
            <a:ext cx="2514600" cy="4843463"/>
          </a:xfrm>
          <a:prstGeom prst="rect">
            <a:avLst/>
          </a:prstGeom>
          <a:noFill/>
          <a:ln>
            <a:noFill/>
          </a:ln>
        </p:spPr>
        <p:txBody>
          <a:bodyPr anchorCtr="0" anchor="t" bIns="45700" lIns="91425" spcFirstLastPara="1" rIns="91425" wrap="square" tIns="45700">
            <a:normAutofit/>
          </a:bodyPr>
          <a:lstStyle>
            <a:lvl1pPr indent="-228600" lvl="0" marL="457200" algn="l">
              <a:lnSpc>
                <a:spcPct val="137500"/>
              </a:lnSpc>
              <a:spcBef>
                <a:spcPts val="600"/>
              </a:spcBef>
              <a:spcAft>
                <a:spcPts val="0"/>
              </a:spcAft>
              <a:buSzPts val="1216"/>
              <a:buNone/>
              <a:defRPr sz="1600">
                <a:solidFill>
                  <a:schemeClr val="dk2"/>
                </a:solidFill>
              </a:defRPr>
            </a:lvl1pPr>
            <a:lvl2pPr indent="-228600" lvl="1" marL="914400" algn="l">
              <a:spcBef>
                <a:spcPts val="1000"/>
              </a:spcBef>
              <a:spcAft>
                <a:spcPts val="0"/>
              </a:spcAft>
              <a:buSzPts val="912"/>
              <a:buNone/>
              <a:defRPr sz="1200"/>
            </a:lvl2pPr>
            <a:lvl3pPr indent="-228600" lvl="2" marL="1371600" algn="l">
              <a:spcBef>
                <a:spcPts val="500"/>
              </a:spcBef>
              <a:spcAft>
                <a:spcPts val="0"/>
              </a:spcAft>
              <a:buSzPts val="760"/>
              <a:buNone/>
              <a:defRPr sz="1000"/>
            </a:lvl3pPr>
            <a:lvl4pPr indent="-228600" lvl="3" marL="1828800" algn="l">
              <a:spcBef>
                <a:spcPts val="400"/>
              </a:spcBef>
              <a:spcAft>
                <a:spcPts val="0"/>
              </a:spcAft>
              <a:buSzPts val="630"/>
              <a:buNone/>
              <a:defRPr sz="900"/>
            </a:lvl4pPr>
            <a:lvl5pPr indent="-228600" lvl="4" marL="2286000" algn="l">
              <a:spcBef>
                <a:spcPts val="300"/>
              </a:spcBef>
              <a:spcAft>
                <a:spcPts val="0"/>
              </a:spcAft>
              <a:buSzPts val="630"/>
              <a:buNone/>
              <a:defRPr sz="9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78" name="Google Shape;78;p47"/>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7"/>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47"/>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81" name="Google Shape;81;p47"/>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cxnSp>
        <p:nvCxnSpPr>
          <p:cNvPr id="82" name="Google Shape;82;p47"/>
          <p:cNvCxnSpPr/>
          <p:nvPr/>
        </p:nvCxnSpPr>
        <p:spPr>
          <a:xfrm rot="5400000">
            <a:off x="3160645" y="3324225"/>
            <a:ext cx="6035040" cy="0"/>
          </a:xfrm>
          <a:prstGeom prst="straightConnector1">
            <a:avLst/>
          </a:prstGeom>
          <a:noFill/>
          <a:ln cap="flat" cmpd="sng" w="9525">
            <a:solidFill>
              <a:schemeClr val="accent2"/>
            </a:solidFill>
            <a:prstDash val="dash"/>
            <a:round/>
            <a:headEnd len="sm" w="sm" type="none"/>
            <a:tailEnd len="sm" w="sm" type="none"/>
          </a:ln>
        </p:spPr>
      </p:cxnSp>
      <p:sp>
        <p:nvSpPr>
          <p:cNvPr id="83" name="Google Shape;83;p47"/>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84" name="Google Shape;84;p47"/>
          <p:cNvSpPr txBox="1"/>
          <p:nvPr>
            <p:ph idx="2" type="body"/>
          </p:nvPr>
        </p:nvSpPr>
        <p:spPr>
          <a:xfrm>
            <a:off x="304800" y="304800"/>
            <a:ext cx="5715000" cy="57150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5" name="Shape 85"/>
        <p:cNvGrpSpPr/>
        <p:nvPr/>
      </p:nvGrpSpPr>
      <p:grpSpPr>
        <a:xfrm>
          <a:off x="0" y="0"/>
          <a:ext cx="0" cy="0"/>
          <a:chOff x="0" y="0"/>
          <a:chExt cx="0" cy="0"/>
        </a:xfrm>
      </p:grpSpPr>
      <p:sp>
        <p:nvSpPr>
          <p:cNvPr id="86" name="Google Shape;86;p48"/>
          <p:cNvSpPr txBox="1"/>
          <p:nvPr>
            <p:ph type="title"/>
          </p:nvPr>
        </p:nvSpPr>
        <p:spPr>
          <a:xfrm>
            <a:off x="457200" y="500856"/>
            <a:ext cx="8229600" cy="674688"/>
          </a:xfrm>
          <a:prstGeom prst="rect">
            <a:avLst/>
          </a:prstGeom>
          <a:noFill/>
          <a:ln cap="flat" cmpd="sng" w="9525">
            <a:solidFill>
              <a:schemeClr val="accent1"/>
            </a:solidFill>
            <a:prstDash val="solid"/>
            <a:round/>
            <a:headEnd len="sm" w="sm" type="none"/>
            <a:tailEnd len="sm" w="sm" type="none"/>
          </a:ln>
        </p:spPr>
        <p:txBody>
          <a:bodyPr anchorCtr="0" anchor="ctr" bIns="45700" lIns="274300" spcFirstLastPara="1" rIns="91425" wrap="square" tIns="45700">
            <a:normAutofit/>
          </a:bodyPr>
          <a:lstStyle>
            <a:lvl1pPr lvl="0" algn="r">
              <a:spcBef>
                <a:spcPts val="0"/>
              </a:spcBef>
              <a:spcAft>
                <a:spcPts val="0"/>
              </a:spcAft>
              <a:buClr>
                <a:schemeClr val="dk1"/>
              </a:buClr>
              <a:buSzPts val="2000"/>
              <a:buFont typeface="Bookman Old Style"/>
              <a:buNone/>
              <a:defRPr b="0" sz="2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48"/>
          <p:cNvSpPr/>
          <p:nvPr>
            <p:ph idx="2" type="pic"/>
          </p:nvPr>
        </p:nvSpPr>
        <p:spPr>
          <a:xfrm>
            <a:off x="457200" y="1905000"/>
            <a:ext cx="8229600" cy="4270248"/>
          </a:xfrm>
          <a:prstGeom prst="rect">
            <a:avLst/>
          </a:prstGeom>
          <a:solidFill>
            <a:schemeClr val="dk1"/>
          </a:solidFill>
          <a:ln>
            <a:noFill/>
          </a:ln>
        </p:spPr>
      </p:sp>
      <p:sp>
        <p:nvSpPr>
          <p:cNvPr id="88" name="Google Shape;88;p48"/>
          <p:cNvSpPr txBox="1"/>
          <p:nvPr>
            <p:ph idx="1" type="body"/>
          </p:nvPr>
        </p:nvSpPr>
        <p:spPr>
          <a:xfrm>
            <a:off x="457200" y="1219200"/>
            <a:ext cx="8229600" cy="533400"/>
          </a:xfrm>
          <a:prstGeom prst="rect">
            <a:avLst/>
          </a:prstGeom>
          <a:noFill/>
          <a:ln>
            <a:noFill/>
          </a:ln>
        </p:spPr>
        <p:txBody>
          <a:bodyPr anchorCtr="0" anchor="ctr" bIns="45700" lIns="91425" spcFirstLastPara="1" rIns="91425" wrap="square" tIns="45700">
            <a:normAutofit/>
          </a:bodyPr>
          <a:lstStyle>
            <a:lvl1pPr indent="-228600" lvl="0" marL="457200" algn="l">
              <a:spcBef>
                <a:spcPts val="600"/>
              </a:spcBef>
              <a:spcAft>
                <a:spcPts val="0"/>
              </a:spcAft>
              <a:buSzPts val="1064"/>
              <a:buFont typeface="Gill Sans"/>
              <a:buNone/>
              <a:defRPr sz="1400"/>
            </a:lvl1pPr>
            <a:lvl2pPr indent="-286512" lvl="1" marL="914400" algn="l">
              <a:spcBef>
                <a:spcPts val="500"/>
              </a:spcBef>
              <a:spcAft>
                <a:spcPts val="0"/>
              </a:spcAft>
              <a:buSzPts val="912"/>
              <a:buChar char="🞂"/>
              <a:defRPr sz="1200"/>
            </a:lvl2pPr>
            <a:lvl3pPr indent="-276860" lvl="2" marL="1371600" algn="l">
              <a:spcBef>
                <a:spcPts val="500"/>
              </a:spcBef>
              <a:spcAft>
                <a:spcPts val="0"/>
              </a:spcAft>
              <a:buSzPts val="760"/>
              <a:buChar char="🞂"/>
              <a:defRPr sz="1000"/>
            </a:lvl3pPr>
            <a:lvl4pPr indent="-268605" lvl="3" marL="1828800" algn="l">
              <a:spcBef>
                <a:spcPts val="400"/>
              </a:spcBef>
              <a:spcAft>
                <a:spcPts val="0"/>
              </a:spcAft>
              <a:buSzPts val="630"/>
              <a:buChar char="◻"/>
              <a:defRPr sz="900"/>
            </a:lvl4pPr>
            <a:lvl5pPr indent="-268604" lvl="4" marL="2286000" algn="l">
              <a:spcBef>
                <a:spcPts val="300"/>
              </a:spcBef>
              <a:spcAft>
                <a:spcPts val="0"/>
              </a:spcAft>
              <a:buSzPts val="630"/>
              <a:buChar char="◻"/>
              <a:defRPr sz="9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89" name="Google Shape;89;p48"/>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48"/>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48"/>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92" name="Google Shape;92;p48"/>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sp>
        <p:nvSpPr>
          <p:cNvPr id="93" name="Google Shape;93;p48"/>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94" name="Google Shape;94;p48"/>
          <p:cNvSpPr/>
          <p:nvPr/>
        </p:nvSpPr>
        <p:spPr>
          <a:xfrm>
            <a:off x="457200" y="500856"/>
            <a:ext cx="182880" cy="6858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5" name="Shape 95"/>
        <p:cNvGrpSpPr/>
        <p:nvPr/>
      </p:nvGrpSpPr>
      <p:grpSpPr>
        <a:xfrm>
          <a:off x="0" y="0"/>
          <a:ext cx="0" cy="0"/>
          <a:chOff x="0" y="0"/>
          <a:chExt cx="0" cy="0"/>
        </a:xfrm>
      </p:grpSpPr>
      <p:sp>
        <p:nvSpPr>
          <p:cNvPr id="96" name="Google Shape;96;p4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49"/>
          <p:cNvSpPr txBox="1"/>
          <p:nvPr>
            <p:ph idx="1" type="body"/>
          </p:nvPr>
        </p:nvSpPr>
        <p:spPr>
          <a:xfrm rot="5400000">
            <a:off x="2116836" y="-440436"/>
            <a:ext cx="4910328" cy="82296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98" name="Google Shape;98;p49"/>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49"/>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49"/>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1" name="Shape 101"/>
        <p:cNvGrpSpPr/>
        <p:nvPr/>
      </p:nvGrpSpPr>
      <p:grpSpPr>
        <a:xfrm>
          <a:off x="0" y="0"/>
          <a:ext cx="0" cy="0"/>
          <a:chOff x="0" y="0"/>
          <a:chExt cx="0" cy="0"/>
        </a:xfrm>
      </p:grpSpPr>
      <p:sp>
        <p:nvSpPr>
          <p:cNvPr id="102" name="Google Shape;102;p50"/>
          <p:cNvSpPr txBox="1"/>
          <p:nvPr>
            <p:ph type="title"/>
          </p:nvPr>
        </p:nvSpPr>
        <p:spPr>
          <a:xfrm rot="5400000">
            <a:off x="4732338" y="2171701"/>
            <a:ext cx="5851525" cy="2057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3" name="Google Shape;103;p5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104" name="Google Shape;104;p50"/>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50"/>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50"/>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107" name="Google Shape;107;p50"/>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sp>
        <p:nvSpPr>
          <p:cNvPr id="108" name="Google Shape;108;p50"/>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cxnSp>
        <p:nvCxnSpPr>
          <p:cNvPr id="109" name="Google Shape;109;p50"/>
          <p:cNvCxnSpPr/>
          <p:nvPr/>
        </p:nvCxnSpPr>
        <p:spPr>
          <a:xfrm rot="5400000">
            <a:off x="3629607" y="3201952"/>
            <a:ext cx="5852160" cy="0"/>
          </a:xfrm>
          <a:prstGeom prst="straightConnector1">
            <a:avLst/>
          </a:prstGeom>
          <a:noFill/>
          <a:ln cap="flat" cmpd="sng" w="9525">
            <a:solidFill>
              <a:schemeClr val="accent2"/>
            </a:solidFill>
            <a:prstDash val="dash"/>
            <a:round/>
            <a:headEnd len="sm" w="sm" type="none"/>
            <a:tailEnd len="sm" w="sm" type="none"/>
          </a:ln>
        </p:spPr>
      </p:cxn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sp>
        <p:nvSpPr>
          <p:cNvPr id="10" name="Google Shape;10;p38"/>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Clr>
                <a:schemeClr val="dk2"/>
              </a:buClr>
              <a:buSzPts val="3200"/>
              <a:buFont typeface="Bookman Old Style"/>
              <a:buNone/>
              <a:defRPr b="0" i="0" sz="3200" u="none" cap="none" strike="noStrike">
                <a:solidFill>
                  <a:schemeClr val="dk2"/>
                </a:solidFill>
                <a:latin typeface="Bookman Old Style"/>
                <a:ea typeface="Bookman Old Style"/>
                <a:cs typeface="Bookman Old Style"/>
                <a:sym typeface="Bookman Old Styl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8"/>
          <p:cNvSpPr txBox="1"/>
          <p:nvPr>
            <p:ph idx="1" type="body"/>
          </p:nvPr>
        </p:nvSpPr>
        <p:spPr>
          <a:xfrm>
            <a:off x="457200" y="1219200"/>
            <a:ext cx="8229600" cy="4910328"/>
          </a:xfrm>
          <a:prstGeom prst="rect">
            <a:avLst/>
          </a:prstGeom>
          <a:noFill/>
          <a:ln>
            <a:noFill/>
          </a:ln>
        </p:spPr>
        <p:txBody>
          <a:bodyPr anchorCtr="0" anchor="t" bIns="45700" lIns="91425" spcFirstLastPara="1" rIns="91425" wrap="square" tIns="45700">
            <a:normAutofit/>
          </a:bodyPr>
          <a:lstStyle>
            <a:lvl1pPr indent="-354076" lvl="0" marL="457200" marR="0" rtl="0" algn="l">
              <a:spcBef>
                <a:spcPts val="600"/>
              </a:spcBef>
              <a:spcAft>
                <a:spcPts val="0"/>
              </a:spcAft>
              <a:buClr>
                <a:schemeClr val="accent1"/>
              </a:buClr>
              <a:buSzPts val="1976"/>
              <a:buFont typeface="Noto Sans Symbols"/>
              <a:buChar char="🞂"/>
              <a:defRPr b="0" i="0" sz="2600" u="none" cap="none" strike="noStrike">
                <a:solidFill>
                  <a:schemeClr val="dk1"/>
                </a:solidFill>
                <a:latin typeface="Gill Sans"/>
                <a:ea typeface="Gill Sans"/>
                <a:cs typeface="Gill Sans"/>
                <a:sym typeface="Gill Sans"/>
              </a:defRPr>
            </a:lvl1pPr>
            <a:lvl2pPr indent="-339597" lvl="1" marL="914400" marR="0" rtl="0" algn="l">
              <a:spcBef>
                <a:spcPts val="500"/>
              </a:spcBef>
              <a:spcAft>
                <a:spcPts val="0"/>
              </a:spcAft>
              <a:buClr>
                <a:schemeClr val="accent2"/>
              </a:buClr>
              <a:buSzPts val="1748"/>
              <a:buFont typeface="Noto Sans Symbols"/>
              <a:buChar char="🞂"/>
              <a:defRPr b="0" i="0" sz="2300" u="none" cap="none" strike="noStrike">
                <a:solidFill>
                  <a:schemeClr val="dk2"/>
                </a:solidFill>
                <a:latin typeface="Gill Sans"/>
                <a:ea typeface="Gill Sans"/>
                <a:cs typeface="Gill Sans"/>
                <a:sym typeface="Gill Sans"/>
              </a:defRPr>
            </a:lvl2pPr>
            <a:lvl3pPr indent="-325119" lvl="2" marL="1371600" marR="0" rtl="0" algn="l">
              <a:spcBef>
                <a:spcPts val="500"/>
              </a:spcBef>
              <a:spcAft>
                <a:spcPts val="0"/>
              </a:spcAft>
              <a:buClr>
                <a:srgbClr val="BABABA"/>
              </a:buClr>
              <a:buSzPts val="1520"/>
              <a:buFont typeface="Noto Sans Symbols"/>
              <a:buChar char="🞂"/>
              <a:defRPr b="0" i="0" sz="2000" u="none" cap="none" strike="noStrike">
                <a:solidFill>
                  <a:schemeClr val="dk1"/>
                </a:solidFill>
                <a:latin typeface="Gill Sans"/>
                <a:ea typeface="Gill Sans"/>
                <a:cs typeface="Gill Sans"/>
                <a:sym typeface="Gill Sans"/>
              </a:defRPr>
            </a:lvl3pPr>
            <a:lvl4pPr indent="-308610" lvl="3" marL="1828800" marR="0" rtl="0" algn="l">
              <a:spcBef>
                <a:spcPts val="400"/>
              </a:spcBef>
              <a:spcAft>
                <a:spcPts val="0"/>
              </a:spcAft>
              <a:buClr>
                <a:srgbClr val="D58F3E"/>
              </a:buClr>
              <a:buSzPts val="1260"/>
              <a:buFont typeface="Noto Sans Symbols"/>
              <a:buChar char="◻"/>
              <a:defRPr b="0" i="0" sz="1800" u="none" cap="none" strike="noStrike">
                <a:solidFill>
                  <a:schemeClr val="dk1"/>
                </a:solidFill>
                <a:latin typeface="Gill Sans"/>
                <a:ea typeface="Gill Sans"/>
                <a:cs typeface="Gill Sans"/>
                <a:sym typeface="Gill Sans"/>
              </a:defRPr>
            </a:lvl4pPr>
            <a:lvl5pPr indent="-299720" lvl="4" marL="2286000" marR="0" rtl="0" algn="l">
              <a:spcBef>
                <a:spcPts val="300"/>
              </a:spcBef>
              <a:spcAft>
                <a:spcPts val="0"/>
              </a:spcAft>
              <a:buClr>
                <a:schemeClr val="accent2"/>
              </a:buClr>
              <a:buSzPts val="1120"/>
              <a:buFont typeface="Noto Sans Symbols"/>
              <a:buChar char="◻"/>
              <a:defRPr b="0" i="0" sz="1600" u="none" cap="none" strike="noStrike">
                <a:solidFill>
                  <a:schemeClr val="dk1"/>
                </a:solidFill>
                <a:latin typeface="Gill Sans"/>
                <a:ea typeface="Gill Sans"/>
                <a:cs typeface="Gill Sans"/>
                <a:sym typeface="Gill Sans"/>
              </a:defRPr>
            </a:lvl5pPr>
            <a:lvl6pPr indent="-304800" lvl="5" marL="2743200" marR="0" rtl="0" algn="l">
              <a:spcBef>
                <a:spcPts val="300"/>
              </a:spcBef>
              <a:spcAft>
                <a:spcPts val="0"/>
              </a:spcAft>
              <a:buClr>
                <a:srgbClr val="8BA1B3"/>
              </a:buClr>
              <a:buSzPts val="1200"/>
              <a:buFont typeface="Noto Sans Symbols"/>
              <a:buChar char="🞂"/>
              <a:defRPr b="0" i="0" sz="1600" u="none" cap="none" strike="noStrike">
                <a:solidFill>
                  <a:schemeClr val="dk1"/>
                </a:solidFill>
                <a:latin typeface="Gill Sans"/>
                <a:ea typeface="Gill Sans"/>
                <a:cs typeface="Gill Sans"/>
                <a:sym typeface="Gill Sans"/>
              </a:defRPr>
            </a:lvl6pPr>
            <a:lvl7pPr indent="-295275" lvl="6" marL="3200400" marR="0" rtl="0" algn="l">
              <a:spcBef>
                <a:spcPts val="300"/>
              </a:spcBef>
              <a:spcAft>
                <a:spcPts val="0"/>
              </a:spcAft>
              <a:buClr>
                <a:srgbClr val="646C8F"/>
              </a:buClr>
              <a:buSzPts val="1050"/>
              <a:buFont typeface="Noto Sans Symbols"/>
              <a:buChar char="🞂"/>
              <a:defRPr b="0" i="0" sz="1400" u="none" cap="none" strike="noStrike">
                <a:solidFill>
                  <a:schemeClr val="dk1"/>
                </a:solidFill>
                <a:latin typeface="Gill Sans"/>
                <a:ea typeface="Gill Sans"/>
                <a:cs typeface="Gill Sans"/>
                <a:sym typeface="Gill Sans"/>
              </a:defRPr>
            </a:lvl7pPr>
            <a:lvl8pPr indent="-295275" lvl="7" marL="3657600" marR="0" rtl="0" algn="l">
              <a:spcBef>
                <a:spcPts val="300"/>
              </a:spcBef>
              <a:spcAft>
                <a:spcPts val="0"/>
              </a:spcAft>
              <a:buClr>
                <a:srgbClr val="BABABA"/>
              </a:buClr>
              <a:buSzPts val="1050"/>
              <a:buFont typeface="Noto Sans Symbols"/>
              <a:buChar char="🞂"/>
              <a:defRPr b="0" i="0" sz="1400" u="none" cap="none" strike="noStrike">
                <a:solidFill>
                  <a:schemeClr val="dk1"/>
                </a:solidFill>
                <a:latin typeface="Gill Sans"/>
                <a:ea typeface="Gill Sans"/>
                <a:cs typeface="Gill Sans"/>
                <a:sym typeface="Gill Sans"/>
              </a:defRPr>
            </a:lvl8pPr>
            <a:lvl9pPr indent="-285750" lvl="8" marL="4114800" marR="0" rtl="0" algn="l">
              <a:spcBef>
                <a:spcPts val="300"/>
              </a:spcBef>
              <a:spcAft>
                <a:spcPts val="0"/>
              </a:spcAft>
              <a:buClr>
                <a:srgbClr val="9FB8CD"/>
              </a:buClr>
              <a:buSzPts val="900"/>
              <a:buFont typeface="Noto Sans Symbols"/>
              <a:buChar char="🞂"/>
              <a:defRPr b="0" i="0" sz="1200" u="none" cap="none" strike="noStrike">
                <a:solidFill>
                  <a:schemeClr val="dk1"/>
                </a:solidFill>
                <a:latin typeface="Gill Sans"/>
                <a:ea typeface="Gill Sans"/>
                <a:cs typeface="Gill Sans"/>
                <a:sym typeface="Gill Sans"/>
              </a:defRPr>
            </a:lvl9pPr>
          </a:lstStyle>
          <a:p/>
        </p:txBody>
      </p:sp>
      <p:sp>
        <p:nvSpPr>
          <p:cNvPr id="12" name="Google Shape;12;p38"/>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2"/>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3" name="Google Shape;13;p38"/>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400" u="none" cap="none" strike="noStrike">
                <a:solidFill>
                  <a:schemeClr val="dk2"/>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4" name="Google Shape;14;p38"/>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400" u="none" cap="none" strike="noStrike">
                <a:solidFill>
                  <a:schemeClr val="dk2"/>
                </a:solidFill>
                <a:latin typeface="Gill Sans"/>
                <a:ea typeface="Gill Sans"/>
                <a:cs typeface="Gill Sans"/>
                <a:sym typeface="Gill Sans"/>
              </a:defRPr>
            </a:lvl1pPr>
            <a:lvl2pPr indent="0" lvl="1" marL="0" marR="0" rtl="0" algn="l">
              <a:spcBef>
                <a:spcPts val="0"/>
              </a:spcBef>
              <a:buNone/>
              <a:defRPr b="0" i="0" sz="1400" u="none" cap="none" strike="noStrike">
                <a:solidFill>
                  <a:schemeClr val="dk2"/>
                </a:solidFill>
                <a:latin typeface="Gill Sans"/>
                <a:ea typeface="Gill Sans"/>
                <a:cs typeface="Gill Sans"/>
                <a:sym typeface="Gill Sans"/>
              </a:defRPr>
            </a:lvl2pPr>
            <a:lvl3pPr indent="0" lvl="2" marL="0" marR="0" rtl="0" algn="l">
              <a:spcBef>
                <a:spcPts val="0"/>
              </a:spcBef>
              <a:buNone/>
              <a:defRPr b="0" i="0" sz="1400" u="none" cap="none" strike="noStrike">
                <a:solidFill>
                  <a:schemeClr val="dk2"/>
                </a:solidFill>
                <a:latin typeface="Gill Sans"/>
                <a:ea typeface="Gill Sans"/>
                <a:cs typeface="Gill Sans"/>
                <a:sym typeface="Gill Sans"/>
              </a:defRPr>
            </a:lvl3pPr>
            <a:lvl4pPr indent="0" lvl="3" marL="0" marR="0" rtl="0" algn="l">
              <a:spcBef>
                <a:spcPts val="0"/>
              </a:spcBef>
              <a:buNone/>
              <a:defRPr b="0" i="0" sz="1400" u="none" cap="none" strike="noStrike">
                <a:solidFill>
                  <a:schemeClr val="dk2"/>
                </a:solidFill>
                <a:latin typeface="Gill Sans"/>
                <a:ea typeface="Gill Sans"/>
                <a:cs typeface="Gill Sans"/>
                <a:sym typeface="Gill Sans"/>
              </a:defRPr>
            </a:lvl4pPr>
            <a:lvl5pPr indent="0" lvl="4" marL="0" marR="0" rtl="0" algn="l">
              <a:spcBef>
                <a:spcPts val="0"/>
              </a:spcBef>
              <a:buNone/>
              <a:defRPr b="0" i="0" sz="1400" u="none" cap="none" strike="noStrike">
                <a:solidFill>
                  <a:schemeClr val="dk2"/>
                </a:solidFill>
                <a:latin typeface="Gill Sans"/>
                <a:ea typeface="Gill Sans"/>
                <a:cs typeface="Gill Sans"/>
                <a:sym typeface="Gill Sans"/>
              </a:defRPr>
            </a:lvl5pPr>
            <a:lvl6pPr indent="0" lvl="5" marL="0" marR="0" rtl="0" algn="l">
              <a:spcBef>
                <a:spcPts val="0"/>
              </a:spcBef>
              <a:buNone/>
              <a:defRPr b="0" i="0" sz="1400" u="none" cap="none" strike="noStrike">
                <a:solidFill>
                  <a:schemeClr val="dk2"/>
                </a:solidFill>
                <a:latin typeface="Gill Sans"/>
                <a:ea typeface="Gill Sans"/>
                <a:cs typeface="Gill Sans"/>
                <a:sym typeface="Gill Sans"/>
              </a:defRPr>
            </a:lvl6pPr>
            <a:lvl7pPr indent="0" lvl="6" marL="0" marR="0" rtl="0" algn="l">
              <a:spcBef>
                <a:spcPts val="0"/>
              </a:spcBef>
              <a:buNone/>
              <a:defRPr b="0" i="0" sz="1400" u="none" cap="none" strike="noStrike">
                <a:solidFill>
                  <a:schemeClr val="dk2"/>
                </a:solidFill>
                <a:latin typeface="Gill Sans"/>
                <a:ea typeface="Gill Sans"/>
                <a:cs typeface="Gill Sans"/>
                <a:sym typeface="Gill Sans"/>
              </a:defRPr>
            </a:lvl7pPr>
            <a:lvl8pPr indent="0" lvl="7" marL="0" marR="0" rtl="0" algn="l">
              <a:spcBef>
                <a:spcPts val="0"/>
              </a:spcBef>
              <a:buNone/>
              <a:defRPr b="0" i="0" sz="1400" u="none" cap="none" strike="noStrike">
                <a:solidFill>
                  <a:schemeClr val="dk2"/>
                </a:solidFill>
                <a:latin typeface="Gill Sans"/>
                <a:ea typeface="Gill Sans"/>
                <a:cs typeface="Gill Sans"/>
                <a:sym typeface="Gill Sans"/>
              </a:defRPr>
            </a:lvl8pPr>
            <a:lvl9pPr indent="0" lvl="8" marL="0" marR="0" rtl="0" algn="l">
              <a:spcBef>
                <a:spcPts val="0"/>
              </a:spcBef>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cxnSp>
        <p:nvCxnSpPr>
          <p:cNvPr id="15" name="Google Shape;15;p38"/>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cxnSp>
        <p:nvCxnSpPr>
          <p:cNvPr id="16" name="Google Shape;16;p38"/>
          <p:cNvCxnSpPr/>
          <p:nvPr/>
        </p:nvCxnSpPr>
        <p:spPr>
          <a:xfrm>
            <a:off x="457200" y="1143000"/>
            <a:ext cx="8229600" cy="0"/>
          </a:xfrm>
          <a:prstGeom prst="straightConnector1">
            <a:avLst/>
          </a:prstGeom>
          <a:noFill/>
          <a:ln cap="flat" cmpd="sng" w="9525">
            <a:solidFill>
              <a:schemeClr val="accent2"/>
            </a:solidFill>
            <a:prstDash val="dash"/>
            <a:round/>
            <a:headEnd len="sm" w="sm" type="none"/>
            <a:tailEnd len="sm" w="sm" type="none"/>
          </a:ln>
        </p:spPr>
      </p:cxnSp>
      <p:sp>
        <p:nvSpPr>
          <p:cNvPr id="17" name="Google Shape;17;p38"/>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
          <p:cNvSpPr txBox="1"/>
          <p:nvPr>
            <p:ph type="ctrTitle"/>
          </p:nvPr>
        </p:nvSpPr>
        <p:spPr>
          <a:xfrm>
            <a:off x="1143000" y="3810000"/>
            <a:ext cx="6858000" cy="990600"/>
          </a:xfrm>
          <a:prstGeom prst="rect">
            <a:avLst/>
          </a:prstGeom>
          <a:noFill/>
          <a:ln>
            <a:noFill/>
          </a:ln>
        </p:spPr>
        <p:txBody>
          <a:bodyPr anchorCtr="0" anchor="t" bIns="45700" lIns="91425" spcFirstLastPara="1" rIns="91425" wrap="square" tIns="45700">
            <a:normAutofit fontScale="90000"/>
          </a:bodyPr>
          <a:lstStyle/>
          <a:p>
            <a:pPr indent="0" lvl="0" marL="0" rtl="0" algn="r">
              <a:spcBef>
                <a:spcPts val="0"/>
              </a:spcBef>
              <a:spcAft>
                <a:spcPts val="0"/>
              </a:spcAft>
              <a:buClr>
                <a:schemeClr val="dk1"/>
              </a:buClr>
              <a:buSzPct val="100000"/>
              <a:buFont typeface="Bookman Old Style"/>
              <a:buNone/>
            </a:pPr>
            <a:r>
              <a:rPr lang="en-US"/>
              <a:t>CSE 470 – Class Diagram in UML</a:t>
            </a:r>
            <a:endParaRPr/>
          </a:p>
        </p:txBody>
      </p:sp>
      <p:sp>
        <p:nvSpPr>
          <p:cNvPr id="115" name="Google Shape;115;p1"/>
          <p:cNvSpPr txBox="1"/>
          <p:nvPr>
            <p:ph idx="1" type="subTitle"/>
          </p:nvPr>
        </p:nvSpPr>
        <p:spPr>
          <a:xfrm>
            <a:off x="1219200" y="5410200"/>
            <a:ext cx="6858000" cy="533400"/>
          </a:xfrm>
          <a:prstGeom prst="rect">
            <a:avLst/>
          </a:prstGeom>
          <a:noFill/>
          <a:ln>
            <a:noFill/>
          </a:ln>
        </p:spPr>
        <p:txBody>
          <a:bodyPr anchorCtr="0" anchor="t" bIns="45700" lIns="91425" spcFirstLastPara="1" rIns="91425" wrap="square" tIns="45700">
            <a:normAutofit/>
          </a:bodyPr>
          <a:lstStyle/>
          <a:p>
            <a:pPr indent="0" lvl="0" marL="0" rtl="0" algn="r">
              <a:spcBef>
                <a:spcPts val="0"/>
              </a:spcBef>
              <a:spcAft>
                <a:spcPts val="0"/>
              </a:spcAft>
              <a:buSzPts val="1520"/>
              <a:buNone/>
            </a:pPr>
            <a:r>
              <a:rPr lang="en-US"/>
              <a:t>BRAC University</a:t>
            </a:r>
            <a:endParaRPr/>
          </a:p>
        </p:txBody>
      </p:sp>
      <p:pic>
        <p:nvPicPr>
          <p:cNvPr descr="software-engineering-5b4daa8bab12ae7f4848c482.jpg" id="116" name="Google Shape;116;p1"/>
          <p:cNvPicPr preferRelativeResize="0"/>
          <p:nvPr/>
        </p:nvPicPr>
        <p:blipFill rotWithShape="1">
          <a:blip r:embed="rId3">
            <a:alphaModFix/>
          </a:blip>
          <a:srcRect b="0" l="0" r="0" t="0"/>
          <a:stretch/>
        </p:blipFill>
        <p:spPr>
          <a:xfrm>
            <a:off x="0" y="0"/>
            <a:ext cx="9144000" cy="3581400"/>
          </a:xfrm>
          <a:prstGeom prst="rect">
            <a:avLst/>
          </a:prstGeom>
          <a:noFill/>
          <a:ln>
            <a:noFill/>
          </a:ln>
        </p:spPr>
      </p:pic>
      <p:pic>
        <p:nvPicPr>
          <p:cNvPr descr="brac.png" id="117" name="Google Shape;117;p1"/>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What is a Class?</a:t>
            </a:r>
            <a:endParaRPr/>
          </a:p>
        </p:txBody>
      </p:sp>
      <p:sp>
        <p:nvSpPr>
          <p:cNvPr id="124" name="Google Shape;124;p2"/>
          <p:cNvSpPr txBox="1"/>
          <p:nvPr>
            <p:ph idx="1" type="body"/>
          </p:nvPr>
        </p:nvSpPr>
        <p:spPr>
          <a:xfrm>
            <a:off x="381000" y="1676400"/>
            <a:ext cx="8382000" cy="4953000"/>
          </a:xfrm>
          <a:prstGeom prst="rect">
            <a:avLst/>
          </a:prstGeom>
          <a:noFill/>
          <a:ln>
            <a:noFill/>
          </a:ln>
        </p:spPr>
        <p:txBody>
          <a:bodyPr anchorCtr="0" anchor="t" bIns="45700" lIns="91425" spcFirstLastPara="1" rIns="91425" wrap="square" tIns="45700">
            <a:normAutofit/>
          </a:bodyPr>
          <a:lstStyle/>
          <a:p>
            <a:pPr indent="-465138" lvl="0" marL="465138" rtl="0" algn="l">
              <a:spcBef>
                <a:spcPts val="0"/>
              </a:spcBef>
              <a:spcAft>
                <a:spcPts val="0"/>
              </a:spcAft>
              <a:buSzPts val="2736"/>
              <a:buChar char="🞂"/>
            </a:pPr>
            <a:r>
              <a:rPr lang="en-US" sz="3600"/>
              <a:t>A general template that we use to create specific instances or objects in the application domain</a:t>
            </a:r>
            <a:endParaRPr/>
          </a:p>
          <a:p>
            <a:pPr indent="-465138" lvl="0" marL="465138" rtl="0" algn="l">
              <a:spcBef>
                <a:spcPts val="600"/>
              </a:spcBef>
              <a:spcAft>
                <a:spcPts val="0"/>
              </a:spcAft>
              <a:buSzPts val="2736"/>
              <a:buChar char="🞂"/>
            </a:pPr>
            <a:r>
              <a:rPr lang="en-US" sz="3600"/>
              <a:t>Represents a kind of person, place, or thing about which the system will need to capture and store information</a:t>
            </a:r>
            <a:endParaRPr/>
          </a:p>
          <a:p>
            <a:pPr indent="-465138" lvl="0" marL="465138" rtl="0" algn="l">
              <a:spcBef>
                <a:spcPts val="600"/>
              </a:spcBef>
              <a:spcAft>
                <a:spcPts val="0"/>
              </a:spcAft>
              <a:buSzPts val="2736"/>
              <a:buChar char="🞂"/>
            </a:pPr>
            <a:r>
              <a:rPr lang="en-US" sz="3600"/>
              <a:t>Abstractions that specify the attributes and behaviors of a set of objects</a:t>
            </a:r>
            <a:endParaRPr/>
          </a:p>
        </p:txBody>
      </p:sp>
      <p:pic>
        <p:nvPicPr>
          <p:cNvPr descr="brac.png" id="125" name="Google Shape;125;p2"/>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3"/>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What is an Object?</a:t>
            </a:r>
            <a:endParaRPr/>
          </a:p>
        </p:txBody>
      </p:sp>
      <p:sp>
        <p:nvSpPr>
          <p:cNvPr id="132" name="Google Shape;132;p3"/>
          <p:cNvSpPr txBox="1"/>
          <p:nvPr>
            <p:ph idx="1" type="body"/>
          </p:nvPr>
        </p:nvSpPr>
        <p:spPr>
          <a:xfrm>
            <a:off x="381000" y="1752600"/>
            <a:ext cx="8382000" cy="4114800"/>
          </a:xfrm>
          <a:prstGeom prst="rect">
            <a:avLst/>
          </a:prstGeom>
          <a:noFill/>
          <a:ln>
            <a:noFill/>
          </a:ln>
        </p:spPr>
        <p:txBody>
          <a:bodyPr anchorCtr="0" anchor="t" bIns="45700" lIns="91425" spcFirstLastPara="1" rIns="91425" wrap="square" tIns="45700">
            <a:normAutofit/>
          </a:bodyPr>
          <a:lstStyle/>
          <a:p>
            <a:pPr indent="-465138" lvl="0" marL="465138" rtl="0" algn="l">
              <a:spcBef>
                <a:spcPts val="0"/>
              </a:spcBef>
              <a:spcAft>
                <a:spcPts val="0"/>
              </a:spcAft>
              <a:buSzPts val="2736"/>
              <a:buChar char="🞂"/>
            </a:pPr>
            <a:r>
              <a:rPr lang="en-US" sz="3600"/>
              <a:t>Entities that encapsulate state and behavior</a:t>
            </a:r>
            <a:endParaRPr/>
          </a:p>
          <a:p>
            <a:pPr indent="-465138" lvl="0" marL="465138" rtl="0" algn="l">
              <a:spcBef>
                <a:spcPts val="600"/>
              </a:spcBef>
              <a:spcAft>
                <a:spcPts val="0"/>
              </a:spcAft>
              <a:buSzPts val="2736"/>
              <a:buChar char="🞂"/>
            </a:pPr>
            <a:r>
              <a:rPr lang="en-US" sz="3600"/>
              <a:t>Each object has an identity</a:t>
            </a:r>
            <a:endParaRPr/>
          </a:p>
          <a:p>
            <a:pPr indent="-455613" lvl="1" marL="1035050" rtl="0" algn="l">
              <a:spcBef>
                <a:spcPts val="500"/>
              </a:spcBef>
              <a:spcAft>
                <a:spcPts val="0"/>
              </a:spcAft>
              <a:buSzPts val="2432"/>
              <a:buChar char="🞂"/>
            </a:pPr>
            <a:r>
              <a:rPr lang="en-US" sz="3200"/>
              <a:t>It can be referred individually </a:t>
            </a:r>
            <a:endParaRPr/>
          </a:p>
          <a:p>
            <a:pPr indent="-455613" lvl="1" marL="1035050" rtl="0" algn="l">
              <a:spcBef>
                <a:spcPts val="500"/>
              </a:spcBef>
              <a:spcAft>
                <a:spcPts val="0"/>
              </a:spcAft>
              <a:buSzPts val="2432"/>
              <a:buChar char="🞂"/>
            </a:pPr>
            <a:r>
              <a:rPr lang="en-US" sz="3200"/>
              <a:t>It is distinguishable from other objects</a:t>
            </a:r>
            <a:endParaRPr/>
          </a:p>
        </p:txBody>
      </p:sp>
      <p:pic>
        <p:nvPicPr>
          <p:cNvPr descr="brac.png" id="133" name="Google Shape;133;p3"/>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4"/>
          <p:cNvSpPr txBox="1"/>
          <p:nvPr>
            <p:ph type="title"/>
          </p:nvPr>
        </p:nvSpPr>
        <p:spPr>
          <a:xfrm>
            <a:off x="457200" y="274638"/>
            <a:ext cx="8382000" cy="8683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Types of Classes</a:t>
            </a:r>
            <a:endParaRPr sz="4000"/>
          </a:p>
        </p:txBody>
      </p:sp>
      <p:sp>
        <p:nvSpPr>
          <p:cNvPr id="140" name="Google Shape;140;p4"/>
          <p:cNvSpPr txBox="1"/>
          <p:nvPr>
            <p:ph idx="1" type="body"/>
          </p:nvPr>
        </p:nvSpPr>
        <p:spPr>
          <a:xfrm>
            <a:off x="457200" y="1371600"/>
            <a:ext cx="8382000" cy="43434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736"/>
              <a:buChar char="🞂"/>
            </a:pPr>
            <a:r>
              <a:rPr lang="en-US" sz="3600"/>
              <a:t>Ones found during analysis:</a:t>
            </a:r>
            <a:endParaRPr/>
          </a:p>
          <a:p>
            <a:pPr indent="-274319" lvl="1" marL="548640" rtl="0" algn="l">
              <a:spcBef>
                <a:spcPts val="500"/>
              </a:spcBef>
              <a:spcAft>
                <a:spcPts val="0"/>
              </a:spcAft>
              <a:buSzPts val="2432"/>
              <a:buChar char="🞂"/>
            </a:pPr>
            <a:r>
              <a:rPr lang="en-US" sz="3200"/>
              <a:t>people, places, events, and things about which the system will capture information</a:t>
            </a:r>
            <a:endParaRPr/>
          </a:p>
          <a:p>
            <a:pPr indent="-274319" lvl="1" marL="548640" rtl="0" algn="l">
              <a:spcBef>
                <a:spcPts val="500"/>
              </a:spcBef>
              <a:spcAft>
                <a:spcPts val="0"/>
              </a:spcAft>
              <a:buSzPts val="2432"/>
              <a:buChar char="🞂"/>
            </a:pPr>
            <a:r>
              <a:rPr lang="en-US" sz="3200"/>
              <a:t>ones found in application domain</a:t>
            </a:r>
            <a:endParaRPr/>
          </a:p>
          <a:p>
            <a:pPr indent="-274320" lvl="0" marL="274320" rtl="0" algn="l">
              <a:spcBef>
                <a:spcPts val="600"/>
              </a:spcBef>
              <a:spcAft>
                <a:spcPts val="0"/>
              </a:spcAft>
              <a:buSzPts val="2736"/>
              <a:buChar char="🞂"/>
            </a:pPr>
            <a:r>
              <a:rPr lang="en-US" sz="3600"/>
              <a:t>Ones found during design</a:t>
            </a:r>
            <a:endParaRPr/>
          </a:p>
          <a:p>
            <a:pPr indent="-274319" lvl="1" marL="548640" rtl="0" algn="l">
              <a:spcBef>
                <a:spcPts val="500"/>
              </a:spcBef>
              <a:spcAft>
                <a:spcPts val="0"/>
              </a:spcAft>
              <a:buSzPts val="2432"/>
              <a:buChar char="🞂"/>
            </a:pPr>
            <a:r>
              <a:rPr lang="en-US" sz="3200"/>
              <a:t>specific objects like windows and forms that are used to build the system</a:t>
            </a:r>
            <a:endParaRPr/>
          </a:p>
        </p:txBody>
      </p:sp>
      <p:pic>
        <p:nvPicPr>
          <p:cNvPr descr="brac.png" id="141" name="Google Shape;141;p4"/>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5"/>
          <p:cNvSpPr txBox="1"/>
          <p:nvPr>
            <p:ph type="title"/>
          </p:nvPr>
        </p:nvSpPr>
        <p:spPr>
          <a:xfrm>
            <a:off x="457200" y="274638"/>
            <a:ext cx="8229600" cy="8683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Potential Classes</a:t>
            </a:r>
            <a:endParaRPr/>
          </a:p>
        </p:txBody>
      </p:sp>
      <p:sp>
        <p:nvSpPr>
          <p:cNvPr id="147" name="Google Shape;147;p5"/>
          <p:cNvSpPr txBox="1"/>
          <p:nvPr>
            <p:ph idx="1" type="body"/>
          </p:nvPr>
        </p:nvSpPr>
        <p:spPr>
          <a:xfrm>
            <a:off x="457200" y="1143000"/>
            <a:ext cx="8229600" cy="5440363"/>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596"/>
              <a:buChar char="🞂"/>
            </a:pPr>
            <a:r>
              <a:rPr i="1" lang="en-US" sz="2100"/>
              <a:t>External entities </a:t>
            </a:r>
            <a:r>
              <a:rPr lang="en-US" sz="2100"/>
              <a:t>(e.g., other systems, devices, people) that produce or consume information to be used by a computer-based system.</a:t>
            </a:r>
            <a:endParaRPr/>
          </a:p>
          <a:p>
            <a:pPr indent="-274320" lvl="0" marL="274320" rtl="0" algn="l">
              <a:spcBef>
                <a:spcPts val="600"/>
              </a:spcBef>
              <a:spcAft>
                <a:spcPts val="0"/>
              </a:spcAft>
              <a:buSzPts val="1596"/>
              <a:buChar char="🞂"/>
            </a:pPr>
            <a:r>
              <a:rPr i="1" lang="en-US" sz="2100"/>
              <a:t>Things </a:t>
            </a:r>
            <a:r>
              <a:rPr lang="en-US" sz="2100"/>
              <a:t>(e.g., reports, displays, letters, signals) that are part of the information domain for the problem.</a:t>
            </a:r>
            <a:endParaRPr/>
          </a:p>
          <a:p>
            <a:pPr indent="-274320" lvl="0" marL="274320" rtl="0" algn="l">
              <a:spcBef>
                <a:spcPts val="600"/>
              </a:spcBef>
              <a:spcAft>
                <a:spcPts val="0"/>
              </a:spcAft>
              <a:buSzPts val="1596"/>
              <a:buChar char="🞂"/>
            </a:pPr>
            <a:r>
              <a:rPr i="1" lang="en-US" sz="2100"/>
              <a:t>Occurrences or events </a:t>
            </a:r>
            <a:r>
              <a:rPr lang="en-US" sz="2100"/>
              <a:t>(e.g., a property transfer or the completion of a series of robot movements) that occur within the context of system operation.</a:t>
            </a:r>
            <a:endParaRPr/>
          </a:p>
          <a:p>
            <a:pPr indent="-274320" lvl="0" marL="274320" rtl="0" algn="l">
              <a:spcBef>
                <a:spcPts val="600"/>
              </a:spcBef>
              <a:spcAft>
                <a:spcPts val="0"/>
              </a:spcAft>
              <a:buSzPts val="1596"/>
              <a:buChar char="🞂"/>
            </a:pPr>
            <a:r>
              <a:rPr i="1" lang="en-US" sz="2100"/>
              <a:t>Roles </a:t>
            </a:r>
            <a:r>
              <a:rPr lang="en-US" sz="2100"/>
              <a:t>(e.g., manager, engineer, salesperson) played by people who interact with the system.</a:t>
            </a:r>
            <a:endParaRPr/>
          </a:p>
          <a:p>
            <a:pPr indent="-274320" lvl="0" marL="274320" rtl="0" algn="l">
              <a:spcBef>
                <a:spcPts val="600"/>
              </a:spcBef>
              <a:spcAft>
                <a:spcPts val="0"/>
              </a:spcAft>
              <a:buSzPts val="1596"/>
              <a:buChar char="🞂"/>
            </a:pPr>
            <a:r>
              <a:rPr i="1" lang="en-US" sz="2100"/>
              <a:t>Organizational units </a:t>
            </a:r>
            <a:r>
              <a:rPr lang="en-US" sz="2100"/>
              <a:t>(e.g., division, group, team) that are relevant to an application.</a:t>
            </a:r>
            <a:endParaRPr/>
          </a:p>
          <a:p>
            <a:pPr indent="-274320" lvl="0" marL="274320" rtl="0" algn="l">
              <a:spcBef>
                <a:spcPts val="600"/>
              </a:spcBef>
              <a:spcAft>
                <a:spcPts val="0"/>
              </a:spcAft>
              <a:buSzPts val="1596"/>
              <a:buChar char="🞂"/>
            </a:pPr>
            <a:r>
              <a:rPr i="1" lang="en-US" sz="2100"/>
              <a:t>Places </a:t>
            </a:r>
            <a:r>
              <a:rPr lang="en-US" sz="2100"/>
              <a:t>(e.g., manufacturing floor or loading dock) that establish the context of the problem and the overall function of the system.</a:t>
            </a:r>
            <a:endParaRPr/>
          </a:p>
          <a:p>
            <a:pPr indent="-274320" lvl="0" marL="274320" rtl="0" algn="l">
              <a:spcBef>
                <a:spcPts val="600"/>
              </a:spcBef>
              <a:spcAft>
                <a:spcPts val="0"/>
              </a:spcAft>
              <a:buSzPts val="1596"/>
              <a:buChar char="🞂"/>
            </a:pPr>
            <a:r>
              <a:rPr i="1" lang="en-US" sz="2100"/>
              <a:t>Structures </a:t>
            </a:r>
            <a:r>
              <a:rPr lang="en-US" sz="2100"/>
              <a:t>(e.g., sensors, four-wheeled vehicles, or computers) that define a class of objects or related classes of objects.</a:t>
            </a:r>
            <a:endParaRPr sz="2100"/>
          </a:p>
        </p:txBody>
      </p:sp>
      <p:pic>
        <p:nvPicPr>
          <p:cNvPr descr="brac.png" id="148" name="Google Shape;148;p5"/>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6"/>
          <p:cNvSpPr txBox="1"/>
          <p:nvPr>
            <p:ph type="title"/>
          </p:nvPr>
        </p:nvSpPr>
        <p:spPr>
          <a:xfrm>
            <a:off x="152400" y="152400"/>
            <a:ext cx="8991600" cy="914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2 Kinds of Classes during Analysis</a:t>
            </a:r>
            <a:endParaRPr sz="4000"/>
          </a:p>
        </p:txBody>
      </p:sp>
      <p:sp>
        <p:nvSpPr>
          <p:cNvPr id="155" name="Google Shape;155;p6"/>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465138" lvl="0" marL="465138" rtl="0" algn="l">
              <a:spcBef>
                <a:spcPts val="0"/>
              </a:spcBef>
              <a:spcAft>
                <a:spcPts val="0"/>
              </a:spcAft>
              <a:buSzPts val="2736"/>
              <a:buChar char="🞂"/>
            </a:pPr>
            <a:r>
              <a:rPr lang="en-US" sz="3600"/>
              <a:t>Concrete</a:t>
            </a:r>
            <a:endParaRPr/>
          </a:p>
          <a:p>
            <a:pPr indent="-455613" lvl="1" marL="1035050" rtl="0" algn="l">
              <a:spcBef>
                <a:spcPts val="500"/>
              </a:spcBef>
              <a:spcAft>
                <a:spcPts val="0"/>
              </a:spcAft>
              <a:buSzPts val="2432"/>
              <a:buChar char="🞂"/>
            </a:pPr>
            <a:r>
              <a:rPr lang="en-US" sz="3200"/>
              <a:t>Class from application domain</a:t>
            </a:r>
            <a:endParaRPr/>
          </a:p>
          <a:p>
            <a:pPr indent="-455613" lvl="1" marL="1035050" rtl="0" algn="l">
              <a:spcBef>
                <a:spcPts val="500"/>
              </a:spcBef>
              <a:spcAft>
                <a:spcPts val="0"/>
              </a:spcAft>
              <a:buSzPts val="2432"/>
              <a:buChar char="🞂"/>
            </a:pPr>
            <a:r>
              <a:rPr lang="en-US" sz="3200"/>
              <a:t>Example:  Customer class and Employee class</a:t>
            </a:r>
            <a:endParaRPr/>
          </a:p>
          <a:p>
            <a:pPr indent="-465138" lvl="0" marL="465138" rtl="0" algn="l">
              <a:spcBef>
                <a:spcPts val="600"/>
              </a:spcBef>
              <a:spcAft>
                <a:spcPts val="0"/>
              </a:spcAft>
              <a:buSzPts val="2736"/>
              <a:buChar char="🞂"/>
            </a:pPr>
            <a:r>
              <a:rPr lang="en-US" sz="3600"/>
              <a:t>Abstract</a:t>
            </a:r>
            <a:endParaRPr/>
          </a:p>
          <a:p>
            <a:pPr indent="-455613" lvl="1" marL="1035050" rtl="0" algn="l">
              <a:spcBef>
                <a:spcPts val="500"/>
              </a:spcBef>
              <a:spcAft>
                <a:spcPts val="0"/>
              </a:spcAft>
              <a:buSzPts val="2432"/>
              <a:buChar char="🞂"/>
            </a:pPr>
            <a:r>
              <a:rPr lang="en-US" sz="3200"/>
              <a:t>Useful abstractions</a:t>
            </a:r>
            <a:endParaRPr/>
          </a:p>
          <a:p>
            <a:pPr indent="-455613" lvl="1" marL="1035050" rtl="0" algn="l">
              <a:spcBef>
                <a:spcPts val="500"/>
              </a:spcBef>
              <a:spcAft>
                <a:spcPts val="0"/>
              </a:spcAft>
              <a:buSzPts val="2432"/>
              <a:buChar char="🞂"/>
            </a:pPr>
            <a:r>
              <a:rPr lang="en-US" sz="3200"/>
              <a:t>Example:  Person class</a:t>
            </a:r>
            <a:endParaRPr/>
          </a:p>
        </p:txBody>
      </p:sp>
      <p:pic>
        <p:nvPicPr>
          <p:cNvPr descr="brac.png" id="156" name="Google Shape;156;p6"/>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7"/>
          <p:cNvSpPr txBox="1"/>
          <p:nvPr>
            <p:ph idx="11" type="ftr"/>
          </p:nvPr>
        </p:nvSpPr>
        <p:spPr>
          <a:xfrm>
            <a:off x="2362200" y="6400800"/>
            <a:ext cx="40386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Software Design (UML)</a:t>
            </a:r>
            <a:endParaRPr/>
          </a:p>
        </p:txBody>
      </p:sp>
      <p:sp>
        <p:nvSpPr>
          <p:cNvPr id="162" name="Google Shape;162;p7"/>
          <p:cNvSpPr txBox="1"/>
          <p:nvPr>
            <p:ph type="title"/>
          </p:nvPr>
        </p:nvSpPr>
        <p:spPr>
          <a:xfrm>
            <a:off x="685800" y="381000"/>
            <a:ext cx="7848600" cy="5334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Bookman Old Style"/>
              <a:buNone/>
            </a:pPr>
            <a:r>
              <a:rPr lang="en-US"/>
              <a:t>Classes</a:t>
            </a:r>
            <a:endParaRPr/>
          </a:p>
        </p:txBody>
      </p:sp>
      <p:grpSp>
        <p:nvGrpSpPr>
          <p:cNvPr id="163" name="Google Shape;163;p7"/>
          <p:cNvGrpSpPr/>
          <p:nvPr/>
        </p:nvGrpSpPr>
        <p:grpSpPr>
          <a:xfrm>
            <a:off x="685800" y="1676400"/>
            <a:ext cx="2057400" cy="2571750"/>
            <a:chOff x="576" y="1056"/>
            <a:chExt cx="1296" cy="1620"/>
          </a:xfrm>
        </p:grpSpPr>
        <p:sp>
          <p:nvSpPr>
            <p:cNvPr id="164" name="Google Shape;164;p7"/>
            <p:cNvSpPr/>
            <p:nvPr/>
          </p:nvSpPr>
          <p:spPr>
            <a:xfrm>
              <a:off x="576" y="1056"/>
              <a:ext cx="1296" cy="48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Gill Sans"/>
                  <a:ea typeface="Gill Sans"/>
                  <a:cs typeface="Gill Sans"/>
                  <a:sym typeface="Gill Sans"/>
                </a:rPr>
                <a:t>ClassName</a:t>
              </a:r>
              <a:endParaRPr/>
            </a:p>
          </p:txBody>
        </p:sp>
        <p:sp>
          <p:nvSpPr>
            <p:cNvPr id="165" name="Google Shape;165;p7"/>
            <p:cNvSpPr/>
            <p:nvPr/>
          </p:nvSpPr>
          <p:spPr>
            <a:xfrm>
              <a:off x="576" y="1536"/>
              <a:ext cx="1296" cy="54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Gill Sans"/>
                  <a:ea typeface="Gill Sans"/>
                  <a:cs typeface="Gill Sans"/>
                  <a:sym typeface="Gill Sans"/>
                </a:rPr>
                <a:t>attributes</a:t>
              </a:r>
              <a:endParaRPr/>
            </a:p>
          </p:txBody>
        </p:sp>
        <p:sp>
          <p:nvSpPr>
            <p:cNvPr id="166" name="Google Shape;166;p7"/>
            <p:cNvSpPr/>
            <p:nvPr/>
          </p:nvSpPr>
          <p:spPr>
            <a:xfrm>
              <a:off x="576" y="2076"/>
              <a:ext cx="1296" cy="6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Gill Sans"/>
                  <a:ea typeface="Gill Sans"/>
                  <a:cs typeface="Gill Sans"/>
                  <a:sym typeface="Gill Sans"/>
                </a:rPr>
                <a:t>operations</a:t>
              </a:r>
              <a:endParaRPr/>
            </a:p>
          </p:txBody>
        </p:sp>
      </p:grpSp>
      <p:sp>
        <p:nvSpPr>
          <p:cNvPr id="167" name="Google Shape;167;p7"/>
          <p:cNvSpPr txBox="1"/>
          <p:nvPr/>
        </p:nvSpPr>
        <p:spPr>
          <a:xfrm>
            <a:off x="3352800" y="1412875"/>
            <a:ext cx="5546725" cy="30469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Gill Sans"/>
                <a:ea typeface="Gill Sans"/>
                <a:cs typeface="Gill Sans"/>
                <a:sym typeface="Gill Sans"/>
              </a:rPr>
              <a:t>A </a:t>
            </a:r>
            <a:r>
              <a:rPr b="0" i="1" lang="en-US" sz="2400" u="none" cap="none" strike="noStrike">
                <a:solidFill>
                  <a:schemeClr val="dk1"/>
                </a:solidFill>
                <a:latin typeface="Gill Sans"/>
                <a:ea typeface="Gill Sans"/>
                <a:cs typeface="Gill Sans"/>
                <a:sym typeface="Gill Sans"/>
              </a:rPr>
              <a:t>class</a:t>
            </a:r>
            <a:r>
              <a:rPr b="0" i="0" lang="en-US" sz="2400" u="none" cap="none" strike="noStrike">
                <a:solidFill>
                  <a:schemeClr val="dk1"/>
                </a:solidFill>
                <a:latin typeface="Gill Sans"/>
                <a:ea typeface="Gill Sans"/>
                <a:cs typeface="Gill Sans"/>
                <a:sym typeface="Gill Sans"/>
              </a:rPr>
              <a:t> is a description of a set of </a:t>
            </a:r>
            <a:endParaRPr/>
          </a:p>
          <a:p>
            <a:pPr indent="0" lvl="0" marL="0" marR="0" rtl="0" algn="l">
              <a:spcBef>
                <a:spcPts val="0"/>
              </a:spcBef>
              <a:spcAft>
                <a:spcPts val="0"/>
              </a:spcAft>
              <a:buNone/>
            </a:pPr>
            <a:r>
              <a:rPr lang="en-US" sz="2400">
                <a:solidFill>
                  <a:schemeClr val="dk1"/>
                </a:solidFill>
                <a:latin typeface="Gill Sans"/>
                <a:ea typeface="Gill Sans"/>
                <a:cs typeface="Gill Sans"/>
                <a:sym typeface="Gill Sans"/>
              </a:rPr>
              <a:t>objects that share the same attributes,</a:t>
            </a:r>
            <a:endParaRPr/>
          </a:p>
          <a:p>
            <a:pPr indent="0" lvl="0" marL="0" marR="0" rtl="0" algn="l">
              <a:spcBef>
                <a:spcPts val="0"/>
              </a:spcBef>
              <a:spcAft>
                <a:spcPts val="0"/>
              </a:spcAft>
              <a:buNone/>
            </a:pPr>
            <a:r>
              <a:rPr lang="en-US" sz="2400">
                <a:solidFill>
                  <a:schemeClr val="dk1"/>
                </a:solidFill>
                <a:latin typeface="Gill Sans"/>
                <a:ea typeface="Gill Sans"/>
                <a:cs typeface="Gill Sans"/>
                <a:sym typeface="Gill Sans"/>
              </a:rPr>
              <a:t>operations, relationships, and semantics.</a:t>
            </a:r>
            <a:endParaRPr/>
          </a:p>
          <a:p>
            <a:pPr indent="0" lvl="0" marL="0" marR="0" rtl="0" algn="l">
              <a:spcBef>
                <a:spcPts val="0"/>
              </a:spcBef>
              <a:spcAft>
                <a:spcPts val="0"/>
              </a:spcAft>
              <a:buNone/>
            </a:pPr>
            <a:r>
              <a:t/>
            </a:r>
            <a:endParaRPr sz="2400">
              <a:solidFill>
                <a:schemeClr val="dk1"/>
              </a:solidFill>
              <a:latin typeface="Gill Sans"/>
              <a:ea typeface="Gill Sans"/>
              <a:cs typeface="Gill Sans"/>
              <a:sym typeface="Gill Sans"/>
            </a:endParaRPr>
          </a:p>
          <a:p>
            <a:pPr indent="0" lvl="0" marL="0" marR="0" rtl="0" algn="l">
              <a:spcBef>
                <a:spcPts val="0"/>
              </a:spcBef>
              <a:spcAft>
                <a:spcPts val="0"/>
              </a:spcAft>
              <a:buNone/>
            </a:pPr>
            <a:r>
              <a:rPr lang="en-US" sz="2400">
                <a:solidFill>
                  <a:schemeClr val="dk1"/>
                </a:solidFill>
                <a:latin typeface="Gill Sans"/>
                <a:ea typeface="Gill Sans"/>
                <a:cs typeface="Gill Sans"/>
                <a:sym typeface="Gill Sans"/>
              </a:rPr>
              <a:t>Graphically, a class is rendered as a </a:t>
            </a:r>
            <a:endParaRPr/>
          </a:p>
          <a:p>
            <a:pPr indent="0" lvl="0" marL="0" marR="0" rtl="0" algn="l">
              <a:spcBef>
                <a:spcPts val="0"/>
              </a:spcBef>
              <a:spcAft>
                <a:spcPts val="0"/>
              </a:spcAft>
              <a:buNone/>
            </a:pPr>
            <a:r>
              <a:rPr lang="en-US" sz="2400">
                <a:solidFill>
                  <a:schemeClr val="dk1"/>
                </a:solidFill>
                <a:latin typeface="Gill Sans"/>
                <a:ea typeface="Gill Sans"/>
                <a:cs typeface="Gill Sans"/>
                <a:sym typeface="Gill Sans"/>
              </a:rPr>
              <a:t>rectangle, usually including its name,</a:t>
            </a:r>
            <a:endParaRPr/>
          </a:p>
          <a:p>
            <a:pPr indent="0" lvl="0" marL="0" marR="0" rtl="0" algn="l">
              <a:spcBef>
                <a:spcPts val="0"/>
              </a:spcBef>
              <a:spcAft>
                <a:spcPts val="0"/>
              </a:spcAft>
              <a:buNone/>
            </a:pPr>
            <a:r>
              <a:rPr lang="en-US" sz="2400">
                <a:solidFill>
                  <a:schemeClr val="dk1"/>
                </a:solidFill>
                <a:latin typeface="Gill Sans"/>
                <a:ea typeface="Gill Sans"/>
                <a:cs typeface="Gill Sans"/>
                <a:sym typeface="Gill Sans"/>
              </a:rPr>
              <a:t>attributes, and operations in separate,</a:t>
            </a:r>
            <a:endParaRPr/>
          </a:p>
          <a:p>
            <a:pPr indent="0" lvl="0" marL="0" marR="0" rtl="0" algn="l">
              <a:spcBef>
                <a:spcPts val="0"/>
              </a:spcBef>
              <a:spcAft>
                <a:spcPts val="0"/>
              </a:spcAft>
              <a:buNone/>
            </a:pPr>
            <a:r>
              <a:rPr lang="en-US" sz="2400">
                <a:solidFill>
                  <a:schemeClr val="dk1"/>
                </a:solidFill>
                <a:latin typeface="Gill Sans"/>
                <a:ea typeface="Gill Sans"/>
                <a:cs typeface="Gill Sans"/>
                <a:sym typeface="Gill Sans"/>
              </a:rPr>
              <a:t>designated compartments. </a:t>
            </a:r>
            <a:endParaRPr/>
          </a:p>
        </p:txBody>
      </p:sp>
      <p:pic>
        <p:nvPicPr>
          <p:cNvPr descr="brac.png" id="168" name="Google Shape;168;p7"/>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8"/>
          <p:cNvSpPr txBox="1"/>
          <p:nvPr>
            <p:ph idx="11" type="ftr"/>
          </p:nvPr>
        </p:nvSpPr>
        <p:spPr>
          <a:xfrm>
            <a:off x="2362200" y="6400800"/>
            <a:ext cx="40386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Software Design (UML)</a:t>
            </a:r>
            <a:endParaRPr/>
          </a:p>
        </p:txBody>
      </p:sp>
      <p:sp>
        <p:nvSpPr>
          <p:cNvPr id="174" name="Google Shape;174;p8"/>
          <p:cNvSpPr txBox="1"/>
          <p:nvPr>
            <p:ph type="title"/>
          </p:nvPr>
        </p:nvSpPr>
        <p:spPr>
          <a:xfrm>
            <a:off x="685800" y="381000"/>
            <a:ext cx="7848600" cy="5334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Bookman Old Style"/>
              <a:buNone/>
            </a:pPr>
            <a:r>
              <a:rPr lang="en-US"/>
              <a:t>Class Names</a:t>
            </a:r>
            <a:endParaRPr/>
          </a:p>
        </p:txBody>
      </p:sp>
      <p:grpSp>
        <p:nvGrpSpPr>
          <p:cNvPr id="175" name="Google Shape;175;p8"/>
          <p:cNvGrpSpPr/>
          <p:nvPr/>
        </p:nvGrpSpPr>
        <p:grpSpPr>
          <a:xfrm>
            <a:off x="685800" y="1676400"/>
            <a:ext cx="2057400" cy="2571750"/>
            <a:chOff x="576" y="1056"/>
            <a:chExt cx="1296" cy="1620"/>
          </a:xfrm>
        </p:grpSpPr>
        <p:sp>
          <p:nvSpPr>
            <p:cNvPr id="176" name="Google Shape;176;p8"/>
            <p:cNvSpPr/>
            <p:nvPr/>
          </p:nvSpPr>
          <p:spPr>
            <a:xfrm>
              <a:off x="576" y="1056"/>
              <a:ext cx="1296" cy="48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ClassName</a:t>
              </a:r>
              <a:endParaRPr/>
            </a:p>
          </p:txBody>
        </p:sp>
        <p:sp>
          <p:nvSpPr>
            <p:cNvPr id="177" name="Google Shape;177;p8"/>
            <p:cNvSpPr/>
            <p:nvPr/>
          </p:nvSpPr>
          <p:spPr>
            <a:xfrm>
              <a:off x="576" y="1536"/>
              <a:ext cx="1296" cy="54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attributes</a:t>
              </a:r>
              <a:endParaRPr/>
            </a:p>
          </p:txBody>
        </p:sp>
        <p:sp>
          <p:nvSpPr>
            <p:cNvPr id="178" name="Google Shape;178;p8"/>
            <p:cNvSpPr/>
            <p:nvPr/>
          </p:nvSpPr>
          <p:spPr>
            <a:xfrm>
              <a:off x="576" y="2076"/>
              <a:ext cx="1296" cy="6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operations</a:t>
              </a:r>
              <a:endParaRPr/>
            </a:p>
          </p:txBody>
        </p:sp>
      </p:grpSp>
      <p:sp>
        <p:nvSpPr>
          <p:cNvPr id="179" name="Google Shape;179;p8"/>
          <p:cNvSpPr txBox="1"/>
          <p:nvPr/>
        </p:nvSpPr>
        <p:spPr>
          <a:xfrm>
            <a:off x="3352800" y="1600200"/>
            <a:ext cx="5486400"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Gill Sans"/>
                <a:ea typeface="Gill Sans"/>
                <a:cs typeface="Gill Sans"/>
                <a:sym typeface="Gill Sans"/>
              </a:rPr>
              <a:t>The name of the class is the only required tag in the graphical representation of a class.  It always appears in the top-most compartment.</a:t>
            </a:r>
            <a:endParaRPr/>
          </a:p>
        </p:txBody>
      </p:sp>
      <p:pic>
        <p:nvPicPr>
          <p:cNvPr descr="brac.png" id="180" name="Google Shape;180;p8"/>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Attributes in a Class</a:t>
            </a:r>
            <a:endParaRPr/>
          </a:p>
        </p:txBody>
      </p:sp>
      <p:sp>
        <p:nvSpPr>
          <p:cNvPr id="187" name="Google Shape;187;p9"/>
          <p:cNvSpPr txBox="1"/>
          <p:nvPr>
            <p:ph idx="1" type="body"/>
          </p:nvPr>
        </p:nvSpPr>
        <p:spPr>
          <a:xfrm>
            <a:off x="457200" y="1600200"/>
            <a:ext cx="8305800" cy="38100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736"/>
              <a:buChar char="🞂"/>
            </a:pPr>
            <a:r>
              <a:rPr lang="en-US" sz="3600"/>
              <a:t>Properties of the class about which we want to capture information</a:t>
            </a:r>
            <a:endParaRPr/>
          </a:p>
          <a:p>
            <a:pPr indent="-274320" lvl="0" marL="274320" rtl="0" algn="l">
              <a:spcBef>
                <a:spcPts val="600"/>
              </a:spcBef>
              <a:spcAft>
                <a:spcPts val="0"/>
              </a:spcAft>
              <a:buSzPts val="2736"/>
              <a:buChar char="🞂"/>
            </a:pPr>
            <a:r>
              <a:rPr lang="en-US" sz="3600"/>
              <a:t>Represents a piece of information that is relevant to the description of the class within the application domain</a:t>
            </a:r>
            <a:endParaRPr/>
          </a:p>
        </p:txBody>
      </p:sp>
      <p:pic>
        <p:nvPicPr>
          <p:cNvPr descr="brac.png" id="188" name="Google Shape;188;p9"/>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0"/>
          <p:cNvSpPr txBox="1"/>
          <p:nvPr>
            <p:ph type="title"/>
          </p:nvPr>
        </p:nvSpPr>
        <p:spPr>
          <a:xfrm>
            <a:off x="457200" y="274638"/>
            <a:ext cx="8229600" cy="8683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Attributes in a Class</a:t>
            </a:r>
            <a:endParaRPr/>
          </a:p>
        </p:txBody>
      </p:sp>
      <p:sp>
        <p:nvSpPr>
          <p:cNvPr id="195" name="Google Shape;195;p10"/>
          <p:cNvSpPr txBox="1"/>
          <p:nvPr>
            <p:ph idx="1" type="body"/>
          </p:nvPr>
        </p:nvSpPr>
        <p:spPr>
          <a:xfrm>
            <a:off x="381000" y="1447800"/>
            <a:ext cx="8458200" cy="45720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736"/>
              <a:buChar char="🞂"/>
            </a:pPr>
            <a:r>
              <a:rPr lang="en-US" sz="3600"/>
              <a:t>Only add attributes that are primitive or atomic types</a:t>
            </a:r>
            <a:endParaRPr/>
          </a:p>
          <a:p>
            <a:pPr indent="-274320" lvl="0" marL="274320" rtl="0" algn="l">
              <a:spcBef>
                <a:spcPts val="600"/>
              </a:spcBef>
              <a:spcAft>
                <a:spcPts val="0"/>
              </a:spcAft>
              <a:buSzPts val="2736"/>
              <a:buChar char="🞂"/>
            </a:pPr>
            <a:r>
              <a:rPr lang="en-US" sz="3600"/>
              <a:t>Derived attribute</a:t>
            </a:r>
            <a:endParaRPr/>
          </a:p>
          <a:p>
            <a:pPr indent="-274319" lvl="1" marL="548640" rtl="0" algn="l">
              <a:spcBef>
                <a:spcPts val="500"/>
              </a:spcBef>
              <a:spcAft>
                <a:spcPts val="0"/>
              </a:spcAft>
              <a:buSzPts val="2432"/>
              <a:buChar char="🞂"/>
            </a:pPr>
            <a:r>
              <a:rPr lang="en-US" sz="3200"/>
              <a:t>attributes that are calculated or derived from other attributes</a:t>
            </a:r>
            <a:endParaRPr/>
          </a:p>
          <a:p>
            <a:pPr indent="-274319" lvl="1" marL="548640" rtl="0" algn="l">
              <a:spcBef>
                <a:spcPts val="500"/>
              </a:spcBef>
              <a:spcAft>
                <a:spcPts val="0"/>
              </a:spcAft>
              <a:buSzPts val="2432"/>
              <a:buChar char="🞂"/>
            </a:pPr>
            <a:r>
              <a:rPr lang="en-US" sz="3200"/>
              <a:t>denoted by placing slash (/) before</a:t>
            </a:r>
            <a:r>
              <a:rPr lang="en-US" sz="3600"/>
              <a:t> name</a:t>
            </a:r>
            <a:endParaRPr/>
          </a:p>
        </p:txBody>
      </p:sp>
      <p:pic>
        <p:nvPicPr>
          <p:cNvPr descr="brac.png" id="196" name="Google Shape;196;p10"/>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1"/>
          <p:cNvSpPr txBox="1"/>
          <p:nvPr>
            <p:ph idx="11" type="ftr"/>
          </p:nvPr>
        </p:nvSpPr>
        <p:spPr>
          <a:xfrm>
            <a:off x="2362200" y="6400800"/>
            <a:ext cx="40386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Software Design (UML)</a:t>
            </a:r>
            <a:endParaRPr/>
          </a:p>
        </p:txBody>
      </p:sp>
      <p:sp>
        <p:nvSpPr>
          <p:cNvPr id="202" name="Google Shape;202;p11"/>
          <p:cNvSpPr txBox="1"/>
          <p:nvPr>
            <p:ph type="title"/>
          </p:nvPr>
        </p:nvSpPr>
        <p:spPr>
          <a:xfrm>
            <a:off x="685800" y="381000"/>
            <a:ext cx="7848600" cy="5334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Bookman Old Style"/>
              <a:buNone/>
            </a:pPr>
            <a:r>
              <a:rPr lang="en-US"/>
              <a:t>Class Attributes</a:t>
            </a:r>
            <a:endParaRPr/>
          </a:p>
        </p:txBody>
      </p:sp>
      <p:grpSp>
        <p:nvGrpSpPr>
          <p:cNvPr id="203" name="Google Shape;203;p11"/>
          <p:cNvGrpSpPr/>
          <p:nvPr/>
        </p:nvGrpSpPr>
        <p:grpSpPr>
          <a:xfrm>
            <a:off x="685800" y="1676400"/>
            <a:ext cx="2590800" cy="3048000"/>
            <a:chOff x="336" y="1056"/>
            <a:chExt cx="1536" cy="1920"/>
          </a:xfrm>
        </p:grpSpPr>
        <p:sp>
          <p:nvSpPr>
            <p:cNvPr id="204" name="Google Shape;204;p11"/>
            <p:cNvSpPr/>
            <p:nvPr/>
          </p:nvSpPr>
          <p:spPr>
            <a:xfrm>
              <a:off x="336" y="1056"/>
              <a:ext cx="1536" cy="48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Person</a:t>
              </a:r>
              <a:endParaRPr/>
            </a:p>
          </p:txBody>
        </p:sp>
        <p:sp>
          <p:nvSpPr>
            <p:cNvPr id="205" name="Google Shape;205;p11"/>
            <p:cNvSpPr/>
            <p:nvPr/>
          </p:nvSpPr>
          <p:spPr>
            <a:xfrm>
              <a:off x="336" y="1536"/>
              <a:ext cx="1536" cy="105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name      : String</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address   : Address</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birthdate : Date</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ssn          : Id</a:t>
              </a:r>
              <a:endParaRPr/>
            </a:p>
          </p:txBody>
        </p:sp>
        <p:sp>
          <p:nvSpPr>
            <p:cNvPr id="206" name="Google Shape;206;p11"/>
            <p:cNvSpPr/>
            <p:nvPr/>
          </p:nvSpPr>
          <p:spPr>
            <a:xfrm>
              <a:off x="336" y="2592"/>
              <a:ext cx="1536" cy="384"/>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grpSp>
      <p:sp>
        <p:nvSpPr>
          <p:cNvPr id="207" name="Google Shape;207;p11"/>
          <p:cNvSpPr txBox="1"/>
          <p:nvPr/>
        </p:nvSpPr>
        <p:spPr>
          <a:xfrm>
            <a:off x="3406775" y="2057400"/>
            <a:ext cx="5508625"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Gill Sans"/>
                <a:ea typeface="Gill Sans"/>
                <a:cs typeface="Gill Sans"/>
                <a:sym typeface="Gill Sans"/>
              </a:rPr>
              <a:t>An </a:t>
            </a:r>
            <a:r>
              <a:rPr i="1" lang="en-US" sz="2400">
                <a:solidFill>
                  <a:schemeClr val="dk1"/>
                </a:solidFill>
                <a:latin typeface="Gill Sans"/>
                <a:ea typeface="Gill Sans"/>
                <a:cs typeface="Gill Sans"/>
                <a:sym typeface="Gill Sans"/>
              </a:rPr>
              <a:t>attribute</a:t>
            </a:r>
            <a:r>
              <a:rPr lang="en-US" sz="2400">
                <a:solidFill>
                  <a:schemeClr val="dk1"/>
                </a:solidFill>
                <a:latin typeface="Gill Sans"/>
                <a:ea typeface="Gill Sans"/>
                <a:cs typeface="Gill Sans"/>
                <a:sym typeface="Gill Sans"/>
              </a:rPr>
              <a:t> is a named property of a </a:t>
            </a:r>
            <a:endParaRPr/>
          </a:p>
          <a:p>
            <a:pPr indent="0" lvl="0" marL="0" marR="0" rtl="0" algn="l">
              <a:spcBef>
                <a:spcPts val="0"/>
              </a:spcBef>
              <a:spcAft>
                <a:spcPts val="0"/>
              </a:spcAft>
              <a:buNone/>
            </a:pPr>
            <a:r>
              <a:rPr lang="en-US" sz="2400">
                <a:solidFill>
                  <a:schemeClr val="dk1"/>
                </a:solidFill>
                <a:latin typeface="Gill Sans"/>
                <a:ea typeface="Gill Sans"/>
                <a:cs typeface="Gill Sans"/>
                <a:sym typeface="Gill Sans"/>
              </a:rPr>
              <a:t>class that describes the object being modeled.</a:t>
            </a:r>
            <a:endParaRPr/>
          </a:p>
          <a:p>
            <a:pPr indent="0" lvl="0" marL="0" marR="0" rtl="0" algn="l">
              <a:spcBef>
                <a:spcPts val="0"/>
              </a:spcBef>
              <a:spcAft>
                <a:spcPts val="0"/>
              </a:spcAft>
              <a:buNone/>
            </a:pPr>
            <a:r>
              <a:rPr lang="en-US" sz="2400">
                <a:solidFill>
                  <a:schemeClr val="dk1"/>
                </a:solidFill>
                <a:latin typeface="Gill Sans"/>
                <a:ea typeface="Gill Sans"/>
                <a:cs typeface="Gill Sans"/>
                <a:sym typeface="Gill Sans"/>
              </a:rPr>
              <a:t>In the class diagram, attributes appear in </a:t>
            </a:r>
            <a:endParaRPr/>
          </a:p>
          <a:p>
            <a:pPr indent="0" lvl="0" marL="0" marR="0" rtl="0" algn="l">
              <a:spcBef>
                <a:spcPts val="0"/>
              </a:spcBef>
              <a:spcAft>
                <a:spcPts val="0"/>
              </a:spcAft>
              <a:buNone/>
            </a:pPr>
            <a:r>
              <a:rPr lang="en-US" sz="2400">
                <a:solidFill>
                  <a:schemeClr val="dk1"/>
                </a:solidFill>
                <a:latin typeface="Gill Sans"/>
                <a:ea typeface="Gill Sans"/>
                <a:cs typeface="Gill Sans"/>
                <a:sym typeface="Gill Sans"/>
              </a:rPr>
              <a:t>the second compartment just below the </a:t>
            </a:r>
            <a:endParaRPr/>
          </a:p>
          <a:p>
            <a:pPr indent="0" lvl="0" marL="0" marR="0" rtl="0" algn="l">
              <a:spcBef>
                <a:spcPts val="0"/>
              </a:spcBef>
              <a:spcAft>
                <a:spcPts val="0"/>
              </a:spcAft>
              <a:buNone/>
            </a:pPr>
            <a:r>
              <a:rPr lang="en-US" sz="2400">
                <a:solidFill>
                  <a:schemeClr val="dk1"/>
                </a:solidFill>
                <a:latin typeface="Gill Sans"/>
                <a:ea typeface="Gill Sans"/>
                <a:cs typeface="Gill Sans"/>
                <a:sym typeface="Gill Sans"/>
              </a:rPr>
              <a:t>name-compartment.</a:t>
            </a:r>
            <a:endParaRPr/>
          </a:p>
        </p:txBody>
      </p:sp>
      <p:pic>
        <p:nvPicPr>
          <p:cNvPr descr="brac.png" id="208" name="Google Shape;208;p11"/>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2"/>
          <p:cNvSpPr txBox="1"/>
          <p:nvPr>
            <p:ph idx="11" type="ftr"/>
          </p:nvPr>
        </p:nvSpPr>
        <p:spPr>
          <a:xfrm>
            <a:off x="2362200" y="6400800"/>
            <a:ext cx="40386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Software Design (UML)</a:t>
            </a:r>
            <a:endParaRPr/>
          </a:p>
        </p:txBody>
      </p:sp>
      <p:sp>
        <p:nvSpPr>
          <p:cNvPr id="214" name="Google Shape;214;p12"/>
          <p:cNvSpPr txBox="1"/>
          <p:nvPr>
            <p:ph type="title"/>
          </p:nvPr>
        </p:nvSpPr>
        <p:spPr>
          <a:xfrm>
            <a:off x="685800" y="381000"/>
            <a:ext cx="7848600" cy="5334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Bookman Old Style"/>
              <a:buNone/>
            </a:pPr>
            <a:r>
              <a:rPr lang="en-US"/>
              <a:t>Class Attributes (Cont’d)</a:t>
            </a:r>
            <a:endParaRPr/>
          </a:p>
        </p:txBody>
      </p:sp>
      <p:sp>
        <p:nvSpPr>
          <p:cNvPr id="215" name="Google Shape;215;p12"/>
          <p:cNvSpPr/>
          <p:nvPr/>
        </p:nvSpPr>
        <p:spPr>
          <a:xfrm>
            <a:off x="685800" y="1676400"/>
            <a:ext cx="2590800" cy="7620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Person</a:t>
            </a:r>
            <a:endParaRPr/>
          </a:p>
        </p:txBody>
      </p:sp>
      <p:sp>
        <p:nvSpPr>
          <p:cNvPr id="216" name="Google Shape;216;p12"/>
          <p:cNvSpPr/>
          <p:nvPr/>
        </p:nvSpPr>
        <p:spPr>
          <a:xfrm>
            <a:off x="685800" y="2438400"/>
            <a:ext cx="2590800" cy="2286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name      : String</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address   : Address</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birthdate : Date</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 age        : Date</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ssn          : Id</a:t>
            </a:r>
            <a:endParaRPr/>
          </a:p>
        </p:txBody>
      </p:sp>
      <p:sp>
        <p:nvSpPr>
          <p:cNvPr id="217" name="Google Shape;217;p12"/>
          <p:cNvSpPr/>
          <p:nvPr/>
        </p:nvSpPr>
        <p:spPr>
          <a:xfrm>
            <a:off x="685800" y="4724400"/>
            <a:ext cx="2590800" cy="6096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218" name="Google Shape;218;p12"/>
          <p:cNvSpPr txBox="1"/>
          <p:nvPr/>
        </p:nvSpPr>
        <p:spPr>
          <a:xfrm>
            <a:off x="3657600" y="1219200"/>
            <a:ext cx="5053013" cy="44735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Attributes are usually listed in the form:</a:t>
            </a:r>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        attributeName : Type</a:t>
            </a:r>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A </a:t>
            </a:r>
            <a:r>
              <a:rPr i="1" lang="en-US" sz="1800">
                <a:solidFill>
                  <a:schemeClr val="dk1"/>
                </a:solidFill>
                <a:latin typeface="Gill Sans"/>
                <a:ea typeface="Gill Sans"/>
                <a:cs typeface="Gill Sans"/>
                <a:sym typeface="Gill Sans"/>
              </a:rPr>
              <a:t>derived</a:t>
            </a:r>
            <a:r>
              <a:rPr lang="en-US" sz="1800">
                <a:solidFill>
                  <a:schemeClr val="dk1"/>
                </a:solidFill>
                <a:latin typeface="Gill Sans"/>
                <a:ea typeface="Gill Sans"/>
                <a:cs typeface="Gill Sans"/>
                <a:sym typeface="Gill Sans"/>
              </a:rPr>
              <a:t> attribute is one that can be</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computed from other attributes, but</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doesn’t actually exist. For example,</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a Person’s age can be computed from </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his birth date. A derived attribute is </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designated by a preceding ‘/’ as in:</a:t>
            </a:r>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      / age : Date</a:t>
            </a:r>
            <a:endParaRPr/>
          </a:p>
        </p:txBody>
      </p:sp>
      <p:pic>
        <p:nvPicPr>
          <p:cNvPr descr="brac.png" id="219" name="Google Shape;219;p12"/>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3"/>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Operations in a Class</a:t>
            </a:r>
            <a:endParaRPr/>
          </a:p>
        </p:txBody>
      </p:sp>
      <p:sp>
        <p:nvSpPr>
          <p:cNvPr id="226" name="Google Shape;226;p13"/>
          <p:cNvSpPr txBox="1"/>
          <p:nvPr>
            <p:ph idx="1" type="body"/>
          </p:nvPr>
        </p:nvSpPr>
        <p:spPr>
          <a:xfrm>
            <a:off x="381000" y="1371600"/>
            <a:ext cx="8382000" cy="51816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736"/>
              <a:buChar char="🞂"/>
            </a:pPr>
            <a:r>
              <a:rPr lang="en-US" sz="3600"/>
              <a:t>Represents the actions or functions that a class can perform</a:t>
            </a:r>
            <a:endParaRPr/>
          </a:p>
          <a:p>
            <a:pPr indent="-274320" lvl="0" marL="274320" rtl="0" algn="l">
              <a:spcBef>
                <a:spcPts val="600"/>
              </a:spcBef>
              <a:spcAft>
                <a:spcPts val="0"/>
              </a:spcAft>
              <a:buSzPts val="2736"/>
              <a:buChar char="🞂"/>
            </a:pPr>
            <a:r>
              <a:rPr lang="en-US" sz="3600"/>
              <a:t>Describes the actions to which the instances of the class will be capable of responding</a:t>
            </a:r>
            <a:endParaRPr/>
          </a:p>
          <a:p>
            <a:pPr indent="-274320" lvl="0" marL="274320" rtl="0" algn="l">
              <a:spcBef>
                <a:spcPts val="600"/>
              </a:spcBef>
              <a:spcAft>
                <a:spcPts val="0"/>
              </a:spcAft>
              <a:buSzPts val="2736"/>
              <a:buChar char="🞂"/>
            </a:pPr>
            <a:r>
              <a:rPr lang="en-US" sz="3600"/>
              <a:t>Can be classified as a constructor, query, or update operation</a:t>
            </a:r>
            <a:endParaRPr/>
          </a:p>
        </p:txBody>
      </p:sp>
      <p:pic>
        <p:nvPicPr>
          <p:cNvPr descr="brac.png" id="227" name="Google Shape;227;p13"/>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4"/>
          <p:cNvSpPr txBox="1"/>
          <p:nvPr>
            <p:ph idx="11" type="ftr"/>
          </p:nvPr>
        </p:nvSpPr>
        <p:spPr>
          <a:xfrm>
            <a:off x="2362200" y="6400800"/>
            <a:ext cx="40386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Software Design (UML)</a:t>
            </a:r>
            <a:endParaRPr/>
          </a:p>
        </p:txBody>
      </p:sp>
      <p:sp>
        <p:nvSpPr>
          <p:cNvPr id="233" name="Google Shape;233;p14"/>
          <p:cNvSpPr txBox="1"/>
          <p:nvPr>
            <p:ph type="title"/>
          </p:nvPr>
        </p:nvSpPr>
        <p:spPr>
          <a:xfrm>
            <a:off x="685800" y="381000"/>
            <a:ext cx="7848600" cy="5334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Bookman Old Style"/>
              <a:buNone/>
            </a:pPr>
            <a:r>
              <a:rPr lang="en-US"/>
              <a:t>Class Operations</a:t>
            </a:r>
            <a:endParaRPr/>
          </a:p>
        </p:txBody>
      </p:sp>
      <p:grpSp>
        <p:nvGrpSpPr>
          <p:cNvPr id="234" name="Google Shape;234;p14"/>
          <p:cNvGrpSpPr/>
          <p:nvPr/>
        </p:nvGrpSpPr>
        <p:grpSpPr>
          <a:xfrm>
            <a:off x="685800" y="1676400"/>
            <a:ext cx="2438400" cy="4114800"/>
            <a:chOff x="336" y="1056"/>
            <a:chExt cx="1536" cy="2592"/>
          </a:xfrm>
        </p:grpSpPr>
        <p:sp>
          <p:nvSpPr>
            <p:cNvPr id="235" name="Google Shape;235;p14"/>
            <p:cNvSpPr/>
            <p:nvPr/>
          </p:nvSpPr>
          <p:spPr>
            <a:xfrm>
              <a:off x="336" y="1056"/>
              <a:ext cx="1536" cy="48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Person</a:t>
              </a:r>
              <a:endParaRPr/>
            </a:p>
          </p:txBody>
        </p:sp>
        <p:sp>
          <p:nvSpPr>
            <p:cNvPr id="236" name="Google Shape;236;p14"/>
            <p:cNvSpPr/>
            <p:nvPr/>
          </p:nvSpPr>
          <p:spPr>
            <a:xfrm>
              <a:off x="336" y="1536"/>
              <a:ext cx="1536" cy="1056"/>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name      : String</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address   : Address</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birthdate : Date</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ssn          : Id</a:t>
              </a:r>
              <a:endParaRPr/>
            </a:p>
          </p:txBody>
        </p:sp>
        <p:sp>
          <p:nvSpPr>
            <p:cNvPr id="237" name="Google Shape;237;p14"/>
            <p:cNvSpPr/>
            <p:nvPr/>
          </p:nvSpPr>
          <p:spPr>
            <a:xfrm>
              <a:off x="336" y="2592"/>
              <a:ext cx="1536" cy="105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eat ()</a:t>
              </a:r>
              <a:endParaRPr sz="1800">
                <a:solidFill>
                  <a:schemeClr val="dk1"/>
                </a:solidFill>
                <a:latin typeface="Gill Sans"/>
                <a:ea typeface="Gill Sans"/>
                <a:cs typeface="Gill Sans"/>
                <a:sym typeface="Gill Sans"/>
              </a:endParaRPr>
            </a:p>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sleep ()</a:t>
              </a:r>
              <a:endParaRPr sz="1800">
                <a:solidFill>
                  <a:schemeClr val="dk1"/>
                </a:solidFill>
                <a:latin typeface="Gill Sans"/>
                <a:ea typeface="Gill Sans"/>
                <a:cs typeface="Gill Sans"/>
                <a:sym typeface="Gill Sans"/>
              </a:endParaRPr>
            </a:p>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work ()</a:t>
              </a:r>
              <a:endParaRPr sz="1800">
                <a:solidFill>
                  <a:schemeClr val="dk1"/>
                </a:solidFill>
                <a:latin typeface="Gill Sans"/>
                <a:ea typeface="Gill Sans"/>
                <a:cs typeface="Gill Sans"/>
                <a:sym typeface="Gill Sans"/>
              </a:endParaRPr>
            </a:p>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play ()</a:t>
              </a:r>
              <a:endParaRPr sz="1800">
                <a:solidFill>
                  <a:schemeClr val="dk1"/>
                </a:solidFill>
                <a:latin typeface="Gill Sans"/>
                <a:ea typeface="Gill Sans"/>
                <a:cs typeface="Gill Sans"/>
                <a:sym typeface="Gill Sans"/>
              </a:endParaRPr>
            </a:p>
          </p:txBody>
        </p:sp>
      </p:grpSp>
      <p:sp>
        <p:nvSpPr>
          <p:cNvPr id="238" name="Google Shape;238;p14"/>
          <p:cNvSpPr txBox="1"/>
          <p:nvPr/>
        </p:nvSpPr>
        <p:spPr>
          <a:xfrm>
            <a:off x="3352800" y="4114800"/>
            <a:ext cx="4979988" cy="822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Gill Sans"/>
                <a:ea typeface="Gill Sans"/>
                <a:cs typeface="Gill Sans"/>
                <a:sym typeface="Gill Sans"/>
              </a:rPr>
              <a:t>Operations </a:t>
            </a:r>
            <a:r>
              <a:rPr lang="en-US" sz="1800">
                <a:solidFill>
                  <a:schemeClr val="dk1"/>
                </a:solidFill>
                <a:latin typeface="Gill Sans"/>
                <a:ea typeface="Gill Sans"/>
                <a:cs typeface="Gill Sans"/>
                <a:sym typeface="Gill Sans"/>
              </a:rPr>
              <a:t>describe the class behavior </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and appear in the third compartment. </a:t>
            </a:r>
            <a:endParaRPr/>
          </a:p>
        </p:txBody>
      </p:sp>
      <p:pic>
        <p:nvPicPr>
          <p:cNvPr descr="brac.png" id="239" name="Google Shape;239;p14"/>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5"/>
          <p:cNvSpPr txBox="1"/>
          <p:nvPr>
            <p:ph idx="11" type="ftr"/>
          </p:nvPr>
        </p:nvSpPr>
        <p:spPr>
          <a:xfrm>
            <a:off x="2362200" y="6400800"/>
            <a:ext cx="40386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Software Design (UML)</a:t>
            </a:r>
            <a:endParaRPr/>
          </a:p>
        </p:txBody>
      </p:sp>
      <p:sp>
        <p:nvSpPr>
          <p:cNvPr id="245" name="Google Shape;245;p15"/>
          <p:cNvSpPr txBox="1"/>
          <p:nvPr>
            <p:ph type="title"/>
          </p:nvPr>
        </p:nvSpPr>
        <p:spPr>
          <a:xfrm>
            <a:off x="685800" y="381000"/>
            <a:ext cx="7848600" cy="5334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Bookman Old Style"/>
              <a:buNone/>
            </a:pPr>
            <a:r>
              <a:rPr lang="en-US"/>
              <a:t>Class Operations (Cont’d)</a:t>
            </a:r>
            <a:endParaRPr/>
          </a:p>
        </p:txBody>
      </p:sp>
      <p:grpSp>
        <p:nvGrpSpPr>
          <p:cNvPr id="246" name="Google Shape;246;p15"/>
          <p:cNvGrpSpPr/>
          <p:nvPr/>
        </p:nvGrpSpPr>
        <p:grpSpPr>
          <a:xfrm>
            <a:off x="304800" y="1676400"/>
            <a:ext cx="8458200" cy="1922463"/>
            <a:chOff x="288" y="1333"/>
            <a:chExt cx="4944" cy="1211"/>
          </a:xfrm>
        </p:grpSpPr>
        <p:sp>
          <p:nvSpPr>
            <p:cNvPr id="247" name="Google Shape;247;p15"/>
            <p:cNvSpPr/>
            <p:nvPr/>
          </p:nvSpPr>
          <p:spPr>
            <a:xfrm>
              <a:off x="288" y="1333"/>
              <a:ext cx="4944" cy="39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PhoneBook</a:t>
              </a:r>
              <a:endParaRPr/>
            </a:p>
          </p:txBody>
        </p:sp>
        <p:sp>
          <p:nvSpPr>
            <p:cNvPr id="248" name="Google Shape;248;p15"/>
            <p:cNvSpPr/>
            <p:nvPr/>
          </p:nvSpPr>
          <p:spPr>
            <a:xfrm>
              <a:off x="288" y="1728"/>
              <a:ext cx="4944" cy="297"/>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249" name="Google Shape;249;p15"/>
            <p:cNvSpPr/>
            <p:nvPr/>
          </p:nvSpPr>
          <p:spPr>
            <a:xfrm>
              <a:off x="288" y="1968"/>
              <a:ext cx="4944" cy="57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newEntry (n : Name, a : Address, p : PhoneNumber, d : Description)</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getPhone ( n : Name, a : Address) : PhoneNumber</a:t>
              </a:r>
              <a:endParaRPr/>
            </a:p>
          </p:txBody>
        </p:sp>
      </p:grpSp>
      <p:sp>
        <p:nvSpPr>
          <p:cNvPr id="250" name="Google Shape;250;p15"/>
          <p:cNvSpPr txBox="1"/>
          <p:nvPr/>
        </p:nvSpPr>
        <p:spPr>
          <a:xfrm>
            <a:off x="304800" y="4343400"/>
            <a:ext cx="8382000" cy="11874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You can specify an operation by stating its signature: listing the name, type, and default value of all parameters, and, in the case of functions, a return type. </a:t>
            </a:r>
            <a:endParaRPr/>
          </a:p>
        </p:txBody>
      </p:sp>
      <p:pic>
        <p:nvPicPr>
          <p:cNvPr descr="brac.png" id="251" name="Google Shape;251;p15"/>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6"/>
          <p:cNvSpPr txBox="1"/>
          <p:nvPr>
            <p:ph idx="11" type="ftr"/>
          </p:nvPr>
        </p:nvSpPr>
        <p:spPr>
          <a:xfrm>
            <a:off x="2362200" y="6400800"/>
            <a:ext cx="40386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Software Design (UML)</a:t>
            </a:r>
            <a:endParaRPr/>
          </a:p>
        </p:txBody>
      </p:sp>
      <p:sp>
        <p:nvSpPr>
          <p:cNvPr id="257" name="Google Shape;257;p16"/>
          <p:cNvSpPr txBox="1"/>
          <p:nvPr>
            <p:ph type="title"/>
          </p:nvPr>
        </p:nvSpPr>
        <p:spPr>
          <a:xfrm>
            <a:off x="685800" y="381000"/>
            <a:ext cx="7848600" cy="5334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Bookman Old Style"/>
              <a:buNone/>
            </a:pPr>
            <a:r>
              <a:rPr lang="en-US"/>
              <a:t>Depicting Classes</a:t>
            </a:r>
            <a:endParaRPr/>
          </a:p>
        </p:txBody>
      </p:sp>
      <p:grpSp>
        <p:nvGrpSpPr>
          <p:cNvPr id="258" name="Google Shape;258;p16"/>
          <p:cNvGrpSpPr/>
          <p:nvPr/>
        </p:nvGrpSpPr>
        <p:grpSpPr>
          <a:xfrm>
            <a:off x="6248400" y="2133600"/>
            <a:ext cx="2438400" cy="3581400"/>
            <a:chOff x="3936" y="1296"/>
            <a:chExt cx="1536" cy="2256"/>
          </a:xfrm>
        </p:grpSpPr>
        <p:sp>
          <p:nvSpPr>
            <p:cNvPr id="259" name="Google Shape;259;p16"/>
            <p:cNvSpPr/>
            <p:nvPr/>
          </p:nvSpPr>
          <p:spPr>
            <a:xfrm>
              <a:off x="3936" y="1296"/>
              <a:ext cx="1536" cy="384"/>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Person</a:t>
              </a:r>
              <a:endParaRPr/>
            </a:p>
          </p:txBody>
        </p:sp>
        <p:sp>
          <p:nvSpPr>
            <p:cNvPr id="260" name="Google Shape;260;p16"/>
            <p:cNvSpPr/>
            <p:nvPr/>
          </p:nvSpPr>
          <p:spPr>
            <a:xfrm>
              <a:off x="3936" y="1680"/>
              <a:ext cx="1536" cy="768"/>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name      : String</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birthdate : Date</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ssn          : Id</a:t>
              </a:r>
              <a:endParaRPr/>
            </a:p>
          </p:txBody>
        </p:sp>
        <p:sp>
          <p:nvSpPr>
            <p:cNvPr id="261" name="Google Shape;261;p16"/>
            <p:cNvSpPr/>
            <p:nvPr/>
          </p:nvSpPr>
          <p:spPr>
            <a:xfrm>
              <a:off x="3936" y="2448"/>
              <a:ext cx="1536" cy="1104"/>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eat()</a:t>
              </a:r>
              <a:endParaRPr/>
            </a:p>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sleep()</a:t>
              </a:r>
              <a:endParaRPr/>
            </a:p>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work()</a:t>
              </a:r>
              <a:endParaRPr/>
            </a:p>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play()</a:t>
              </a:r>
              <a:endParaRPr/>
            </a:p>
          </p:txBody>
        </p:sp>
      </p:grpSp>
      <p:sp>
        <p:nvSpPr>
          <p:cNvPr id="262" name="Google Shape;262;p16"/>
          <p:cNvSpPr txBox="1"/>
          <p:nvPr/>
        </p:nvSpPr>
        <p:spPr>
          <a:xfrm>
            <a:off x="381000" y="1219200"/>
            <a:ext cx="834866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When drawing a class, you need not show attributes and operation in every diagram.</a:t>
            </a:r>
            <a:endParaRPr/>
          </a:p>
        </p:txBody>
      </p:sp>
      <p:sp>
        <p:nvSpPr>
          <p:cNvPr id="263" name="Google Shape;263;p16"/>
          <p:cNvSpPr/>
          <p:nvPr/>
        </p:nvSpPr>
        <p:spPr>
          <a:xfrm>
            <a:off x="457200" y="2133600"/>
            <a:ext cx="2438400" cy="762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Person</a:t>
            </a:r>
            <a:endParaRPr/>
          </a:p>
        </p:txBody>
      </p:sp>
      <p:grpSp>
        <p:nvGrpSpPr>
          <p:cNvPr id="264" name="Google Shape;264;p16"/>
          <p:cNvGrpSpPr/>
          <p:nvPr/>
        </p:nvGrpSpPr>
        <p:grpSpPr>
          <a:xfrm>
            <a:off x="533400" y="3276600"/>
            <a:ext cx="2438400" cy="2438400"/>
            <a:chOff x="288" y="2400"/>
            <a:chExt cx="1536" cy="1536"/>
          </a:xfrm>
        </p:grpSpPr>
        <p:sp>
          <p:nvSpPr>
            <p:cNvPr id="265" name="Google Shape;265;p16"/>
            <p:cNvSpPr/>
            <p:nvPr/>
          </p:nvSpPr>
          <p:spPr>
            <a:xfrm>
              <a:off x="288" y="2400"/>
              <a:ext cx="1536" cy="48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Person</a:t>
              </a:r>
              <a:endParaRPr/>
            </a:p>
          </p:txBody>
        </p:sp>
        <p:sp>
          <p:nvSpPr>
            <p:cNvPr id="266" name="Google Shape;266;p16"/>
            <p:cNvSpPr/>
            <p:nvPr/>
          </p:nvSpPr>
          <p:spPr>
            <a:xfrm>
              <a:off x="288" y="2880"/>
              <a:ext cx="1536" cy="768"/>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name</a:t>
              </a:r>
              <a:endParaRPr/>
            </a:p>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address</a:t>
              </a:r>
              <a:endParaRPr/>
            </a:p>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birthdate</a:t>
              </a:r>
              <a:endParaRPr/>
            </a:p>
          </p:txBody>
        </p:sp>
        <p:sp>
          <p:nvSpPr>
            <p:cNvPr id="267" name="Google Shape;267;p16"/>
            <p:cNvSpPr/>
            <p:nvPr/>
          </p:nvSpPr>
          <p:spPr>
            <a:xfrm>
              <a:off x="288" y="3648"/>
              <a:ext cx="1536" cy="288"/>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grpSp>
      <p:grpSp>
        <p:nvGrpSpPr>
          <p:cNvPr id="268" name="Google Shape;268;p16"/>
          <p:cNvGrpSpPr/>
          <p:nvPr/>
        </p:nvGrpSpPr>
        <p:grpSpPr>
          <a:xfrm>
            <a:off x="3429000" y="4114800"/>
            <a:ext cx="2438400" cy="1600200"/>
            <a:chOff x="2208" y="2592"/>
            <a:chExt cx="1536" cy="1008"/>
          </a:xfrm>
        </p:grpSpPr>
        <p:sp>
          <p:nvSpPr>
            <p:cNvPr id="269" name="Google Shape;269;p16"/>
            <p:cNvSpPr/>
            <p:nvPr/>
          </p:nvSpPr>
          <p:spPr>
            <a:xfrm>
              <a:off x="2208" y="2592"/>
              <a:ext cx="1536" cy="307"/>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Person</a:t>
              </a:r>
              <a:endParaRPr/>
            </a:p>
          </p:txBody>
        </p:sp>
        <p:sp>
          <p:nvSpPr>
            <p:cNvPr id="270" name="Google Shape;270;p16"/>
            <p:cNvSpPr/>
            <p:nvPr/>
          </p:nvSpPr>
          <p:spPr>
            <a:xfrm>
              <a:off x="2208" y="2880"/>
              <a:ext cx="1536" cy="192"/>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271" name="Google Shape;271;p16"/>
            <p:cNvSpPr/>
            <p:nvPr/>
          </p:nvSpPr>
          <p:spPr>
            <a:xfrm>
              <a:off x="2208" y="3072"/>
              <a:ext cx="1536" cy="528"/>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eat ()</a:t>
              </a:r>
              <a:endParaRPr sz="1800">
                <a:solidFill>
                  <a:schemeClr val="dk1"/>
                </a:solidFill>
                <a:latin typeface="Gill Sans"/>
                <a:ea typeface="Gill Sans"/>
                <a:cs typeface="Gill Sans"/>
                <a:sym typeface="Gill Sans"/>
              </a:endParaRPr>
            </a:p>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play ()</a:t>
              </a:r>
              <a:endParaRPr sz="1800">
                <a:solidFill>
                  <a:schemeClr val="dk1"/>
                </a:solidFill>
                <a:latin typeface="Gill Sans"/>
                <a:ea typeface="Gill Sans"/>
                <a:cs typeface="Gill Sans"/>
                <a:sym typeface="Gill Sans"/>
              </a:endParaRPr>
            </a:p>
          </p:txBody>
        </p:sp>
      </p:grpSp>
      <p:grpSp>
        <p:nvGrpSpPr>
          <p:cNvPr id="272" name="Google Shape;272;p16"/>
          <p:cNvGrpSpPr/>
          <p:nvPr/>
        </p:nvGrpSpPr>
        <p:grpSpPr>
          <a:xfrm>
            <a:off x="3429000" y="2133600"/>
            <a:ext cx="2438400" cy="1143000"/>
            <a:chOff x="2160" y="1488"/>
            <a:chExt cx="1536" cy="720"/>
          </a:xfrm>
        </p:grpSpPr>
        <p:sp>
          <p:nvSpPr>
            <p:cNvPr id="273" name="Google Shape;273;p16"/>
            <p:cNvSpPr/>
            <p:nvPr/>
          </p:nvSpPr>
          <p:spPr>
            <a:xfrm>
              <a:off x="2160" y="1488"/>
              <a:ext cx="1536" cy="33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Person</a:t>
              </a:r>
              <a:endParaRPr/>
            </a:p>
          </p:txBody>
        </p:sp>
        <p:sp>
          <p:nvSpPr>
            <p:cNvPr id="274" name="Google Shape;274;p16"/>
            <p:cNvSpPr/>
            <p:nvPr/>
          </p:nvSpPr>
          <p:spPr>
            <a:xfrm>
              <a:off x="2160" y="1824"/>
              <a:ext cx="1536" cy="192"/>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275" name="Google Shape;275;p16"/>
            <p:cNvSpPr/>
            <p:nvPr/>
          </p:nvSpPr>
          <p:spPr>
            <a:xfrm>
              <a:off x="2160" y="2016"/>
              <a:ext cx="1536" cy="192"/>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grpSp>
      <p:pic>
        <p:nvPicPr>
          <p:cNvPr descr="brac.png" id="276" name="Google Shape;276;p16"/>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7"/>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UML Representation of Class</a:t>
            </a:r>
            <a:endParaRPr/>
          </a:p>
        </p:txBody>
      </p:sp>
      <p:sp>
        <p:nvSpPr>
          <p:cNvPr id="283" name="Google Shape;283;p17"/>
          <p:cNvSpPr/>
          <p:nvPr/>
        </p:nvSpPr>
        <p:spPr>
          <a:xfrm>
            <a:off x="2133600" y="1905000"/>
            <a:ext cx="4648200" cy="40386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cxnSp>
        <p:nvCxnSpPr>
          <p:cNvPr id="284" name="Google Shape;284;p17"/>
          <p:cNvCxnSpPr/>
          <p:nvPr/>
        </p:nvCxnSpPr>
        <p:spPr>
          <a:xfrm>
            <a:off x="2133600" y="2895600"/>
            <a:ext cx="4648200" cy="0"/>
          </a:xfrm>
          <a:prstGeom prst="straightConnector1">
            <a:avLst/>
          </a:prstGeom>
          <a:noFill/>
          <a:ln cap="flat" cmpd="sng" w="9525">
            <a:solidFill>
              <a:schemeClr val="dk1"/>
            </a:solidFill>
            <a:prstDash val="solid"/>
            <a:round/>
            <a:headEnd len="med" w="med" type="none"/>
            <a:tailEnd len="med" w="med" type="none"/>
          </a:ln>
        </p:spPr>
      </p:cxnSp>
      <p:cxnSp>
        <p:nvCxnSpPr>
          <p:cNvPr id="285" name="Google Shape;285;p17"/>
          <p:cNvCxnSpPr/>
          <p:nvPr/>
        </p:nvCxnSpPr>
        <p:spPr>
          <a:xfrm>
            <a:off x="2133600" y="4191000"/>
            <a:ext cx="4724400" cy="0"/>
          </a:xfrm>
          <a:prstGeom prst="straightConnector1">
            <a:avLst/>
          </a:prstGeom>
          <a:noFill/>
          <a:ln cap="flat" cmpd="sng" w="9525">
            <a:solidFill>
              <a:schemeClr val="dk1"/>
            </a:solidFill>
            <a:prstDash val="solid"/>
            <a:round/>
            <a:headEnd len="med" w="med" type="none"/>
            <a:tailEnd len="med" w="med" type="none"/>
          </a:ln>
        </p:spPr>
      </p:cxnSp>
      <p:sp>
        <p:nvSpPr>
          <p:cNvPr id="286" name="Google Shape;286;p17"/>
          <p:cNvSpPr txBox="1"/>
          <p:nvPr/>
        </p:nvSpPr>
        <p:spPr>
          <a:xfrm>
            <a:off x="2438400" y="2057400"/>
            <a:ext cx="3276600" cy="5794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Class Name</a:t>
            </a:r>
            <a:endParaRPr/>
          </a:p>
        </p:txBody>
      </p:sp>
      <p:sp>
        <p:nvSpPr>
          <p:cNvPr id="287" name="Google Shape;287;p17"/>
          <p:cNvSpPr txBox="1"/>
          <p:nvPr/>
        </p:nvSpPr>
        <p:spPr>
          <a:xfrm>
            <a:off x="2590800" y="3200400"/>
            <a:ext cx="3657600" cy="5794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Attributes of Class</a:t>
            </a:r>
            <a:endParaRPr/>
          </a:p>
        </p:txBody>
      </p:sp>
      <p:sp>
        <p:nvSpPr>
          <p:cNvPr id="288" name="Google Shape;288;p17"/>
          <p:cNvSpPr txBox="1"/>
          <p:nvPr/>
        </p:nvSpPr>
        <p:spPr>
          <a:xfrm>
            <a:off x="2667000" y="4572000"/>
            <a:ext cx="3886200" cy="1066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Operations/methods of Class</a:t>
            </a:r>
            <a:endParaRPr/>
          </a:p>
        </p:txBody>
      </p:sp>
      <p:pic>
        <p:nvPicPr>
          <p:cNvPr descr="brac.png" id="289" name="Google Shape;289;p17"/>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8"/>
          <p:cNvSpPr txBox="1"/>
          <p:nvPr>
            <p:ph type="title"/>
          </p:nvPr>
        </p:nvSpPr>
        <p:spPr>
          <a:xfrm>
            <a:off x="457200" y="274638"/>
            <a:ext cx="8305800" cy="14779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Visibility </a:t>
            </a:r>
            <a:br>
              <a:rPr lang="en-US"/>
            </a:br>
            <a:r>
              <a:rPr lang="en-US"/>
              <a:t>of Attributes and Operations</a:t>
            </a:r>
            <a:endParaRPr/>
          </a:p>
        </p:txBody>
      </p:sp>
      <p:sp>
        <p:nvSpPr>
          <p:cNvPr id="296" name="Google Shape;296;p18"/>
          <p:cNvSpPr txBox="1"/>
          <p:nvPr>
            <p:ph idx="1" type="body"/>
          </p:nvPr>
        </p:nvSpPr>
        <p:spPr>
          <a:xfrm>
            <a:off x="457200" y="1981200"/>
            <a:ext cx="8229600" cy="34290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736"/>
              <a:buChar char="🞂"/>
            </a:pPr>
            <a:r>
              <a:rPr lang="en-US" sz="3600"/>
              <a:t>Relates to the level of information hiding to be enforced</a:t>
            </a:r>
            <a:endParaRPr/>
          </a:p>
        </p:txBody>
      </p:sp>
      <p:pic>
        <p:nvPicPr>
          <p:cNvPr descr="brac.png" id="297" name="Google Shape;297;p18"/>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9"/>
          <p:cNvSpPr txBox="1"/>
          <p:nvPr>
            <p:ph type="title"/>
          </p:nvPr>
        </p:nvSpPr>
        <p:spPr>
          <a:xfrm>
            <a:off x="381000" y="152400"/>
            <a:ext cx="8305800" cy="1401763"/>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Visibility </a:t>
            </a:r>
            <a:br>
              <a:rPr lang="en-US"/>
            </a:br>
            <a:r>
              <a:rPr lang="en-US"/>
              <a:t>of Attributes and Operations</a:t>
            </a:r>
            <a:endParaRPr/>
          </a:p>
        </p:txBody>
      </p:sp>
      <p:grpSp>
        <p:nvGrpSpPr>
          <p:cNvPr id="304" name="Google Shape;304;p19"/>
          <p:cNvGrpSpPr/>
          <p:nvPr/>
        </p:nvGrpSpPr>
        <p:grpSpPr>
          <a:xfrm>
            <a:off x="533400" y="1828800"/>
            <a:ext cx="8229600" cy="4011613"/>
            <a:chOff x="288" y="1008"/>
            <a:chExt cx="5184" cy="2527"/>
          </a:xfrm>
        </p:grpSpPr>
        <p:sp>
          <p:nvSpPr>
            <p:cNvPr id="305" name="Google Shape;305;p19"/>
            <p:cNvSpPr/>
            <p:nvPr/>
          </p:nvSpPr>
          <p:spPr>
            <a:xfrm>
              <a:off x="1998" y="3305"/>
              <a:ext cx="3474" cy="23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306" name="Google Shape;306;p19"/>
            <p:cNvSpPr/>
            <p:nvPr/>
          </p:nvSpPr>
          <p:spPr>
            <a:xfrm>
              <a:off x="1170" y="3305"/>
              <a:ext cx="828" cy="23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307" name="Google Shape;307;p19"/>
            <p:cNvSpPr/>
            <p:nvPr/>
          </p:nvSpPr>
          <p:spPr>
            <a:xfrm>
              <a:off x="288" y="3305"/>
              <a:ext cx="882" cy="23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308" name="Google Shape;308;p19"/>
            <p:cNvSpPr/>
            <p:nvPr/>
          </p:nvSpPr>
          <p:spPr>
            <a:xfrm>
              <a:off x="1998" y="2757"/>
              <a:ext cx="3474" cy="548"/>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rPr lang="en-US" sz="1800">
                  <a:solidFill>
                    <a:schemeClr val="dk1"/>
                  </a:solidFill>
                  <a:latin typeface="Gill Sans"/>
                  <a:ea typeface="Gill Sans"/>
                  <a:cs typeface="Gill Sans"/>
                  <a:sym typeface="Gill Sans"/>
                </a:rPr>
                <a:t>Instances of the implementing class.</a:t>
              </a:r>
              <a:endParaRPr/>
            </a:p>
          </p:txBody>
        </p:sp>
        <p:sp>
          <p:nvSpPr>
            <p:cNvPr id="309" name="Google Shape;309;p19"/>
            <p:cNvSpPr/>
            <p:nvPr/>
          </p:nvSpPr>
          <p:spPr>
            <a:xfrm>
              <a:off x="1170" y="2757"/>
              <a:ext cx="828" cy="548"/>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rPr lang="en-US" sz="1800">
                  <a:solidFill>
                    <a:schemeClr val="dk1"/>
                  </a:solidFill>
                  <a:latin typeface="Gill Sans"/>
                  <a:ea typeface="Gill Sans"/>
                  <a:cs typeface="Gill Sans"/>
                  <a:sym typeface="Gill Sans"/>
                </a:rPr>
                <a:t>-</a:t>
              </a:r>
              <a:endParaRPr/>
            </a:p>
          </p:txBody>
        </p:sp>
        <p:sp>
          <p:nvSpPr>
            <p:cNvPr id="310" name="Google Shape;310;p19"/>
            <p:cNvSpPr/>
            <p:nvPr/>
          </p:nvSpPr>
          <p:spPr>
            <a:xfrm>
              <a:off x="288" y="2757"/>
              <a:ext cx="882" cy="548"/>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rPr lang="en-US" sz="1800">
                  <a:solidFill>
                    <a:schemeClr val="dk1"/>
                  </a:solidFill>
                  <a:latin typeface="Gill Sans"/>
                  <a:ea typeface="Gill Sans"/>
                  <a:cs typeface="Gill Sans"/>
                  <a:sym typeface="Gill Sans"/>
                </a:rPr>
                <a:t>Private</a:t>
              </a:r>
              <a:endParaRPr/>
            </a:p>
          </p:txBody>
        </p:sp>
        <p:sp>
          <p:nvSpPr>
            <p:cNvPr id="311" name="Google Shape;311;p19"/>
            <p:cNvSpPr/>
            <p:nvPr/>
          </p:nvSpPr>
          <p:spPr>
            <a:xfrm>
              <a:off x="1998" y="1797"/>
              <a:ext cx="3474" cy="9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rPr lang="en-US" sz="1800">
                  <a:solidFill>
                    <a:schemeClr val="dk1"/>
                  </a:solidFill>
                  <a:latin typeface="Gill Sans"/>
                  <a:ea typeface="Gill Sans"/>
                  <a:cs typeface="Gill Sans"/>
                  <a:sym typeface="Gill Sans"/>
                </a:rPr>
                <a:t>Instances of the implementing class and its subclasses.</a:t>
              </a:r>
              <a:endParaRPr/>
            </a:p>
          </p:txBody>
        </p:sp>
        <p:sp>
          <p:nvSpPr>
            <p:cNvPr id="312" name="Google Shape;312;p19"/>
            <p:cNvSpPr/>
            <p:nvPr/>
          </p:nvSpPr>
          <p:spPr>
            <a:xfrm>
              <a:off x="1170" y="1797"/>
              <a:ext cx="828" cy="9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rPr lang="en-US" sz="1800">
                  <a:solidFill>
                    <a:schemeClr val="dk1"/>
                  </a:solidFill>
                  <a:latin typeface="Gill Sans"/>
                  <a:ea typeface="Gill Sans"/>
                  <a:cs typeface="Gill Sans"/>
                  <a:sym typeface="Gill Sans"/>
                </a:rPr>
                <a:t>#</a:t>
              </a:r>
              <a:endParaRPr/>
            </a:p>
          </p:txBody>
        </p:sp>
        <p:sp>
          <p:nvSpPr>
            <p:cNvPr id="313" name="Google Shape;313;p19"/>
            <p:cNvSpPr/>
            <p:nvPr/>
          </p:nvSpPr>
          <p:spPr>
            <a:xfrm>
              <a:off x="288" y="1797"/>
              <a:ext cx="882" cy="9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rPr lang="en-US" sz="1800">
                  <a:solidFill>
                    <a:schemeClr val="dk1"/>
                  </a:solidFill>
                  <a:latin typeface="Gill Sans"/>
                  <a:ea typeface="Gill Sans"/>
                  <a:cs typeface="Gill Sans"/>
                  <a:sym typeface="Gill Sans"/>
                </a:rPr>
                <a:t>Protected</a:t>
              </a:r>
              <a:endParaRPr/>
            </a:p>
          </p:txBody>
        </p:sp>
        <p:sp>
          <p:nvSpPr>
            <p:cNvPr id="314" name="Google Shape;314;p19"/>
            <p:cNvSpPr/>
            <p:nvPr/>
          </p:nvSpPr>
          <p:spPr>
            <a:xfrm>
              <a:off x="1998" y="1248"/>
              <a:ext cx="3474" cy="549"/>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rPr lang="en-US" sz="1800">
                  <a:solidFill>
                    <a:schemeClr val="dk1"/>
                  </a:solidFill>
                  <a:latin typeface="Gill Sans"/>
                  <a:ea typeface="Gill Sans"/>
                  <a:cs typeface="Gill Sans"/>
                  <a:sym typeface="Gill Sans"/>
                </a:rPr>
                <a:t>All objects within your system.</a:t>
              </a:r>
              <a:endParaRPr/>
            </a:p>
          </p:txBody>
        </p:sp>
        <p:sp>
          <p:nvSpPr>
            <p:cNvPr id="315" name="Google Shape;315;p19"/>
            <p:cNvSpPr/>
            <p:nvPr/>
          </p:nvSpPr>
          <p:spPr>
            <a:xfrm>
              <a:off x="1170" y="1248"/>
              <a:ext cx="828" cy="549"/>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rPr lang="en-US" sz="1800">
                  <a:solidFill>
                    <a:schemeClr val="dk1"/>
                  </a:solidFill>
                  <a:latin typeface="Gill Sans"/>
                  <a:ea typeface="Gill Sans"/>
                  <a:cs typeface="Gill Sans"/>
                  <a:sym typeface="Gill Sans"/>
                </a:rPr>
                <a:t>+</a:t>
              </a:r>
              <a:endParaRPr/>
            </a:p>
          </p:txBody>
        </p:sp>
        <p:sp>
          <p:nvSpPr>
            <p:cNvPr id="316" name="Google Shape;316;p19"/>
            <p:cNvSpPr/>
            <p:nvPr/>
          </p:nvSpPr>
          <p:spPr>
            <a:xfrm>
              <a:off x="288" y="1248"/>
              <a:ext cx="882" cy="549"/>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rPr lang="en-US" sz="1800">
                  <a:solidFill>
                    <a:schemeClr val="dk1"/>
                  </a:solidFill>
                  <a:latin typeface="Gill Sans"/>
                  <a:ea typeface="Gill Sans"/>
                  <a:cs typeface="Gill Sans"/>
                  <a:sym typeface="Gill Sans"/>
                </a:rPr>
                <a:t>Public</a:t>
              </a:r>
              <a:endParaRPr/>
            </a:p>
          </p:txBody>
        </p:sp>
        <p:sp>
          <p:nvSpPr>
            <p:cNvPr id="317" name="Google Shape;317;p19"/>
            <p:cNvSpPr/>
            <p:nvPr/>
          </p:nvSpPr>
          <p:spPr>
            <a:xfrm>
              <a:off x="1998" y="1008"/>
              <a:ext cx="3474" cy="24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rPr b="1" lang="en-US" sz="1800">
                  <a:solidFill>
                    <a:schemeClr val="dk1"/>
                  </a:solidFill>
                  <a:latin typeface="Gill Sans"/>
                  <a:ea typeface="Gill Sans"/>
                  <a:cs typeface="Gill Sans"/>
                  <a:sym typeface="Gill Sans"/>
                </a:rPr>
                <a:t>Accessible To </a:t>
              </a:r>
              <a:endParaRPr sz="1800">
                <a:solidFill>
                  <a:schemeClr val="dk1"/>
                </a:solidFill>
                <a:latin typeface="Gill Sans"/>
                <a:ea typeface="Gill Sans"/>
                <a:cs typeface="Gill Sans"/>
                <a:sym typeface="Gill Sans"/>
              </a:endParaRPr>
            </a:p>
          </p:txBody>
        </p:sp>
        <p:sp>
          <p:nvSpPr>
            <p:cNvPr id="318" name="Google Shape;318;p19"/>
            <p:cNvSpPr/>
            <p:nvPr/>
          </p:nvSpPr>
          <p:spPr>
            <a:xfrm>
              <a:off x="1170" y="1008"/>
              <a:ext cx="828" cy="24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rPr b="1" lang="en-US" sz="1800">
                  <a:solidFill>
                    <a:schemeClr val="dk1"/>
                  </a:solidFill>
                  <a:latin typeface="Gill Sans"/>
                  <a:ea typeface="Gill Sans"/>
                  <a:cs typeface="Gill Sans"/>
                  <a:sym typeface="Gill Sans"/>
                </a:rPr>
                <a:t>Symbol </a:t>
              </a:r>
              <a:endParaRPr sz="1800">
                <a:solidFill>
                  <a:schemeClr val="dk1"/>
                </a:solidFill>
                <a:latin typeface="Gill Sans"/>
                <a:ea typeface="Gill Sans"/>
                <a:cs typeface="Gill Sans"/>
                <a:sym typeface="Gill Sans"/>
              </a:endParaRPr>
            </a:p>
          </p:txBody>
        </p:sp>
        <p:sp>
          <p:nvSpPr>
            <p:cNvPr id="319" name="Google Shape;319;p19"/>
            <p:cNvSpPr/>
            <p:nvPr/>
          </p:nvSpPr>
          <p:spPr>
            <a:xfrm>
              <a:off x="288" y="1008"/>
              <a:ext cx="882" cy="24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rPr b="1" lang="en-US" sz="1800">
                  <a:solidFill>
                    <a:schemeClr val="dk1"/>
                  </a:solidFill>
                  <a:latin typeface="Gill Sans"/>
                  <a:ea typeface="Gill Sans"/>
                  <a:cs typeface="Gill Sans"/>
                  <a:sym typeface="Gill Sans"/>
                </a:rPr>
                <a:t>Visibility </a:t>
              </a:r>
              <a:endParaRPr sz="1800">
                <a:solidFill>
                  <a:schemeClr val="dk1"/>
                </a:solidFill>
                <a:latin typeface="Gill Sans"/>
                <a:ea typeface="Gill Sans"/>
                <a:cs typeface="Gill Sans"/>
                <a:sym typeface="Gill Sans"/>
              </a:endParaRPr>
            </a:p>
          </p:txBody>
        </p:sp>
        <p:cxnSp>
          <p:nvCxnSpPr>
            <p:cNvPr id="320" name="Google Shape;320;p19"/>
            <p:cNvCxnSpPr/>
            <p:nvPr/>
          </p:nvCxnSpPr>
          <p:spPr>
            <a:xfrm>
              <a:off x="288" y="1008"/>
              <a:ext cx="5184" cy="0"/>
            </a:xfrm>
            <a:prstGeom prst="straightConnector1">
              <a:avLst/>
            </a:prstGeom>
            <a:noFill/>
            <a:ln cap="rnd" cmpd="sng" w="12700">
              <a:solidFill>
                <a:srgbClr val="000000"/>
              </a:solidFill>
              <a:prstDash val="solid"/>
              <a:round/>
              <a:headEnd len="med" w="med" type="none"/>
              <a:tailEnd len="med" w="med" type="none"/>
            </a:ln>
          </p:spPr>
        </p:cxnSp>
        <p:cxnSp>
          <p:nvCxnSpPr>
            <p:cNvPr id="321" name="Google Shape;321;p19"/>
            <p:cNvCxnSpPr/>
            <p:nvPr/>
          </p:nvCxnSpPr>
          <p:spPr>
            <a:xfrm>
              <a:off x="288" y="3535"/>
              <a:ext cx="5184" cy="0"/>
            </a:xfrm>
            <a:prstGeom prst="straightConnector1">
              <a:avLst/>
            </a:prstGeom>
            <a:noFill/>
            <a:ln cap="rnd" cmpd="sng" w="12700">
              <a:solidFill>
                <a:srgbClr val="000000"/>
              </a:solidFill>
              <a:prstDash val="solid"/>
              <a:round/>
              <a:headEnd len="med" w="med" type="none"/>
              <a:tailEnd len="med" w="med" type="none"/>
            </a:ln>
          </p:spPr>
        </p:cxnSp>
        <p:cxnSp>
          <p:nvCxnSpPr>
            <p:cNvPr id="322" name="Google Shape;322;p19"/>
            <p:cNvCxnSpPr/>
            <p:nvPr/>
          </p:nvCxnSpPr>
          <p:spPr>
            <a:xfrm>
              <a:off x="288" y="1008"/>
              <a:ext cx="0" cy="2527"/>
            </a:xfrm>
            <a:prstGeom prst="straightConnector1">
              <a:avLst/>
            </a:prstGeom>
            <a:noFill/>
            <a:ln cap="rnd" cmpd="sng" w="12700">
              <a:solidFill>
                <a:srgbClr val="000000"/>
              </a:solidFill>
              <a:prstDash val="solid"/>
              <a:round/>
              <a:headEnd len="med" w="med" type="none"/>
              <a:tailEnd len="med" w="med" type="none"/>
            </a:ln>
          </p:spPr>
        </p:cxnSp>
        <p:cxnSp>
          <p:nvCxnSpPr>
            <p:cNvPr id="323" name="Google Shape;323;p19"/>
            <p:cNvCxnSpPr/>
            <p:nvPr/>
          </p:nvCxnSpPr>
          <p:spPr>
            <a:xfrm>
              <a:off x="5472" y="1008"/>
              <a:ext cx="0" cy="2527"/>
            </a:xfrm>
            <a:prstGeom prst="straightConnector1">
              <a:avLst/>
            </a:prstGeom>
            <a:noFill/>
            <a:ln cap="rnd" cmpd="sng" w="12700">
              <a:solidFill>
                <a:srgbClr val="000000"/>
              </a:solidFill>
              <a:prstDash val="solid"/>
              <a:round/>
              <a:headEnd len="med" w="med" type="none"/>
              <a:tailEnd len="med" w="med" type="none"/>
            </a:ln>
          </p:spPr>
        </p:cxnSp>
        <p:cxnSp>
          <p:nvCxnSpPr>
            <p:cNvPr id="324" name="Google Shape;324;p19"/>
            <p:cNvCxnSpPr/>
            <p:nvPr/>
          </p:nvCxnSpPr>
          <p:spPr>
            <a:xfrm>
              <a:off x="288" y="1248"/>
              <a:ext cx="5184" cy="0"/>
            </a:xfrm>
            <a:prstGeom prst="straightConnector1">
              <a:avLst/>
            </a:prstGeom>
            <a:noFill/>
            <a:ln cap="rnd" cmpd="sng" w="12700">
              <a:solidFill>
                <a:srgbClr val="010000"/>
              </a:solidFill>
              <a:prstDash val="solid"/>
              <a:round/>
              <a:headEnd len="med" w="med" type="none"/>
              <a:tailEnd len="med" w="med" type="none"/>
            </a:ln>
          </p:spPr>
        </p:cxnSp>
        <p:cxnSp>
          <p:nvCxnSpPr>
            <p:cNvPr id="325" name="Google Shape;325;p19"/>
            <p:cNvCxnSpPr/>
            <p:nvPr/>
          </p:nvCxnSpPr>
          <p:spPr>
            <a:xfrm>
              <a:off x="1170" y="1008"/>
              <a:ext cx="0" cy="2527"/>
            </a:xfrm>
            <a:prstGeom prst="straightConnector1">
              <a:avLst/>
            </a:prstGeom>
            <a:noFill/>
            <a:ln cap="rnd" cmpd="sng" w="12700">
              <a:solidFill>
                <a:srgbClr val="010000"/>
              </a:solidFill>
              <a:prstDash val="solid"/>
              <a:round/>
              <a:headEnd len="med" w="med" type="none"/>
              <a:tailEnd len="med" w="med" type="none"/>
            </a:ln>
          </p:spPr>
        </p:cxnSp>
        <p:cxnSp>
          <p:nvCxnSpPr>
            <p:cNvPr id="326" name="Google Shape;326;p19"/>
            <p:cNvCxnSpPr/>
            <p:nvPr/>
          </p:nvCxnSpPr>
          <p:spPr>
            <a:xfrm>
              <a:off x="1998" y="1008"/>
              <a:ext cx="0" cy="2527"/>
            </a:xfrm>
            <a:prstGeom prst="straightConnector1">
              <a:avLst/>
            </a:prstGeom>
            <a:noFill/>
            <a:ln cap="rnd" cmpd="sng" w="12700">
              <a:solidFill>
                <a:srgbClr val="010000"/>
              </a:solidFill>
              <a:prstDash val="solid"/>
              <a:round/>
              <a:headEnd len="med" w="med" type="none"/>
              <a:tailEnd len="med" w="med" type="none"/>
            </a:ln>
          </p:spPr>
        </p:cxnSp>
        <p:cxnSp>
          <p:nvCxnSpPr>
            <p:cNvPr id="327" name="Google Shape;327;p19"/>
            <p:cNvCxnSpPr/>
            <p:nvPr/>
          </p:nvCxnSpPr>
          <p:spPr>
            <a:xfrm>
              <a:off x="288" y="1797"/>
              <a:ext cx="5184" cy="0"/>
            </a:xfrm>
            <a:prstGeom prst="straightConnector1">
              <a:avLst/>
            </a:prstGeom>
            <a:noFill/>
            <a:ln cap="rnd" cmpd="sng" w="12700">
              <a:solidFill>
                <a:srgbClr val="010000"/>
              </a:solidFill>
              <a:prstDash val="solid"/>
              <a:round/>
              <a:headEnd len="med" w="med" type="none"/>
              <a:tailEnd len="med" w="med" type="none"/>
            </a:ln>
          </p:spPr>
        </p:cxnSp>
        <p:cxnSp>
          <p:nvCxnSpPr>
            <p:cNvPr id="328" name="Google Shape;328;p19"/>
            <p:cNvCxnSpPr/>
            <p:nvPr/>
          </p:nvCxnSpPr>
          <p:spPr>
            <a:xfrm>
              <a:off x="288" y="2757"/>
              <a:ext cx="5184" cy="0"/>
            </a:xfrm>
            <a:prstGeom prst="straightConnector1">
              <a:avLst/>
            </a:prstGeom>
            <a:noFill/>
            <a:ln cap="rnd" cmpd="sng" w="12700">
              <a:solidFill>
                <a:srgbClr val="010000"/>
              </a:solidFill>
              <a:prstDash val="solid"/>
              <a:round/>
              <a:headEnd len="med" w="med" type="none"/>
              <a:tailEnd len="med" w="med" type="none"/>
            </a:ln>
          </p:spPr>
        </p:cxnSp>
        <p:cxnSp>
          <p:nvCxnSpPr>
            <p:cNvPr id="329" name="Google Shape;329;p19"/>
            <p:cNvCxnSpPr/>
            <p:nvPr/>
          </p:nvCxnSpPr>
          <p:spPr>
            <a:xfrm>
              <a:off x="288" y="3305"/>
              <a:ext cx="5184" cy="0"/>
            </a:xfrm>
            <a:prstGeom prst="straightConnector1">
              <a:avLst/>
            </a:prstGeom>
            <a:noFill/>
            <a:ln cap="rnd" cmpd="sng" w="12700">
              <a:solidFill>
                <a:srgbClr val="010000"/>
              </a:solidFill>
              <a:prstDash val="solid"/>
              <a:round/>
              <a:headEnd len="med" w="med" type="none"/>
              <a:tailEnd len="med" w="med" type="none"/>
            </a:ln>
          </p:spPr>
        </p:cxnSp>
      </p:grpSp>
      <p:sp>
        <p:nvSpPr>
          <p:cNvPr id="330" name="Google Shape;330;p19"/>
          <p:cNvSpPr/>
          <p:nvPr/>
        </p:nvSpPr>
        <p:spPr>
          <a:xfrm>
            <a:off x="1560513" y="4892675"/>
            <a:ext cx="311150" cy="366713"/>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  </a:t>
            </a:r>
            <a:endParaRPr/>
          </a:p>
        </p:txBody>
      </p:sp>
      <p:pic>
        <p:nvPicPr>
          <p:cNvPr descr="brac.png" id="331" name="Google Shape;331;p19"/>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20"/>
          <p:cNvSpPr txBox="1"/>
          <p:nvPr>
            <p:ph idx="11" type="ftr"/>
          </p:nvPr>
        </p:nvSpPr>
        <p:spPr>
          <a:xfrm>
            <a:off x="2362200" y="6400800"/>
            <a:ext cx="40386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Software Design (UML)</a:t>
            </a:r>
            <a:endParaRPr/>
          </a:p>
        </p:txBody>
      </p:sp>
      <p:sp>
        <p:nvSpPr>
          <p:cNvPr id="337" name="Google Shape;337;p20"/>
          <p:cNvSpPr txBox="1"/>
          <p:nvPr>
            <p:ph type="title"/>
          </p:nvPr>
        </p:nvSpPr>
        <p:spPr>
          <a:xfrm>
            <a:off x="685800" y="381000"/>
            <a:ext cx="7848600" cy="5334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Bookman Old Style"/>
              <a:buNone/>
            </a:pPr>
            <a:r>
              <a:rPr lang="en-US"/>
              <a:t>Visibility (Cont’d)</a:t>
            </a:r>
            <a:endParaRPr/>
          </a:p>
        </p:txBody>
      </p:sp>
      <p:sp>
        <p:nvSpPr>
          <p:cNvPr id="338" name="Google Shape;338;p20"/>
          <p:cNvSpPr/>
          <p:nvPr/>
        </p:nvSpPr>
        <p:spPr>
          <a:xfrm>
            <a:off x="685800" y="1676400"/>
            <a:ext cx="2590800" cy="7620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Person</a:t>
            </a:r>
            <a:endParaRPr/>
          </a:p>
        </p:txBody>
      </p:sp>
      <p:sp>
        <p:nvSpPr>
          <p:cNvPr id="339" name="Google Shape;339;p20"/>
          <p:cNvSpPr/>
          <p:nvPr/>
        </p:nvSpPr>
        <p:spPr>
          <a:xfrm>
            <a:off x="685800" y="2438400"/>
            <a:ext cx="2590800" cy="2286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 name      : String</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 address   : Address</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 birthdate : Date</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 age           : Date</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 ssn           : Id</a:t>
            </a:r>
            <a:endParaRPr/>
          </a:p>
        </p:txBody>
      </p:sp>
      <p:sp>
        <p:nvSpPr>
          <p:cNvPr id="340" name="Google Shape;340;p20"/>
          <p:cNvSpPr/>
          <p:nvPr/>
        </p:nvSpPr>
        <p:spPr>
          <a:xfrm>
            <a:off x="685800" y="4724400"/>
            <a:ext cx="2590800" cy="6096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 eat ()</a:t>
            </a:r>
            <a:endParaRPr/>
          </a:p>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 sleep ()</a:t>
            </a:r>
            <a:endParaRPr sz="1800">
              <a:solidFill>
                <a:schemeClr val="dk1"/>
              </a:solidFill>
              <a:latin typeface="Gill Sans"/>
              <a:ea typeface="Gill Sans"/>
              <a:cs typeface="Gill Sans"/>
              <a:sym typeface="Gill Sans"/>
            </a:endParaRPr>
          </a:p>
        </p:txBody>
      </p:sp>
      <p:sp>
        <p:nvSpPr>
          <p:cNvPr id="341" name="Google Shape;341;p20"/>
          <p:cNvSpPr txBox="1"/>
          <p:nvPr/>
        </p:nvSpPr>
        <p:spPr>
          <a:xfrm>
            <a:off x="3657600" y="2438400"/>
            <a:ext cx="2459038" cy="1917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Attributes can be:</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	+ public</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	# protected</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	- private</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	/ derived</a:t>
            </a:r>
            <a:endParaRPr/>
          </a:p>
        </p:txBody>
      </p:sp>
      <p:pic>
        <p:nvPicPr>
          <p:cNvPr descr="brac.png" id="342" name="Google Shape;342;p20"/>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21"/>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Relationships among Classes</a:t>
            </a:r>
            <a:endParaRPr/>
          </a:p>
        </p:txBody>
      </p:sp>
      <p:sp>
        <p:nvSpPr>
          <p:cNvPr id="349" name="Google Shape;349;p21"/>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736"/>
              <a:buChar char="🞂"/>
            </a:pPr>
            <a:r>
              <a:rPr lang="en-US" sz="3600"/>
              <a:t>Represents a connection between multiple classes or a class and itself</a:t>
            </a:r>
            <a:endParaRPr/>
          </a:p>
          <a:p>
            <a:pPr indent="-274320" lvl="0" marL="274320" rtl="0" algn="l">
              <a:spcBef>
                <a:spcPts val="600"/>
              </a:spcBef>
              <a:spcAft>
                <a:spcPts val="0"/>
              </a:spcAft>
              <a:buSzPts val="2736"/>
              <a:buChar char="🞂"/>
            </a:pPr>
            <a:r>
              <a:rPr lang="en-US" sz="3600"/>
              <a:t>2 basic categories:</a:t>
            </a:r>
            <a:endParaRPr/>
          </a:p>
          <a:p>
            <a:pPr indent="-274319" lvl="1" marL="548640" rtl="0" algn="l">
              <a:spcBef>
                <a:spcPts val="500"/>
              </a:spcBef>
              <a:spcAft>
                <a:spcPts val="0"/>
              </a:spcAft>
              <a:buSzPts val="2432"/>
              <a:buChar char="🞂"/>
            </a:pPr>
            <a:r>
              <a:rPr lang="en-US" sz="3200"/>
              <a:t>association relationships</a:t>
            </a:r>
            <a:endParaRPr/>
          </a:p>
          <a:p>
            <a:pPr indent="-228600" lvl="2" marL="822960" rtl="0" algn="l">
              <a:spcBef>
                <a:spcPts val="500"/>
              </a:spcBef>
              <a:spcAft>
                <a:spcPts val="0"/>
              </a:spcAft>
              <a:buSzPts val="1520"/>
              <a:buChar char="🞂"/>
            </a:pPr>
            <a:r>
              <a:rPr lang="en-US"/>
              <a:t>Aggregation</a:t>
            </a:r>
            <a:endParaRPr/>
          </a:p>
          <a:p>
            <a:pPr indent="-228600" lvl="2" marL="822960" rtl="0" algn="l">
              <a:spcBef>
                <a:spcPts val="500"/>
              </a:spcBef>
              <a:spcAft>
                <a:spcPts val="0"/>
              </a:spcAft>
              <a:buSzPts val="1520"/>
              <a:buChar char="🞂"/>
            </a:pPr>
            <a:r>
              <a:rPr lang="en-US"/>
              <a:t>Composition</a:t>
            </a:r>
            <a:endParaRPr/>
          </a:p>
          <a:p>
            <a:pPr indent="0" lvl="0" marL="822960" rtl="0" algn="l">
              <a:spcBef>
                <a:spcPts val="500"/>
              </a:spcBef>
              <a:spcAft>
                <a:spcPts val="0"/>
              </a:spcAft>
              <a:buNone/>
            </a:pPr>
            <a:r>
              <a:t/>
            </a:r>
            <a:endParaRPr/>
          </a:p>
          <a:p>
            <a:pPr indent="-274319" lvl="1" marL="548640" rtl="0" algn="l">
              <a:spcBef>
                <a:spcPts val="500"/>
              </a:spcBef>
              <a:spcAft>
                <a:spcPts val="0"/>
              </a:spcAft>
              <a:buSzPts val="2432"/>
              <a:buChar char="🞂"/>
            </a:pPr>
            <a:r>
              <a:rPr lang="en-US" sz="3200"/>
              <a:t>generalization relationships</a:t>
            </a:r>
            <a:endParaRPr/>
          </a:p>
        </p:txBody>
      </p:sp>
      <p:pic>
        <p:nvPicPr>
          <p:cNvPr descr="brac.png" id="350" name="Google Shape;350;p21"/>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2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Association Relationship</a:t>
            </a:r>
            <a:endParaRPr/>
          </a:p>
        </p:txBody>
      </p:sp>
      <p:sp>
        <p:nvSpPr>
          <p:cNvPr id="357" name="Google Shape;357;p22"/>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736"/>
              <a:buChar char="🞂"/>
            </a:pPr>
            <a:r>
              <a:rPr lang="en-US" sz="3600"/>
              <a:t>A bidirectional semantic connection between classes</a:t>
            </a:r>
            <a:endParaRPr/>
          </a:p>
          <a:p>
            <a:pPr indent="-274320" lvl="0" marL="274320" rtl="0" algn="l">
              <a:spcBef>
                <a:spcPts val="600"/>
              </a:spcBef>
              <a:spcAft>
                <a:spcPts val="0"/>
              </a:spcAft>
              <a:buSzPts val="2736"/>
              <a:buChar char="🞂"/>
            </a:pPr>
            <a:r>
              <a:rPr lang="en-US" sz="3600"/>
              <a:t>Type:</a:t>
            </a:r>
            <a:endParaRPr/>
          </a:p>
          <a:p>
            <a:pPr indent="-274319" lvl="1" marL="548640" rtl="0" algn="l">
              <a:spcBef>
                <a:spcPts val="500"/>
              </a:spcBef>
              <a:spcAft>
                <a:spcPts val="0"/>
              </a:spcAft>
              <a:buSzPts val="2432"/>
              <a:buChar char="🞂"/>
            </a:pPr>
            <a:r>
              <a:rPr lang="en-US" sz="3200"/>
              <a:t>name of relationship</a:t>
            </a:r>
            <a:endParaRPr/>
          </a:p>
          <a:p>
            <a:pPr indent="-274319" lvl="1" marL="548640" rtl="0" algn="l">
              <a:spcBef>
                <a:spcPts val="500"/>
              </a:spcBef>
              <a:spcAft>
                <a:spcPts val="0"/>
              </a:spcAft>
              <a:buSzPts val="2432"/>
              <a:buChar char="🞂"/>
            </a:pPr>
            <a:r>
              <a:rPr lang="en-US" sz="3200"/>
              <a:t>role that classes play in the relationship</a:t>
            </a:r>
            <a:endParaRPr/>
          </a:p>
        </p:txBody>
      </p:sp>
      <p:pic>
        <p:nvPicPr>
          <p:cNvPr descr="brac.png" id="358" name="Google Shape;358;p22"/>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23"/>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Association Relationship</a:t>
            </a:r>
            <a:endParaRPr/>
          </a:p>
        </p:txBody>
      </p:sp>
      <p:sp>
        <p:nvSpPr>
          <p:cNvPr id="365" name="Google Shape;365;p23"/>
          <p:cNvSpPr txBox="1"/>
          <p:nvPr>
            <p:ph idx="1" type="body"/>
          </p:nvPr>
        </p:nvSpPr>
        <p:spPr>
          <a:xfrm>
            <a:off x="457200" y="1600200"/>
            <a:ext cx="8382000" cy="50292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736"/>
              <a:buChar char="🞂"/>
            </a:pPr>
            <a:r>
              <a:rPr lang="en-US" sz="3600"/>
              <a:t>Name of relationship type shown by:</a:t>
            </a:r>
            <a:endParaRPr/>
          </a:p>
          <a:p>
            <a:pPr indent="-274319" lvl="1" marL="548640" rtl="0" algn="l">
              <a:spcBef>
                <a:spcPts val="500"/>
              </a:spcBef>
              <a:spcAft>
                <a:spcPts val="0"/>
              </a:spcAft>
              <a:buSzPts val="2432"/>
              <a:buChar char="🞂"/>
            </a:pPr>
            <a:r>
              <a:rPr lang="en-US" sz="3200"/>
              <a:t>drawing line between classes</a:t>
            </a:r>
            <a:endParaRPr/>
          </a:p>
          <a:p>
            <a:pPr indent="-274319" lvl="1" marL="548640" rtl="0" algn="l">
              <a:spcBef>
                <a:spcPts val="500"/>
              </a:spcBef>
              <a:spcAft>
                <a:spcPts val="0"/>
              </a:spcAft>
              <a:buSzPts val="2432"/>
              <a:buChar char="🞂"/>
            </a:pPr>
            <a:r>
              <a:rPr lang="en-US" sz="3200"/>
              <a:t>labeling with the name of the relationship</a:t>
            </a:r>
            <a:endParaRPr/>
          </a:p>
          <a:p>
            <a:pPr indent="-274319" lvl="1" marL="548640" rtl="0" algn="l">
              <a:spcBef>
                <a:spcPts val="500"/>
              </a:spcBef>
              <a:spcAft>
                <a:spcPts val="0"/>
              </a:spcAft>
              <a:buSzPts val="2432"/>
              <a:buChar char="🞂"/>
            </a:pPr>
            <a:r>
              <a:rPr lang="en-US" sz="3200"/>
              <a:t>indicating with a small solid triangle beside the name of the relationship the direction of the association</a:t>
            </a:r>
            <a:endParaRPr/>
          </a:p>
        </p:txBody>
      </p:sp>
      <p:sp>
        <p:nvSpPr>
          <p:cNvPr id="366" name="Google Shape;366;p23"/>
          <p:cNvSpPr/>
          <p:nvPr/>
        </p:nvSpPr>
        <p:spPr>
          <a:xfrm>
            <a:off x="990600" y="5486400"/>
            <a:ext cx="1752600" cy="533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367" name="Google Shape;367;p23"/>
          <p:cNvSpPr/>
          <p:nvPr/>
        </p:nvSpPr>
        <p:spPr>
          <a:xfrm>
            <a:off x="6019800" y="5486400"/>
            <a:ext cx="2057400" cy="533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cxnSp>
        <p:nvCxnSpPr>
          <p:cNvPr id="368" name="Google Shape;368;p23"/>
          <p:cNvCxnSpPr/>
          <p:nvPr/>
        </p:nvCxnSpPr>
        <p:spPr>
          <a:xfrm>
            <a:off x="2743200" y="5791200"/>
            <a:ext cx="3276600" cy="0"/>
          </a:xfrm>
          <a:prstGeom prst="straightConnector1">
            <a:avLst/>
          </a:prstGeom>
          <a:noFill/>
          <a:ln cap="flat" cmpd="sng" w="9525">
            <a:solidFill>
              <a:schemeClr val="dk1"/>
            </a:solidFill>
            <a:prstDash val="solid"/>
            <a:round/>
            <a:headEnd len="med" w="med" type="none"/>
            <a:tailEnd len="med" w="med" type="none"/>
          </a:ln>
        </p:spPr>
      </p:cxnSp>
      <p:sp>
        <p:nvSpPr>
          <p:cNvPr id="369" name="Google Shape;369;p23"/>
          <p:cNvSpPr txBox="1"/>
          <p:nvPr/>
        </p:nvSpPr>
        <p:spPr>
          <a:xfrm>
            <a:off x="3276600" y="5410200"/>
            <a:ext cx="22860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Provides </a:t>
            </a:r>
            <a:endParaRPr/>
          </a:p>
        </p:txBody>
      </p:sp>
      <p:sp>
        <p:nvSpPr>
          <p:cNvPr id="370" name="Google Shape;370;p23"/>
          <p:cNvSpPr txBox="1"/>
          <p:nvPr/>
        </p:nvSpPr>
        <p:spPr>
          <a:xfrm>
            <a:off x="1066800" y="5562600"/>
            <a:ext cx="152400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Patient</a:t>
            </a:r>
            <a:endParaRPr/>
          </a:p>
        </p:txBody>
      </p:sp>
      <p:sp>
        <p:nvSpPr>
          <p:cNvPr id="371" name="Google Shape;371;p23"/>
          <p:cNvSpPr txBox="1"/>
          <p:nvPr/>
        </p:nvSpPr>
        <p:spPr>
          <a:xfrm>
            <a:off x="6019800" y="5562600"/>
            <a:ext cx="24384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Medical History</a:t>
            </a:r>
            <a:endParaRPr/>
          </a:p>
        </p:txBody>
      </p:sp>
      <p:cxnSp>
        <p:nvCxnSpPr>
          <p:cNvPr id="372" name="Google Shape;372;p23"/>
          <p:cNvCxnSpPr/>
          <p:nvPr/>
        </p:nvCxnSpPr>
        <p:spPr>
          <a:xfrm>
            <a:off x="4876800" y="5638800"/>
            <a:ext cx="76200" cy="0"/>
          </a:xfrm>
          <a:prstGeom prst="straightConnector1">
            <a:avLst/>
          </a:prstGeom>
          <a:noFill/>
          <a:ln cap="flat" cmpd="sng" w="9525">
            <a:solidFill>
              <a:schemeClr val="dk1"/>
            </a:solidFill>
            <a:prstDash val="solid"/>
            <a:round/>
            <a:headEnd len="med" w="med" type="none"/>
            <a:tailEnd len="med" w="med" type="triangle"/>
          </a:ln>
        </p:spPr>
      </p:cxnSp>
      <p:pic>
        <p:nvPicPr>
          <p:cNvPr descr="brac.png" id="373" name="Google Shape;373;p23"/>
          <p:cNvPicPr preferRelativeResize="0"/>
          <p:nvPr/>
        </p:nvPicPr>
        <p:blipFill rotWithShape="1">
          <a:blip r:embed="rId3">
            <a:alphaModFix/>
          </a:blip>
          <a:srcRect b="0" l="0" r="0" t="0"/>
          <a:stretch/>
        </p:blipFill>
        <p:spPr>
          <a:xfrm>
            <a:off x="7884368" y="0"/>
            <a:ext cx="1259632" cy="1124744"/>
          </a:xfrm>
          <a:prstGeom prst="rect">
            <a:avLst/>
          </a:prstGeom>
          <a:noFill/>
          <a:ln>
            <a:noFill/>
          </a:ln>
        </p:spPr>
      </p:pic>
    </p:spTree>
  </p:cSld>
  <p:clrMapOvr>
    <a:masterClrMapping/>
  </p:clrMapOvr>
  <p:transition>
    <p:fade/>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24"/>
          <p:cNvSpPr txBox="1"/>
          <p:nvPr>
            <p:ph idx="11" type="ftr"/>
          </p:nvPr>
        </p:nvSpPr>
        <p:spPr>
          <a:xfrm>
            <a:off x="2362200" y="6400800"/>
            <a:ext cx="40386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Software Design (UML)</a:t>
            </a:r>
            <a:endParaRPr/>
          </a:p>
        </p:txBody>
      </p:sp>
      <p:sp>
        <p:nvSpPr>
          <p:cNvPr id="379" name="Google Shape;379;p24"/>
          <p:cNvSpPr txBox="1"/>
          <p:nvPr>
            <p:ph type="title"/>
          </p:nvPr>
        </p:nvSpPr>
        <p:spPr>
          <a:xfrm>
            <a:off x="609600" y="381000"/>
            <a:ext cx="7848600" cy="5334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Bookman Old Style"/>
              <a:buNone/>
            </a:pPr>
            <a:r>
              <a:rPr lang="en-US"/>
              <a:t>Association Relationships</a:t>
            </a:r>
            <a:endParaRPr/>
          </a:p>
        </p:txBody>
      </p:sp>
      <p:sp>
        <p:nvSpPr>
          <p:cNvPr id="380" name="Google Shape;380;p24"/>
          <p:cNvSpPr txBox="1"/>
          <p:nvPr/>
        </p:nvSpPr>
        <p:spPr>
          <a:xfrm>
            <a:off x="609600" y="1371600"/>
            <a:ext cx="8108950" cy="15525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If two classes in a model need to communicate with each other, there must be link between them. </a:t>
            </a:r>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An </a:t>
            </a:r>
            <a:r>
              <a:rPr i="1" lang="en-US" sz="1800">
                <a:solidFill>
                  <a:schemeClr val="dk1"/>
                </a:solidFill>
                <a:latin typeface="Gill Sans"/>
                <a:ea typeface="Gill Sans"/>
                <a:cs typeface="Gill Sans"/>
                <a:sym typeface="Gill Sans"/>
              </a:rPr>
              <a:t>association</a:t>
            </a:r>
            <a:r>
              <a:rPr lang="en-US" sz="1800">
                <a:solidFill>
                  <a:schemeClr val="dk1"/>
                </a:solidFill>
                <a:latin typeface="Gill Sans"/>
                <a:ea typeface="Gill Sans"/>
                <a:cs typeface="Gill Sans"/>
                <a:sym typeface="Gill Sans"/>
              </a:rPr>
              <a:t> denotes that link. </a:t>
            </a:r>
            <a:endParaRPr/>
          </a:p>
        </p:txBody>
      </p:sp>
      <p:cxnSp>
        <p:nvCxnSpPr>
          <p:cNvPr id="381" name="Google Shape;381;p24"/>
          <p:cNvCxnSpPr/>
          <p:nvPr/>
        </p:nvCxnSpPr>
        <p:spPr>
          <a:xfrm>
            <a:off x="2743200" y="4038600"/>
            <a:ext cx="3657600" cy="0"/>
          </a:xfrm>
          <a:prstGeom prst="straightConnector1">
            <a:avLst/>
          </a:prstGeom>
          <a:noFill/>
          <a:ln cap="flat" cmpd="sng" w="28575">
            <a:solidFill>
              <a:schemeClr val="dk1"/>
            </a:solidFill>
            <a:prstDash val="solid"/>
            <a:round/>
            <a:headEnd len="med" w="med" type="none"/>
            <a:tailEnd len="sm" w="sm" type="none"/>
          </a:ln>
        </p:spPr>
      </p:cxnSp>
      <p:sp>
        <p:nvSpPr>
          <p:cNvPr id="382" name="Google Shape;382;p24"/>
          <p:cNvSpPr/>
          <p:nvPr/>
        </p:nvSpPr>
        <p:spPr>
          <a:xfrm>
            <a:off x="6324600" y="3810000"/>
            <a:ext cx="2057400" cy="533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Instructor</a:t>
            </a:r>
            <a:endParaRPr/>
          </a:p>
        </p:txBody>
      </p:sp>
      <p:sp>
        <p:nvSpPr>
          <p:cNvPr id="383" name="Google Shape;383;p24"/>
          <p:cNvSpPr/>
          <p:nvPr/>
        </p:nvSpPr>
        <p:spPr>
          <a:xfrm>
            <a:off x="685800" y="3771900"/>
            <a:ext cx="2057400" cy="533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Student</a:t>
            </a:r>
            <a:endParaRPr/>
          </a:p>
        </p:txBody>
      </p:sp>
      <p:pic>
        <p:nvPicPr>
          <p:cNvPr descr="brac.png" id="384" name="Google Shape;384;p24"/>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25"/>
          <p:cNvSpPr txBox="1"/>
          <p:nvPr>
            <p:ph idx="11" type="ftr"/>
          </p:nvPr>
        </p:nvSpPr>
        <p:spPr>
          <a:xfrm>
            <a:off x="2362200" y="6400800"/>
            <a:ext cx="40386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Software Design (UML)</a:t>
            </a:r>
            <a:endParaRPr/>
          </a:p>
        </p:txBody>
      </p:sp>
      <p:sp>
        <p:nvSpPr>
          <p:cNvPr id="390" name="Google Shape;390;p25"/>
          <p:cNvSpPr txBox="1"/>
          <p:nvPr>
            <p:ph type="title"/>
          </p:nvPr>
        </p:nvSpPr>
        <p:spPr>
          <a:xfrm>
            <a:off x="609600" y="381000"/>
            <a:ext cx="8153400" cy="5334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Bookman Old Style"/>
              <a:buNone/>
            </a:pPr>
            <a:r>
              <a:rPr lang="en-US"/>
              <a:t>Association Relationships (Cont’d)</a:t>
            </a:r>
            <a:endParaRPr/>
          </a:p>
        </p:txBody>
      </p:sp>
      <p:sp>
        <p:nvSpPr>
          <p:cNvPr id="391" name="Google Shape;391;p25"/>
          <p:cNvSpPr txBox="1"/>
          <p:nvPr/>
        </p:nvSpPr>
        <p:spPr>
          <a:xfrm>
            <a:off x="609600" y="1371600"/>
            <a:ext cx="8108950" cy="1917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We can indicate the </a:t>
            </a:r>
            <a:r>
              <a:rPr i="1" lang="en-US" sz="1800">
                <a:solidFill>
                  <a:schemeClr val="dk1"/>
                </a:solidFill>
                <a:latin typeface="Gill Sans"/>
                <a:ea typeface="Gill Sans"/>
                <a:cs typeface="Gill Sans"/>
                <a:sym typeface="Gill Sans"/>
              </a:rPr>
              <a:t>multiplicity</a:t>
            </a:r>
            <a:r>
              <a:rPr lang="en-US" sz="1800">
                <a:solidFill>
                  <a:schemeClr val="dk1"/>
                </a:solidFill>
                <a:latin typeface="Gill Sans"/>
                <a:ea typeface="Gill Sans"/>
                <a:cs typeface="Gill Sans"/>
                <a:sym typeface="Gill Sans"/>
              </a:rPr>
              <a:t> of an association by adding </a:t>
            </a:r>
            <a:r>
              <a:rPr i="1" lang="en-US" sz="1800">
                <a:solidFill>
                  <a:schemeClr val="dk1"/>
                </a:solidFill>
                <a:latin typeface="Gill Sans"/>
                <a:ea typeface="Gill Sans"/>
                <a:cs typeface="Gill Sans"/>
                <a:sym typeface="Gill Sans"/>
              </a:rPr>
              <a:t>multiplicity adornments</a:t>
            </a:r>
            <a:r>
              <a:rPr lang="en-US" sz="1800">
                <a:solidFill>
                  <a:schemeClr val="dk1"/>
                </a:solidFill>
                <a:latin typeface="Gill Sans"/>
                <a:ea typeface="Gill Sans"/>
                <a:cs typeface="Gill Sans"/>
                <a:sym typeface="Gill Sans"/>
              </a:rPr>
              <a:t> to the line denoting the association. </a:t>
            </a:r>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The example indicates that a </a:t>
            </a:r>
            <a:r>
              <a:rPr i="1" lang="en-US" sz="1800">
                <a:solidFill>
                  <a:schemeClr val="dk1"/>
                </a:solidFill>
                <a:latin typeface="Gill Sans"/>
                <a:ea typeface="Gill Sans"/>
                <a:cs typeface="Gill Sans"/>
                <a:sym typeface="Gill Sans"/>
              </a:rPr>
              <a:t>Student</a:t>
            </a:r>
            <a:r>
              <a:rPr lang="en-US" sz="1800">
                <a:solidFill>
                  <a:schemeClr val="dk1"/>
                </a:solidFill>
                <a:latin typeface="Gill Sans"/>
                <a:ea typeface="Gill Sans"/>
                <a:cs typeface="Gill Sans"/>
                <a:sym typeface="Gill Sans"/>
              </a:rPr>
              <a:t> has one or more </a:t>
            </a:r>
            <a:r>
              <a:rPr i="1" lang="en-US" sz="1800">
                <a:solidFill>
                  <a:schemeClr val="dk1"/>
                </a:solidFill>
                <a:latin typeface="Gill Sans"/>
                <a:ea typeface="Gill Sans"/>
                <a:cs typeface="Gill Sans"/>
                <a:sym typeface="Gill Sans"/>
              </a:rPr>
              <a:t>Instructors</a:t>
            </a:r>
            <a:r>
              <a:rPr lang="en-US" sz="1800">
                <a:solidFill>
                  <a:schemeClr val="dk1"/>
                </a:solidFill>
                <a:latin typeface="Gill Sans"/>
                <a:ea typeface="Gill Sans"/>
                <a:cs typeface="Gill Sans"/>
                <a:sym typeface="Gill Sans"/>
              </a:rPr>
              <a:t>:</a:t>
            </a:r>
            <a:endParaRPr/>
          </a:p>
        </p:txBody>
      </p:sp>
      <p:cxnSp>
        <p:nvCxnSpPr>
          <p:cNvPr id="392" name="Google Shape;392;p25"/>
          <p:cNvCxnSpPr/>
          <p:nvPr/>
        </p:nvCxnSpPr>
        <p:spPr>
          <a:xfrm>
            <a:off x="2743200" y="4038600"/>
            <a:ext cx="3657600" cy="0"/>
          </a:xfrm>
          <a:prstGeom prst="straightConnector1">
            <a:avLst/>
          </a:prstGeom>
          <a:noFill/>
          <a:ln cap="flat" cmpd="sng" w="28575">
            <a:solidFill>
              <a:schemeClr val="dk1"/>
            </a:solidFill>
            <a:prstDash val="solid"/>
            <a:round/>
            <a:headEnd len="med" w="med" type="none"/>
            <a:tailEnd len="sm" w="sm" type="none"/>
          </a:ln>
        </p:spPr>
      </p:cxnSp>
      <p:sp>
        <p:nvSpPr>
          <p:cNvPr id="393" name="Google Shape;393;p25"/>
          <p:cNvSpPr/>
          <p:nvPr/>
        </p:nvSpPr>
        <p:spPr>
          <a:xfrm>
            <a:off x="6324600" y="3810000"/>
            <a:ext cx="2057400" cy="533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Instructor</a:t>
            </a:r>
            <a:endParaRPr/>
          </a:p>
        </p:txBody>
      </p:sp>
      <p:sp>
        <p:nvSpPr>
          <p:cNvPr id="394" name="Google Shape;394;p25"/>
          <p:cNvSpPr/>
          <p:nvPr/>
        </p:nvSpPr>
        <p:spPr>
          <a:xfrm>
            <a:off x="685800" y="3771900"/>
            <a:ext cx="2057400" cy="533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Student</a:t>
            </a:r>
            <a:endParaRPr/>
          </a:p>
        </p:txBody>
      </p:sp>
      <p:sp>
        <p:nvSpPr>
          <p:cNvPr id="395" name="Google Shape;395;p25"/>
          <p:cNvSpPr txBox="1"/>
          <p:nvPr/>
        </p:nvSpPr>
        <p:spPr>
          <a:xfrm>
            <a:off x="5638800" y="4038600"/>
            <a:ext cx="685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1..*</a:t>
            </a:r>
            <a:endParaRPr/>
          </a:p>
        </p:txBody>
      </p:sp>
      <p:pic>
        <p:nvPicPr>
          <p:cNvPr descr="brac.png" id="396" name="Google Shape;396;p25"/>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26"/>
          <p:cNvSpPr txBox="1"/>
          <p:nvPr>
            <p:ph idx="11" type="ftr"/>
          </p:nvPr>
        </p:nvSpPr>
        <p:spPr>
          <a:xfrm>
            <a:off x="2362200" y="6400800"/>
            <a:ext cx="40386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Software Design (UML)</a:t>
            </a:r>
            <a:endParaRPr/>
          </a:p>
        </p:txBody>
      </p:sp>
      <p:sp>
        <p:nvSpPr>
          <p:cNvPr id="402" name="Google Shape;402;p26"/>
          <p:cNvSpPr txBox="1"/>
          <p:nvPr>
            <p:ph type="title"/>
          </p:nvPr>
        </p:nvSpPr>
        <p:spPr>
          <a:xfrm>
            <a:off x="609600" y="381000"/>
            <a:ext cx="8229600" cy="5334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Bookman Old Style"/>
              <a:buNone/>
            </a:pPr>
            <a:r>
              <a:rPr lang="en-US"/>
              <a:t>Association Relationships (Cont’d)</a:t>
            </a:r>
            <a:endParaRPr/>
          </a:p>
        </p:txBody>
      </p:sp>
      <p:sp>
        <p:nvSpPr>
          <p:cNvPr id="403" name="Google Shape;403;p26"/>
          <p:cNvSpPr txBox="1"/>
          <p:nvPr/>
        </p:nvSpPr>
        <p:spPr>
          <a:xfrm>
            <a:off x="609600" y="1981200"/>
            <a:ext cx="8108950" cy="822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The example indicates that every </a:t>
            </a:r>
            <a:r>
              <a:rPr i="1" lang="en-US" sz="1800">
                <a:solidFill>
                  <a:schemeClr val="dk1"/>
                </a:solidFill>
                <a:latin typeface="Gill Sans"/>
                <a:ea typeface="Gill Sans"/>
                <a:cs typeface="Gill Sans"/>
                <a:sym typeface="Gill Sans"/>
              </a:rPr>
              <a:t>Instructor</a:t>
            </a:r>
            <a:r>
              <a:rPr lang="en-US" sz="1800">
                <a:solidFill>
                  <a:schemeClr val="dk1"/>
                </a:solidFill>
                <a:latin typeface="Gill Sans"/>
                <a:ea typeface="Gill Sans"/>
                <a:cs typeface="Gill Sans"/>
                <a:sym typeface="Gill Sans"/>
              </a:rPr>
              <a:t> has one or more </a:t>
            </a:r>
            <a:r>
              <a:rPr i="1" lang="en-US" sz="1800">
                <a:solidFill>
                  <a:schemeClr val="dk1"/>
                </a:solidFill>
                <a:latin typeface="Gill Sans"/>
                <a:ea typeface="Gill Sans"/>
                <a:cs typeface="Gill Sans"/>
                <a:sym typeface="Gill Sans"/>
              </a:rPr>
              <a:t>Students</a:t>
            </a:r>
            <a:r>
              <a:rPr lang="en-US" sz="1800">
                <a:solidFill>
                  <a:schemeClr val="dk1"/>
                </a:solidFill>
                <a:latin typeface="Gill Sans"/>
                <a:ea typeface="Gill Sans"/>
                <a:cs typeface="Gill Sans"/>
                <a:sym typeface="Gill Sans"/>
              </a:rPr>
              <a:t>:</a:t>
            </a:r>
            <a:endParaRPr/>
          </a:p>
        </p:txBody>
      </p:sp>
      <p:cxnSp>
        <p:nvCxnSpPr>
          <p:cNvPr id="404" name="Google Shape;404;p26"/>
          <p:cNvCxnSpPr/>
          <p:nvPr/>
        </p:nvCxnSpPr>
        <p:spPr>
          <a:xfrm>
            <a:off x="2743200" y="4038600"/>
            <a:ext cx="3657600" cy="0"/>
          </a:xfrm>
          <a:prstGeom prst="straightConnector1">
            <a:avLst/>
          </a:prstGeom>
          <a:noFill/>
          <a:ln cap="flat" cmpd="sng" w="28575">
            <a:solidFill>
              <a:schemeClr val="dk1"/>
            </a:solidFill>
            <a:prstDash val="solid"/>
            <a:round/>
            <a:headEnd len="med" w="med" type="none"/>
            <a:tailEnd len="sm" w="sm" type="none"/>
          </a:ln>
        </p:spPr>
      </p:cxnSp>
      <p:sp>
        <p:nvSpPr>
          <p:cNvPr id="405" name="Google Shape;405;p26"/>
          <p:cNvSpPr/>
          <p:nvPr/>
        </p:nvSpPr>
        <p:spPr>
          <a:xfrm>
            <a:off x="6324600" y="3810000"/>
            <a:ext cx="2057400" cy="533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Instructor</a:t>
            </a:r>
            <a:endParaRPr/>
          </a:p>
        </p:txBody>
      </p:sp>
      <p:sp>
        <p:nvSpPr>
          <p:cNvPr id="406" name="Google Shape;406;p26"/>
          <p:cNvSpPr/>
          <p:nvPr/>
        </p:nvSpPr>
        <p:spPr>
          <a:xfrm>
            <a:off x="685800" y="3771900"/>
            <a:ext cx="2057400" cy="533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Student</a:t>
            </a:r>
            <a:endParaRPr/>
          </a:p>
        </p:txBody>
      </p:sp>
      <p:sp>
        <p:nvSpPr>
          <p:cNvPr id="407" name="Google Shape;407;p26"/>
          <p:cNvSpPr txBox="1"/>
          <p:nvPr/>
        </p:nvSpPr>
        <p:spPr>
          <a:xfrm>
            <a:off x="2743200" y="4038600"/>
            <a:ext cx="685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1..*</a:t>
            </a:r>
            <a:endParaRPr/>
          </a:p>
        </p:txBody>
      </p:sp>
      <p:pic>
        <p:nvPicPr>
          <p:cNvPr descr="brac.png" id="408" name="Google Shape;408;p26"/>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27"/>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Association Relationship</a:t>
            </a:r>
            <a:endParaRPr/>
          </a:p>
        </p:txBody>
      </p:sp>
      <p:sp>
        <p:nvSpPr>
          <p:cNvPr id="415" name="Google Shape;415;p27"/>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736"/>
              <a:buChar char="🞂"/>
            </a:pPr>
            <a:r>
              <a:rPr lang="en-US" sz="3600"/>
              <a:t>Role type shown by:</a:t>
            </a:r>
            <a:endParaRPr/>
          </a:p>
          <a:p>
            <a:pPr indent="-274319" lvl="1" marL="548640" rtl="0" algn="l">
              <a:spcBef>
                <a:spcPts val="500"/>
              </a:spcBef>
              <a:spcAft>
                <a:spcPts val="0"/>
              </a:spcAft>
              <a:buSzPts val="2432"/>
              <a:buChar char="🞂"/>
            </a:pPr>
            <a:r>
              <a:rPr lang="en-US" sz="3200"/>
              <a:t>drawing line between classes</a:t>
            </a:r>
            <a:endParaRPr/>
          </a:p>
          <a:p>
            <a:pPr indent="-274319" lvl="1" marL="548640" rtl="0" algn="l">
              <a:spcBef>
                <a:spcPts val="500"/>
              </a:spcBef>
              <a:spcAft>
                <a:spcPts val="0"/>
              </a:spcAft>
              <a:buSzPts val="2432"/>
              <a:buChar char="🞂"/>
            </a:pPr>
            <a:r>
              <a:rPr lang="en-US" sz="3200"/>
              <a:t>indicating with a plus sign before the role name</a:t>
            </a:r>
            <a:endParaRPr/>
          </a:p>
        </p:txBody>
      </p:sp>
      <p:sp>
        <p:nvSpPr>
          <p:cNvPr id="416" name="Google Shape;416;p27"/>
          <p:cNvSpPr/>
          <p:nvPr/>
        </p:nvSpPr>
        <p:spPr>
          <a:xfrm>
            <a:off x="990600" y="3962400"/>
            <a:ext cx="1752600" cy="533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417" name="Google Shape;417;p27"/>
          <p:cNvSpPr txBox="1"/>
          <p:nvPr/>
        </p:nvSpPr>
        <p:spPr>
          <a:xfrm>
            <a:off x="1066800" y="4038600"/>
            <a:ext cx="152400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Patient</a:t>
            </a:r>
            <a:endParaRPr/>
          </a:p>
        </p:txBody>
      </p:sp>
      <p:cxnSp>
        <p:nvCxnSpPr>
          <p:cNvPr id="418" name="Google Shape;418;p27"/>
          <p:cNvCxnSpPr/>
          <p:nvPr/>
        </p:nvCxnSpPr>
        <p:spPr>
          <a:xfrm>
            <a:off x="2743200" y="4267200"/>
            <a:ext cx="1371600" cy="0"/>
          </a:xfrm>
          <a:prstGeom prst="straightConnector1">
            <a:avLst/>
          </a:prstGeom>
          <a:noFill/>
          <a:ln cap="flat" cmpd="sng" w="9525">
            <a:solidFill>
              <a:schemeClr val="dk1"/>
            </a:solidFill>
            <a:prstDash val="solid"/>
            <a:round/>
            <a:headEnd len="med" w="med" type="none"/>
            <a:tailEnd len="med" w="med" type="none"/>
          </a:ln>
        </p:spPr>
      </p:cxnSp>
      <p:cxnSp>
        <p:nvCxnSpPr>
          <p:cNvPr id="419" name="Google Shape;419;p27"/>
          <p:cNvCxnSpPr/>
          <p:nvPr/>
        </p:nvCxnSpPr>
        <p:spPr>
          <a:xfrm>
            <a:off x="4114800" y="4267200"/>
            <a:ext cx="0" cy="1447800"/>
          </a:xfrm>
          <a:prstGeom prst="straightConnector1">
            <a:avLst/>
          </a:prstGeom>
          <a:noFill/>
          <a:ln cap="flat" cmpd="sng" w="9525">
            <a:solidFill>
              <a:schemeClr val="dk1"/>
            </a:solidFill>
            <a:prstDash val="solid"/>
            <a:round/>
            <a:headEnd len="med" w="med" type="none"/>
            <a:tailEnd len="med" w="med" type="none"/>
          </a:ln>
        </p:spPr>
      </p:cxnSp>
      <p:cxnSp>
        <p:nvCxnSpPr>
          <p:cNvPr id="420" name="Google Shape;420;p27"/>
          <p:cNvCxnSpPr/>
          <p:nvPr/>
        </p:nvCxnSpPr>
        <p:spPr>
          <a:xfrm rot="10800000">
            <a:off x="2133600" y="5715000"/>
            <a:ext cx="1981200" cy="0"/>
          </a:xfrm>
          <a:prstGeom prst="straightConnector1">
            <a:avLst/>
          </a:prstGeom>
          <a:noFill/>
          <a:ln cap="flat" cmpd="sng" w="9525">
            <a:solidFill>
              <a:schemeClr val="dk1"/>
            </a:solidFill>
            <a:prstDash val="solid"/>
            <a:round/>
            <a:headEnd len="med" w="med" type="none"/>
            <a:tailEnd len="med" w="med" type="none"/>
          </a:ln>
        </p:spPr>
      </p:cxnSp>
      <p:cxnSp>
        <p:nvCxnSpPr>
          <p:cNvPr id="421" name="Google Shape;421;p27"/>
          <p:cNvCxnSpPr/>
          <p:nvPr/>
        </p:nvCxnSpPr>
        <p:spPr>
          <a:xfrm rot="10800000">
            <a:off x="2133600" y="4495800"/>
            <a:ext cx="0" cy="1219200"/>
          </a:xfrm>
          <a:prstGeom prst="straightConnector1">
            <a:avLst/>
          </a:prstGeom>
          <a:noFill/>
          <a:ln cap="flat" cmpd="sng" w="9525">
            <a:solidFill>
              <a:schemeClr val="dk1"/>
            </a:solidFill>
            <a:prstDash val="solid"/>
            <a:round/>
            <a:headEnd len="med" w="med" type="none"/>
            <a:tailEnd len="med" w="med" type="none"/>
          </a:ln>
        </p:spPr>
      </p:cxnSp>
      <p:sp>
        <p:nvSpPr>
          <p:cNvPr id="422" name="Google Shape;422;p27"/>
          <p:cNvSpPr txBox="1"/>
          <p:nvPr/>
        </p:nvSpPr>
        <p:spPr>
          <a:xfrm>
            <a:off x="4191000" y="4724400"/>
            <a:ext cx="312420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 primary insurance carrier</a:t>
            </a:r>
            <a:endParaRPr/>
          </a:p>
        </p:txBody>
      </p:sp>
      <p:pic>
        <p:nvPicPr>
          <p:cNvPr descr="brac.png" id="423" name="Google Shape;423;p27"/>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28"/>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Aggregation Relationship</a:t>
            </a:r>
            <a:endParaRPr/>
          </a:p>
        </p:txBody>
      </p:sp>
      <p:sp>
        <p:nvSpPr>
          <p:cNvPr id="430" name="Google Shape;430;p28"/>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736"/>
              <a:buChar char="🞂"/>
            </a:pPr>
            <a:r>
              <a:rPr lang="en-US" sz="3600"/>
              <a:t>Specialized form of association in which a whole is related to its part(s)</a:t>
            </a:r>
            <a:endParaRPr/>
          </a:p>
          <a:p>
            <a:pPr indent="-274320" lvl="0" marL="274320" rtl="0" algn="l">
              <a:spcBef>
                <a:spcPts val="600"/>
              </a:spcBef>
              <a:spcAft>
                <a:spcPts val="0"/>
              </a:spcAft>
              <a:buSzPts val="2736"/>
              <a:buChar char="🞂"/>
            </a:pPr>
            <a:r>
              <a:rPr lang="en-US" sz="3600"/>
              <a:t>Represented by </a:t>
            </a:r>
            <a:r>
              <a:rPr i="1" lang="en-US" sz="3600"/>
              <a:t>a-part-of</a:t>
            </a:r>
            <a:r>
              <a:rPr lang="en-US" sz="3600"/>
              <a:t> relationship</a:t>
            </a:r>
            <a:endParaRPr/>
          </a:p>
          <a:p>
            <a:pPr indent="-274320" lvl="0" marL="274320" rtl="0" algn="l">
              <a:spcBef>
                <a:spcPts val="600"/>
              </a:spcBef>
              <a:spcAft>
                <a:spcPts val="0"/>
              </a:spcAft>
              <a:buSzPts val="2736"/>
              <a:buChar char="🞂"/>
            </a:pPr>
            <a:r>
              <a:rPr lang="en-US" sz="3600"/>
              <a:t>Specifies a whole-part relationship between an aggregate (a whole) and a constituent part, where the part can exist independently from the aggregate.</a:t>
            </a:r>
            <a:endParaRPr sz="3600"/>
          </a:p>
        </p:txBody>
      </p:sp>
      <p:pic>
        <p:nvPicPr>
          <p:cNvPr descr="brac.png" id="431" name="Google Shape;431;p28"/>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2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Aggregation Relationship</a:t>
            </a:r>
            <a:endParaRPr/>
          </a:p>
        </p:txBody>
      </p:sp>
      <p:sp>
        <p:nvSpPr>
          <p:cNvPr id="438" name="Google Shape;438;p29"/>
          <p:cNvSpPr txBox="1"/>
          <p:nvPr>
            <p:ph idx="1" type="body"/>
          </p:nvPr>
        </p:nvSpPr>
        <p:spPr>
          <a:xfrm>
            <a:off x="457200" y="1417638"/>
            <a:ext cx="8229600" cy="452596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736"/>
              <a:buChar char="🞂"/>
            </a:pPr>
            <a:r>
              <a:rPr lang="en-US" sz="3600"/>
              <a:t>Aggregations are denoted by a hollow-diamond adornment on the association.</a:t>
            </a:r>
            <a:endParaRPr sz="3600"/>
          </a:p>
        </p:txBody>
      </p:sp>
      <p:grpSp>
        <p:nvGrpSpPr>
          <p:cNvPr id="439" name="Google Shape;439;p29"/>
          <p:cNvGrpSpPr/>
          <p:nvPr/>
        </p:nvGrpSpPr>
        <p:grpSpPr>
          <a:xfrm>
            <a:off x="914400" y="4267200"/>
            <a:ext cx="7086600" cy="1447800"/>
            <a:chOff x="576" y="2496"/>
            <a:chExt cx="4464" cy="912"/>
          </a:xfrm>
        </p:grpSpPr>
        <p:sp>
          <p:nvSpPr>
            <p:cNvPr id="440" name="Google Shape;440;p29"/>
            <p:cNvSpPr/>
            <p:nvPr/>
          </p:nvSpPr>
          <p:spPr>
            <a:xfrm>
              <a:off x="576" y="2496"/>
              <a:ext cx="1344" cy="912"/>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Car</a:t>
              </a:r>
              <a:endParaRPr/>
            </a:p>
          </p:txBody>
        </p:sp>
        <p:grpSp>
          <p:nvGrpSpPr>
            <p:cNvPr id="441" name="Google Shape;441;p29"/>
            <p:cNvGrpSpPr/>
            <p:nvPr/>
          </p:nvGrpSpPr>
          <p:grpSpPr>
            <a:xfrm>
              <a:off x="1920" y="2544"/>
              <a:ext cx="3120" cy="336"/>
              <a:chOff x="1920" y="2544"/>
              <a:chExt cx="3120" cy="336"/>
            </a:xfrm>
          </p:grpSpPr>
          <p:sp>
            <p:nvSpPr>
              <p:cNvPr id="442" name="Google Shape;442;p29"/>
              <p:cNvSpPr/>
              <p:nvPr/>
            </p:nvSpPr>
            <p:spPr>
              <a:xfrm>
                <a:off x="3504" y="2544"/>
                <a:ext cx="1536" cy="33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Engine</a:t>
                </a:r>
                <a:endParaRPr/>
              </a:p>
            </p:txBody>
          </p:sp>
          <p:grpSp>
            <p:nvGrpSpPr>
              <p:cNvPr id="443" name="Google Shape;443;p29"/>
              <p:cNvGrpSpPr/>
              <p:nvPr/>
            </p:nvGrpSpPr>
            <p:grpSpPr>
              <a:xfrm>
                <a:off x="1920" y="2736"/>
                <a:ext cx="1584" cy="96"/>
                <a:chOff x="2016" y="2640"/>
                <a:chExt cx="1584" cy="96"/>
              </a:xfrm>
            </p:grpSpPr>
            <p:cxnSp>
              <p:nvCxnSpPr>
                <p:cNvPr id="444" name="Google Shape;444;p29"/>
                <p:cNvCxnSpPr/>
                <p:nvPr/>
              </p:nvCxnSpPr>
              <p:spPr>
                <a:xfrm>
                  <a:off x="2208" y="2688"/>
                  <a:ext cx="1392" cy="0"/>
                </a:xfrm>
                <a:prstGeom prst="straightConnector1">
                  <a:avLst/>
                </a:prstGeom>
                <a:noFill/>
                <a:ln cap="flat" cmpd="sng" w="28575">
                  <a:solidFill>
                    <a:schemeClr val="dk1"/>
                  </a:solidFill>
                  <a:prstDash val="solid"/>
                  <a:round/>
                  <a:headEnd len="sm" w="sm" type="none"/>
                  <a:tailEnd len="med" w="med" type="none"/>
                </a:ln>
              </p:spPr>
            </p:cxnSp>
            <p:sp>
              <p:nvSpPr>
                <p:cNvPr id="445" name="Google Shape;445;p29"/>
                <p:cNvSpPr/>
                <p:nvPr/>
              </p:nvSpPr>
              <p:spPr>
                <a:xfrm>
                  <a:off x="2016" y="2640"/>
                  <a:ext cx="192" cy="96"/>
                </a:xfrm>
                <a:custGeom>
                  <a:rect b="b" l="l" r="r" t="t"/>
                  <a:pathLst>
                    <a:path extrusionOk="0" h="96" w="192">
                      <a:moveTo>
                        <a:pt x="0" y="48"/>
                      </a:moveTo>
                      <a:lnTo>
                        <a:pt x="96" y="0"/>
                      </a:lnTo>
                      <a:lnTo>
                        <a:pt x="192" y="48"/>
                      </a:lnTo>
                      <a:lnTo>
                        <a:pt x="96" y="96"/>
                      </a:lnTo>
                      <a:lnTo>
                        <a:pt x="0" y="48"/>
                      </a:lnTo>
                      <a:close/>
                    </a:path>
                  </a:pathLst>
                </a:cu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grpSp>
        </p:grpSp>
        <p:grpSp>
          <p:nvGrpSpPr>
            <p:cNvPr id="446" name="Google Shape;446;p29"/>
            <p:cNvGrpSpPr/>
            <p:nvPr/>
          </p:nvGrpSpPr>
          <p:grpSpPr>
            <a:xfrm>
              <a:off x="1920" y="2976"/>
              <a:ext cx="3120" cy="336"/>
              <a:chOff x="1920" y="2976"/>
              <a:chExt cx="3120" cy="336"/>
            </a:xfrm>
          </p:grpSpPr>
          <p:cxnSp>
            <p:nvCxnSpPr>
              <p:cNvPr id="447" name="Google Shape;447;p29"/>
              <p:cNvCxnSpPr/>
              <p:nvPr/>
            </p:nvCxnSpPr>
            <p:spPr>
              <a:xfrm>
                <a:off x="2112" y="3120"/>
                <a:ext cx="1392" cy="0"/>
              </a:xfrm>
              <a:prstGeom prst="straightConnector1">
                <a:avLst/>
              </a:prstGeom>
              <a:noFill/>
              <a:ln cap="flat" cmpd="sng" w="28575">
                <a:solidFill>
                  <a:schemeClr val="dk1"/>
                </a:solidFill>
                <a:prstDash val="solid"/>
                <a:round/>
                <a:headEnd len="sm" w="sm" type="none"/>
                <a:tailEnd len="med" w="med" type="none"/>
              </a:ln>
            </p:spPr>
          </p:cxnSp>
          <p:sp>
            <p:nvSpPr>
              <p:cNvPr id="448" name="Google Shape;448;p29"/>
              <p:cNvSpPr/>
              <p:nvPr/>
            </p:nvSpPr>
            <p:spPr>
              <a:xfrm>
                <a:off x="1920" y="3072"/>
                <a:ext cx="192" cy="96"/>
              </a:xfrm>
              <a:custGeom>
                <a:rect b="b" l="l" r="r" t="t"/>
                <a:pathLst>
                  <a:path extrusionOk="0" h="96" w="192">
                    <a:moveTo>
                      <a:pt x="0" y="48"/>
                    </a:moveTo>
                    <a:lnTo>
                      <a:pt x="96" y="0"/>
                    </a:lnTo>
                    <a:lnTo>
                      <a:pt x="192" y="48"/>
                    </a:lnTo>
                    <a:lnTo>
                      <a:pt x="96" y="96"/>
                    </a:lnTo>
                    <a:lnTo>
                      <a:pt x="0" y="48"/>
                    </a:lnTo>
                    <a:close/>
                  </a:path>
                </a:pathLst>
              </a:cu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449" name="Google Shape;449;p29"/>
              <p:cNvSpPr/>
              <p:nvPr/>
            </p:nvSpPr>
            <p:spPr>
              <a:xfrm>
                <a:off x="3504" y="2976"/>
                <a:ext cx="1536" cy="33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Transmission</a:t>
                </a:r>
                <a:endParaRPr/>
              </a:p>
            </p:txBody>
          </p:sp>
        </p:grpSp>
      </p:grpSp>
      <p:pic>
        <p:nvPicPr>
          <p:cNvPr descr="brac.png" id="450" name="Google Shape;450;p29"/>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30"/>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Composition Relationship</a:t>
            </a:r>
            <a:endParaRPr/>
          </a:p>
        </p:txBody>
      </p:sp>
      <p:sp>
        <p:nvSpPr>
          <p:cNvPr id="457" name="Google Shape;457;p30"/>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128"/>
              <a:buChar char="🞂"/>
            </a:pPr>
            <a:r>
              <a:rPr lang="en-US" sz="2800"/>
              <a:t>A </a:t>
            </a:r>
            <a:r>
              <a:rPr i="1" lang="en-US" sz="2800"/>
              <a:t>composition </a:t>
            </a:r>
            <a:r>
              <a:rPr lang="en-US" sz="2800"/>
              <a:t>indicates a strong ownership and coincident lifetime of parts by the whole (</a:t>
            </a:r>
            <a:r>
              <a:rPr i="1" lang="en-US" sz="2800"/>
              <a:t>i.e.,</a:t>
            </a:r>
            <a:r>
              <a:rPr lang="en-US" sz="2800"/>
              <a:t> they live and die as a whole). Compositions are denoted by a filled-diamond adornment on the association</a:t>
            </a:r>
            <a:endParaRPr/>
          </a:p>
          <a:p>
            <a:pPr indent="-148844" lvl="0" marL="274320" rtl="0" algn="l">
              <a:spcBef>
                <a:spcPts val="600"/>
              </a:spcBef>
              <a:spcAft>
                <a:spcPts val="0"/>
              </a:spcAft>
              <a:buSzPts val="1976"/>
              <a:buNone/>
            </a:pPr>
            <a:r>
              <a:t/>
            </a:r>
            <a:endParaRPr/>
          </a:p>
        </p:txBody>
      </p:sp>
      <p:sp>
        <p:nvSpPr>
          <p:cNvPr id="458" name="Google Shape;458;p30"/>
          <p:cNvSpPr/>
          <p:nvPr/>
        </p:nvSpPr>
        <p:spPr>
          <a:xfrm>
            <a:off x="838200" y="3763963"/>
            <a:ext cx="2133600" cy="23622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Window</a:t>
            </a:r>
            <a:endParaRPr/>
          </a:p>
        </p:txBody>
      </p:sp>
      <p:grpSp>
        <p:nvGrpSpPr>
          <p:cNvPr id="459" name="Google Shape;459;p30"/>
          <p:cNvGrpSpPr/>
          <p:nvPr/>
        </p:nvGrpSpPr>
        <p:grpSpPr>
          <a:xfrm>
            <a:off x="2971800" y="3763963"/>
            <a:ext cx="5562600" cy="685800"/>
            <a:chOff x="1824" y="2760"/>
            <a:chExt cx="3504" cy="432"/>
          </a:xfrm>
        </p:grpSpPr>
        <p:grpSp>
          <p:nvGrpSpPr>
            <p:cNvPr id="460" name="Google Shape;460;p30"/>
            <p:cNvGrpSpPr/>
            <p:nvPr/>
          </p:nvGrpSpPr>
          <p:grpSpPr>
            <a:xfrm>
              <a:off x="1824" y="2930"/>
              <a:ext cx="1755" cy="110"/>
              <a:chOff x="1920" y="2736"/>
              <a:chExt cx="1584" cy="96"/>
            </a:xfrm>
          </p:grpSpPr>
          <p:cxnSp>
            <p:nvCxnSpPr>
              <p:cNvPr id="461" name="Google Shape;461;p30"/>
              <p:cNvCxnSpPr/>
              <p:nvPr/>
            </p:nvCxnSpPr>
            <p:spPr>
              <a:xfrm>
                <a:off x="2112" y="2784"/>
                <a:ext cx="1392" cy="0"/>
              </a:xfrm>
              <a:prstGeom prst="straightConnector1">
                <a:avLst/>
              </a:prstGeom>
              <a:noFill/>
              <a:ln cap="flat" cmpd="sng" w="28575">
                <a:solidFill>
                  <a:schemeClr val="dk1"/>
                </a:solidFill>
                <a:prstDash val="solid"/>
                <a:round/>
                <a:headEnd len="sm" w="sm" type="none"/>
                <a:tailEnd len="med" w="med" type="none"/>
              </a:ln>
            </p:spPr>
          </p:cxnSp>
          <p:sp>
            <p:nvSpPr>
              <p:cNvPr id="462" name="Google Shape;462;p30"/>
              <p:cNvSpPr/>
              <p:nvPr/>
            </p:nvSpPr>
            <p:spPr>
              <a:xfrm>
                <a:off x="1920" y="2736"/>
                <a:ext cx="192" cy="96"/>
              </a:xfrm>
              <a:custGeom>
                <a:rect b="b" l="l" r="r" t="t"/>
                <a:pathLst>
                  <a:path extrusionOk="0" h="96" w="192">
                    <a:moveTo>
                      <a:pt x="0" y="48"/>
                    </a:moveTo>
                    <a:lnTo>
                      <a:pt x="96" y="0"/>
                    </a:lnTo>
                    <a:lnTo>
                      <a:pt x="192" y="48"/>
                    </a:lnTo>
                    <a:lnTo>
                      <a:pt x="96" y="96"/>
                    </a:lnTo>
                    <a:lnTo>
                      <a:pt x="0" y="48"/>
                    </a:lnTo>
                    <a:close/>
                  </a:path>
                </a:pathLst>
              </a:custGeom>
              <a:solidFill>
                <a:schemeClr val="dk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grpSp>
        <p:sp>
          <p:nvSpPr>
            <p:cNvPr id="463" name="Google Shape;463;p30"/>
            <p:cNvSpPr/>
            <p:nvPr/>
          </p:nvSpPr>
          <p:spPr>
            <a:xfrm>
              <a:off x="3552" y="2760"/>
              <a:ext cx="1776" cy="432"/>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Scrollbar</a:t>
              </a:r>
              <a:endParaRPr/>
            </a:p>
          </p:txBody>
        </p:sp>
      </p:grpSp>
      <p:grpSp>
        <p:nvGrpSpPr>
          <p:cNvPr id="464" name="Google Shape;464;p30"/>
          <p:cNvGrpSpPr/>
          <p:nvPr/>
        </p:nvGrpSpPr>
        <p:grpSpPr>
          <a:xfrm>
            <a:off x="2971800" y="4602163"/>
            <a:ext cx="5562600" cy="685800"/>
            <a:chOff x="1824" y="2760"/>
            <a:chExt cx="3504" cy="432"/>
          </a:xfrm>
        </p:grpSpPr>
        <p:grpSp>
          <p:nvGrpSpPr>
            <p:cNvPr id="465" name="Google Shape;465;p30"/>
            <p:cNvGrpSpPr/>
            <p:nvPr/>
          </p:nvGrpSpPr>
          <p:grpSpPr>
            <a:xfrm>
              <a:off x="1824" y="2930"/>
              <a:ext cx="1755" cy="110"/>
              <a:chOff x="1920" y="2736"/>
              <a:chExt cx="1584" cy="96"/>
            </a:xfrm>
          </p:grpSpPr>
          <p:cxnSp>
            <p:nvCxnSpPr>
              <p:cNvPr id="466" name="Google Shape;466;p30"/>
              <p:cNvCxnSpPr/>
              <p:nvPr/>
            </p:nvCxnSpPr>
            <p:spPr>
              <a:xfrm>
                <a:off x="2112" y="2784"/>
                <a:ext cx="1392" cy="0"/>
              </a:xfrm>
              <a:prstGeom prst="straightConnector1">
                <a:avLst/>
              </a:prstGeom>
              <a:noFill/>
              <a:ln cap="flat" cmpd="sng" w="28575">
                <a:solidFill>
                  <a:schemeClr val="dk1"/>
                </a:solidFill>
                <a:prstDash val="solid"/>
                <a:round/>
                <a:headEnd len="sm" w="sm" type="none"/>
                <a:tailEnd len="med" w="med" type="none"/>
              </a:ln>
            </p:spPr>
          </p:cxnSp>
          <p:sp>
            <p:nvSpPr>
              <p:cNvPr id="467" name="Google Shape;467;p30"/>
              <p:cNvSpPr/>
              <p:nvPr/>
            </p:nvSpPr>
            <p:spPr>
              <a:xfrm>
                <a:off x="1920" y="2736"/>
                <a:ext cx="192" cy="96"/>
              </a:xfrm>
              <a:custGeom>
                <a:rect b="b" l="l" r="r" t="t"/>
                <a:pathLst>
                  <a:path extrusionOk="0" h="96" w="192">
                    <a:moveTo>
                      <a:pt x="0" y="48"/>
                    </a:moveTo>
                    <a:lnTo>
                      <a:pt x="96" y="0"/>
                    </a:lnTo>
                    <a:lnTo>
                      <a:pt x="192" y="48"/>
                    </a:lnTo>
                    <a:lnTo>
                      <a:pt x="96" y="96"/>
                    </a:lnTo>
                    <a:lnTo>
                      <a:pt x="0" y="48"/>
                    </a:lnTo>
                    <a:close/>
                  </a:path>
                </a:pathLst>
              </a:custGeom>
              <a:solidFill>
                <a:schemeClr val="dk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grpSp>
        <p:sp>
          <p:nvSpPr>
            <p:cNvPr id="468" name="Google Shape;468;p30"/>
            <p:cNvSpPr/>
            <p:nvPr/>
          </p:nvSpPr>
          <p:spPr>
            <a:xfrm>
              <a:off x="3552" y="2760"/>
              <a:ext cx="1776" cy="432"/>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Titlebar</a:t>
              </a:r>
              <a:endParaRPr/>
            </a:p>
          </p:txBody>
        </p:sp>
      </p:grpSp>
      <p:grpSp>
        <p:nvGrpSpPr>
          <p:cNvPr id="469" name="Google Shape;469;p30"/>
          <p:cNvGrpSpPr/>
          <p:nvPr/>
        </p:nvGrpSpPr>
        <p:grpSpPr>
          <a:xfrm>
            <a:off x="2971800" y="5440363"/>
            <a:ext cx="5562600" cy="685800"/>
            <a:chOff x="1824" y="2760"/>
            <a:chExt cx="3504" cy="432"/>
          </a:xfrm>
        </p:grpSpPr>
        <p:grpSp>
          <p:nvGrpSpPr>
            <p:cNvPr id="470" name="Google Shape;470;p30"/>
            <p:cNvGrpSpPr/>
            <p:nvPr/>
          </p:nvGrpSpPr>
          <p:grpSpPr>
            <a:xfrm>
              <a:off x="1824" y="2930"/>
              <a:ext cx="1755" cy="110"/>
              <a:chOff x="1920" y="2736"/>
              <a:chExt cx="1584" cy="96"/>
            </a:xfrm>
          </p:grpSpPr>
          <p:cxnSp>
            <p:nvCxnSpPr>
              <p:cNvPr id="471" name="Google Shape;471;p30"/>
              <p:cNvCxnSpPr/>
              <p:nvPr/>
            </p:nvCxnSpPr>
            <p:spPr>
              <a:xfrm>
                <a:off x="2112" y="2784"/>
                <a:ext cx="1392" cy="0"/>
              </a:xfrm>
              <a:prstGeom prst="straightConnector1">
                <a:avLst/>
              </a:prstGeom>
              <a:noFill/>
              <a:ln cap="flat" cmpd="sng" w="28575">
                <a:solidFill>
                  <a:schemeClr val="dk1"/>
                </a:solidFill>
                <a:prstDash val="solid"/>
                <a:round/>
                <a:headEnd len="sm" w="sm" type="none"/>
                <a:tailEnd len="med" w="med" type="none"/>
              </a:ln>
            </p:spPr>
          </p:cxnSp>
          <p:sp>
            <p:nvSpPr>
              <p:cNvPr id="472" name="Google Shape;472;p30"/>
              <p:cNvSpPr/>
              <p:nvPr/>
            </p:nvSpPr>
            <p:spPr>
              <a:xfrm>
                <a:off x="1920" y="2736"/>
                <a:ext cx="192" cy="96"/>
              </a:xfrm>
              <a:custGeom>
                <a:rect b="b" l="l" r="r" t="t"/>
                <a:pathLst>
                  <a:path extrusionOk="0" h="96" w="192">
                    <a:moveTo>
                      <a:pt x="0" y="48"/>
                    </a:moveTo>
                    <a:lnTo>
                      <a:pt x="96" y="0"/>
                    </a:lnTo>
                    <a:lnTo>
                      <a:pt x="192" y="48"/>
                    </a:lnTo>
                    <a:lnTo>
                      <a:pt x="96" y="96"/>
                    </a:lnTo>
                    <a:lnTo>
                      <a:pt x="0" y="48"/>
                    </a:lnTo>
                    <a:close/>
                  </a:path>
                </a:pathLst>
              </a:custGeom>
              <a:solidFill>
                <a:schemeClr val="dk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grpSp>
        <p:sp>
          <p:nvSpPr>
            <p:cNvPr id="473" name="Google Shape;473;p30"/>
            <p:cNvSpPr/>
            <p:nvPr/>
          </p:nvSpPr>
          <p:spPr>
            <a:xfrm>
              <a:off x="3552" y="2760"/>
              <a:ext cx="1776" cy="432"/>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Menu</a:t>
              </a:r>
              <a:endParaRPr/>
            </a:p>
          </p:txBody>
        </p:sp>
      </p:grpSp>
      <p:pic>
        <p:nvPicPr>
          <p:cNvPr descr="brac.png" id="474" name="Google Shape;474;p30"/>
          <p:cNvPicPr preferRelativeResize="0"/>
          <p:nvPr/>
        </p:nvPicPr>
        <p:blipFill rotWithShape="1">
          <a:blip r:embed="rId3">
            <a:alphaModFix/>
          </a:blip>
          <a:srcRect b="0" l="0" r="0" t="0"/>
          <a:stretch/>
        </p:blipFill>
        <p:spPr>
          <a:xfrm>
            <a:off x="7884368" y="0"/>
            <a:ext cx="1259632" cy="1124744"/>
          </a:xfrm>
          <a:prstGeom prst="rect">
            <a:avLst/>
          </a:prstGeom>
          <a:noFill/>
          <a:ln>
            <a:noFill/>
          </a:ln>
        </p:spPr>
      </p:pic>
    </p:spTree>
  </p:cSld>
  <p:clrMapOvr>
    <a:masterClrMapping/>
  </p:clrMapOvr>
  <p:transition>
    <p:fade/>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31"/>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Generalization Relationship</a:t>
            </a:r>
            <a:endParaRPr/>
          </a:p>
        </p:txBody>
      </p:sp>
      <p:sp>
        <p:nvSpPr>
          <p:cNvPr id="481" name="Google Shape;481;p31"/>
          <p:cNvSpPr txBox="1"/>
          <p:nvPr>
            <p:ph idx="1" type="body"/>
          </p:nvPr>
        </p:nvSpPr>
        <p:spPr>
          <a:xfrm>
            <a:off x="457200" y="1600200"/>
            <a:ext cx="8458200" cy="35814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736"/>
              <a:buChar char="🞂"/>
            </a:pPr>
            <a:r>
              <a:rPr lang="en-US" sz="3600"/>
              <a:t>Enables the analyst to create classes that inherit attributes and operations of other classes</a:t>
            </a:r>
            <a:endParaRPr/>
          </a:p>
          <a:p>
            <a:pPr indent="-274320" lvl="0" marL="274320" rtl="0" algn="l">
              <a:spcBef>
                <a:spcPts val="600"/>
              </a:spcBef>
              <a:spcAft>
                <a:spcPts val="0"/>
              </a:spcAft>
              <a:buSzPts val="2736"/>
              <a:buChar char="🞂"/>
            </a:pPr>
            <a:r>
              <a:rPr lang="en-US" sz="3600"/>
              <a:t>Represented by </a:t>
            </a:r>
            <a:r>
              <a:rPr i="1" lang="en-US" sz="3600"/>
              <a:t>a-kind-of</a:t>
            </a:r>
            <a:r>
              <a:rPr lang="en-US" sz="3600"/>
              <a:t> relationship</a:t>
            </a:r>
            <a:endParaRPr/>
          </a:p>
        </p:txBody>
      </p:sp>
      <p:pic>
        <p:nvPicPr>
          <p:cNvPr descr="brac.png" id="482" name="Google Shape;482;p31"/>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32"/>
          <p:cNvSpPr txBox="1"/>
          <p:nvPr>
            <p:ph idx="11" type="ftr"/>
          </p:nvPr>
        </p:nvSpPr>
        <p:spPr>
          <a:xfrm>
            <a:off x="2362200" y="6400800"/>
            <a:ext cx="40386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Software Design (UML)</a:t>
            </a:r>
            <a:endParaRPr/>
          </a:p>
        </p:txBody>
      </p:sp>
      <p:sp>
        <p:nvSpPr>
          <p:cNvPr id="488" name="Google Shape;488;p32"/>
          <p:cNvSpPr txBox="1"/>
          <p:nvPr>
            <p:ph type="title"/>
          </p:nvPr>
        </p:nvSpPr>
        <p:spPr>
          <a:xfrm>
            <a:off x="685800" y="381000"/>
            <a:ext cx="7848600" cy="5334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Bookman Old Style"/>
              <a:buNone/>
            </a:pPr>
            <a:r>
              <a:rPr lang="en-US"/>
              <a:t>Generalization Relationships</a:t>
            </a:r>
            <a:endParaRPr/>
          </a:p>
        </p:txBody>
      </p:sp>
      <p:sp>
        <p:nvSpPr>
          <p:cNvPr id="489" name="Google Shape;489;p32"/>
          <p:cNvSpPr/>
          <p:nvPr/>
        </p:nvSpPr>
        <p:spPr>
          <a:xfrm>
            <a:off x="660400" y="1727200"/>
            <a:ext cx="2438400" cy="762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Person</a:t>
            </a:r>
            <a:endParaRPr/>
          </a:p>
        </p:txBody>
      </p:sp>
      <p:sp>
        <p:nvSpPr>
          <p:cNvPr id="490" name="Google Shape;490;p32"/>
          <p:cNvSpPr txBox="1"/>
          <p:nvPr/>
        </p:nvSpPr>
        <p:spPr>
          <a:xfrm>
            <a:off x="3810000" y="2209800"/>
            <a:ext cx="5085046"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Gill Sans"/>
                <a:ea typeface="Gill Sans"/>
                <a:cs typeface="Gill Sans"/>
                <a:sym typeface="Gill Sans"/>
              </a:rPr>
              <a:t>A </a:t>
            </a:r>
            <a:r>
              <a:rPr i="1" lang="en-US" sz="2400">
                <a:solidFill>
                  <a:schemeClr val="dk1"/>
                </a:solidFill>
                <a:latin typeface="Gill Sans"/>
                <a:ea typeface="Gill Sans"/>
                <a:cs typeface="Gill Sans"/>
                <a:sym typeface="Gill Sans"/>
              </a:rPr>
              <a:t>generalization</a:t>
            </a:r>
            <a:r>
              <a:rPr lang="en-US" sz="2400">
                <a:solidFill>
                  <a:schemeClr val="dk1"/>
                </a:solidFill>
                <a:latin typeface="Gill Sans"/>
                <a:ea typeface="Gill Sans"/>
                <a:cs typeface="Gill Sans"/>
                <a:sym typeface="Gill Sans"/>
              </a:rPr>
              <a:t> connects a subclass</a:t>
            </a:r>
            <a:endParaRPr/>
          </a:p>
          <a:p>
            <a:pPr indent="0" lvl="0" marL="0" marR="0" rtl="0" algn="l">
              <a:spcBef>
                <a:spcPts val="0"/>
              </a:spcBef>
              <a:spcAft>
                <a:spcPts val="0"/>
              </a:spcAft>
              <a:buNone/>
            </a:pPr>
            <a:r>
              <a:rPr lang="en-US" sz="2400">
                <a:solidFill>
                  <a:schemeClr val="dk1"/>
                </a:solidFill>
                <a:latin typeface="Gill Sans"/>
                <a:ea typeface="Gill Sans"/>
                <a:cs typeface="Gill Sans"/>
                <a:sym typeface="Gill Sans"/>
              </a:rPr>
              <a:t>to its superclass. It denotes an </a:t>
            </a:r>
            <a:endParaRPr/>
          </a:p>
          <a:p>
            <a:pPr indent="0" lvl="0" marL="0" marR="0" rtl="0" algn="l">
              <a:spcBef>
                <a:spcPts val="0"/>
              </a:spcBef>
              <a:spcAft>
                <a:spcPts val="0"/>
              </a:spcAft>
              <a:buNone/>
            </a:pPr>
            <a:r>
              <a:rPr lang="en-US" sz="2400">
                <a:solidFill>
                  <a:schemeClr val="dk1"/>
                </a:solidFill>
                <a:latin typeface="Gill Sans"/>
                <a:ea typeface="Gill Sans"/>
                <a:cs typeface="Gill Sans"/>
                <a:sym typeface="Gill Sans"/>
              </a:rPr>
              <a:t>inheritance of attributes and behavior</a:t>
            </a:r>
            <a:endParaRPr/>
          </a:p>
          <a:p>
            <a:pPr indent="0" lvl="0" marL="0" marR="0" rtl="0" algn="l">
              <a:spcBef>
                <a:spcPts val="0"/>
              </a:spcBef>
              <a:spcAft>
                <a:spcPts val="0"/>
              </a:spcAft>
              <a:buNone/>
            </a:pPr>
            <a:r>
              <a:rPr lang="en-US" sz="2400">
                <a:solidFill>
                  <a:schemeClr val="dk1"/>
                </a:solidFill>
                <a:latin typeface="Gill Sans"/>
                <a:ea typeface="Gill Sans"/>
                <a:cs typeface="Gill Sans"/>
                <a:sym typeface="Gill Sans"/>
              </a:rPr>
              <a:t>from the superclass to the subclass and</a:t>
            </a:r>
            <a:endParaRPr/>
          </a:p>
          <a:p>
            <a:pPr indent="0" lvl="0" marL="0" marR="0" rtl="0" algn="l">
              <a:spcBef>
                <a:spcPts val="0"/>
              </a:spcBef>
              <a:spcAft>
                <a:spcPts val="0"/>
              </a:spcAft>
              <a:buNone/>
            </a:pPr>
            <a:r>
              <a:rPr lang="en-US" sz="2400">
                <a:solidFill>
                  <a:schemeClr val="dk1"/>
                </a:solidFill>
                <a:latin typeface="Gill Sans"/>
                <a:ea typeface="Gill Sans"/>
                <a:cs typeface="Gill Sans"/>
                <a:sym typeface="Gill Sans"/>
              </a:rPr>
              <a:t>indicates a specialization in the subclass</a:t>
            </a:r>
            <a:endParaRPr/>
          </a:p>
          <a:p>
            <a:pPr indent="0" lvl="0" marL="0" marR="0" rtl="0" algn="l">
              <a:spcBef>
                <a:spcPts val="0"/>
              </a:spcBef>
              <a:spcAft>
                <a:spcPts val="0"/>
              </a:spcAft>
              <a:buNone/>
            </a:pPr>
            <a:r>
              <a:rPr lang="en-US" sz="2400">
                <a:solidFill>
                  <a:schemeClr val="dk1"/>
                </a:solidFill>
                <a:latin typeface="Gill Sans"/>
                <a:ea typeface="Gill Sans"/>
                <a:cs typeface="Gill Sans"/>
                <a:sym typeface="Gill Sans"/>
              </a:rPr>
              <a:t>of the more general superclass.</a:t>
            </a:r>
            <a:endParaRPr/>
          </a:p>
        </p:txBody>
      </p:sp>
      <p:sp>
        <p:nvSpPr>
          <p:cNvPr id="491" name="Google Shape;491;p32"/>
          <p:cNvSpPr/>
          <p:nvPr/>
        </p:nvSpPr>
        <p:spPr>
          <a:xfrm>
            <a:off x="685800" y="4191000"/>
            <a:ext cx="2438400" cy="762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Student</a:t>
            </a:r>
            <a:endParaRPr/>
          </a:p>
        </p:txBody>
      </p:sp>
      <p:grpSp>
        <p:nvGrpSpPr>
          <p:cNvPr id="492" name="Google Shape;492;p32"/>
          <p:cNvGrpSpPr/>
          <p:nvPr/>
        </p:nvGrpSpPr>
        <p:grpSpPr>
          <a:xfrm>
            <a:off x="1676400" y="2514600"/>
            <a:ext cx="419100" cy="1676400"/>
            <a:chOff x="968" y="1584"/>
            <a:chExt cx="264" cy="1056"/>
          </a:xfrm>
        </p:grpSpPr>
        <p:cxnSp>
          <p:nvCxnSpPr>
            <p:cNvPr id="493" name="Google Shape;493;p32"/>
            <p:cNvCxnSpPr/>
            <p:nvPr/>
          </p:nvCxnSpPr>
          <p:spPr>
            <a:xfrm>
              <a:off x="1104" y="1824"/>
              <a:ext cx="0" cy="816"/>
            </a:xfrm>
            <a:prstGeom prst="straightConnector1">
              <a:avLst/>
            </a:prstGeom>
            <a:noFill/>
            <a:ln cap="flat" cmpd="sng" w="19050">
              <a:solidFill>
                <a:schemeClr val="dk1"/>
              </a:solidFill>
              <a:prstDash val="solid"/>
              <a:round/>
              <a:headEnd len="med" w="med" type="none"/>
              <a:tailEnd len="med" w="med" type="none"/>
            </a:ln>
          </p:spPr>
        </p:cxnSp>
        <p:sp>
          <p:nvSpPr>
            <p:cNvPr id="494" name="Google Shape;494;p32"/>
            <p:cNvSpPr/>
            <p:nvPr/>
          </p:nvSpPr>
          <p:spPr>
            <a:xfrm>
              <a:off x="968" y="1584"/>
              <a:ext cx="264" cy="240"/>
            </a:xfrm>
            <a:custGeom>
              <a:rect b="b" l="l" r="r" t="t"/>
              <a:pathLst>
                <a:path extrusionOk="0" h="240" w="336">
                  <a:moveTo>
                    <a:pt x="144" y="0"/>
                  </a:moveTo>
                  <a:lnTo>
                    <a:pt x="0" y="240"/>
                  </a:lnTo>
                  <a:lnTo>
                    <a:pt x="336" y="240"/>
                  </a:lnTo>
                  <a:lnTo>
                    <a:pt x="144" y="0"/>
                  </a:lnTo>
                  <a:close/>
                </a:path>
              </a:pathLst>
            </a:custGeom>
            <a:solidFill>
              <a:schemeClr val="lt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grpSp>
      <p:pic>
        <p:nvPicPr>
          <p:cNvPr descr="brac.png" id="495" name="Google Shape;495;p32"/>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33"/>
          <p:cNvSpPr txBox="1"/>
          <p:nvPr>
            <p:ph idx="11" type="ftr"/>
          </p:nvPr>
        </p:nvSpPr>
        <p:spPr>
          <a:xfrm>
            <a:off x="2362200" y="6400800"/>
            <a:ext cx="40386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Software Design (UML)</a:t>
            </a:r>
            <a:endParaRPr/>
          </a:p>
        </p:txBody>
      </p:sp>
      <p:sp>
        <p:nvSpPr>
          <p:cNvPr id="501" name="Google Shape;501;p33"/>
          <p:cNvSpPr txBox="1"/>
          <p:nvPr>
            <p:ph type="title"/>
          </p:nvPr>
        </p:nvSpPr>
        <p:spPr>
          <a:xfrm>
            <a:off x="0" y="457200"/>
            <a:ext cx="9296400" cy="5334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Bookman Old Style"/>
              <a:buNone/>
            </a:pPr>
            <a:r>
              <a:rPr lang="en-US"/>
              <a:t>Generalization Relationships (Cont’d)</a:t>
            </a:r>
            <a:endParaRPr/>
          </a:p>
        </p:txBody>
      </p:sp>
      <p:sp>
        <p:nvSpPr>
          <p:cNvPr id="502" name="Google Shape;502;p33"/>
          <p:cNvSpPr/>
          <p:nvPr/>
        </p:nvSpPr>
        <p:spPr>
          <a:xfrm>
            <a:off x="1295400" y="2819400"/>
            <a:ext cx="2438400" cy="762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Student</a:t>
            </a:r>
            <a:endParaRPr/>
          </a:p>
        </p:txBody>
      </p:sp>
      <p:sp>
        <p:nvSpPr>
          <p:cNvPr id="503" name="Google Shape;503;p33"/>
          <p:cNvSpPr txBox="1"/>
          <p:nvPr/>
        </p:nvSpPr>
        <p:spPr>
          <a:xfrm>
            <a:off x="457200" y="1295400"/>
            <a:ext cx="8153400" cy="11874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UML permits a class to inherit from multiple superclasses, although some programming languages (</a:t>
            </a:r>
            <a:r>
              <a:rPr i="1" lang="en-US" sz="1800">
                <a:solidFill>
                  <a:schemeClr val="dk1"/>
                </a:solidFill>
                <a:latin typeface="Gill Sans"/>
                <a:ea typeface="Gill Sans"/>
                <a:cs typeface="Gill Sans"/>
                <a:sym typeface="Gill Sans"/>
              </a:rPr>
              <a:t>e.g.,</a:t>
            </a:r>
            <a:r>
              <a:rPr lang="en-US" sz="1800">
                <a:solidFill>
                  <a:schemeClr val="dk1"/>
                </a:solidFill>
                <a:latin typeface="Gill Sans"/>
                <a:ea typeface="Gill Sans"/>
                <a:cs typeface="Gill Sans"/>
                <a:sym typeface="Gill Sans"/>
              </a:rPr>
              <a:t> Java) do not permit multiple inheritance. </a:t>
            </a:r>
            <a:endParaRPr/>
          </a:p>
        </p:txBody>
      </p:sp>
      <p:sp>
        <p:nvSpPr>
          <p:cNvPr id="504" name="Google Shape;504;p33"/>
          <p:cNvSpPr/>
          <p:nvPr/>
        </p:nvSpPr>
        <p:spPr>
          <a:xfrm>
            <a:off x="2895600" y="5029200"/>
            <a:ext cx="3048000" cy="762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TeachingAssistant</a:t>
            </a:r>
            <a:endParaRPr/>
          </a:p>
        </p:txBody>
      </p:sp>
      <p:cxnSp>
        <p:nvCxnSpPr>
          <p:cNvPr id="505" name="Google Shape;505;p33"/>
          <p:cNvCxnSpPr/>
          <p:nvPr/>
        </p:nvCxnSpPr>
        <p:spPr>
          <a:xfrm>
            <a:off x="4343400" y="4495800"/>
            <a:ext cx="0" cy="533400"/>
          </a:xfrm>
          <a:prstGeom prst="straightConnector1">
            <a:avLst/>
          </a:prstGeom>
          <a:noFill/>
          <a:ln cap="flat" cmpd="sng" w="12700">
            <a:solidFill>
              <a:schemeClr val="dk1"/>
            </a:solidFill>
            <a:prstDash val="solid"/>
            <a:round/>
            <a:headEnd len="med" w="med" type="none"/>
            <a:tailEnd len="med" w="med" type="none"/>
          </a:ln>
        </p:spPr>
      </p:cxnSp>
      <p:sp>
        <p:nvSpPr>
          <p:cNvPr id="506" name="Google Shape;506;p33"/>
          <p:cNvSpPr/>
          <p:nvPr/>
        </p:nvSpPr>
        <p:spPr>
          <a:xfrm>
            <a:off x="2755900" y="3619500"/>
            <a:ext cx="419100" cy="398463"/>
          </a:xfrm>
          <a:custGeom>
            <a:rect b="b" l="l" r="r" t="t"/>
            <a:pathLst>
              <a:path extrusionOk="0" h="240" w="336">
                <a:moveTo>
                  <a:pt x="144" y="0"/>
                </a:moveTo>
                <a:lnTo>
                  <a:pt x="0" y="240"/>
                </a:lnTo>
                <a:lnTo>
                  <a:pt x="336" y="240"/>
                </a:lnTo>
                <a:lnTo>
                  <a:pt x="144" y="0"/>
                </a:lnTo>
                <a:close/>
              </a:path>
            </a:pathLst>
          </a:custGeom>
          <a:solidFill>
            <a:schemeClr val="lt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507" name="Google Shape;507;p33"/>
          <p:cNvSpPr/>
          <p:nvPr/>
        </p:nvSpPr>
        <p:spPr>
          <a:xfrm>
            <a:off x="4724400" y="2895600"/>
            <a:ext cx="2438400" cy="762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Employee</a:t>
            </a:r>
            <a:endParaRPr/>
          </a:p>
        </p:txBody>
      </p:sp>
      <p:sp>
        <p:nvSpPr>
          <p:cNvPr id="508" name="Google Shape;508;p33"/>
          <p:cNvSpPr/>
          <p:nvPr/>
        </p:nvSpPr>
        <p:spPr>
          <a:xfrm>
            <a:off x="5562600" y="3657600"/>
            <a:ext cx="419100" cy="398463"/>
          </a:xfrm>
          <a:custGeom>
            <a:rect b="b" l="l" r="r" t="t"/>
            <a:pathLst>
              <a:path extrusionOk="0" h="240" w="336">
                <a:moveTo>
                  <a:pt x="144" y="0"/>
                </a:moveTo>
                <a:lnTo>
                  <a:pt x="0" y="240"/>
                </a:lnTo>
                <a:lnTo>
                  <a:pt x="336" y="240"/>
                </a:lnTo>
                <a:lnTo>
                  <a:pt x="144" y="0"/>
                </a:lnTo>
                <a:close/>
              </a:path>
            </a:pathLst>
          </a:custGeom>
          <a:solidFill>
            <a:schemeClr val="lt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509" name="Google Shape;509;p33"/>
          <p:cNvSpPr/>
          <p:nvPr/>
        </p:nvSpPr>
        <p:spPr>
          <a:xfrm>
            <a:off x="2971800" y="4038600"/>
            <a:ext cx="2819400" cy="457200"/>
          </a:xfrm>
          <a:custGeom>
            <a:rect b="b" l="l" r="r" t="t"/>
            <a:pathLst>
              <a:path extrusionOk="0" h="288" w="1776">
                <a:moveTo>
                  <a:pt x="0" y="0"/>
                </a:moveTo>
                <a:lnTo>
                  <a:pt x="0" y="288"/>
                </a:lnTo>
                <a:lnTo>
                  <a:pt x="1776" y="288"/>
                </a:lnTo>
                <a:lnTo>
                  <a:pt x="1776" y="0"/>
                </a:lnTo>
              </a:path>
            </a:pathLst>
          </a:custGeom>
          <a:noFill/>
          <a:ln cap="flat" cmpd="sng" w="12700">
            <a:solidFill>
              <a:schemeClr val="dk1"/>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pic>
        <p:nvPicPr>
          <p:cNvPr descr="brac.png" id="510" name="Google Shape;510;p33"/>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34"/>
          <p:cNvSpPr txBox="1"/>
          <p:nvPr>
            <p:ph type="title"/>
          </p:nvPr>
        </p:nvSpPr>
        <p:spPr>
          <a:xfrm>
            <a:off x="457200" y="228600"/>
            <a:ext cx="8229600" cy="914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Generalization Relationship</a:t>
            </a:r>
            <a:endParaRPr/>
          </a:p>
        </p:txBody>
      </p:sp>
      <p:sp>
        <p:nvSpPr>
          <p:cNvPr id="517" name="Google Shape;517;p34"/>
          <p:cNvSpPr/>
          <p:nvPr/>
        </p:nvSpPr>
        <p:spPr>
          <a:xfrm>
            <a:off x="3276600" y="1600200"/>
            <a:ext cx="2362200" cy="762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518" name="Google Shape;518;p34"/>
          <p:cNvSpPr txBox="1"/>
          <p:nvPr/>
        </p:nvSpPr>
        <p:spPr>
          <a:xfrm>
            <a:off x="3657600" y="1752600"/>
            <a:ext cx="1828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Person</a:t>
            </a:r>
            <a:endParaRPr/>
          </a:p>
        </p:txBody>
      </p:sp>
      <p:sp>
        <p:nvSpPr>
          <p:cNvPr id="519" name="Google Shape;519;p34"/>
          <p:cNvSpPr/>
          <p:nvPr/>
        </p:nvSpPr>
        <p:spPr>
          <a:xfrm>
            <a:off x="1905000" y="2971800"/>
            <a:ext cx="2362200" cy="762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520" name="Google Shape;520;p34"/>
          <p:cNvSpPr/>
          <p:nvPr/>
        </p:nvSpPr>
        <p:spPr>
          <a:xfrm>
            <a:off x="4876800" y="2971800"/>
            <a:ext cx="2362200" cy="762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521" name="Google Shape;521;p34"/>
          <p:cNvSpPr/>
          <p:nvPr/>
        </p:nvSpPr>
        <p:spPr>
          <a:xfrm>
            <a:off x="304800" y="4724400"/>
            <a:ext cx="1676400" cy="762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522" name="Google Shape;522;p34"/>
          <p:cNvSpPr/>
          <p:nvPr/>
        </p:nvSpPr>
        <p:spPr>
          <a:xfrm>
            <a:off x="2438400" y="4724400"/>
            <a:ext cx="1676400" cy="762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523" name="Google Shape;523;p34"/>
          <p:cNvSpPr txBox="1"/>
          <p:nvPr/>
        </p:nvSpPr>
        <p:spPr>
          <a:xfrm>
            <a:off x="2057400" y="3124200"/>
            <a:ext cx="19812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Employee</a:t>
            </a:r>
            <a:endParaRPr/>
          </a:p>
        </p:txBody>
      </p:sp>
      <p:sp>
        <p:nvSpPr>
          <p:cNvPr id="524" name="Google Shape;524;p34"/>
          <p:cNvSpPr txBox="1"/>
          <p:nvPr/>
        </p:nvSpPr>
        <p:spPr>
          <a:xfrm>
            <a:off x="5105400" y="3200400"/>
            <a:ext cx="19050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Customer</a:t>
            </a:r>
            <a:endParaRPr/>
          </a:p>
        </p:txBody>
      </p:sp>
      <p:sp>
        <p:nvSpPr>
          <p:cNvPr id="525" name="Google Shape;525;p34"/>
          <p:cNvSpPr txBox="1"/>
          <p:nvPr/>
        </p:nvSpPr>
        <p:spPr>
          <a:xfrm>
            <a:off x="457200" y="4876800"/>
            <a:ext cx="21336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Manager</a:t>
            </a:r>
            <a:endParaRPr/>
          </a:p>
        </p:txBody>
      </p:sp>
      <p:sp>
        <p:nvSpPr>
          <p:cNvPr id="526" name="Google Shape;526;p34"/>
          <p:cNvSpPr txBox="1"/>
          <p:nvPr/>
        </p:nvSpPr>
        <p:spPr>
          <a:xfrm>
            <a:off x="2514600" y="4876800"/>
            <a:ext cx="1828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Engineer</a:t>
            </a:r>
            <a:endParaRPr/>
          </a:p>
        </p:txBody>
      </p:sp>
      <p:cxnSp>
        <p:nvCxnSpPr>
          <p:cNvPr id="527" name="Google Shape;527;p34"/>
          <p:cNvCxnSpPr/>
          <p:nvPr/>
        </p:nvCxnSpPr>
        <p:spPr>
          <a:xfrm rot="10800000">
            <a:off x="3048000" y="2819400"/>
            <a:ext cx="0" cy="152400"/>
          </a:xfrm>
          <a:prstGeom prst="straightConnector1">
            <a:avLst/>
          </a:prstGeom>
          <a:noFill/>
          <a:ln cap="flat" cmpd="sng" w="9525">
            <a:solidFill>
              <a:schemeClr val="dk1"/>
            </a:solidFill>
            <a:prstDash val="solid"/>
            <a:round/>
            <a:headEnd len="med" w="med" type="none"/>
            <a:tailEnd len="med" w="med" type="none"/>
          </a:ln>
        </p:spPr>
      </p:cxnSp>
      <p:cxnSp>
        <p:nvCxnSpPr>
          <p:cNvPr id="528" name="Google Shape;528;p34"/>
          <p:cNvCxnSpPr/>
          <p:nvPr/>
        </p:nvCxnSpPr>
        <p:spPr>
          <a:xfrm rot="10800000">
            <a:off x="6019800" y="2819400"/>
            <a:ext cx="0" cy="152400"/>
          </a:xfrm>
          <a:prstGeom prst="straightConnector1">
            <a:avLst/>
          </a:prstGeom>
          <a:noFill/>
          <a:ln cap="flat" cmpd="sng" w="9525">
            <a:solidFill>
              <a:schemeClr val="dk1"/>
            </a:solidFill>
            <a:prstDash val="solid"/>
            <a:round/>
            <a:headEnd len="med" w="med" type="none"/>
            <a:tailEnd len="med" w="med" type="none"/>
          </a:ln>
        </p:spPr>
      </p:cxnSp>
      <p:cxnSp>
        <p:nvCxnSpPr>
          <p:cNvPr id="529" name="Google Shape;529;p34"/>
          <p:cNvCxnSpPr/>
          <p:nvPr/>
        </p:nvCxnSpPr>
        <p:spPr>
          <a:xfrm>
            <a:off x="3048000" y="2819400"/>
            <a:ext cx="2971800" cy="0"/>
          </a:xfrm>
          <a:prstGeom prst="straightConnector1">
            <a:avLst/>
          </a:prstGeom>
          <a:noFill/>
          <a:ln cap="flat" cmpd="sng" w="9525">
            <a:solidFill>
              <a:schemeClr val="dk1"/>
            </a:solidFill>
            <a:prstDash val="solid"/>
            <a:round/>
            <a:headEnd len="med" w="med" type="none"/>
            <a:tailEnd len="med" w="med" type="none"/>
          </a:ln>
        </p:spPr>
      </p:cxnSp>
      <p:cxnSp>
        <p:nvCxnSpPr>
          <p:cNvPr id="530" name="Google Shape;530;p34"/>
          <p:cNvCxnSpPr/>
          <p:nvPr/>
        </p:nvCxnSpPr>
        <p:spPr>
          <a:xfrm rot="10800000">
            <a:off x="4419600" y="2362200"/>
            <a:ext cx="0" cy="457200"/>
          </a:xfrm>
          <a:prstGeom prst="straightConnector1">
            <a:avLst/>
          </a:prstGeom>
          <a:noFill/>
          <a:ln cap="flat" cmpd="sng" w="9525">
            <a:solidFill>
              <a:schemeClr val="dk1"/>
            </a:solidFill>
            <a:prstDash val="solid"/>
            <a:round/>
            <a:headEnd len="med" w="med" type="none"/>
            <a:tailEnd len="med" w="med" type="triangle"/>
          </a:ln>
        </p:spPr>
      </p:cxnSp>
      <p:cxnSp>
        <p:nvCxnSpPr>
          <p:cNvPr id="531" name="Google Shape;531;p34"/>
          <p:cNvCxnSpPr/>
          <p:nvPr/>
        </p:nvCxnSpPr>
        <p:spPr>
          <a:xfrm rot="10800000">
            <a:off x="1066800" y="4572000"/>
            <a:ext cx="0" cy="152400"/>
          </a:xfrm>
          <a:prstGeom prst="straightConnector1">
            <a:avLst/>
          </a:prstGeom>
          <a:noFill/>
          <a:ln cap="flat" cmpd="sng" w="9525">
            <a:solidFill>
              <a:schemeClr val="dk1"/>
            </a:solidFill>
            <a:prstDash val="solid"/>
            <a:round/>
            <a:headEnd len="med" w="med" type="none"/>
            <a:tailEnd len="med" w="med" type="none"/>
          </a:ln>
        </p:spPr>
      </p:cxnSp>
      <p:cxnSp>
        <p:nvCxnSpPr>
          <p:cNvPr id="532" name="Google Shape;532;p34"/>
          <p:cNvCxnSpPr/>
          <p:nvPr/>
        </p:nvCxnSpPr>
        <p:spPr>
          <a:xfrm rot="10800000">
            <a:off x="3276600" y="4572000"/>
            <a:ext cx="0" cy="152400"/>
          </a:xfrm>
          <a:prstGeom prst="straightConnector1">
            <a:avLst/>
          </a:prstGeom>
          <a:noFill/>
          <a:ln cap="flat" cmpd="sng" w="9525">
            <a:solidFill>
              <a:schemeClr val="dk1"/>
            </a:solidFill>
            <a:prstDash val="solid"/>
            <a:round/>
            <a:headEnd len="med" w="med" type="none"/>
            <a:tailEnd len="med" w="med" type="none"/>
          </a:ln>
        </p:spPr>
      </p:cxnSp>
      <p:cxnSp>
        <p:nvCxnSpPr>
          <p:cNvPr id="533" name="Google Shape;533;p34"/>
          <p:cNvCxnSpPr/>
          <p:nvPr/>
        </p:nvCxnSpPr>
        <p:spPr>
          <a:xfrm>
            <a:off x="1066800" y="4572000"/>
            <a:ext cx="2209800" cy="0"/>
          </a:xfrm>
          <a:prstGeom prst="straightConnector1">
            <a:avLst/>
          </a:prstGeom>
          <a:noFill/>
          <a:ln cap="flat" cmpd="sng" w="9525">
            <a:solidFill>
              <a:schemeClr val="dk1"/>
            </a:solidFill>
            <a:prstDash val="solid"/>
            <a:round/>
            <a:headEnd len="med" w="med" type="none"/>
            <a:tailEnd len="med" w="med" type="none"/>
          </a:ln>
        </p:spPr>
      </p:cxnSp>
      <p:cxnSp>
        <p:nvCxnSpPr>
          <p:cNvPr id="534" name="Google Shape;534;p34"/>
          <p:cNvCxnSpPr/>
          <p:nvPr/>
        </p:nvCxnSpPr>
        <p:spPr>
          <a:xfrm flipH="1" rot="10800000">
            <a:off x="2286000" y="3733800"/>
            <a:ext cx="76200" cy="838200"/>
          </a:xfrm>
          <a:prstGeom prst="straightConnector1">
            <a:avLst/>
          </a:prstGeom>
          <a:noFill/>
          <a:ln cap="flat" cmpd="sng" w="9525">
            <a:solidFill>
              <a:schemeClr val="dk1"/>
            </a:solidFill>
            <a:prstDash val="solid"/>
            <a:round/>
            <a:headEnd len="med" w="med" type="none"/>
            <a:tailEnd len="med" w="med" type="triangle"/>
          </a:ln>
        </p:spPr>
      </p:cxnSp>
      <p:pic>
        <p:nvPicPr>
          <p:cNvPr descr="brac.png" id="535" name="Google Shape;535;p34"/>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35"/>
          <p:cNvSpPr txBox="1"/>
          <p:nvPr>
            <p:ph type="title"/>
          </p:nvPr>
        </p:nvSpPr>
        <p:spPr>
          <a:xfrm>
            <a:off x="457200" y="228600"/>
            <a:ext cx="8229600" cy="914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Generalization Relationship</a:t>
            </a:r>
            <a:endParaRPr/>
          </a:p>
        </p:txBody>
      </p:sp>
      <p:sp>
        <p:nvSpPr>
          <p:cNvPr id="542" name="Google Shape;542;p35"/>
          <p:cNvSpPr/>
          <p:nvPr/>
        </p:nvSpPr>
        <p:spPr>
          <a:xfrm>
            <a:off x="3429000" y="1524000"/>
            <a:ext cx="2438400" cy="2286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543" name="Google Shape;543;p35"/>
          <p:cNvSpPr txBox="1"/>
          <p:nvPr/>
        </p:nvSpPr>
        <p:spPr>
          <a:xfrm>
            <a:off x="3657600" y="1600200"/>
            <a:ext cx="182880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Employee</a:t>
            </a:r>
            <a:endParaRPr/>
          </a:p>
        </p:txBody>
      </p:sp>
      <p:sp>
        <p:nvSpPr>
          <p:cNvPr id="544" name="Google Shape;544;p35"/>
          <p:cNvSpPr txBox="1"/>
          <p:nvPr/>
        </p:nvSpPr>
        <p:spPr>
          <a:xfrm>
            <a:off x="3733800" y="2133600"/>
            <a:ext cx="15240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hireDate</a:t>
            </a:r>
            <a:endParaRPr sz="2400">
              <a:solidFill>
                <a:schemeClr val="dk1"/>
              </a:solidFill>
              <a:latin typeface="Times New Roman"/>
              <a:ea typeface="Times New Roman"/>
              <a:cs typeface="Times New Roman"/>
              <a:sym typeface="Times New Roman"/>
            </a:endParaRPr>
          </a:p>
        </p:txBody>
      </p:sp>
      <p:sp>
        <p:nvSpPr>
          <p:cNvPr id="545" name="Google Shape;545;p35"/>
          <p:cNvSpPr txBox="1"/>
          <p:nvPr/>
        </p:nvSpPr>
        <p:spPr>
          <a:xfrm>
            <a:off x="3733800" y="2895600"/>
            <a:ext cx="1828800" cy="8540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receivePay</a:t>
            </a:r>
            <a:endParaRPr/>
          </a:p>
          <a:p>
            <a:pPr indent="0" lvl="0" marL="0" marR="0" rtl="0" algn="l">
              <a:spcBef>
                <a:spcPts val="1000"/>
              </a:spcBef>
              <a:spcAft>
                <a:spcPts val="0"/>
              </a:spcAft>
              <a:buNone/>
            </a:pPr>
            <a:r>
              <a:rPr lang="en-US" sz="2000">
                <a:solidFill>
                  <a:schemeClr val="dk1"/>
                </a:solidFill>
                <a:latin typeface="Times New Roman"/>
                <a:ea typeface="Times New Roman"/>
                <a:cs typeface="Times New Roman"/>
                <a:sym typeface="Times New Roman"/>
              </a:rPr>
              <a:t>performWork</a:t>
            </a:r>
            <a:endParaRPr sz="2400">
              <a:solidFill>
                <a:schemeClr val="dk1"/>
              </a:solidFill>
              <a:latin typeface="Times New Roman"/>
              <a:ea typeface="Times New Roman"/>
              <a:cs typeface="Times New Roman"/>
              <a:sym typeface="Times New Roman"/>
            </a:endParaRPr>
          </a:p>
        </p:txBody>
      </p:sp>
      <p:cxnSp>
        <p:nvCxnSpPr>
          <p:cNvPr id="546" name="Google Shape;546;p35"/>
          <p:cNvCxnSpPr/>
          <p:nvPr/>
        </p:nvCxnSpPr>
        <p:spPr>
          <a:xfrm>
            <a:off x="3429000" y="2743200"/>
            <a:ext cx="2438400" cy="0"/>
          </a:xfrm>
          <a:prstGeom prst="straightConnector1">
            <a:avLst/>
          </a:prstGeom>
          <a:noFill/>
          <a:ln cap="flat" cmpd="sng" w="9525">
            <a:solidFill>
              <a:schemeClr val="dk1"/>
            </a:solidFill>
            <a:prstDash val="solid"/>
            <a:round/>
            <a:headEnd len="med" w="med" type="none"/>
            <a:tailEnd len="med" w="med" type="none"/>
          </a:ln>
        </p:spPr>
      </p:cxnSp>
      <p:cxnSp>
        <p:nvCxnSpPr>
          <p:cNvPr id="547" name="Google Shape;547;p35"/>
          <p:cNvCxnSpPr/>
          <p:nvPr/>
        </p:nvCxnSpPr>
        <p:spPr>
          <a:xfrm>
            <a:off x="3429000" y="1981200"/>
            <a:ext cx="2438400" cy="0"/>
          </a:xfrm>
          <a:prstGeom prst="straightConnector1">
            <a:avLst/>
          </a:prstGeom>
          <a:noFill/>
          <a:ln cap="flat" cmpd="sng" w="9525">
            <a:solidFill>
              <a:schemeClr val="dk1"/>
            </a:solidFill>
            <a:prstDash val="solid"/>
            <a:round/>
            <a:headEnd len="med" w="med" type="none"/>
            <a:tailEnd len="med" w="med" type="none"/>
          </a:ln>
        </p:spPr>
      </p:cxnSp>
      <p:sp>
        <p:nvSpPr>
          <p:cNvPr id="548" name="Google Shape;548;p35"/>
          <p:cNvSpPr/>
          <p:nvPr/>
        </p:nvSpPr>
        <p:spPr>
          <a:xfrm>
            <a:off x="1447800" y="4343400"/>
            <a:ext cx="2438400" cy="2286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549" name="Google Shape;549;p35"/>
          <p:cNvSpPr/>
          <p:nvPr/>
        </p:nvSpPr>
        <p:spPr>
          <a:xfrm>
            <a:off x="5334000" y="4343400"/>
            <a:ext cx="2438400" cy="2286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550" name="Google Shape;550;p35"/>
          <p:cNvSpPr txBox="1"/>
          <p:nvPr/>
        </p:nvSpPr>
        <p:spPr>
          <a:xfrm>
            <a:off x="1524000" y="4419600"/>
            <a:ext cx="220980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Manager</a:t>
            </a:r>
            <a:endParaRPr/>
          </a:p>
        </p:txBody>
      </p:sp>
      <p:sp>
        <p:nvSpPr>
          <p:cNvPr id="551" name="Google Shape;551;p35"/>
          <p:cNvSpPr txBox="1"/>
          <p:nvPr/>
        </p:nvSpPr>
        <p:spPr>
          <a:xfrm>
            <a:off x="1447800" y="4876800"/>
            <a:ext cx="2438400" cy="8540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department</a:t>
            </a:r>
            <a:endParaRPr/>
          </a:p>
          <a:p>
            <a:pPr indent="0" lvl="0" marL="0" marR="0" rtl="0" algn="l">
              <a:spcBef>
                <a:spcPts val="1000"/>
              </a:spcBef>
              <a:spcAft>
                <a:spcPts val="0"/>
              </a:spcAft>
              <a:buNone/>
            </a:pPr>
            <a:r>
              <a:rPr lang="en-US" sz="2000">
                <a:solidFill>
                  <a:schemeClr val="dk1"/>
                </a:solidFill>
                <a:latin typeface="Times New Roman"/>
                <a:ea typeface="Times New Roman"/>
                <a:cs typeface="Times New Roman"/>
                <a:sym typeface="Times New Roman"/>
              </a:rPr>
              <a:t>bonus</a:t>
            </a:r>
            <a:endParaRPr sz="2400">
              <a:solidFill>
                <a:schemeClr val="dk1"/>
              </a:solidFill>
              <a:latin typeface="Times New Roman"/>
              <a:ea typeface="Times New Roman"/>
              <a:cs typeface="Times New Roman"/>
              <a:sym typeface="Times New Roman"/>
            </a:endParaRPr>
          </a:p>
        </p:txBody>
      </p:sp>
      <p:sp>
        <p:nvSpPr>
          <p:cNvPr id="552" name="Google Shape;552;p35"/>
          <p:cNvSpPr txBox="1"/>
          <p:nvPr/>
        </p:nvSpPr>
        <p:spPr>
          <a:xfrm>
            <a:off x="1447800" y="5715000"/>
            <a:ext cx="2286000" cy="8540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hireEmployee</a:t>
            </a:r>
            <a:endParaRPr/>
          </a:p>
          <a:p>
            <a:pPr indent="0" lvl="0" marL="0" marR="0" rtl="0" algn="l">
              <a:spcBef>
                <a:spcPts val="1000"/>
              </a:spcBef>
              <a:spcAft>
                <a:spcPts val="0"/>
              </a:spcAft>
              <a:buNone/>
            </a:pPr>
            <a:r>
              <a:rPr lang="en-US" sz="2000">
                <a:solidFill>
                  <a:schemeClr val="dk1"/>
                </a:solidFill>
                <a:latin typeface="Times New Roman"/>
                <a:ea typeface="Times New Roman"/>
                <a:cs typeface="Times New Roman"/>
                <a:sym typeface="Times New Roman"/>
              </a:rPr>
              <a:t>promoteEmployee</a:t>
            </a:r>
            <a:endParaRPr sz="2400">
              <a:solidFill>
                <a:schemeClr val="dk1"/>
              </a:solidFill>
              <a:latin typeface="Times New Roman"/>
              <a:ea typeface="Times New Roman"/>
              <a:cs typeface="Times New Roman"/>
              <a:sym typeface="Times New Roman"/>
            </a:endParaRPr>
          </a:p>
        </p:txBody>
      </p:sp>
      <p:cxnSp>
        <p:nvCxnSpPr>
          <p:cNvPr id="553" name="Google Shape;553;p35"/>
          <p:cNvCxnSpPr/>
          <p:nvPr/>
        </p:nvCxnSpPr>
        <p:spPr>
          <a:xfrm>
            <a:off x="1447800" y="4800600"/>
            <a:ext cx="2438400" cy="0"/>
          </a:xfrm>
          <a:prstGeom prst="straightConnector1">
            <a:avLst/>
          </a:prstGeom>
          <a:noFill/>
          <a:ln cap="flat" cmpd="sng" w="9525">
            <a:solidFill>
              <a:schemeClr val="dk1"/>
            </a:solidFill>
            <a:prstDash val="solid"/>
            <a:round/>
            <a:headEnd len="med" w="med" type="none"/>
            <a:tailEnd len="med" w="med" type="none"/>
          </a:ln>
        </p:spPr>
      </p:cxnSp>
      <p:cxnSp>
        <p:nvCxnSpPr>
          <p:cNvPr id="554" name="Google Shape;554;p35"/>
          <p:cNvCxnSpPr/>
          <p:nvPr/>
        </p:nvCxnSpPr>
        <p:spPr>
          <a:xfrm>
            <a:off x="1447800" y="5638800"/>
            <a:ext cx="2438400" cy="0"/>
          </a:xfrm>
          <a:prstGeom prst="straightConnector1">
            <a:avLst/>
          </a:prstGeom>
          <a:noFill/>
          <a:ln cap="flat" cmpd="sng" w="9525">
            <a:solidFill>
              <a:schemeClr val="dk1"/>
            </a:solidFill>
            <a:prstDash val="solid"/>
            <a:round/>
            <a:headEnd len="med" w="med" type="none"/>
            <a:tailEnd len="med" w="med" type="none"/>
          </a:ln>
        </p:spPr>
      </p:cxnSp>
      <p:sp>
        <p:nvSpPr>
          <p:cNvPr id="555" name="Google Shape;555;p35"/>
          <p:cNvSpPr txBox="1"/>
          <p:nvPr/>
        </p:nvSpPr>
        <p:spPr>
          <a:xfrm>
            <a:off x="5486400" y="4419600"/>
            <a:ext cx="182880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Engineer</a:t>
            </a:r>
            <a:endParaRPr/>
          </a:p>
        </p:txBody>
      </p:sp>
      <p:sp>
        <p:nvSpPr>
          <p:cNvPr id="556" name="Google Shape;556;p35"/>
          <p:cNvSpPr txBox="1"/>
          <p:nvPr/>
        </p:nvSpPr>
        <p:spPr>
          <a:xfrm>
            <a:off x="5486400" y="4953000"/>
            <a:ext cx="22098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certifications</a:t>
            </a:r>
            <a:endParaRPr sz="2400">
              <a:solidFill>
                <a:schemeClr val="dk1"/>
              </a:solidFill>
              <a:latin typeface="Times New Roman"/>
              <a:ea typeface="Times New Roman"/>
              <a:cs typeface="Times New Roman"/>
              <a:sym typeface="Times New Roman"/>
            </a:endParaRPr>
          </a:p>
        </p:txBody>
      </p:sp>
      <p:sp>
        <p:nvSpPr>
          <p:cNvPr id="557" name="Google Shape;557;p35"/>
          <p:cNvSpPr txBox="1"/>
          <p:nvPr/>
        </p:nvSpPr>
        <p:spPr>
          <a:xfrm>
            <a:off x="5486400" y="5715000"/>
            <a:ext cx="2057400" cy="8540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analyze</a:t>
            </a:r>
            <a:endParaRPr/>
          </a:p>
          <a:p>
            <a:pPr indent="0" lvl="0" marL="0" marR="0" rtl="0" algn="l">
              <a:spcBef>
                <a:spcPts val="1000"/>
              </a:spcBef>
              <a:spcAft>
                <a:spcPts val="0"/>
              </a:spcAft>
              <a:buNone/>
            </a:pPr>
            <a:r>
              <a:rPr lang="en-US" sz="2000">
                <a:solidFill>
                  <a:schemeClr val="dk1"/>
                </a:solidFill>
                <a:latin typeface="Times New Roman"/>
                <a:ea typeface="Times New Roman"/>
                <a:cs typeface="Times New Roman"/>
                <a:sym typeface="Times New Roman"/>
              </a:rPr>
              <a:t>design</a:t>
            </a:r>
            <a:endParaRPr sz="2400">
              <a:solidFill>
                <a:schemeClr val="dk1"/>
              </a:solidFill>
              <a:latin typeface="Times New Roman"/>
              <a:ea typeface="Times New Roman"/>
              <a:cs typeface="Times New Roman"/>
              <a:sym typeface="Times New Roman"/>
            </a:endParaRPr>
          </a:p>
        </p:txBody>
      </p:sp>
      <p:cxnSp>
        <p:nvCxnSpPr>
          <p:cNvPr id="558" name="Google Shape;558;p35"/>
          <p:cNvCxnSpPr/>
          <p:nvPr/>
        </p:nvCxnSpPr>
        <p:spPr>
          <a:xfrm>
            <a:off x="5334000" y="4800600"/>
            <a:ext cx="2438400" cy="0"/>
          </a:xfrm>
          <a:prstGeom prst="straightConnector1">
            <a:avLst/>
          </a:prstGeom>
          <a:noFill/>
          <a:ln cap="flat" cmpd="sng" w="9525">
            <a:solidFill>
              <a:schemeClr val="dk1"/>
            </a:solidFill>
            <a:prstDash val="solid"/>
            <a:round/>
            <a:headEnd len="med" w="med" type="none"/>
            <a:tailEnd len="med" w="med" type="none"/>
          </a:ln>
        </p:spPr>
      </p:cxnSp>
      <p:cxnSp>
        <p:nvCxnSpPr>
          <p:cNvPr id="559" name="Google Shape;559;p35"/>
          <p:cNvCxnSpPr/>
          <p:nvPr/>
        </p:nvCxnSpPr>
        <p:spPr>
          <a:xfrm>
            <a:off x="5334000" y="5638800"/>
            <a:ext cx="2438400" cy="0"/>
          </a:xfrm>
          <a:prstGeom prst="straightConnector1">
            <a:avLst/>
          </a:prstGeom>
          <a:noFill/>
          <a:ln cap="flat" cmpd="sng" w="9525">
            <a:solidFill>
              <a:schemeClr val="dk1"/>
            </a:solidFill>
            <a:prstDash val="solid"/>
            <a:round/>
            <a:headEnd len="med" w="med" type="none"/>
            <a:tailEnd len="med" w="med" type="none"/>
          </a:ln>
        </p:spPr>
      </p:cxnSp>
      <p:cxnSp>
        <p:nvCxnSpPr>
          <p:cNvPr id="560" name="Google Shape;560;p35"/>
          <p:cNvCxnSpPr/>
          <p:nvPr/>
        </p:nvCxnSpPr>
        <p:spPr>
          <a:xfrm rot="10800000">
            <a:off x="1905000" y="4191000"/>
            <a:ext cx="0" cy="152400"/>
          </a:xfrm>
          <a:prstGeom prst="straightConnector1">
            <a:avLst/>
          </a:prstGeom>
          <a:noFill/>
          <a:ln cap="flat" cmpd="sng" w="9525">
            <a:solidFill>
              <a:schemeClr val="dk1"/>
            </a:solidFill>
            <a:prstDash val="solid"/>
            <a:round/>
            <a:headEnd len="med" w="med" type="none"/>
            <a:tailEnd len="med" w="med" type="none"/>
          </a:ln>
        </p:spPr>
      </p:cxnSp>
      <p:cxnSp>
        <p:nvCxnSpPr>
          <p:cNvPr id="561" name="Google Shape;561;p35"/>
          <p:cNvCxnSpPr/>
          <p:nvPr/>
        </p:nvCxnSpPr>
        <p:spPr>
          <a:xfrm>
            <a:off x="4495800" y="4876800"/>
            <a:ext cx="0" cy="0"/>
          </a:xfrm>
          <a:prstGeom prst="straightConnector1">
            <a:avLst/>
          </a:prstGeom>
          <a:noFill/>
          <a:ln cap="flat" cmpd="sng" w="9525">
            <a:solidFill>
              <a:schemeClr val="dk1"/>
            </a:solidFill>
            <a:prstDash val="solid"/>
            <a:round/>
            <a:headEnd len="med" w="med" type="none"/>
            <a:tailEnd len="med" w="med" type="none"/>
          </a:ln>
        </p:spPr>
      </p:cxnSp>
      <p:cxnSp>
        <p:nvCxnSpPr>
          <p:cNvPr id="562" name="Google Shape;562;p35"/>
          <p:cNvCxnSpPr/>
          <p:nvPr/>
        </p:nvCxnSpPr>
        <p:spPr>
          <a:xfrm rot="10800000">
            <a:off x="7239000" y="4191000"/>
            <a:ext cx="0" cy="152400"/>
          </a:xfrm>
          <a:prstGeom prst="straightConnector1">
            <a:avLst/>
          </a:prstGeom>
          <a:noFill/>
          <a:ln cap="flat" cmpd="sng" w="9525">
            <a:solidFill>
              <a:schemeClr val="dk1"/>
            </a:solidFill>
            <a:prstDash val="solid"/>
            <a:round/>
            <a:headEnd len="med" w="med" type="none"/>
            <a:tailEnd len="med" w="med" type="none"/>
          </a:ln>
        </p:spPr>
      </p:cxnSp>
      <p:cxnSp>
        <p:nvCxnSpPr>
          <p:cNvPr id="563" name="Google Shape;563;p35"/>
          <p:cNvCxnSpPr/>
          <p:nvPr/>
        </p:nvCxnSpPr>
        <p:spPr>
          <a:xfrm>
            <a:off x="1905000" y="4191000"/>
            <a:ext cx="5334000" cy="0"/>
          </a:xfrm>
          <a:prstGeom prst="straightConnector1">
            <a:avLst/>
          </a:prstGeom>
          <a:noFill/>
          <a:ln cap="flat" cmpd="sng" w="9525">
            <a:solidFill>
              <a:schemeClr val="dk1"/>
            </a:solidFill>
            <a:prstDash val="solid"/>
            <a:round/>
            <a:headEnd len="med" w="med" type="none"/>
            <a:tailEnd len="med" w="med" type="none"/>
          </a:ln>
        </p:spPr>
      </p:cxnSp>
      <p:cxnSp>
        <p:nvCxnSpPr>
          <p:cNvPr id="564" name="Google Shape;564;p35"/>
          <p:cNvCxnSpPr/>
          <p:nvPr/>
        </p:nvCxnSpPr>
        <p:spPr>
          <a:xfrm rot="10800000">
            <a:off x="4648200" y="3810000"/>
            <a:ext cx="0" cy="381000"/>
          </a:xfrm>
          <a:prstGeom prst="straightConnector1">
            <a:avLst/>
          </a:prstGeom>
          <a:noFill/>
          <a:ln cap="flat" cmpd="sng" w="9525">
            <a:solidFill>
              <a:schemeClr val="dk1"/>
            </a:solidFill>
            <a:prstDash val="solid"/>
            <a:round/>
            <a:headEnd len="med" w="med" type="none"/>
            <a:tailEnd len="med" w="med" type="triangle"/>
          </a:ln>
        </p:spPr>
      </p:cxnSp>
      <p:pic>
        <p:nvPicPr>
          <p:cNvPr descr="brac.png" id="565" name="Google Shape;565;p35"/>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36"/>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Multiplicity</a:t>
            </a:r>
            <a:endParaRPr sz="4800"/>
          </a:p>
        </p:txBody>
      </p:sp>
      <p:sp>
        <p:nvSpPr>
          <p:cNvPr id="572" name="Google Shape;572;p36"/>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736"/>
              <a:buChar char="🞂"/>
            </a:pPr>
            <a:r>
              <a:rPr lang="en-US" sz="3600"/>
              <a:t>Documents how many instances of a class can be associated with one instance of another class</a:t>
            </a:r>
            <a:endParaRPr/>
          </a:p>
        </p:txBody>
      </p:sp>
      <p:sp>
        <p:nvSpPr>
          <p:cNvPr id="573" name="Google Shape;573;p36"/>
          <p:cNvSpPr/>
          <p:nvPr/>
        </p:nvSpPr>
        <p:spPr>
          <a:xfrm>
            <a:off x="990600" y="4343400"/>
            <a:ext cx="1752600" cy="533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574" name="Google Shape;574;p36"/>
          <p:cNvSpPr/>
          <p:nvPr/>
        </p:nvSpPr>
        <p:spPr>
          <a:xfrm>
            <a:off x="6019800" y="4267200"/>
            <a:ext cx="2057400" cy="533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cxnSp>
        <p:nvCxnSpPr>
          <p:cNvPr id="575" name="Google Shape;575;p36"/>
          <p:cNvCxnSpPr/>
          <p:nvPr/>
        </p:nvCxnSpPr>
        <p:spPr>
          <a:xfrm>
            <a:off x="2743200" y="4572000"/>
            <a:ext cx="3276600" cy="0"/>
          </a:xfrm>
          <a:prstGeom prst="straightConnector1">
            <a:avLst/>
          </a:prstGeom>
          <a:noFill/>
          <a:ln cap="flat" cmpd="sng" w="9525">
            <a:solidFill>
              <a:schemeClr val="dk1"/>
            </a:solidFill>
            <a:prstDash val="solid"/>
            <a:round/>
            <a:headEnd len="med" w="med" type="none"/>
            <a:tailEnd len="med" w="med" type="none"/>
          </a:ln>
        </p:spPr>
      </p:cxnSp>
      <p:sp>
        <p:nvSpPr>
          <p:cNvPr id="576" name="Google Shape;576;p36"/>
          <p:cNvSpPr txBox="1"/>
          <p:nvPr/>
        </p:nvSpPr>
        <p:spPr>
          <a:xfrm>
            <a:off x="3581400" y="4114800"/>
            <a:ext cx="160020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provides</a:t>
            </a:r>
            <a:endParaRPr/>
          </a:p>
        </p:txBody>
      </p:sp>
      <p:sp>
        <p:nvSpPr>
          <p:cNvPr id="577" name="Google Shape;577;p36"/>
          <p:cNvSpPr txBox="1"/>
          <p:nvPr/>
        </p:nvSpPr>
        <p:spPr>
          <a:xfrm>
            <a:off x="1066800" y="4343400"/>
            <a:ext cx="15240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Patient</a:t>
            </a:r>
            <a:endParaRPr/>
          </a:p>
        </p:txBody>
      </p:sp>
      <p:sp>
        <p:nvSpPr>
          <p:cNvPr id="578" name="Google Shape;578;p36"/>
          <p:cNvSpPr txBox="1"/>
          <p:nvPr/>
        </p:nvSpPr>
        <p:spPr>
          <a:xfrm>
            <a:off x="6019800" y="4343400"/>
            <a:ext cx="22860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Medical History</a:t>
            </a:r>
            <a:endParaRPr/>
          </a:p>
        </p:txBody>
      </p:sp>
      <p:cxnSp>
        <p:nvCxnSpPr>
          <p:cNvPr id="579" name="Google Shape;579;p36"/>
          <p:cNvCxnSpPr/>
          <p:nvPr/>
        </p:nvCxnSpPr>
        <p:spPr>
          <a:xfrm>
            <a:off x="4876800" y="4343400"/>
            <a:ext cx="76200" cy="0"/>
          </a:xfrm>
          <a:prstGeom prst="straightConnector1">
            <a:avLst/>
          </a:prstGeom>
          <a:noFill/>
          <a:ln cap="flat" cmpd="sng" w="9525">
            <a:solidFill>
              <a:schemeClr val="dk1"/>
            </a:solidFill>
            <a:prstDash val="solid"/>
            <a:round/>
            <a:headEnd len="med" w="med" type="none"/>
            <a:tailEnd len="med" w="med" type="triangle"/>
          </a:ln>
        </p:spPr>
      </p:cxnSp>
      <p:sp>
        <p:nvSpPr>
          <p:cNvPr id="580" name="Google Shape;580;p36"/>
          <p:cNvSpPr txBox="1"/>
          <p:nvPr/>
        </p:nvSpPr>
        <p:spPr>
          <a:xfrm>
            <a:off x="2895600" y="4191000"/>
            <a:ext cx="30480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p:txBody>
      </p:sp>
      <p:sp>
        <p:nvSpPr>
          <p:cNvPr id="581" name="Google Shape;581;p36"/>
          <p:cNvSpPr txBox="1"/>
          <p:nvPr/>
        </p:nvSpPr>
        <p:spPr>
          <a:xfrm>
            <a:off x="5257800" y="4205288"/>
            <a:ext cx="6858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0..1</a:t>
            </a:r>
            <a:endParaRPr/>
          </a:p>
        </p:txBody>
      </p:sp>
      <p:sp>
        <p:nvSpPr>
          <p:cNvPr id="582" name="Google Shape;582;p36"/>
          <p:cNvSpPr/>
          <p:nvPr/>
        </p:nvSpPr>
        <p:spPr>
          <a:xfrm>
            <a:off x="2743200" y="4419600"/>
            <a:ext cx="304800" cy="381000"/>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pic>
        <p:nvPicPr>
          <p:cNvPr descr="brac.png" id="583" name="Google Shape;583;p36"/>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37"/>
          <p:cNvSpPr txBox="1"/>
          <p:nvPr>
            <p:ph type="title"/>
          </p:nvPr>
        </p:nvSpPr>
        <p:spPr>
          <a:xfrm>
            <a:off x="457200" y="274638"/>
            <a:ext cx="8229600" cy="9445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Multiplicity</a:t>
            </a:r>
            <a:endParaRPr sz="4800"/>
          </a:p>
        </p:txBody>
      </p:sp>
      <p:sp>
        <p:nvSpPr>
          <p:cNvPr id="590" name="Google Shape;590;p37"/>
          <p:cNvSpPr txBox="1"/>
          <p:nvPr>
            <p:ph idx="1" type="body"/>
          </p:nvPr>
        </p:nvSpPr>
        <p:spPr>
          <a:xfrm>
            <a:off x="457200" y="1371600"/>
            <a:ext cx="8305800" cy="4953000"/>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2736"/>
              <a:buChar char="🞂"/>
            </a:pPr>
            <a:r>
              <a:rPr lang="en-US" sz="3600"/>
              <a:t>Denotes the </a:t>
            </a:r>
            <a:r>
              <a:rPr b="1" lang="en-US" sz="3600"/>
              <a:t>minimum number.. maximum number</a:t>
            </a:r>
            <a:r>
              <a:rPr lang="en-US" sz="3600"/>
              <a:t> of instances</a:t>
            </a:r>
            <a:endParaRPr/>
          </a:p>
          <a:p>
            <a:pPr indent="-274320" lvl="1" marL="548640" rtl="0" algn="l">
              <a:lnSpc>
                <a:spcPct val="90000"/>
              </a:lnSpc>
              <a:spcBef>
                <a:spcPts val="500"/>
              </a:spcBef>
              <a:spcAft>
                <a:spcPts val="0"/>
              </a:spcAft>
              <a:buSzPts val="2432"/>
              <a:buFont typeface="Gill Sans"/>
              <a:buNone/>
            </a:pPr>
            <a:r>
              <a:rPr lang="en-US" sz="3200"/>
              <a:t>Exactly one		1</a:t>
            </a:r>
            <a:endParaRPr/>
          </a:p>
          <a:p>
            <a:pPr indent="-274320" lvl="1" marL="548640" rtl="0" algn="l">
              <a:lnSpc>
                <a:spcPct val="90000"/>
              </a:lnSpc>
              <a:spcBef>
                <a:spcPts val="500"/>
              </a:spcBef>
              <a:spcAft>
                <a:spcPts val="0"/>
              </a:spcAft>
              <a:buSzPts val="2432"/>
              <a:buFont typeface="Gill Sans"/>
              <a:buNone/>
            </a:pPr>
            <a:r>
              <a:rPr lang="en-US" sz="3200"/>
              <a:t>Zero or more		0..*     or	0..m</a:t>
            </a:r>
            <a:endParaRPr/>
          </a:p>
          <a:p>
            <a:pPr indent="-274320" lvl="1" marL="548640" rtl="0" algn="l">
              <a:lnSpc>
                <a:spcPct val="90000"/>
              </a:lnSpc>
              <a:spcBef>
                <a:spcPts val="500"/>
              </a:spcBef>
              <a:spcAft>
                <a:spcPts val="0"/>
              </a:spcAft>
              <a:buSzPts val="2432"/>
              <a:buFont typeface="Gill Sans"/>
              <a:buNone/>
            </a:pPr>
            <a:r>
              <a:rPr lang="en-US" sz="3200"/>
              <a:t>One or more		1..*	 or	1..m</a:t>
            </a:r>
            <a:endParaRPr/>
          </a:p>
          <a:p>
            <a:pPr indent="-274320" lvl="1" marL="548640" rtl="0" algn="l">
              <a:lnSpc>
                <a:spcPct val="90000"/>
              </a:lnSpc>
              <a:spcBef>
                <a:spcPts val="500"/>
              </a:spcBef>
              <a:spcAft>
                <a:spcPts val="0"/>
              </a:spcAft>
              <a:buSzPts val="2432"/>
              <a:buFont typeface="Gill Sans"/>
              <a:buNone/>
            </a:pPr>
            <a:r>
              <a:rPr lang="en-US" sz="3200"/>
              <a:t>Zero or one		0..1</a:t>
            </a:r>
            <a:endParaRPr/>
          </a:p>
          <a:p>
            <a:pPr indent="-274320" lvl="1" marL="548640" rtl="0" algn="l">
              <a:lnSpc>
                <a:spcPct val="90000"/>
              </a:lnSpc>
              <a:spcBef>
                <a:spcPts val="500"/>
              </a:spcBef>
              <a:spcAft>
                <a:spcPts val="0"/>
              </a:spcAft>
              <a:buSzPts val="2432"/>
              <a:buFont typeface="Gill Sans"/>
              <a:buNone/>
            </a:pPr>
            <a:r>
              <a:rPr lang="en-US" sz="3200"/>
              <a:t>Specified range		2..4</a:t>
            </a:r>
            <a:endParaRPr/>
          </a:p>
          <a:p>
            <a:pPr indent="-274320" lvl="1" marL="548640" rtl="0" algn="l">
              <a:lnSpc>
                <a:spcPct val="90000"/>
              </a:lnSpc>
              <a:spcBef>
                <a:spcPts val="500"/>
              </a:spcBef>
              <a:spcAft>
                <a:spcPts val="0"/>
              </a:spcAft>
              <a:buSzPts val="2432"/>
              <a:buFont typeface="Gill Sans"/>
              <a:buNone/>
            </a:pPr>
            <a:r>
              <a:rPr lang="en-US" sz="3200"/>
              <a:t>Multiple, disjoint ranges	1..3, 5</a:t>
            </a:r>
            <a:endParaRPr/>
          </a:p>
        </p:txBody>
      </p:sp>
      <p:pic>
        <p:nvPicPr>
          <p:cNvPr descr="brac.png" id="591" name="Google Shape;591;p37"/>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rigin">
  <a:themeElements>
    <a:clrScheme name="Paper">
      <a:dk1>
        <a:srgbClr val="000000"/>
      </a:dk1>
      <a:lt1>
        <a:srgbClr val="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2020-05-26T17:53:17Z</dcterms:created>
  <dc:creator>User</dc:creator>
</cp:coreProperties>
</file>