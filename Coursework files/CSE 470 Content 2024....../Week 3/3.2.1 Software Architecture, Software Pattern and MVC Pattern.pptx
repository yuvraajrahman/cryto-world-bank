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Helvetica Neue"/>
      <p:regular r:id="rId25"/>
      <p:bold r:id="rId26"/>
      <p:italic r:id="rId27"/>
      <p:boldItalic r:id="rId28"/>
    </p:embeddedFont>
    <p:embeddedFont>
      <p:font typeface="Gil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7nynjs7MxXaReeZUcukprT6aL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GillSan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90d8f2af1_2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90d8f2af1_2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3190d8f2af1_2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2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21"/>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1"/>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1"/>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21"/>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0" name="Google Shape;40;p2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 name="Google Shape;41;p2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2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2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2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2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2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2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2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8"/>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8"/>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2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28"/>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2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28"/>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29"/>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9"/>
          <p:cNvSpPr/>
          <p:nvPr>
            <p:ph idx="2" type="pic"/>
          </p:nvPr>
        </p:nvSpPr>
        <p:spPr>
          <a:xfrm>
            <a:off x="457200" y="1905000"/>
            <a:ext cx="8229600" cy="4270248"/>
          </a:xfrm>
          <a:prstGeom prst="rect">
            <a:avLst/>
          </a:prstGeom>
          <a:solidFill>
            <a:schemeClr val="dk1"/>
          </a:solidFill>
          <a:ln>
            <a:noFill/>
          </a:ln>
        </p:spPr>
      </p:sp>
      <p:sp>
        <p:nvSpPr>
          <p:cNvPr id="83" name="Google Shape;83;p29"/>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2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2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29"/>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0"/>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1"/>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3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3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31"/>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20"/>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8.png"/><Relationship Id="rId5" Type="http://schemas.openxmlformats.org/officeDocument/2006/relationships/image" Target="../media/image13.jpg"/><Relationship Id="rId6" Type="http://schemas.openxmlformats.org/officeDocument/2006/relationships/image" Target="../media/image14.jpg"/><Relationship Id="rId7"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5.jp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gif"/><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GB"/>
              <a:t>CSE 470 - Software Architecture</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GB"/>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rac.png" id="117" name="Google Shape;117;p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18" name="Google Shape;118;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Software Architecture</a:t>
            </a:r>
            <a:endParaRPr/>
          </a:p>
        </p:txBody>
      </p:sp>
      <p:sp>
        <p:nvSpPr>
          <p:cNvPr id="119" name="Google Shape;119;p2"/>
          <p:cNvSpPr txBox="1"/>
          <p:nvPr>
            <p:ph idx="1" type="body"/>
          </p:nvPr>
        </p:nvSpPr>
        <p:spPr>
          <a:xfrm>
            <a:off x="457200" y="12192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Architectural design is concerned with understanding how a software system should be organized and designing the overall structure of that system.</a:t>
            </a:r>
            <a:endParaRPr/>
          </a:p>
          <a:p>
            <a:pPr indent="-274320" lvl="0" marL="274320" rtl="0" algn="l">
              <a:spcBef>
                <a:spcPts val="600"/>
              </a:spcBef>
              <a:spcAft>
                <a:spcPts val="0"/>
              </a:spcAft>
              <a:buSzPts val="2128"/>
              <a:buChar char="🞂"/>
            </a:pPr>
            <a:r>
              <a:rPr lang="en-GB" sz="2800"/>
              <a:t>Software Architecture is how the defining components of a software system are </a:t>
            </a:r>
            <a:r>
              <a:rPr b="1" lang="en-GB" sz="2800"/>
              <a:t>organized and assembled.</a:t>
            </a:r>
            <a:r>
              <a:rPr lang="en-GB" sz="2800"/>
              <a:t> How they </a:t>
            </a:r>
            <a:r>
              <a:rPr b="1" lang="en-GB" sz="2800"/>
              <a:t>communicate</a:t>
            </a:r>
            <a:r>
              <a:rPr lang="en-GB" sz="2800"/>
              <a:t> each other. And how </a:t>
            </a:r>
            <a:r>
              <a:rPr b="1" lang="en-GB" sz="2800"/>
              <a:t>the constraints of the whole system is ruled</a:t>
            </a:r>
            <a:r>
              <a:rPr lang="en-GB" sz="2800"/>
              <a:t> by.</a:t>
            </a:r>
            <a:endParaRPr sz="2800"/>
          </a:p>
          <a:p>
            <a:pPr indent="-274320" lvl="0" marL="274320" rtl="0" algn="l">
              <a:spcBef>
                <a:spcPts val="600"/>
              </a:spcBef>
              <a:spcAft>
                <a:spcPts val="0"/>
              </a:spcAft>
              <a:buSzPts val="2128"/>
              <a:buChar char="🞂"/>
            </a:pPr>
            <a:r>
              <a:rPr b="1" lang="en-GB" sz="2800"/>
              <a:t>The architectural model serves as a input to the development phase.</a:t>
            </a:r>
            <a:endParaRPr b="1" sz="2800"/>
          </a:p>
          <a:p>
            <a:pPr indent="-148844" lvl="0" marL="274320" rtl="0" algn="l">
              <a:spcBef>
                <a:spcPts val="600"/>
              </a:spcBef>
              <a:spcAft>
                <a:spcPts val="0"/>
              </a:spcAft>
              <a:buSzPts val="1976"/>
              <a:buNone/>
            </a:pPr>
            <a:r>
              <a:t/>
            </a:r>
            <a:endParaRPr/>
          </a:p>
        </p:txBody>
      </p:sp>
      <p:pic>
        <p:nvPicPr>
          <p:cNvPr id="120" name="Google Shape;120;p2"/>
          <p:cNvPicPr preferRelativeResize="0"/>
          <p:nvPr/>
        </p:nvPicPr>
        <p:blipFill rotWithShape="1">
          <a:blip r:embed="rId4">
            <a:alphaModFix/>
          </a:blip>
          <a:srcRect b="0" l="0" r="0" t="0"/>
          <a:stretch/>
        </p:blipFill>
        <p:spPr>
          <a:xfrm>
            <a:off x="8686796" y="3165000"/>
            <a:ext cx="4481512" cy="2278693"/>
          </a:xfrm>
          <a:prstGeom prst="rect">
            <a:avLst/>
          </a:prstGeom>
          <a:noFill/>
          <a:ln>
            <a:noFill/>
          </a:ln>
        </p:spPr>
      </p:pic>
      <p:sp>
        <p:nvSpPr>
          <p:cNvPr id="121" name="Google Shape;121;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Representation</a:t>
            </a:r>
            <a:endParaRPr/>
          </a:p>
        </p:txBody>
      </p:sp>
      <p:sp>
        <p:nvSpPr>
          <p:cNvPr id="127" name="Google Shape;12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Simple, informal block diagrams showing entities and relationships are the most frequently used method for documenting software architectures.</a:t>
            </a:r>
            <a:endParaRPr/>
          </a:p>
          <a:p>
            <a:pPr indent="-148844" lvl="0" marL="274320" rtl="0" algn="l">
              <a:spcBef>
                <a:spcPts val="600"/>
              </a:spcBef>
              <a:spcAft>
                <a:spcPts val="0"/>
              </a:spcAft>
              <a:buSzPts val="1976"/>
              <a:buNone/>
            </a:pPr>
            <a:r>
              <a:t/>
            </a:r>
            <a:endParaRPr/>
          </a:p>
        </p:txBody>
      </p:sp>
      <p:pic>
        <p:nvPicPr>
          <p:cNvPr descr="6" id="128" name="Google Shape;128;p3"/>
          <p:cNvPicPr preferRelativeResize="0"/>
          <p:nvPr/>
        </p:nvPicPr>
        <p:blipFill rotWithShape="1">
          <a:blip r:embed="rId3">
            <a:alphaModFix/>
          </a:blip>
          <a:srcRect b="-8765" l="0" r="0" t="0"/>
          <a:stretch/>
        </p:blipFill>
        <p:spPr>
          <a:xfrm>
            <a:off x="3505200" y="2667000"/>
            <a:ext cx="4648200" cy="4054475"/>
          </a:xfrm>
          <a:prstGeom prst="rect">
            <a:avLst/>
          </a:prstGeom>
          <a:noFill/>
          <a:ln>
            <a:noFill/>
          </a:ln>
        </p:spPr>
      </p:pic>
      <p:pic>
        <p:nvPicPr>
          <p:cNvPr descr="brac.png" id="129" name="Google Shape;129;p3"/>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30" name="Google Shape;130;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Advantages of explicit architecture</a:t>
            </a:r>
            <a:endParaRPr/>
          </a:p>
        </p:txBody>
      </p:sp>
      <p:sp>
        <p:nvSpPr>
          <p:cNvPr id="136" name="Google Shape;136;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128"/>
              <a:buChar char="🞂"/>
            </a:pPr>
            <a:r>
              <a:rPr lang="en-GB" sz="2800"/>
              <a:t>Stakeholder communication</a:t>
            </a:r>
            <a:endParaRPr/>
          </a:p>
          <a:p>
            <a:pPr indent="-274319" lvl="1" marL="548640" rtl="0" algn="just">
              <a:lnSpc>
                <a:spcPct val="90000"/>
              </a:lnSpc>
              <a:spcBef>
                <a:spcPts val="500"/>
              </a:spcBef>
              <a:spcAft>
                <a:spcPts val="0"/>
              </a:spcAft>
              <a:buSzPts val="1824"/>
              <a:buChar char="🞂"/>
            </a:pPr>
            <a:r>
              <a:rPr lang="en-GB" sz="2400"/>
              <a:t>Architecture may be used as a focus of discussion by system stakeholders.</a:t>
            </a:r>
            <a:endParaRPr/>
          </a:p>
          <a:p>
            <a:pPr indent="-274320" lvl="0" marL="274320" rtl="0" algn="just">
              <a:lnSpc>
                <a:spcPct val="90000"/>
              </a:lnSpc>
              <a:spcBef>
                <a:spcPts val="600"/>
              </a:spcBef>
              <a:spcAft>
                <a:spcPts val="0"/>
              </a:spcAft>
              <a:buSzPts val="2128"/>
              <a:buChar char="🞂"/>
            </a:pPr>
            <a:r>
              <a:rPr lang="en-GB" sz="2800"/>
              <a:t>System analysis</a:t>
            </a:r>
            <a:endParaRPr/>
          </a:p>
          <a:p>
            <a:pPr indent="-274319" lvl="1" marL="548640" rtl="0" algn="just">
              <a:lnSpc>
                <a:spcPct val="90000"/>
              </a:lnSpc>
              <a:spcBef>
                <a:spcPts val="500"/>
              </a:spcBef>
              <a:spcAft>
                <a:spcPts val="0"/>
              </a:spcAft>
              <a:buSzPts val="1824"/>
              <a:buChar char="🞂"/>
            </a:pPr>
            <a:r>
              <a:rPr lang="en-GB" sz="2400"/>
              <a:t>Means that analysis of whether the system can meet its non-functional requirements is possible.</a:t>
            </a:r>
            <a:endParaRPr/>
          </a:p>
          <a:p>
            <a:pPr indent="-274320" lvl="0" marL="274320" rtl="0" algn="just">
              <a:lnSpc>
                <a:spcPct val="90000"/>
              </a:lnSpc>
              <a:spcBef>
                <a:spcPts val="600"/>
              </a:spcBef>
              <a:spcAft>
                <a:spcPts val="0"/>
              </a:spcAft>
              <a:buSzPts val="2128"/>
              <a:buChar char="🞂"/>
            </a:pPr>
            <a:r>
              <a:rPr lang="en-GB" sz="2800"/>
              <a:t>Large-scale reuse</a:t>
            </a:r>
            <a:endParaRPr/>
          </a:p>
          <a:p>
            <a:pPr indent="-274319" lvl="1" marL="548640" rtl="0" algn="just">
              <a:lnSpc>
                <a:spcPct val="90000"/>
              </a:lnSpc>
              <a:spcBef>
                <a:spcPts val="500"/>
              </a:spcBef>
              <a:spcAft>
                <a:spcPts val="0"/>
              </a:spcAft>
              <a:buSzPts val="1824"/>
              <a:buChar char="🞂"/>
            </a:pPr>
            <a:r>
              <a:rPr lang="en-GB" sz="2400"/>
              <a:t>The architecture may be reusable across a range of systems</a:t>
            </a:r>
            <a:endParaRPr sz="2400"/>
          </a:p>
        </p:txBody>
      </p:sp>
      <p:pic>
        <p:nvPicPr>
          <p:cNvPr descr="brac.png" id="137" name="Google Shape;137;p4"/>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38" name="Google Shape;13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Architecture Design Decisions</a:t>
            </a:r>
            <a:endParaRPr/>
          </a:p>
        </p:txBody>
      </p:sp>
      <p:sp>
        <p:nvSpPr>
          <p:cNvPr id="144" name="Google Shape;144;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pic>
        <p:nvPicPr>
          <p:cNvPr descr="6.2 Arch design questions.eps" id="145" name="Google Shape;145;p5"/>
          <p:cNvPicPr preferRelativeResize="0"/>
          <p:nvPr/>
        </p:nvPicPr>
        <p:blipFill rotWithShape="1">
          <a:blip r:embed="rId3">
            <a:alphaModFix/>
          </a:blip>
          <a:srcRect b="0" l="0" r="0" t="0"/>
          <a:stretch/>
        </p:blipFill>
        <p:spPr>
          <a:xfrm>
            <a:off x="277839" y="1684421"/>
            <a:ext cx="8705841" cy="4671929"/>
          </a:xfrm>
          <a:prstGeom prst="rect">
            <a:avLst/>
          </a:prstGeom>
          <a:noFill/>
          <a:ln>
            <a:noFill/>
          </a:ln>
        </p:spPr>
      </p:pic>
      <p:pic>
        <p:nvPicPr>
          <p:cNvPr descr="brac.png" id="146" name="Google Shape;146;p5"/>
          <p:cNvPicPr preferRelativeResize="0"/>
          <p:nvPr/>
        </p:nvPicPr>
        <p:blipFill rotWithShape="1">
          <a:blip r:embed="rId4">
            <a:alphaModFix/>
          </a:blip>
          <a:srcRect b="0" l="0" r="0" t="0"/>
          <a:stretch/>
        </p:blipFill>
        <p:spPr>
          <a:xfrm>
            <a:off x="7772400" y="0"/>
            <a:ext cx="1371600" cy="1066800"/>
          </a:xfrm>
          <a:prstGeom prst="rect">
            <a:avLst/>
          </a:prstGeom>
          <a:noFill/>
          <a:ln>
            <a:noFill/>
          </a:ln>
        </p:spPr>
      </p:pic>
      <p:sp>
        <p:nvSpPr>
          <p:cNvPr id="147" name="Google Shape;147;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View</a:t>
            </a:r>
            <a:endParaRPr/>
          </a:p>
        </p:txBody>
      </p:sp>
      <p:sp>
        <p:nvSpPr>
          <p:cNvPr id="153" name="Google Shape;153;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There are four views from which the architecture of a software can be observed</a:t>
            </a:r>
            <a:endParaRPr/>
          </a:p>
          <a:p>
            <a:pPr indent="-274320" lvl="0" marL="274320" rtl="0" algn="l">
              <a:spcBef>
                <a:spcPts val="600"/>
              </a:spcBef>
              <a:spcAft>
                <a:spcPts val="0"/>
              </a:spcAft>
              <a:buSzPts val="2128"/>
              <a:buChar char="🞂"/>
            </a:pPr>
            <a:r>
              <a:rPr lang="en-GB" sz="2800"/>
              <a:t>Each architectural diagram only shows one view or perspective of the system. </a:t>
            </a:r>
            <a:endParaRPr/>
          </a:p>
          <a:p>
            <a:pPr indent="-148844" lvl="0" marL="274320" rtl="0" algn="l">
              <a:spcBef>
                <a:spcPts val="600"/>
              </a:spcBef>
              <a:spcAft>
                <a:spcPts val="0"/>
              </a:spcAft>
              <a:buSzPts val="1976"/>
              <a:buNone/>
            </a:pPr>
            <a:r>
              <a:t/>
            </a:r>
            <a:endParaRPr/>
          </a:p>
        </p:txBody>
      </p:sp>
      <p:pic>
        <p:nvPicPr>
          <p:cNvPr descr="6.3 Architectural views.eps" id="154" name="Google Shape;154;p6"/>
          <p:cNvPicPr preferRelativeResize="0"/>
          <p:nvPr/>
        </p:nvPicPr>
        <p:blipFill rotWithShape="1">
          <a:blip r:embed="rId3">
            <a:alphaModFix/>
          </a:blip>
          <a:srcRect b="0" l="0" r="0" t="0"/>
          <a:stretch/>
        </p:blipFill>
        <p:spPr>
          <a:xfrm>
            <a:off x="2667000" y="3276600"/>
            <a:ext cx="4156555" cy="3206416"/>
          </a:xfrm>
          <a:prstGeom prst="rect">
            <a:avLst/>
          </a:prstGeom>
          <a:noFill/>
          <a:ln>
            <a:noFill/>
          </a:ln>
        </p:spPr>
      </p:pic>
      <p:pic>
        <p:nvPicPr>
          <p:cNvPr descr="brac.png" id="155" name="Google Shape;155;p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56" name="Google Shape;156;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1000"/>
                                        <p:tgtEl>
                                          <p:spTgt spid="1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Effect filter="fade" transition="in">
                                      <p:cBhvr>
                                        <p:cTn dur="1000"/>
                                        <p:tgtEl>
                                          <p:spTgt spid="1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animEffect filter="fade" transition="in">
                                      <p:cBhvr>
                                        <p:cTn dur="1000"/>
                                        <p:tgtEl>
                                          <p:spTgt spid="15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457200" y="152400"/>
            <a:ext cx="8229600" cy="609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GB"/>
              <a:t>4 + 1 view model of software architecture</a:t>
            </a:r>
            <a:endParaRPr/>
          </a:p>
        </p:txBody>
      </p:sp>
      <p:sp>
        <p:nvSpPr>
          <p:cNvPr id="162" name="Google Shape;162;p7"/>
          <p:cNvSpPr txBox="1"/>
          <p:nvPr>
            <p:ph idx="1" type="body"/>
          </p:nvPr>
        </p:nvSpPr>
        <p:spPr>
          <a:xfrm>
            <a:off x="457200" y="762000"/>
            <a:ext cx="5638800" cy="5410200"/>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just">
              <a:spcBef>
                <a:spcPts val="0"/>
              </a:spcBef>
              <a:spcAft>
                <a:spcPts val="0"/>
              </a:spcAft>
              <a:buSzPct val="76000"/>
              <a:buChar char="🞂"/>
            </a:pPr>
            <a:r>
              <a:rPr lang="en-GB" sz="2800"/>
              <a:t>A logical view, which shows the key abstractions in the system as objects or object classes. (class/state diagrams)</a:t>
            </a:r>
            <a:endParaRPr sz="2800"/>
          </a:p>
          <a:p>
            <a:pPr indent="-274320" lvl="0" marL="274320" rtl="0" algn="just">
              <a:spcBef>
                <a:spcPts val="600"/>
              </a:spcBef>
              <a:spcAft>
                <a:spcPts val="0"/>
              </a:spcAft>
              <a:buSzPct val="76000"/>
              <a:buChar char="🞂"/>
            </a:pPr>
            <a:r>
              <a:rPr lang="en-GB" sz="2800"/>
              <a:t>A process view, which shows how, at run-time, the system is composed of interacting processes. (activity diagram)</a:t>
            </a:r>
            <a:endParaRPr sz="2800"/>
          </a:p>
          <a:p>
            <a:pPr indent="-274320" lvl="0" marL="274320" rtl="0" algn="just">
              <a:spcBef>
                <a:spcPts val="600"/>
              </a:spcBef>
              <a:spcAft>
                <a:spcPts val="0"/>
              </a:spcAft>
              <a:buSzPct val="76000"/>
              <a:buChar char="🞂"/>
            </a:pPr>
            <a:r>
              <a:rPr lang="en-GB" sz="2800"/>
              <a:t>A development view, which shows how the software is decomposed for development. (Component/package diagram)</a:t>
            </a:r>
            <a:endParaRPr sz="2800"/>
          </a:p>
          <a:p>
            <a:pPr indent="-274320" lvl="0" marL="274320" rtl="0" algn="just">
              <a:spcBef>
                <a:spcPts val="600"/>
              </a:spcBef>
              <a:spcAft>
                <a:spcPts val="0"/>
              </a:spcAft>
              <a:buSzPct val="76000"/>
              <a:buChar char="🞂"/>
            </a:pPr>
            <a:r>
              <a:rPr lang="en-GB" sz="2800"/>
              <a:t>A physical view, which shows the system hardware and how software components are distributed across the processors in the system. (Deployment diagram.)</a:t>
            </a:r>
            <a:endParaRPr/>
          </a:p>
          <a:p>
            <a:pPr indent="-274320" lvl="0" marL="274320" rtl="0" algn="just">
              <a:spcBef>
                <a:spcPts val="600"/>
              </a:spcBef>
              <a:spcAft>
                <a:spcPts val="0"/>
              </a:spcAft>
              <a:buSzPct val="76000"/>
              <a:buChar char="🞂"/>
            </a:pPr>
            <a:r>
              <a:rPr lang="en-GB" sz="2800"/>
              <a:t>Related using use cases or scenarios (+1) </a:t>
            </a:r>
            <a:endParaRPr sz="2800"/>
          </a:p>
          <a:p>
            <a:pPr indent="-167665" lvl="0" marL="274320" rtl="0" algn="l">
              <a:spcBef>
                <a:spcPts val="600"/>
              </a:spcBef>
              <a:spcAft>
                <a:spcPts val="0"/>
              </a:spcAft>
              <a:buSzPct val="76000"/>
              <a:buNone/>
            </a:pPr>
            <a:r>
              <a:t/>
            </a:r>
            <a:endParaRPr/>
          </a:p>
        </p:txBody>
      </p:sp>
      <p:pic>
        <p:nvPicPr>
          <p:cNvPr id="163" name="Google Shape;163;p7"/>
          <p:cNvPicPr preferRelativeResize="0"/>
          <p:nvPr/>
        </p:nvPicPr>
        <p:blipFill rotWithShape="1">
          <a:blip r:embed="rId3">
            <a:alphaModFix/>
          </a:blip>
          <a:srcRect b="0" l="0" r="0" t="0"/>
          <a:stretch/>
        </p:blipFill>
        <p:spPr>
          <a:xfrm>
            <a:off x="6169068" y="685800"/>
            <a:ext cx="2971800" cy="1463040"/>
          </a:xfrm>
          <a:prstGeom prst="rect">
            <a:avLst/>
          </a:prstGeom>
          <a:noFill/>
          <a:ln>
            <a:noFill/>
          </a:ln>
        </p:spPr>
      </p:pic>
      <p:pic>
        <p:nvPicPr>
          <p:cNvPr id="164" name="Google Shape;164;p7"/>
          <p:cNvPicPr preferRelativeResize="0"/>
          <p:nvPr/>
        </p:nvPicPr>
        <p:blipFill rotWithShape="1">
          <a:blip r:embed="rId4">
            <a:alphaModFix/>
          </a:blip>
          <a:srcRect b="0" l="0" r="0" t="0"/>
          <a:stretch/>
        </p:blipFill>
        <p:spPr>
          <a:xfrm>
            <a:off x="6034936" y="1972851"/>
            <a:ext cx="3105932" cy="1845498"/>
          </a:xfrm>
          <a:prstGeom prst="rect">
            <a:avLst/>
          </a:prstGeom>
          <a:noFill/>
          <a:ln>
            <a:noFill/>
          </a:ln>
        </p:spPr>
      </p:pic>
      <p:pic>
        <p:nvPicPr>
          <p:cNvPr id="165" name="Google Shape;165;p7"/>
          <p:cNvPicPr preferRelativeResize="0"/>
          <p:nvPr/>
        </p:nvPicPr>
        <p:blipFill rotWithShape="1">
          <a:blip r:embed="rId5">
            <a:alphaModFix/>
          </a:blip>
          <a:srcRect b="0" l="0" r="0" t="0"/>
          <a:stretch/>
        </p:blipFill>
        <p:spPr>
          <a:xfrm>
            <a:off x="6034936" y="2148840"/>
            <a:ext cx="3025817" cy="2465546"/>
          </a:xfrm>
          <a:prstGeom prst="rect">
            <a:avLst/>
          </a:prstGeom>
          <a:noFill/>
          <a:ln>
            <a:noFill/>
          </a:ln>
        </p:spPr>
      </p:pic>
      <p:pic>
        <p:nvPicPr>
          <p:cNvPr id="166" name="Google Shape;166;p7"/>
          <p:cNvPicPr preferRelativeResize="0"/>
          <p:nvPr/>
        </p:nvPicPr>
        <p:blipFill rotWithShape="1">
          <a:blip r:embed="rId6">
            <a:alphaModFix/>
          </a:blip>
          <a:srcRect b="0" l="0" r="0" t="0"/>
          <a:stretch/>
        </p:blipFill>
        <p:spPr>
          <a:xfrm>
            <a:off x="6141798" y="2362200"/>
            <a:ext cx="2812092" cy="3240405"/>
          </a:xfrm>
          <a:prstGeom prst="rect">
            <a:avLst/>
          </a:prstGeom>
          <a:noFill/>
          <a:ln>
            <a:noFill/>
          </a:ln>
        </p:spPr>
      </p:pic>
      <p:pic>
        <p:nvPicPr>
          <p:cNvPr descr="brac.png" id="167" name="Google Shape;167;p7"/>
          <p:cNvPicPr preferRelativeResize="0"/>
          <p:nvPr/>
        </p:nvPicPr>
        <p:blipFill rotWithShape="1">
          <a:blip r:embed="rId7">
            <a:alphaModFix/>
          </a:blip>
          <a:srcRect b="0" l="0" r="0" t="0"/>
          <a:stretch/>
        </p:blipFill>
        <p:spPr>
          <a:xfrm>
            <a:off x="7772400" y="5791200"/>
            <a:ext cx="1371600" cy="1066800"/>
          </a:xfrm>
          <a:prstGeom prst="rect">
            <a:avLst/>
          </a:prstGeom>
          <a:noFill/>
          <a:ln>
            <a:noFill/>
          </a:ln>
        </p:spPr>
      </p:pic>
      <p:sp>
        <p:nvSpPr>
          <p:cNvPr id="168" name="Google Shape;168;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10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10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10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10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1000"/>
                                        <p:tgtEl>
                                          <p:spTgt spid="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Effect filter="fade" transition="in">
                                      <p:cBhvr>
                                        <p:cTn dur="1000"/>
                                        <p:tgtEl>
                                          <p:spTgt spid="16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6"/>
                                        </p:tgtEl>
                                      </p:cBhvr>
                                    </p:animEffect>
                                    <p:set>
                                      <p:cBhvr>
                                        <p:cTn dur="1" fill="hold">
                                          <p:stCondLst>
                                            <p:cond delay="1000"/>
                                          </p:stCondLst>
                                        </p:cTn>
                                        <p:tgtEl>
                                          <p:spTgt spid="1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type="title"/>
          </p:nvPr>
        </p:nvSpPr>
        <p:spPr>
          <a:xfrm>
            <a:off x="457200" y="1163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74" name="Google Shape;174;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Lets think of some problems - </a:t>
            </a:r>
            <a:endParaRPr/>
          </a:p>
          <a:p>
            <a:pPr indent="-148844" lvl="0" marL="274320" rtl="0" algn="l">
              <a:spcBef>
                <a:spcPts val="600"/>
              </a:spcBef>
              <a:spcAft>
                <a:spcPts val="0"/>
              </a:spcAft>
              <a:buSzPts val="1976"/>
              <a:buNone/>
            </a:pPr>
            <a:r>
              <a:t/>
            </a:r>
            <a:endParaRPr/>
          </a:p>
        </p:txBody>
      </p:sp>
      <p:pic>
        <p:nvPicPr>
          <p:cNvPr id="175" name="Google Shape;175;p8"/>
          <p:cNvPicPr preferRelativeResize="0"/>
          <p:nvPr/>
        </p:nvPicPr>
        <p:blipFill rotWithShape="1">
          <a:blip r:embed="rId3">
            <a:alphaModFix/>
          </a:blip>
          <a:srcRect b="0" l="0" r="0" t="0"/>
          <a:stretch/>
        </p:blipFill>
        <p:spPr>
          <a:xfrm>
            <a:off x="4572000" y="2438400"/>
            <a:ext cx="4419600" cy="3200400"/>
          </a:xfrm>
          <a:prstGeom prst="rect">
            <a:avLst/>
          </a:prstGeom>
          <a:noFill/>
          <a:ln>
            <a:noFill/>
          </a:ln>
        </p:spPr>
      </p:pic>
      <p:pic>
        <p:nvPicPr>
          <p:cNvPr descr="Online_Grocery_Shopping18SlideCover-1024x640.jpg" id="176" name="Google Shape;176;p8"/>
          <p:cNvPicPr preferRelativeResize="0"/>
          <p:nvPr/>
        </p:nvPicPr>
        <p:blipFill rotWithShape="1">
          <a:blip r:embed="rId4">
            <a:alphaModFix/>
          </a:blip>
          <a:srcRect b="0" l="0" r="0" t="0"/>
          <a:stretch/>
        </p:blipFill>
        <p:spPr>
          <a:xfrm>
            <a:off x="152400" y="2133600"/>
            <a:ext cx="4267200" cy="3124200"/>
          </a:xfrm>
          <a:prstGeom prst="rect">
            <a:avLst/>
          </a:prstGeom>
          <a:noFill/>
          <a:ln>
            <a:noFill/>
          </a:ln>
        </p:spPr>
      </p:pic>
      <p:pic>
        <p:nvPicPr>
          <p:cNvPr descr="brac.png" id="177" name="Google Shape;177;p8"/>
          <p:cNvPicPr preferRelativeResize="0"/>
          <p:nvPr/>
        </p:nvPicPr>
        <p:blipFill rotWithShape="1">
          <a:blip r:embed="rId5">
            <a:alphaModFix/>
          </a:blip>
          <a:srcRect b="0" l="0" r="0" t="0"/>
          <a:stretch/>
        </p:blipFill>
        <p:spPr>
          <a:xfrm>
            <a:off x="7772400" y="5791200"/>
            <a:ext cx="1371600" cy="1066800"/>
          </a:xfrm>
          <a:prstGeom prst="rect">
            <a:avLst/>
          </a:prstGeom>
          <a:noFill/>
          <a:ln>
            <a:noFill/>
          </a:ln>
        </p:spPr>
      </p:pic>
      <p:sp>
        <p:nvSpPr>
          <p:cNvPr id="178" name="Google Shape;178;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10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Effect filter="fade" transition="in">
                                      <p:cBhvr>
                                        <p:cTn dur="1000"/>
                                        <p:tgtEl>
                                          <p:spTgt spid="1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2000"/>
                                        <p:tgtEl>
                                          <p:spTgt spid="1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84" name="Google Shape;184;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An architectural pattern is a stylized description of good design practice, which has been tried and tested in different environments.</a:t>
            </a:r>
            <a:endParaRPr/>
          </a:p>
          <a:p>
            <a:pPr indent="-274320" lvl="0" marL="274320" rtl="0" algn="l">
              <a:spcBef>
                <a:spcPts val="600"/>
              </a:spcBef>
              <a:spcAft>
                <a:spcPts val="0"/>
              </a:spcAft>
              <a:buSzPts val="1976"/>
              <a:buChar char="🞂"/>
            </a:pPr>
            <a:r>
              <a:rPr lang="en-GB"/>
              <a:t>It’s a solution to a existing and commonly occurring problem.</a:t>
            </a:r>
            <a:endParaRPr/>
          </a:p>
          <a:p>
            <a:pPr indent="-274320" lvl="0" marL="274320" rtl="0" algn="l">
              <a:spcBef>
                <a:spcPts val="600"/>
              </a:spcBef>
              <a:spcAft>
                <a:spcPts val="0"/>
              </a:spcAft>
              <a:buSzPts val="2128"/>
              <a:buChar char="🞂"/>
            </a:pPr>
            <a:r>
              <a:rPr lang="en-GB" sz="2800"/>
              <a:t>Patterns include information about when they are and when the are not useful.</a:t>
            </a:r>
            <a:endParaRPr sz="2800"/>
          </a:p>
          <a:p>
            <a:pPr indent="-148844" lvl="0" marL="274320" rtl="0" algn="l">
              <a:spcBef>
                <a:spcPts val="600"/>
              </a:spcBef>
              <a:spcAft>
                <a:spcPts val="0"/>
              </a:spcAft>
              <a:buSzPts val="1976"/>
              <a:buNone/>
            </a:pPr>
            <a:r>
              <a:t/>
            </a:r>
            <a:endParaRPr/>
          </a:p>
        </p:txBody>
      </p:sp>
      <p:pic>
        <p:nvPicPr>
          <p:cNvPr descr="brac.png" id="185" name="Google Shape;185;p9"/>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86" name="Google Shape;186;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10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10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1000"/>
                                        <p:tgtEl>
                                          <p:spTgt spid="1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animEffect filter="fade" transition="in">
                                      <p:cBhvr>
                                        <p:cTn dur="1000"/>
                                        <p:tgtEl>
                                          <p:spTgt spid="18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EEFF"/>
        </a:solidFill>
      </p:bgPr>
    </p:bg>
    <p:spTree>
      <p:nvGrpSpPr>
        <p:cNvPr id="190" name="Shape 190"/>
        <p:cNvGrpSpPr/>
        <p:nvPr/>
      </p:nvGrpSpPr>
      <p:grpSpPr>
        <a:xfrm>
          <a:off x="0" y="0"/>
          <a:ext cx="0" cy="0"/>
          <a:chOff x="0" y="0"/>
          <a:chExt cx="0" cy="0"/>
        </a:xfrm>
      </p:grpSpPr>
      <p:sp>
        <p:nvSpPr>
          <p:cNvPr id="191" name="Google Shape;191;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MVC Pattern</a:t>
            </a:r>
            <a:endParaRPr/>
          </a:p>
        </p:txBody>
      </p:sp>
      <p:sp>
        <p:nvSpPr>
          <p:cNvPr id="192" name="Google Shape;192;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goes for Model-View-Controller Pattern</a:t>
            </a:r>
            <a:endParaRPr/>
          </a:p>
          <a:p>
            <a:pPr indent="-274320" lvl="0" marL="274320" rtl="0" algn="l">
              <a:spcBef>
                <a:spcPts val="600"/>
              </a:spcBef>
              <a:spcAft>
                <a:spcPts val="0"/>
              </a:spcAft>
              <a:buSzPts val="1976"/>
              <a:buChar char="🞂"/>
            </a:pPr>
            <a:r>
              <a:rPr lang="en-GB"/>
              <a:t>Separates presentation and interaction from the data handling logic.</a:t>
            </a:r>
            <a:endParaRPr/>
          </a:p>
          <a:p>
            <a:pPr indent="-274320" lvl="0" marL="274320" rtl="0" algn="l">
              <a:spcBef>
                <a:spcPts val="600"/>
              </a:spcBef>
              <a:spcAft>
                <a:spcPts val="0"/>
              </a:spcAft>
              <a:buSzPts val="1976"/>
              <a:buChar char="🞂"/>
            </a:pPr>
            <a:r>
              <a:rPr lang="en-GB"/>
              <a:t>The system is structured into three logical components that interact with each other- Model, View and Controller</a:t>
            </a:r>
            <a:endParaRPr/>
          </a:p>
        </p:txBody>
      </p:sp>
      <p:pic>
        <p:nvPicPr>
          <p:cNvPr descr="Online_Grocery_Shopping18SlideCover-1024x640.jpg" id="193" name="Google Shape;193;p10"/>
          <p:cNvPicPr preferRelativeResize="0"/>
          <p:nvPr/>
        </p:nvPicPr>
        <p:blipFill rotWithShape="1">
          <a:blip r:embed="rId3">
            <a:alphaModFix/>
          </a:blip>
          <a:srcRect b="0" l="0" r="0" t="0"/>
          <a:stretch/>
        </p:blipFill>
        <p:spPr>
          <a:xfrm>
            <a:off x="2286000" y="3505200"/>
            <a:ext cx="3581400" cy="3086100"/>
          </a:xfrm>
          <a:prstGeom prst="rect">
            <a:avLst/>
          </a:prstGeom>
          <a:noFill/>
          <a:ln>
            <a:noFill/>
          </a:ln>
        </p:spPr>
      </p:pic>
      <p:pic>
        <p:nvPicPr>
          <p:cNvPr descr="brac.png" id="194" name="Google Shape;194;p10"/>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95" name="Google Shape;195;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1000"/>
                                        <p:tgtEl>
                                          <p:spTgt spid="1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Effect filter="fade" transition="in">
                                      <p:cBhvr>
                                        <p:cTn dur="1000"/>
                                        <p:tgtEl>
                                          <p:spTgt spid="1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Effect filter="fade" transition="in">
                                      <p:cBhvr>
                                        <p:cTn dur="1000"/>
                                        <p:tgtEl>
                                          <p:spTgt spid="1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Controller</a:t>
            </a:r>
            <a:endParaRPr/>
          </a:p>
        </p:txBody>
      </p:sp>
      <p:sp>
        <p:nvSpPr>
          <p:cNvPr id="201" name="Google Shape;201;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76"/>
              <a:buChar char="🞂"/>
            </a:pPr>
            <a:r>
              <a:rPr lang="en-GB"/>
              <a:t>Handles all the user inputs through url</a:t>
            </a:r>
            <a:endParaRPr/>
          </a:p>
          <a:p>
            <a:pPr indent="-274320" lvl="0" marL="274320" rtl="0" algn="l">
              <a:spcBef>
                <a:spcPts val="600"/>
              </a:spcBef>
              <a:spcAft>
                <a:spcPts val="0"/>
              </a:spcAft>
              <a:buSzPts val="1976"/>
              <a:buChar char="🞂"/>
            </a:pPr>
            <a:r>
              <a:rPr lang="en-GB"/>
              <a:t>The interaction to an application starts here by the user interactions – mouse click, key press etc</a:t>
            </a:r>
            <a:endParaRPr/>
          </a:p>
          <a:p>
            <a:pPr indent="-274320" lvl="0" marL="274320" rtl="0" algn="l">
              <a:spcBef>
                <a:spcPts val="600"/>
              </a:spcBef>
              <a:spcAft>
                <a:spcPts val="0"/>
              </a:spcAft>
              <a:buSzPts val="1976"/>
              <a:buChar char="🞂"/>
            </a:pPr>
            <a:r>
              <a:rPr lang="en-GB"/>
              <a:t>Process http url requests (</a:t>
            </a:r>
            <a:r>
              <a:rPr i="1" lang="en-GB"/>
              <a:t>GET, POST, PUT, DELETE</a:t>
            </a:r>
            <a:r>
              <a:rPr lang="en-GB"/>
              <a:t>)</a:t>
            </a:r>
            <a:endParaRPr/>
          </a:p>
          <a:p>
            <a:pPr indent="-274320" lvl="1" marL="548640" rtl="0" algn="l">
              <a:spcBef>
                <a:spcPts val="500"/>
              </a:spcBef>
              <a:spcAft>
                <a:spcPts val="0"/>
              </a:spcAft>
              <a:buSzPts val="1748"/>
              <a:buChar char="🞂"/>
            </a:pPr>
            <a:r>
              <a:rPr i="1" lang="en-GB"/>
              <a:t>GET</a:t>
            </a:r>
            <a:r>
              <a:rPr lang="en-GB"/>
              <a:t>: for getting a data</a:t>
            </a:r>
            <a:endParaRPr/>
          </a:p>
          <a:p>
            <a:pPr indent="-274320" lvl="1" marL="548640" rtl="0" algn="l">
              <a:spcBef>
                <a:spcPts val="500"/>
              </a:spcBef>
              <a:spcAft>
                <a:spcPts val="0"/>
              </a:spcAft>
              <a:buSzPts val="1748"/>
              <a:buChar char="🞂"/>
            </a:pPr>
            <a:r>
              <a:rPr i="1" lang="en-GB"/>
              <a:t>POST</a:t>
            </a:r>
            <a:r>
              <a:rPr lang="en-GB"/>
              <a:t>: for posting / inserting a data</a:t>
            </a:r>
            <a:endParaRPr/>
          </a:p>
          <a:p>
            <a:pPr indent="-274320" lvl="1" marL="548640" rtl="0" algn="l">
              <a:spcBef>
                <a:spcPts val="500"/>
              </a:spcBef>
              <a:spcAft>
                <a:spcPts val="0"/>
              </a:spcAft>
              <a:buSzPts val="1748"/>
              <a:buChar char="🞂"/>
            </a:pPr>
            <a:r>
              <a:rPr i="1" lang="en-GB"/>
              <a:t>PUT</a:t>
            </a:r>
            <a:r>
              <a:rPr lang="en-GB"/>
              <a:t>: for updating a data</a:t>
            </a:r>
            <a:endParaRPr/>
          </a:p>
          <a:p>
            <a:pPr indent="-274320" lvl="1" marL="548640" rtl="0" algn="l">
              <a:spcBef>
                <a:spcPts val="500"/>
              </a:spcBef>
              <a:spcAft>
                <a:spcPts val="0"/>
              </a:spcAft>
              <a:buSzPts val="1748"/>
              <a:buChar char="🞂"/>
            </a:pPr>
            <a:r>
              <a:rPr i="1" lang="en-GB"/>
              <a:t>DELETE</a:t>
            </a:r>
            <a:r>
              <a:rPr lang="en-GB"/>
              <a:t>: for removing a data</a:t>
            </a:r>
            <a:endParaRPr/>
          </a:p>
          <a:p>
            <a:pPr indent="-274320" lvl="0" marL="274320" rtl="0" algn="l">
              <a:spcBef>
                <a:spcPts val="600"/>
              </a:spcBef>
              <a:spcAft>
                <a:spcPts val="0"/>
              </a:spcAft>
              <a:buSzPts val="1976"/>
              <a:buChar char="🞂"/>
            </a:pPr>
            <a:r>
              <a:rPr lang="en-GB"/>
              <a:t>Communicates with both Model and View</a:t>
            </a:r>
            <a:endParaRPr/>
          </a:p>
          <a:p>
            <a:pPr indent="-274320" lvl="0" marL="274320" rtl="0" algn="l">
              <a:spcBef>
                <a:spcPts val="600"/>
              </a:spcBef>
              <a:spcAft>
                <a:spcPts val="0"/>
              </a:spcAft>
              <a:buSzPts val="1976"/>
              <a:buChar char="🞂"/>
            </a:pPr>
            <a:r>
              <a:rPr lang="en-GB"/>
              <a:t>Contains all server side logic</a:t>
            </a:r>
            <a:endParaRPr/>
          </a:p>
          <a:p>
            <a:pPr indent="-274320" lvl="0" marL="274320" rtl="0" algn="l">
              <a:spcBef>
                <a:spcPts val="600"/>
              </a:spcBef>
              <a:spcAft>
                <a:spcPts val="0"/>
              </a:spcAft>
              <a:buSzPts val="1976"/>
              <a:buChar char="🞂"/>
            </a:pPr>
            <a:r>
              <a:rPr lang="en-GB"/>
              <a:t>In the example – ProductController, UserController, AccountController etc.</a:t>
            </a:r>
            <a:endParaRPr/>
          </a:p>
        </p:txBody>
      </p:sp>
      <p:pic>
        <p:nvPicPr>
          <p:cNvPr descr="brac.png" id="202" name="Google Shape;202;p11"/>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03" name="Google Shape;203;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animEffect filter="fade" transition="in">
                                      <p:cBhvr>
                                        <p:cTn dur="1000"/>
                                        <p:tgtEl>
                                          <p:spTgt spid="2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1" st="1"/>
                                            </p:txEl>
                                          </p:spTgt>
                                        </p:tgtEl>
                                        <p:attrNameLst>
                                          <p:attrName>style.visibility</p:attrName>
                                        </p:attrNameLst>
                                      </p:cBhvr>
                                      <p:to>
                                        <p:strVal val="visible"/>
                                      </p:to>
                                    </p:set>
                                    <p:animEffect filter="fade" transition="in">
                                      <p:cBhvr>
                                        <p:cTn dur="1000"/>
                                        <p:tgtEl>
                                          <p:spTgt spid="2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2" st="2"/>
                                            </p:txEl>
                                          </p:spTgt>
                                        </p:tgtEl>
                                        <p:attrNameLst>
                                          <p:attrName>style.visibility</p:attrName>
                                        </p:attrNameLst>
                                      </p:cBhvr>
                                      <p:to>
                                        <p:strVal val="visible"/>
                                      </p:to>
                                    </p:set>
                                    <p:animEffect filter="fade" transition="in">
                                      <p:cBhvr>
                                        <p:cTn dur="1000"/>
                                        <p:tgtEl>
                                          <p:spTgt spid="2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3" st="3"/>
                                            </p:txEl>
                                          </p:spTgt>
                                        </p:tgtEl>
                                        <p:attrNameLst>
                                          <p:attrName>style.visibility</p:attrName>
                                        </p:attrNameLst>
                                      </p:cBhvr>
                                      <p:to>
                                        <p:strVal val="visible"/>
                                      </p:to>
                                    </p:set>
                                    <p:animEffect filter="fade" transition="in">
                                      <p:cBhvr>
                                        <p:cTn dur="1000"/>
                                        <p:tgtEl>
                                          <p:spTgt spid="2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4" st="4"/>
                                            </p:txEl>
                                          </p:spTgt>
                                        </p:tgtEl>
                                        <p:attrNameLst>
                                          <p:attrName>style.visibility</p:attrName>
                                        </p:attrNameLst>
                                      </p:cBhvr>
                                      <p:to>
                                        <p:strVal val="visible"/>
                                      </p:to>
                                    </p:set>
                                    <p:animEffect filter="fade" transition="in">
                                      <p:cBhvr>
                                        <p:cTn dur="1000"/>
                                        <p:tgtEl>
                                          <p:spTgt spid="2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5" st="5"/>
                                            </p:txEl>
                                          </p:spTgt>
                                        </p:tgtEl>
                                        <p:attrNameLst>
                                          <p:attrName>style.visibility</p:attrName>
                                        </p:attrNameLst>
                                      </p:cBhvr>
                                      <p:to>
                                        <p:strVal val="visible"/>
                                      </p:to>
                                    </p:set>
                                    <p:animEffect filter="fade" transition="in">
                                      <p:cBhvr>
                                        <p:cTn dur="1000"/>
                                        <p:tgtEl>
                                          <p:spTgt spid="2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6" st="6"/>
                                            </p:txEl>
                                          </p:spTgt>
                                        </p:tgtEl>
                                        <p:attrNameLst>
                                          <p:attrName>style.visibility</p:attrName>
                                        </p:attrNameLst>
                                      </p:cBhvr>
                                      <p:to>
                                        <p:strVal val="visible"/>
                                      </p:to>
                                    </p:set>
                                    <p:animEffect filter="fade" transition="in">
                                      <p:cBhvr>
                                        <p:cTn dur="1000"/>
                                        <p:tgtEl>
                                          <p:spTgt spid="20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7" st="7"/>
                                            </p:txEl>
                                          </p:spTgt>
                                        </p:tgtEl>
                                        <p:attrNameLst>
                                          <p:attrName>style.visibility</p:attrName>
                                        </p:attrNameLst>
                                      </p:cBhvr>
                                      <p:to>
                                        <p:strVal val="visible"/>
                                      </p:to>
                                    </p:set>
                                    <p:animEffect filter="fade" transition="in">
                                      <p:cBhvr>
                                        <p:cTn dur="1000"/>
                                        <p:tgtEl>
                                          <p:spTgt spid="20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8" st="8"/>
                                            </p:txEl>
                                          </p:spTgt>
                                        </p:tgtEl>
                                        <p:attrNameLst>
                                          <p:attrName>style.visibility</p:attrName>
                                        </p:attrNameLst>
                                      </p:cBhvr>
                                      <p:to>
                                        <p:strVal val="visible"/>
                                      </p:to>
                                    </p:set>
                                    <p:animEffect filter="fade" transition="in">
                                      <p:cBhvr>
                                        <p:cTn dur="1000"/>
                                        <p:tgtEl>
                                          <p:spTgt spid="20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9" st="9"/>
                                            </p:txEl>
                                          </p:spTgt>
                                        </p:tgtEl>
                                        <p:attrNameLst>
                                          <p:attrName>style.visibility</p:attrName>
                                        </p:attrNameLst>
                                      </p:cBhvr>
                                      <p:to>
                                        <p:strVal val="visible"/>
                                      </p:to>
                                    </p:set>
                                    <p:animEffect filter="fade" transition="in">
                                      <p:cBhvr>
                                        <p:cTn dur="1000"/>
                                        <p:tgtEl>
                                          <p:spTgt spid="20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Model</a:t>
            </a:r>
            <a:endParaRPr/>
          </a:p>
        </p:txBody>
      </p:sp>
      <p:sp>
        <p:nvSpPr>
          <p:cNvPr id="209" name="Google Shape;209;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It refers to the Data Related Logic</a:t>
            </a:r>
            <a:endParaRPr/>
          </a:p>
          <a:p>
            <a:pPr indent="-274320" lvl="0" marL="274320" rtl="0" algn="l">
              <a:spcBef>
                <a:spcPts val="600"/>
              </a:spcBef>
              <a:spcAft>
                <a:spcPts val="0"/>
              </a:spcAft>
              <a:buSzPts val="1976"/>
              <a:buChar char="🞂"/>
            </a:pPr>
            <a:r>
              <a:rPr lang="en-GB"/>
              <a:t>Interaction with database (such as </a:t>
            </a:r>
            <a:r>
              <a:rPr i="1" lang="en-GB"/>
              <a:t>SELECT, INSERT, UPDATE, DELETE</a:t>
            </a:r>
            <a:r>
              <a:rPr lang="en-GB"/>
              <a:t>)</a:t>
            </a:r>
            <a:endParaRPr/>
          </a:p>
          <a:p>
            <a:pPr indent="-274320" lvl="0" marL="274320" rtl="0" algn="l">
              <a:spcBef>
                <a:spcPts val="600"/>
              </a:spcBef>
              <a:spcAft>
                <a:spcPts val="0"/>
              </a:spcAft>
              <a:buSzPts val="1976"/>
              <a:buChar char="🞂"/>
            </a:pPr>
            <a:r>
              <a:rPr lang="en-GB"/>
              <a:t>It communicates with the controllers</a:t>
            </a:r>
            <a:endParaRPr/>
          </a:p>
          <a:p>
            <a:pPr indent="-274320" lvl="0" marL="274320" rtl="0" algn="l">
              <a:spcBef>
                <a:spcPts val="600"/>
              </a:spcBef>
              <a:spcAft>
                <a:spcPts val="0"/>
              </a:spcAft>
              <a:buSzPts val="1976"/>
              <a:buChar char="🞂"/>
            </a:pPr>
            <a:r>
              <a:rPr lang="en-GB"/>
              <a:t>Can sometimes update or collaborate with the view (Depends on framework)</a:t>
            </a:r>
            <a:endParaRPr/>
          </a:p>
          <a:p>
            <a:pPr indent="-274320" lvl="0" marL="274320" rtl="0" algn="l">
              <a:spcBef>
                <a:spcPts val="600"/>
              </a:spcBef>
              <a:spcAft>
                <a:spcPts val="0"/>
              </a:spcAft>
              <a:buSzPts val="1976"/>
              <a:buChar char="🞂"/>
            </a:pPr>
            <a:r>
              <a:rPr lang="en-GB"/>
              <a:t>In the example – Product, User, Transaction, Cart etc are model classes.</a:t>
            </a:r>
            <a:endParaRPr/>
          </a:p>
        </p:txBody>
      </p:sp>
      <p:pic>
        <p:nvPicPr>
          <p:cNvPr descr="brac.png" id="210" name="Google Shape;210;p1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1" name="Google Shape;211;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10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10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10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Effect filter="fade" transition="in">
                                      <p:cBhvr>
                                        <p:cTn dur="1000"/>
                                        <p:tgtEl>
                                          <p:spTgt spid="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Effect filter="fade" transition="in">
                                      <p:cBhvr>
                                        <p:cTn dur="1000"/>
                                        <p:tgtEl>
                                          <p:spTgt spid="20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View</a:t>
            </a:r>
            <a:endParaRPr/>
          </a:p>
        </p:txBody>
      </p:sp>
      <p:sp>
        <p:nvSpPr>
          <p:cNvPr id="217" name="Google Shape;217;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What the end users see (UI)</a:t>
            </a:r>
            <a:endParaRPr/>
          </a:p>
          <a:p>
            <a:pPr indent="-274320" lvl="0" marL="274320" rtl="0" algn="l">
              <a:spcBef>
                <a:spcPts val="600"/>
              </a:spcBef>
              <a:spcAft>
                <a:spcPts val="0"/>
              </a:spcAft>
              <a:buSzPts val="1976"/>
              <a:buChar char="🞂"/>
            </a:pPr>
            <a:r>
              <a:rPr lang="en-GB"/>
              <a:t>Usually Consists of </a:t>
            </a:r>
            <a:r>
              <a:rPr i="1" lang="en-GB"/>
              <a:t>html/css</a:t>
            </a:r>
            <a:endParaRPr i="1"/>
          </a:p>
          <a:p>
            <a:pPr indent="-274320" lvl="0" marL="274320" rtl="0" algn="l">
              <a:spcBef>
                <a:spcPts val="600"/>
              </a:spcBef>
              <a:spcAft>
                <a:spcPts val="0"/>
              </a:spcAft>
              <a:buSzPts val="1976"/>
              <a:buChar char="🞂"/>
            </a:pPr>
            <a:r>
              <a:rPr lang="en-GB"/>
              <a:t>Communicates with the controller</a:t>
            </a:r>
            <a:endParaRPr/>
          </a:p>
          <a:p>
            <a:pPr indent="-274320" lvl="0" marL="274320" rtl="0" algn="l">
              <a:spcBef>
                <a:spcPts val="600"/>
              </a:spcBef>
              <a:spcAft>
                <a:spcPts val="0"/>
              </a:spcAft>
              <a:buSzPts val="1976"/>
              <a:buChar char="🞂"/>
            </a:pPr>
            <a:r>
              <a:rPr lang="en-GB"/>
              <a:t>While coding are passed as dynamic values from the controller</a:t>
            </a:r>
            <a:endParaRPr/>
          </a:p>
          <a:p>
            <a:pPr indent="-274320" lvl="0" marL="274320" rtl="0" algn="l">
              <a:spcBef>
                <a:spcPts val="600"/>
              </a:spcBef>
              <a:spcAft>
                <a:spcPts val="0"/>
              </a:spcAft>
              <a:buSzPts val="1976"/>
              <a:buChar char="🞂"/>
            </a:pPr>
            <a:r>
              <a:rPr lang="en-GB"/>
              <a:t>A controller can have multiple associated views.</a:t>
            </a:r>
            <a:endParaRPr/>
          </a:p>
          <a:p>
            <a:pPr indent="-274320" lvl="0" marL="274320" rtl="0" algn="l">
              <a:spcBef>
                <a:spcPts val="600"/>
              </a:spcBef>
              <a:spcAft>
                <a:spcPts val="0"/>
              </a:spcAft>
              <a:buSzPts val="1976"/>
              <a:buChar char="🞂"/>
            </a:pPr>
            <a:r>
              <a:rPr lang="en-GB"/>
              <a:t>In the example – product.html, user.html to view a html file</a:t>
            </a:r>
            <a:endParaRPr/>
          </a:p>
          <a:p>
            <a:pPr indent="-148844" lvl="0" marL="274320" rtl="0" algn="l">
              <a:spcBef>
                <a:spcPts val="600"/>
              </a:spcBef>
              <a:spcAft>
                <a:spcPts val="0"/>
              </a:spcAft>
              <a:buSzPts val="1976"/>
              <a:buNone/>
            </a:pPr>
            <a:r>
              <a:t/>
            </a:r>
            <a:endParaRPr i="1"/>
          </a:p>
        </p:txBody>
      </p:sp>
      <p:pic>
        <p:nvPicPr>
          <p:cNvPr descr="brac.png" id="218" name="Google Shape;218;p13"/>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9" name="Google Shape;219;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10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10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10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10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1000"/>
                                        <p:tgtEl>
                                          <p:spTgt spid="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Effect filter="fade" transition="in">
                                      <p:cBhvr>
                                        <p:cTn dur="1000"/>
                                        <p:tgtEl>
                                          <p:spTgt spid="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6" st="6"/>
                                            </p:txEl>
                                          </p:spTgt>
                                        </p:tgtEl>
                                        <p:attrNameLst>
                                          <p:attrName>style.visibility</p:attrName>
                                        </p:attrNameLst>
                                      </p:cBhvr>
                                      <p:to>
                                        <p:strVal val="visible"/>
                                      </p:to>
                                    </p:set>
                                    <p:animEffect filter="fade" transition="in">
                                      <p:cBhvr>
                                        <p:cTn dur="1000"/>
                                        <p:tgtEl>
                                          <p:spTgt spid="21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Routes</a:t>
            </a:r>
            <a:endParaRPr/>
          </a:p>
        </p:txBody>
      </p:sp>
      <p:sp>
        <p:nvSpPr>
          <p:cNvPr id="225" name="Google Shape;225;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Are urls to access a resource</a:t>
            </a:r>
            <a:endParaRPr/>
          </a:p>
          <a:p>
            <a:pPr indent="-274320" lvl="0" marL="274320" rtl="0" algn="l">
              <a:spcBef>
                <a:spcPts val="600"/>
              </a:spcBef>
              <a:spcAft>
                <a:spcPts val="0"/>
              </a:spcAft>
              <a:buSzPts val="1976"/>
              <a:buChar char="🞂"/>
            </a:pPr>
            <a:r>
              <a:rPr lang="en-GB"/>
              <a:t>General structure - http://domainName/{controller}/{action}/{id}</a:t>
            </a:r>
            <a:endParaRPr/>
          </a:p>
          <a:p>
            <a:pPr indent="-274320" lvl="0" marL="274320" rtl="0" algn="l">
              <a:spcBef>
                <a:spcPts val="600"/>
              </a:spcBef>
              <a:spcAft>
                <a:spcPts val="0"/>
              </a:spcAft>
              <a:buSzPts val="1976"/>
              <a:buChar char="🞂"/>
            </a:pPr>
            <a:r>
              <a:rPr lang="en-GB"/>
              <a:t> http://YourApp.com/Users/Profile/25</a:t>
            </a:r>
            <a:endParaRPr/>
          </a:p>
        </p:txBody>
      </p:sp>
      <p:pic>
        <p:nvPicPr>
          <p:cNvPr id="226" name="Google Shape;226;p15"/>
          <p:cNvPicPr preferRelativeResize="0"/>
          <p:nvPr/>
        </p:nvPicPr>
        <p:blipFill rotWithShape="1">
          <a:blip r:embed="rId3">
            <a:alphaModFix/>
          </a:blip>
          <a:srcRect b="0" l="0" r="0" t="0"/>
          <a:stretch/>
        </p:blipFill>
        <p:spPr>
          <a:xfrm>
            <a:off x="3537559" y="3429000"/>
            <a:ext cx="5315692" cy="2648320"/>
          </a:xfrm>
          <a:prstGeom prst="rect">
            <a:avLst/>
          </a:prstGeom>
          <a:noFill/>
          <a:ln>
            <a:noFill/>
          </a:ln>
        </p:spPr>
      </p:pic>
      <p:pic>
        <p:nvPicPr>
          <p:cNvPr descr="brac.png" id="227" name="Google Shape;227;p15"/>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28" name="Google Shape;228;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190d8f2af1_20_0"/>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pic>
        <p:nvPicPr>
          <p:cNvPr descr="Capture.PNG" id="235" name="Google Shape;235;g3190d8f2af1_20_0"/>
          <p:cNvPicPr preferRelativeResize="0"/>
          <p:nvPr/>
        </p:nvPicPr>
        <p:blipFill rotWithShape="1">
          <a:blip r:embed="rId3">
            <a:alphaModFix/>
          </a:blip>
          <a:srcRect b="0" l="0" r="0" t="0"/>
          <a:stretch/>
        </p:blipFill>
        <p:spPr>
          <a:xfrm>
            <a:off x="612650" y="539938"/>
            <a:ext cx="7659374" cy="5778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16"/>
          <p:cNvPicPr preferRelativeResize="0"/>
          <p:nvPr>
            <p:ph idx="1" type="body"/>
          </p:nvPr>
        </p:nvPicPr>
        <p:blipFill rotWithShape="1">
          <a:blip r:embed="rId3">
            <a:alphaModFix/>
          </a:blip>
          <a:srcRect b="0" l="0" r="0" t="0"/>
          <a:stretch/>
        </p:blipFill>
        <p:spPr>
          <a:xfrm>
            <a:off x="2514600" y="990600"/>
            <a:ext cx="3962400" cy="5153025"/>
          </a:xfrm>
          <a:prstGeom prst="rect">
            <a:avLst/>
          </a:prstGeom>
          <a:noFill/>
          <a:ln>
            <a:noFill/>
          </a:ln>
        </p:spPr>
      </p:pic>
      <p:pic>
        <p:nvPicPr>
          <p:cNvPr descr="brac.png" id="241" name="Google Shape;241;p1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42" name="Google Shape;242;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48" name="Google Shape;248;p17"/>
          <p:cNvPicPr preferRelativeResize="0"/>
          <p:nvPr>
            <p:ph idx="1" type="body"/>
          </p:nvPr>
        </p:nvPicPr>
        <p:blipFill rotWithShape="1">
          <a:blip r:embed="rId3">
            <a:alphaModFix/>
          </a:blip>
          <a:srcRect b="0" l="0" r="0" t="0"/>
          <a:stretch/>
        </p:blipFill>
        <p:spPr>
          <a:xfrm>
            <a:off x="381000" y="304800"/>
            <a:ext cx="8382000" cy="6172200"/>
          </a:xfrm>
          <a:prstGeom prst="rect">
            <a:avLst/>
          </a:prstGeom>
          <a:noFill/>
          <a:ln>
            <a:noFill/>
          </a:ln>
        </p:spPr>
      </p:pic>
      <p:pic>
        <p:nvPicPr>
          <p:cNvPr descr="brac.png" id="249" name="Google Shape;249;p17"/>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50" name="Google Shape;250;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Capture.PNG" id="251" name="Google Shape;251;p17"/>
          <p:cNvPicPr preferRelativeResize="0"/>
          <p:nvPr/>
        </p:nvPicPr>
        <p:blipFill rotWithShape="1">
          <a:blip r:embed="rId5">
            <a:alphaModFix/>
          </a:blip>
          <a:srcRect b="0" l="0" r="0" t="0"/>
          <a:stretch/>
        </p:blipFill>
        <p:spPr>
          <a:xfrm>
            <a:off x="4800600" y="0"/>
            <a:ext cx="4343400" cy="3276600"/>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8"/>
          <p:cNvSpPr txBox="1"/>
          <p:nvPr/>
        </p:nvSpPr>
        <p:spPr>
          <a:xfrm>
            <a:off x="505217" y="914400"/>
            <a:ext cx="4800600" cy="14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B0F0"/>
                </a:solidFill>
                <a:latin typeface="Gill Sans"/>
                <a:ea typeface="Gill Sans"/>
                <a:cs typeface="Gill Sans"/>
                <a:sym typeface="Gill Sans"/>
              </a:rPr>
              <a:t>When Used: </a:t>
            </a:r>
            <a:endParaRPr/>
          </a:p>
          <a:p>
            <a:pPr indent="0" lvl="0" marL="0" marR="0" rtl="0" algn="l">
              <a:spcBef>
                <a:spcPts val="0"/>
              </a:spcBef>
              <a:spcAft>
                <a:spcPts val="0"/>
              </a:spcAft>
              <a:buNone/>
            </a:pPr>
            <a:r>
              <a:rPr lang="en-GB" sz="1800">
                <a:solidFill>
                  <a:srgbClr val="000000"/>
                </a:solidFill>
                <a:latin typeface="Helvetica Neue"/>
                <a:ea typeface="Helvetica Neue"/>
                <a:cs typeface="Helvetica Neue"/>
                <a:sym typeface="Helvetica Neue"/>
              </a:rPr>
              <a:t>Used when there are multiple ways to view and interact with data. Also used when the future requirements for interaction and presentation of data are unknown. </a:t>
            </a:r>
            <a:endParaRPr/>
          </a:p>
        </p:txBody>
      </p:sp>
      <p:sp>
        <p:nvSpPr>
          <p:cNvPr id="257" name="Google Shape;257;p18"/>
          <p:cNvSpPr txBox="1"/>
          <p:nvPr/>
        </p:nvSpPr>
        <p:spPr>
          <a:xfrm>
            <a:off x="3200400" y="2590800"/>
            <a:ext cx="480060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Allows the data to change independently of its representation and vice versa. Supports presentation of the same data in different ways with changes made in one representation shown in all of them. </a:t>
            </a:r>
            <a:endParaRPr/>
          </a:p>
        </p:txBody>
      </p:sp>
      <p:sp>
        <p:nvSpPr>
          <p:cNvPr id="258" name="Google Shape;258;p18"/>
          <p:cNvSpPr txBox="1"/>
          <p:nvPr/>
        </p:nvSpPr>
        <p:spPr>
          <a:xfrm>
            <a:off x="762522" y="4648200"/>
            <a:ext cx="4800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Disadvantages: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Can involve additional code and code complexity when the data model and interactions are simple.</a:t>
            </a:r>
            <a:endParaRPr/>
          </a:p>
        </p:txBody>
      </p:sp>
      <p:pic>
        <p:nvPicPr>
          <p:cNvPr descr="brac.png" id="259" name="Google Shape;259;p18"/>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60" name="Google Shape;260;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Summary</a:t>
            </a:r>
            <a:endParaRPr/>
          </a:p>
        </p:txBody>
      </p:sp>
      <p:sp>
        <p:nvSpPr>
          <p:cNvPr id="266" name="Google Shape;266;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is one of the most used architectural patterns.</a:t>
            </a:r>
            <a:endParaRPr/>
          </a:p>
          <a:p>
            <a:pPr indent="-274320" lvl="0" marL="274320" rtl="0" algn="l">
              <a:spcBef>
                <a:spcPts val="600"/>
              </a:spcBef>
              <a:spcAft>
                <a:spcPts val="0"/>
              </a:spcAft>
              <a:buSzPts val="1976"/>
              <a:buChar char="🞂"/>
            </a:pPr>
            <a:r>
              <a:rPr lang="en-GB"/>
              <a:t>It divides the system into three parts – model, view and controller</a:t>
            </a:r>
            <a:endParaRPr/>
          </a:p>
          <a:p>
            <a:pPr indent="-274320" lvl="0" marL="274320" rtl="0" algn="l">
              <a:spcBef>
                <a:spcPts val="600"/>
              </a:spcBef>
              <a:spcAft>
                <a:spcPts val="0"/>
              </a:spcAft>
              <a:buSzPts val="1976"/>
              <a:buChar char="🞂"/>
            </a:pPr>
            <a:r>
              <a:rPr lang="en-GB"/>
              <a:t>It provides a extensible separation of concern (SOC) from presentation view to data processing logic.</a:t>
            </a:r>
            <a:endParaRPr/>
          </a:p>
        </p:txBody>
      </p:sp>
      <p:pic>
        <p:nvPicPr>
          <p:cNvPr descr="1474612861_giphy (1).gif" id="267" name="Google Shape;267;p19"/>
          <p:cNvPicPr preferRelativeResize="0"/>
          <p:nvPr/>
        </p:nvPicPr>
        <p:blipFill rotWithShape="1">
          <a:blip r:embed="rId3">
            <a:alphaModFix/>
          </a:blip>
          <a:srcRect b="0" l="0" r="0" t="0"/>
          <a:stretch/>
        </p:blipFill>
        <p:spPr>
          <a:xfrm>
            <a:off x="6172200" y="4191000"/>
            <a:ext cx="2743200" cy="2362200"/>
          </a:xfrm>
          <a:prstGeom prst="rect">
            <a:avLst/>
          </a:prstGeom>
          <a:noFill/>
          <a:ln>
            <a:noFill/>
          </a:ln>
        </p:spPr>
      </p:pic>
      <p:pic>
        <p:nvPicPr>
          <p:cNvPr descr="brac.png" id="268" name="Google Shape;268;p19"/>
          <p:cNvPicPr preferRelativeResize="0"/>
          <p:nvPr/>
        </p:nvPicPr>
        <p:blipFill rotWithShape="1">
          <a:blip r:embed="rId4">
            <a:alphaModFix/>
          </a:blip>
          <a:srcRect b="0" l="0" r="0" t="0"/>
          <a:stretch/>
        </p:blipFill>
        <p:spPr>
          <a:xfrm>
            <a:off x="0" y="5791200"/>
            <a:ext cx="1371600" cy="1066800"/>
          </a:xfrm>
          <a:prstGeom prst="rect">
            <a:avLst/>
          </a:prstGeom>
          <a:noFill/>
          <a:ln>
            <a:noFill/>
          </a:ln>
        </p:spPr>
      </p:pic>
      <p:sp>
        <p:nvSpPr>
          <p:cNvPr id="269" name="Google Shape;269;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