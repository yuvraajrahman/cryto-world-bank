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6858000" cx="9144000"/>
  <p:notesSz cx="6858000" cy="9144000"/>
  <p:embeddedFontLst>
    <p:embeddedFont>
      <p:font typeface="Gill Sans"/>
      <p:regular r:id="rId27"/>
      <p:bold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9" roundtripDataSignature="AMtx7mjr3k+SFIhGS2wa7q8MyNIG9n3ZT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GillSans-bold.fntdata"/><Relationship Id="rId27" Type="http://schemas.openxmlformats.org/officeDocument/2006/relationships/font" Target="fonts/GillSans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6" name="Google Shape;11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5" name="Google Shape;12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4" name="Google Shape;13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1" name="Google Shape;15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8" name="Google Shape;23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9" name="Google Shape;26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8" name="Google Shape;27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6" name="Google Shape;32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5" name="Google Shape;33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4" name="Google Shape;38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5" name="Google Shape;41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6" name="Google Shape;44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1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6" name="Google Shape;48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7" name="Google Shape;51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2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6" name="Google Shape;53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Dirichlet Principle: Given n boxes and m&gt;n objects, at least one box must contain more than one object.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Example: Lamar elevator: Given Lamar University Library building, if there are 8 people in the elevator at the ground floor, then there exists a floor where two people will get off. (knowing that the Lamar University Library building has 8 floors – including ground floor).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2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0" name="Google Shape;57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3"/>
          <p:cNvSpPr txBox="1"/>
          <p:nvPr>
            <p:ph type="ctrTitle"/>
          </p:nvPr>
        </p:nvSpPr>
        <p:spPr>
          <a:xfrm>
            <a:off x="1219200" y="3886200"/>
            <a:ext cx="6858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  <a:defRPr sz="3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3"/>
          <p:cNvSpPr txBox="1"/>
          <p:nvPr>
            <p:ph idx="1" type="subTitle"/>
          </p:nvPr>
        </p:nvSpPr>
        <p:spPr>
          <a:xfrm>
            <a:off x="1219200" y="5124450"/>
            <a:ext cx="6858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600"/>
              </a:spcBef>
              <a:spcAft>
                <a:spcPts val="0"/>
              </a:spcAft>
              <a:buSzPts val="1520"/>
              <a:buNone/>
              <a:defRPr sz="2000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SzPts val="1368"/>
              <a:buNone/>
              <a:defRPr/>
            </a:lvl2pPr>
            <a:lvl3pPr lvl="2" algn="ctr">
              <a:spcBef>
                <a:spcPts val="500"/>
              </a:spcBef>
              <a:spcAft>
                <a:spcPts val="0"/>
              </a:spcAft>
              <a:buSzPts val="1368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SzPts val="1260"/>
              <a:buNone/>
              <a:defRPr/>
            </a:lvl4pPr>
            <a:lvl5pPr lvl="4" algn="ctr">
              <a:spcBef>
                <a:spcPts val="300"/>
              </a:spcBef>
              <a:spcAft>
                <a:spcPts val="0"/>
              </a:spcAft>
              <a:buSzPts val="1260"/>
              <a:buNone/>
              <a:defRPr/>
            </a:lvl5pPr>
            <a:lvl6pPr lvl="5" algn="ctr"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6pPr>
            <a:lvl7pPr lvl="6" algn="ctr"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7pPr>
            <a:lvl8pPr lvl="7" algn="ctr"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8pPr>
            <a:lvl9pPr lvl="8" algn="ctr"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9pPr>
          </a:lstStyle>
          <a:p/>
        </p:txBody>
      </p:sp>
      <p:sp>
        <p:nvSpPr>
          <p:cNvPr id="21" name="Google Shape;21;p23"/>
          <p:cNvSpPr txBox="1"/>
          <p:nvPr>
            <p:ph idx="10" type="dt"/>
          </p:nvPr>
        </p:nvSpPr>
        <p:spPr>
          <a:xfrm>
            <a:off x="6400800" y="63550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3"/>
          <p:cNvSpPr txBox="1"/>
          <p:nvPr>
            <p:ph idx="11" type="ftr"/>
          </p:nvPr>
        </p:nvSpPr>
        <p:spPr>
          <a:xfrm>
            <a:off x="2898648" y="63550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3"/>
          <p:cNvSpPr txBox="1"/>
          <p:nvPr>
            <p:ph idx="12" type="sldNum"/>
          </p:nvPr>
        </p:nvSpPr>
        <p:spPr>
          <a:xfrm>
            <a:off x="1216152" y="6355080"/>
            <a:ext cx="121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" name="Google Shape;24;p23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" name="Google Shape;25;p23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cap="rnd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6" name="Google Shape;26;p23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" name="Google Shape;27;p23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4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4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4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p24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indent="-315468" lvl="1" marL="9144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indent="-315467" lvl="2" marL="13716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indent="-308610" lvl="3" marL="182880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5"/>
          <p:cNvSpPr txBox="1"/>
          <p:nvPr>
            <p:ph type="title"/>
          </p:nvPr>
        </p:nvSpPr>
        <p:spPr>
          <a:xfrm>
            <a:off x="1219200" y="2971800"/>
            <a:ext cx="68580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  <a:defRPr b="0" sz="32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5"/>
          <p:cNvSpPr txBox="1"/>
          <p:nvPr>
            <p:ph idx="1" type="body"/>
          </p:nvPr>
        </p:nvSpPr>
        <p:spPr>
          <a:xfrm>
            <a:off x="1295400" y="4267200"/>
            <a:ext cx="6781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600"/>
              </a:spcBef>
              <a:spcAft>
                <a:spcPts val="0"/>
              </a:spcAft>
              <a:buSzPts val="152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1368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216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98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980"/>
              <a:buNone/>
              <a:defRPr sz="1400">
                <a:solidFill>
                  <a:srgbClr val="888888"/>
                </a:solidFill>
              </a:defRPr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  <p:sp>
        <p:nvSpPr>
          <p:cNvPr id="37" name="Google Shape;37;p25"/>
          <p:cNvSpPr txBox="1"/>
          <p:nvPr>
            <p:ph idx="10" type="dt"/>
          </p:nvPr>
        </p:nvSpPr>
        <p:spPr>
          <a:xfrm>
            <a:off x="6400800" y="63550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5"/>
          <p:cNvSpPr txBox="1"/>
          <p:nvPr>
            <p:ph idx="11" type="ftr"/>
          </p:nvPr>
        </p:nvSpPr>
        <p:spPr>
          <a:xfrm>
            <a:off x="2898648" y="63550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5"/>
          <p:cNvSpPr txBox="1"/>
          <p:nvPr>
            <p:ph idx="12" type="sldNum"/>
          </p:nvPr>
        </p:nvSpPr>
        <p:spPr>
          <a:xfrm>
            <a:off x="1069848" y="6355080"/>
            <a:ext cx="15209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" name="Google Shape;40;p25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1" name="Google Shape;41;p25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/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6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6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6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" name="Google Shape;47;p26"/>
          <p:cNvSpPr txBox="1"/>
          <p:nvPr>
            <p:ph idx="1" type="body"/>
          </p:nvPr>
        </p:nvSpPr>
        <p:spPr>
          <a:xfrm>
            <a:off x="457200" y="1219200"/>
            <a:ext cx="4041648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indent="-315468" lvl="1" marL="9144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indent="-315467" lvl="2" marL="13716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indent="-308610" lvl="3" marL="182880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  <p:sp>
        <p:nvSpPr>
          <p:cNvPr id="48" name="Google Shape;48;p26"/>
          <p:cNvSpPr txBox="1"/>
          <p:nvPr>
            <p:ph idx="2" type="body"/>
          </p:nvPr>
        </p:nvSpPr>
        <p:spPr>
          <a:xfrm>
            <a:off x="4632198" y="1216152"/>
            <a:ext cx="4041648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indent="-315468" lvl="1" marL="9144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indent="-315467" lvl="2" marL="13716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indent="-308610" lvl="3" marL="182880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7"/>
          <p:cNvSpPr txBox="1"/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7"/>
          <p:cNvSpPr txBox="1"/>
          <p:nvPr>
            <p:ph idx="1" type="body"/>
          </p:nvPr>
        </p:nvSpPr>
        <p:spPr>
          <a:xfrm>
            <a:off x="457200" y="1285875"/>
            <a:ext cx="4040188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824"/>
              <a:buNone/>
              <a:defRPr b="1" sz="2400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1520"/>
              <a:buNone/>
              <a:defRPr b="1" sz="2000"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368"/>
              <a:buNone/>
              <a:defRPr b="1" sz="180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2" type="body"/>
          </p:nvPr>
        </p:nvSpPr>
        <p:spPr>
          <a:xfrm>
            <a:off x="4648200" y="1295400"/>
            <a:ext cx="40417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824"/>
              <a:buNone/>
              <a:defRPr b="1" sz="2400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1520"/>
              <a:buNone/>
              <a:defRPr b="1" sz="2000"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368"/>
              <a:buNone/>
              <a:defRPr b="1" sz="180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7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7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" name="Google Shape;56;p27"/>
          <p:cNvSpPr txBox="1"/>
          <p:nvPr>
            <p:ph idx="3" type="body"/>
          </p:nvPr>
        </p:nvSpPr>
        <p:spPr>
          <a:xfrm>
            <a:off x="457200" y="2133600"/>
            <a:ext cx="40386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indent="-315468" lvl="1" marL="9144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indent="-315467" lvl="2" marL="13716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indent="-308610" lvl="3" marL="182880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  <p:sp>
        <p:nvSpPr>
          <p:cNvPr id="57" name="Google Shape;57;p27"/>
          <p:cNvSpPr txBox="1"/>
          <p:nvPr>
            <p:ph idx="4" type="body"/>
          </p:nvPr>
        </p:nvSpPr>
        <p:spPr>
          <a:xfrm>
            <a:off x="4648200" y="2133600"/>
            <a:ext cx="40386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indent="-315468" lvl="1" marL="9144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indent="-315467" lvl="2" marL="13716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indent="-308610" lvl="3" marL="182880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8"/>
          <p:cNvSpPr txBox="1"/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8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8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8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" name="Google Shape;63;p28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9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9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9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68" name="Google Shape;68;p29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69" name="Google Shape;69;p29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0"/>
          <p:cNvSpPr txBox="1"/>
          <p:nvPr>
            <p:ph type="title"/>
          </p:nvPr>
        </p:nvSpPr>
        <p:spPr>
          <a:xfrm>
            <a:off x="6324600" y="304800"/>
            <a:ext cx="2514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Gill Sans"/>
              <a:buNone/>
              <a:defRPr b="1" sz="2000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0"/>
          <p:cNvSpPr txBox="1"/>
          <p:nvPr>
            <p:ph idx="1" type="body"/>
          </p:nvPr>
        </p:nvSpPr>
        <p:spPr>
          <a:xfrm>
            <a:off x="6324600" y="1219200"/>
            <a:ext cx="2514600" cy="4843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37500"/>
              </a:lnSpc>
              <a:spcBef>
                <a:spcPts val="600"/>
              </a:spcBef>
              <a:spcAft>
                <a:spcPts val="0"/>
              </a:spcAft>
              <a:buSzPts val="1216"/>
              <a:buNone/>
              <a:defRPr sz="1600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12"/>
              <a:buNone/>
              <a:defRPr sz="1200"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760"/>
              <a:buNone/>
              <a:defRPr sz="100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630"/>
              <a:buNone/>
              <a:defRPr sz="9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630"/>
              <a:buNone/>
              <a:defRPr sz="900"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  <p:sp>
        <p:nvSpPr>
          <p:cNvPr id="73" name="Google Shape;73;p30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0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0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76" name="Google Shape;76;p30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7" name="Google Shape;77;p30"/>
          <p:cNvCxnSpPr/>
          <p:nvPr/>
        </p:nvCxnSpPr>
        <p:spPr>
          <a:xfrm rot="5400000">
            <a:off x="3160645" y="3324225"/>
            <a:ext cx="603504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78" name="Google Shape;78;p30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9" name="Google Shape;79;p30"/>
          <p:cNvSpPr txBox="1"/>
          <p:nvPr>
            <p:ph idx="2" type="body"/>
          </p:nvPr>
        </p:nvSpPr>
        <p:spPr>
          <a:xfrm>
            <a:off x="304800" y="304800"/>
            <a:ext cx="57150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indent="-315468" lvl="1" marL="9144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indent="-315467" lvl="2" marL="13716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indent="-308610" lvl="3" marL="182880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1"/>
          <p:cNvSpPr txBox="1"/>
          <p:nvPr>
            <p:ph type="title"/>
          </p:nvPr>
        </p:nvSpPr>
        <p:spPr>
          <a:xfrm>
            <a:off x="457200" y="500856"/>
            <a:ext cx="8229600" cy="674688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274300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okman Old Style"/>
              <a:buNone/>
              <a:defRPr b="0" sz="2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1"/>
          <p:cNvSpPr/>
          <p:nvPr>
            <p:ph idx="2" type="pic"/>
          </p:nvPr>
        </p:nvSpPr>
        <p:spPr>
          <a:xfrm>
            <a:off x="457200" y="1905000"/>
            <a:ext cx="8229600" cy="4270248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83" name="Google Shape;83;p31"/>
          <p:cNvSpPr txBox="1"/>
          <p:nvPr>
            <p:ph idx="1" type="body"/>
          </p:nvPr>
        </p:nvSpPr>
        <p:spPr>
          <a:xfrm>
            <a:off x="457200" y="1219200"/>
            <a:ext cx="8229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064"/>
              <a:buFont typeface="Gill Sans"/>
              <a:buNone/>
              <a:defRPr sz="1400"/>
            </a:lvl1pPr>
            <a:lvl2pPr indent="-286512" lvl="1" marL="914400" algn="l">
              <a:spcBef>
                <a:spcPts val="500"/>
              </a:spcBef>
              <a:spcAft>
                <a:spcPts val="0"/>
              </a:spcAft>
              <a:buSzPts val="912"/>
              <a:buChar char="🞂"/>
              <a:defRPr sz="1200"/>
            </a:lvl2pPr>
            <a:lvl3pPr indent="-276860" lvl="2" marL="1371600" algn="l">
              <a:spcBef>
                <a:spcPts val="500"/>
              </a:spcBef>
              <a:spcAft>
                <a:spcPts val="0"/>
              </a:spcAft>
              <a:buSzPts val="760"/>
              <a:buChar char="🞂"/>
              <a:defRPr sz="1000"/>
            </a:lvl3pPr>
            <a:lvl4pPr indent="-268605" lvl="3" marL="1828800" algn="l">
              <a:spcBef>
                <a:spcPts val="400"/>
              </a:spcBef>
              <a:spcAft>
                <a:spcPts val="0"/>
              </a:spcAft>
              <a:buSzPts val="630"/>
              <a:buChar char="◻"/>
              <a:defRPr sz="900"/>
            </a:lvl4pPr>
            <a:lvl5pPr indent="-268604" lvl="4" marL="2286000" algn="l">
              <a:spcBef>
                <a:spcPts val="300"/>
              </a:spcBef>
              <a:spcAft>
                <a:spcPts val="0"/>
              </a:spcAft>
              <a:buSzPts val="630"/>
              <a:buChar char="◻"/>
              <a:defRPr sz="900"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  <p:sp>
        <p:nvSpPr>
          <p:cNvPr id="84" name="Google Shape;84;p31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1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1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87" name="Google Shape;87;p31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88" name="Google Shape;88;p31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9" name="Google Shape;89;p31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2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2"/>
          <p:cNvSpPr txBox="1"/>
          <p:nvPr>
            <p:ph idx="1" type="body"/>
          </p:nvPr>
        </p:nvSpPr>
        <p:spPr>
          <a:xfrm rot="5400000">
            <a:off x="2116836" y="-440436"/>
            <a:ext cx="4910328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indent="-315468" lvl="1" marL="9144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indent="-315467" lvl="2" marL="13716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indent="-308610" lvl="3" marL="182880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  <p:sp>
        <p:nvSpPr>
          <p:cNvPr id="93" name="Google Shape;93;p32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32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32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3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indent="-315468" lvl="1" marL="9144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indent="-315467" lvl="2" marL="13716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indent="-308610" lvl="3" marL="182880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  <p:sp>
        <p:nvSpPr>
          <p:cNvPr id="99" name="Google Shape;99;p33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33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33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02" name="Google Shape;102;p33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03" name="Google Shape;103;p33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104" name="Google Shape;104;p33"/>
          <p:cNvCxnSpPr/>
          <p:nvPr/>
        </p:nvCxnSpPr>
        <p:spPr>
          <a:xfrm rot="5400000">
            <a:off x="3629607" y="3201952"/>
            <a:ext cx="585216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</p:spTree>
  </p:cSld>
  <p:clrMapOvr>
    <a:masterClrMapping/>
  </p:clrMapOvr>
  <p:transition>
    <p:fade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  <a:defRPr b="0" i="0" sz="3200" u="none" cap="none" strike="noStrik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2"/>
          <p:cNvSpPr txBox="1"/>
          <p:nvPr>
            <p:ph idx="1" type="body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076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Char char="🞂"/>
              <a:defRPr b="0" i="0" sz="2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39597" lvl="1" marL="9144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ans Symbols"/>
              <a:buChar char="🞂"/>
              <a:defRPr b="0" i="0" sz="23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25119" lvl="2" marL="1371600" marR="0" rtl="0" algn="l">
              <a:spcBef>
                <a:spcPts val="500"/>
              </a:spcBef>
              <a:spcAft>
                <a:spcPts val="0"/>
              </a:spcAft>
              <a:buClr>
                <a:srgbClr val="BABABA"/>
              </a:buClr>
              <a:buSzPts val="1520"/>
              <a:buFont typeface="Noto Sans Symbols"/>
              <a:buChar char="🞂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0861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D58F3E"/>
              </a:buClr>
              <a:buSzPts val="1260"/>
              <a:buFont typeface="Noto Sans Symbols"/>
              <a:buChar char="◻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9972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◻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04800" lvl="5" marL="2743200" marR="0" rtl="0" algn="l">
              <a:spcBef>
                <a:spcPts val="300"/>
              </a:spcBef>
              <a:spcAft>
                <a:spcPts val="0"/>
              </a:spcAft>
              <a:buClr>
                <a:srgbClr val="8BA1B3"/>
              </a:buClr>
              <a:buSzPts val="1200"/>
              <a:buFont typeface="Noto Sans Symbols"/>
              <a:buChar char="🞂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95275" lvl="6" marL="3200400" marR="0" rtl="0" algn="l">
              <a:spcBef>
                <a:spcPts val="300"/>
              </a:spcBef>
              <a:spcAft>
                <a:spcPts val="0"/>
              </a:spcAft>
              <a:buClr>
                <a:srgbClr val="646C8F"/>
              </a:buClr>
              <a:buSzPts val="1050"/>
              <a:buFont typeface="Noto Sans Symbols"/>
              <a:buChar char="🞂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95275" lvl="7" marL="3657600" marR="0" rtl="0" algn="l">
              <a:spcBef>
                <a:spcPts val="300"/>
              </a:spcBef>
              <a:spcAft>
                <a:spcPts val="0"/>
              </a:spcAft>
              <a:buClr>
                <a:srgbClr val="BABABA"/>
              </a:buClr>
              <a:buSzPts val="1050"/>
              <a:buFont typeface="Noto Sans Symbols"/>
              <a:buChar char="🞂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85750" lvl="8" marL="4114800" marR="0" rtl="0" algn="l">
              <a:spcBef>
                <a:spcPts val="300"/>
              </a:spcBef>
              <a:spcAft>
                <a:spcPts val="0"/>
              </a:spcAft>
              <a:buClr>
                <a:srgbClr val="9FB8CD"/>
              </a:buClr>
              <a:buSzPts val="900"/>
              <a:buFont typeface="Noto Sans Symbols"/>
              <a:buChar char="🞂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2" name="Google Shape;12;p22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3" name="Google Shape;13;p22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4" name="Google Shape;14;p22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5" name="Google Shape;15;p22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6" name="Google Shape;16;p22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7" name="Google Shape;17;p22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"/>
          <p:cNvSpPr txBox="1"/>
          <p:nvPr>
            <p:ph type="ctrTitle"/>
          </p:nvPr>
        </p:nvSpPr>
        <p:spPr>
          <a:xfrm>
            <a:off x="1143000" y="3810000"/>
            <a:ext cx="6858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Bookman Old Style"/>
              <a:buNone/>
            </a:pPr>
            <a:r>
              <a:rPr lang="en-US"/>
              <a:t>CSE 470 –Control Flow Graph (Path Based Testing )</a:t>
            </a:r>
            <a:endParaRPr/>
          </a:p>
        </p:txBody>
      </p:sp>
      <p:sp>
        <p:nvSpPr>
          <p:cNvPr id="110" name="Google Shape;110;p1"/>
          <p:cNvSpPr txBox="1"/>
          <p:nvPr>
            <p:ph idx="1" type="subTitle"/>
          </p:nvPr>
        </p:nvSpPr>
        <p:spPr>
          <a:xfrm>
            <a:off x="1219200" y="5410200"/>
            <a:ext cx="6858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lang="en-US"/>
              <a:t>BRAC University</a:t>
            </a:r>
            <a:endParaRPr/>
          </a:p>
        </p:txBody>
      </p:sp>
      <p:pic>
        <p:nvPicPr>
          <p:cNvPr descr="software-engineering-5b4daa8bab12ae7f4848c482.jpg" id="111" name="Google Shape;11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3581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rac.png" id="112" name="Google Shape;11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72400" y="5829300"/>
            <a:ext cx="13716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Control Flow Graph: Introduction</a:t>
            </a:r>
            <a:endParaRPr/>
          </a:p>
        </p:txBody>
      </p:sp>
      <p:sp>
        <p:nvSpPr>
          <p:cNvPr id="119" name="Google Shape;119;p2"/>
          <p:cNvSpPr txBox="1"/>
          <p:nvPr>
            <p:ph idx="1" type="body"/>
          </p:nvPr>
        </p:nvSpPr>
        <p:spPr>
          <a:xfrm>
            <a:off x="457200" y="1371600"/>
            <a:ext cx="8229600" cy="4759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1976"/>
              <a:buChar char="🞂"/>
            </a:pPr>
            <a:r>
              <a:rPr lang="en-US" sz="2600"/>
              <a:t>An abstract representation of a structured program/function/method.</a:t>
            </a:r>
            <a:endParaRPr/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ts val="1976"/>
              <a:buChar char="🞂"/>
            </a:pPr>
            <a:r>
              <a:rPr lang="en-US" sz="2600"/>
              <a:t>Consists of two major components:</a:t>
            </a:r>
            <a:endParaRPr/>
          </a:p>
          <a:p>
            <a:pPr indent="-274320" lvl="1" marL="548640" rtl="0" algn="l">
              <a:spcBef>
                <a:spcPts val="500"/>
              </a:spcBef>
              <a:spcAft>
                <a:spcPts val="0"/>
              </a:spcAft>
              <a:buSzPts val="1672"/>
              <a:buChar char="🞂"/>
            </a:pPr>
            <a:r>
              <a:rPr i="1" lang="en-US" sz="2200"/>
              <a:t>Node</a:t>
            </a:r>
            <a:r>
              <a:rPr lang="en-US" sz="2200"/>
              <a:t>:</a:t>
            </a:r>
            <a:endParaRPr/>
          </a:p>
          <a:p>
            <a:pPr indent="-228600" lvl="2" marL="822960" rtl="0" algn="l">
              <a:spcBef>
                <a:spcPts val="500"/>
              </a:spcBef>
              <a:spcAft>
                <a:spcPts val="0"/>
              </a:spcAft>
              <a:buSzPts val="1520"/>
              <a:buChar char="🞂"/>
            </a:pPr>
            <a:r>
              <a:rPr lang="en-US" sz="2000"/>
              <a:t>Represents a stretch of sequential code statements with no branches.</a:t>
            </a:r>
            <a:endParaRPr/>
          </a:p>
          <a:p>
            <a:pPr indent="-274320" lvl="1" marL="548640" rtl="0" algn="l">
              <a:spcBef>
                <a:spcPts val="500"/>
              </a:spcBef>
              <a:spcAft>
                <a:spcPts val="0"/>
              </a:spcAft>
              <a:buSzPts val="1672"/>
              <a:buChar char="🞂"/>
            </a:pPr>
            <a:r>
              <a:rPr i="1" lang="en-US" sz="2200"/>
              <a:t>Directed Edge</a:t>
            </a:r>
            <a:r>
              <a:rPr lang="en-US" sz="2200"/>
              <a:t> (also called </a:t>
            </a:r>
            <a:r>
              <a:rPr i="1" lang="en-US" sz="2200"/>
              <a:t>arc</a:t>
            </a:r>
            <a:r>
              <a:rPr lang="en-US" sz="2200"/>
              <a:t>):</a:t>
            </a:r>
            <a:endParaRPr/>
          </a:p>
          <a:p>
            <a:pPr indent="-228600" lvl="2" marL="822960" rtl="0" algn="l">
              <a:spcBef>
                <a:spcPts val="500"/>
              </a:spcBef>
              <a:spcAft>
                <a:spcPts val="0"/>
              </a:spcAft>
              <a:buSzPts val="1520"/>
              <a:buChar char="🞂"/>
            </a:pPr>
            <a:r>
              <a:rPr lang="en-US" sz="2000"/>
              <a:t>Represents a branch, alternative path in execution.</a:t>
            </a:r>
            <a:endParaRPr/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ts val="1976"/>
              <a:buChar char="🞂"/>
            </a:pPr>
            <a:r>
              <a:rPr lang="en-US" sz="2600"/>
              <a:t>Path:</a:t>
            </a:r>
            <a:endParaRPr/>
          </a:p>
          <a:p>
            <a:pPr indent="-274320" lvl="1" marL="548640" rtl="0" algn="l">
              <a:spcBef>
                <a:spcPts val="500"/>
              </a:spcBef>
              <a:spcAft>
                <a:spcPts val="0"/>
              </a:spcAft>
              <a:buSzPts val="1672"/>
              <a:buChar char="🞂"/>
            </a:pPr>
            <a:r>
              <a:rPr lang="en-US" sz="2200"/>
              <a:t>A collection of </a:t>
            </a:r>
            <a:r>
              <a:rPr i="1" lang="en-US" sz="2200"/>
              <a:t>Nodes </a:t>
            </a:r>
            <a:r>
              <a:rPr lang="en-US" sz="2200"/>
              <a:t>linked with </a:t>
            </a:r>
            <a:r>
              <a:rPr i="1" lang="en-US" sz="2200"/>
              <a:t>Directed Edges.</a:t>
            </a:r>
            <a:endParaRPr sz="2200"/>
          </a:p>
        </p:txBody>
      </p:sp>
      <p:sp>
        <p:nvSpPr>
          <p:cNvPr id="120" name="Google Shape;120;p2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121" name="Google Shape;12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5829300"/>
            <a:ext cx="13716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Notation Guide for CFG</a:t>
            </a:r>
            <a:endParaRPr/>
          </a:p>
        </p:txBody>
      </p:sp>
      <p:sp>
        <p:nvSpPr>
          <p:cNvPr id="128" name="Google Shape;128;p3"/>
          <p:cNvSpPr txBox="1"/>
          <p:nvPr>
            <p:ph idx="1" type="body"/>
          </p:nvPr>
        </p:nvSpPr>
        <p:spPr>
          <a:xfrm>
            <a:off x="457200" y="1066800"/>
            <a:ext cx="86868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76"/>
              <a:buChar char="🞂"/>
            </a:pPr>
            <a:r>
              <a:rPr lang="en-US" sz="2600"/>
              <a:t>A CFG should have:</a:t>
            </a:r>
            <a:endParaRPr/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72"/>
              <a:buChar char="🞂"/>
            </a:pPr>
            <a:r>
              <a:rPr lang="en-US" sz="2200"/>
              <a:t>1 entry arc (known as a directed edge, too).</a:t>
            </a:r>
            <a:endParaRPr/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72"/>
              <a:buChar char="🞂"/>
            </a:pPr>
            <a:r>
              <a:rPr lang="en-US" sz="2200"/>
              <a:t>1 exit arc.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976"/>
              <a:buChar char="🞂"/>
            </a:pPr>
            <a:r>
              <a:rPr lang="en-US" sz="2600"/>
              <a:t>All nodes should have:</a:t>
            </a:r>
            <a:endParaRPr/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72"/>
              <a:buChar char="🞂"/>
            </a:pPr>
            <a:r>
              <a:rPr lang="en-US" sz="2200"/>
              <a:t>At least 1 entry arc.</a:t>
            </a:r>
            <a:endParaRPr/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72"/>
              <a:buChar char="🞂"/>
            </a:pPr>
            <a:r>
              <a:rPr lang="en-US" sz="2200"/>
              <a:t>At least 1 exit arc.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976"/>
              <a:buChar char="🞂"/>
            </a:pPr>
            <a:r>
              <a:rPr b="1" lang="en-US" sz="2600"/>
              <a:t>A Logical Node </a:t>
            </a:r>
            <a:r>
              <a:rPr lang="en-US" sz="2600"/>
              <a:t>that does not represent any actual statements</a:t>
            </a:r>
            <a:r>
              <a:rPr b="1" lang="en-US" sz="2600"/>
              <a:t> </a:t>
            </a:r>
            <a:r>
              <a:rPr lang="en-US" sz="2600"/>
              <a:t>can be added as a joining point for several incoming edges.</a:t>
            </a:r>
            <a:endParaRPr/>
          </a:p>
          <a:p>
            <a:pPr indent="-274319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24"/>
              <a:buChar char="🞂"/>
            </a:pPr>
            <a:r>
              <a:rPr lang="en-US" sz="2400"/>
              <a:t>Represents a logical closure.</a:t>
            </a:r>
            <a:endParaRPr/>
          </a:p>
          <a:p>
            <a:pPr indent="-274319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24"/>
              <a:buChar char="🞂"/>
            </a:pPr>
            <a:r>
              <a:rPr lang="en-US" sz="2400"/>
              <a:t>Example:</a:t>
            </a:r>
            <a:endParaRPr/>
          </a:p>
          <a:p>
            <a:pPr indent="-228600" lvl="2" marL="82296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20"/>
              <a:buChar char="🞂"/>
            </a:pPr>
            <a:r>
              <a:rPr lang="en-US"/>
              <a:t>Node 4 in the </a:t>
            </a: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if-then-else</a:t>
            </a:r>
            <a:r>
              <a:rPr i="1" lang="en-US"/>
              <a:t> </a:t>
            </a:r>
            <a:r>
              <a:rPr lang="en-US"/>
              <a:t>example in next slides</a:t>
            </a:r>
            <a:endParaRPr/>
          </a:p>
        </p:txBody>
      </p:sp>
      <p:sp>
        <p:nvSpPr>
          <p:cNvPr id="129" name="Google Shape;129;p3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130" name="Google Shape;13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5829300"/>
            <a:ext cx="13716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Simple Examples</a:t>
            </a:r>
            <a:endParaRPr/>
          </a:p>
        </p:txBody>
      </p:sp>
      <p:sp>
        <p:nvSpPr>
          <p:cNvPr id="137" name="Google Shape;137;p4"/>
          <p:cNvSpPr txBox="1"/>
          <p:nvPr/>
        </p:nvSpPr>
        <p:spPr>
          <a:xfrm>
            <a:off x="990600" y="1828800"/>
            <a:ext cx="2286000" cy="12033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7850" lIns="95700" spcFirstLastPara="1" rIns="95700" wrap="square" tIns="47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Statement1;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Statement2;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Statement3;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Statement4;</a:t>
            </a:r>
            <a:endParaRPr/>
          </a:p>
        </p:txBody>
      </p:sp>
      <p:sp>
        <p:nvSpPr>
          <p:cNvPr id="138" name="Google Shape;138;p4"/>
          <p:cNvSpPr/>
          <p:nvPr/>
        </p:nvSpPr>
        <p:spPr>
          <a:xfrm>
            <a:off x="3276600" y="1981200"/>
            <a:ext cx="228600" cy="914400"/>
          </a:xfrm>
          <a:prstGeom prst="rightBrace">
            <a:avLst>
              <a:gd fmla="val 33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4"/>
          <p:cNvSpPr txBox="1"/>
          <p:nvPr/>
        </p:nvSpPr>
        <p:spPr>
          <a:xfrm>
            <a:off x="3505200" y="1905000"/>
            <a:ext cx="1905000" cy="1069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be represented as </a:t>
            </a: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 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node as there is no branch.</a:t>
            </a:r>
            <a:endParaRPr/>
          </a:p>
        </p:txBody>
      </p:sp>
      <p:grpSp>
        <p:nvGrpSpPr>
          <p:cNvPr id="140" name="Google Shape;140;p4"/>
          <p:cNvGrpSpPr/>
          <p:nvPr/>
        </p:nvGrpSpPr>
        <p:grpSpPr>
          <a:xfrm>
            <a:off x="6172200" y="1676400"/>
            <a:ext cx="1755775" cy="1825625"/>
            <a:chOff x="6172200" y="1676400"/>
            <a:chExt cx="1755775" cy="1825625"/>
          </a:xfrm>
        </p:grpSpPr>
        <p:sp>
          <p:nvSpPr>
            <p:cNvPr id="141" name="Google Shape;141;p4"/>
            <p:cNvSpPr/>
            <p:nvPr/>
          </p:nvSpPr>
          <p:spPr>
            <a:xfrm>
              <a:off x="6172200" y="1676400"/>
              <a:ext cx="1755775" cy="1825625"/>
            </a:xfrm>
            <a:prstGeom prst="rect">
              <a:avLst/>
            </a:prstGeom>
            <a:solidFill>
              <a:srgbClr val="CCFFCC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4"/>
            <p:cNvSpPr/>
            <p:nvPr/>
          </p:nvSpPr>
          <p:spPr>
            <a:xfrm>
              <a:off x="6781800" y="2286000"/>
              <a:ext cx="609600" cy="466725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43" name="Google Shape;143;p4"/>
            <p:cNvCxnSpPr/>
            <p:nvPr/>
          </p:nvCxnSpPr>
          <p:spPr>
            <a:xfrm>
              <a:off x="7086600" y="1828800"/>
              <a:ext cx="3175" cy="4667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44" name="Google Shape;144;p4"/>
            <p:cNvCxnSpPr/>
            <p:nvPr/>
          </p:nvCxnSpPr>
          <p:spPr>
            <a:xfrm>
              <a:off x="7086600" y="2743200"/>
              <a:ext cx="3175" cy="4667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45" name="Google Shape;145;p4"/>
            <p:cNvSpPr txBox="1"/>
            <p:nvPr/>
          </p:nvSpPr>
          <p:spPr>
            <a:xfrm>
              <a:off x="6172200" y="3200400"/>
              <a:ext cx="609600" cy="2746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CFG</a:t>
              </a:r>
              <a:endParaRPr/>
            </a:p>
          </p:txBody>
        </p:sp>
      </p:grpSp>
      <p:sp>
        <p:nvSpPr>
          <p:cNvPr id="146" name="Google Shape;146;p4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147" name="Google Shape;14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5829300"/>
            <a:ext cx="13716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More Examples</a:t>
            </a:r>
            <a:endParaRPr/>
          </a:p>
        </p:txBody>
      </p:sp>
      <p:sp>
        <p:nvSpPr>
          <p:cNvPr id="154" name="Google Shape;154;p5"/>
          <p:cNvSpPr txBox="1"/>
          <p:nvPr/>
        </p:nvSpPr>
        <p:spPr>
          <a:xfrm>
            <a:off x="762000" y="1828800"/>
            <a:ext cx="2667000" cy="1293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91425" lIns="95700" spcFirstLastPara="1" rIns="95700" wrap="square" tIns="91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if X &gt; 0 then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Statement1;</a:t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b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Statement2;</a:t>
            </a:r>
            <a:endParaRPr/>
          </a:p>
        </p:txBody>
      </p:sp>
      <p:sp>
        <p:nvSpPr>
          <p:cNvPr id="155" name="Google Shape;155;p5"/>
          <p:cNvSpPr/>
          <p:nvPr/>
        </p:nvSpPr>
        <p:spPr>
          <a:xfrm>
            <a:off x="3429000" y="1905000"/>
            <a:ext cx="228600" cy="2286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5"/>
          <p:cNvSpPr txBox="1"/>
          <p:nvPr/>
        </p:nvSpPr>
        <p:spPr>
          <a:xfrm>
            <a:off x="3657600" y="1828800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57" name="Google Shape;157;p5"/>
          <p:cNvSpPr/>
          <p:nvPr/>
        </p:nvSpPr>
        <p:spPr>
          <a:xfrm>
            <a:off x="3429000" y="2209800"/>
            <a:ext cx="228600" cy="304800"/>
          </a:xfrm>
          <a:prstGeom prst="rightBrace">
            <a:avLst>
              <a:gd fmla="val 11111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5"/>
          <p:cNvSpPr txBox="1"/>
          <p:nvPr/>
        </p:nvSpPr>
        <p:spPr>
          <a:xfrm>
            <a:off x="3657600" y="2209800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59" name="Google Shape;159;p5"/>
          <p:cNvSpPr/>
          <p:nvPr/>
        </p:nvSpPr>
        <p:spPr>
          <a:xfrm>
            <a:off x="3429000" y="2743200"/>
            <a:ext cx="228600" cy="304800"/>
          </a:xfrm>
          <a:prstGeom prst="rightBrace">
            <a:avLst>
              <a:gd fmla="val 11111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5"/>
          <p:cNvSpPr txBox="1"/>
          <p:nvPr/>
        </p:nvSpPr>
        <p:spPr>
          <a:xfrm>
            <a:off x="3657600" y="2667000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grpSp>
        <p:nvGrpSpPr>
          <p:cNvPr id="161" name="Google Shape;161;p5"/>
          <p:cNvGrpSpPr/>
          <p:nvPr/>
        </p:nvGrpSpPr>
        <p:grpSpPr>
          <a:xfrm>
            <a:off x="4648200" y="1600200"/>
            <a:ext cx="3810000" cy="1874838"/>
            <a:chOff x="4648200" y="1600200"/>
            <a:chExt cx="3810000" cy="1874838"/>
          </a:xfrm>
        </p:grpSpPr>
        <p:sp>
          <p:nvSpPr>
            <p:cNvPr id="162" name="Google Shape;162;p5"/>
            <p:cNvSpPr/>
            <p:nvPr/>
          </p:nvSpPr>
          <p:spPr>
            <a:xfrm>
              <a:off x="4648200" y="1600200"/>
              <a:ext cx="3810000" cy="1825625"/>
            </a:xfrm>
            <a:prstGeom prst="rect">
              <a:avLst/>
            </a:prstGeom>
            <a:solidFill>
              <a:srgbClr val="CCFFCC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3" name="Google Shape;163;p5"/>
            <p:cNvCxnSpPr/>
            <p:nvPr/>
          </p:nvCxnSpPr>
          <p:spPr>
            <a:xfrm>
              <a:off x="4800600" y="2362200"/>
              <a:ext cx="381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64" name="Google Shape;164;p5"/>
            <p:cNvSpPr txBox="1"/>
            <p:nvPr/>
          </p:nvSpPr>
          <p:spPr>
            <a:xfrm>
              <a:off x="4800600" y="3200400"/>
              <a:ext cx="609600" cy="2746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CFG</a:t>
              </a:r>
              <a:endParaRPr/>
            </a:p>
          </p:txBody>
        </p:sp>
        <p:sp>
          <p:nvSpPr>
            <p:cNvPr id="165" name="Google Shape;165;p5"/>
            <p:cNvSpPr/>
            <p:nvPr/>
          </p:nvSpPr>
          <p:spPr>
            <a:xfrm>
              <a:off x="5181600" y="2133600"/>
              <a:ext cx="609600" cy="466725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6" name="Google Shape;166;p5"/>
            <p:cNvSpPr/>
            <p:nvPr/>
          </p:nvSpPr>
          <p:spPr>
            <a:xfrm>
              <a:off x="6248400" y="1828800"/>
              <a:ext cx="609600" cy="466725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67" name="Google Shape;167;p5"/>
            <p:cNvCxnSpPr/>
            <p:nvPr/>
          </p:nvCxnSpPr>
          <p:spPr>
            <a:xfrm flipH="1" rot="10800000">
              <a:off x="5715000" y="2057400"/>
              <a:ext cx="533400" cy="152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68" name="Google Shape;168;p5"/>
            <p:cNvSpPr/>
            <p:nvPr/>
          </p:nvSpPr>
          <p:spPr>
            <a:xfrm>
              <a:off x="6324600" y="2667000"/>
              <a:ext cx="609600" cy="466725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3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69" name="Google Shape;169;p5"/>
            <p:cNvCxnSpPr/>
            <p:nvPr/>
          </p:nvCxnSpPr>
          <p:spPr>
            <a:xfrm>
              <a:off x="5715000" y="2514600"/>
              <a:ext cx="609600" cy="381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0" name="Google Shape;170;p5"/>
            <p:cNvCxnSpPr/>
            <p:nvPr/>
          </p:nvCxnSpPr>
          <p:spPr>
            <a:xfrm>
              <a:off x="6858000" y="1981200"/>
              <a:ext cx="457200" cy="304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1" name="Google Shape;171;p5"/>
            <p:cNvCxnSpPr/>
            <p:nvPr/>
          </p:nvCxnSpPr>
          <p:spPr>
            <a:xfrm flipH="1" rot="10800000">
              <a:off x="6934200" y="2667000"/>
              <a:ext cx="457200" cy="228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72" name="Google Shape;172;p5"/>
            <p:cNvSpPr txBox="1"/>
            <p:nvPr/>
          </p:nvSpPr>
          <p:spPr>
            <a:xfrm>
              <a:off x="5867400" y="1828800"/>
              <a:ext cx="457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  <p:sp>
          <p:nvSpPr>
            <p:cNvPr id="173" name="Google Shape;173;p5"/>
            <p:cNvSpPr txBox="1"/>
            <p:nvPr/>
          </p:nvSpPr>
          <p:spPr>
            <a:xfrm>
              <a:off x="5791200" y="2819400"/>
              <a:ext cx="457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/>
            </a:p>
          </p:txBody>
        </p:sp>
        <p:sp>
          <p:nvSpPr>
            <p:cNvPr id="174" name="Google Shape;174;p5"/>
            <p:cNvSpPr/>
            <p:nvPr/>
          </p:nvSpPr>
          <p:spPr>
            <a:xfrm>
              <a:off x="7239000" y="2209800"/>
              <a:ext cx="609600" cy="466725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4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75" name="Google Shape;175;p5"/>
            <p:cNvCxnSpPr/>
            <p:nvPr/>
          </p:nvCxnSpPr>
          <p:spPr>
            <a:xfrm>
              <a:off x="7848600" y="2438400"/>
              <a:ext cx="381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cxnSp>
        <p:nvCxnSpPr>
          <p:cNvPr id="176" name="Google Shape;176;p5"/>
          <p:cNvCxnSpPr/>
          <p:nvPr/>
        </p:nvCxnSpPr>
        <p:spPr>
          <a:xfrm>
            <a:off x="685800" y="3733800"/>
            <a:ext cx="80772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7" name="Google Shape;177;p5"/>
          <p:cNvSpPr txBox="1"/>
          <p:nvPr/>
        </p:nvSpPr>
        <p:spPr>
          <a:xfrm>
            <a:off x="304800" y="5650202"/>
            <a:ext cx="47244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Question: Why is there a node </a:t>
            </a: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both CFGs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Answer: A logical node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5"/>
          <p:cNvSpPr txBox="1"/>
          <p:nvPr/>
        </p:nvSpPr>
        <p:spPr>
          <a:xfrm>
            <a:off x="838200" y="4343400"/>
            <a:ext cx="2667000" cy="1126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91425" lIns="95700" spcFirstLastPara="1" rIns="95700" wrap="square" tIns="914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while X &lt; 10 {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Statement1;</a:t>
            </a:r>
            <a:b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X++; }</a:t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3505200" y="4495800"/>
            <a:ext cx="228600" cy="2286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5"/>
          <p:cNvSpPr txBox="1"/>
          <p:nvPr/>
        </p:nvSpPr>
        <p:spPr>
          <a:xfrm>
            <a:off x="3719513" y="4416425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81" name="Google Shape;181;p5"/>
          <p:cNvSpPr/>
          <p:nvPr/>
        </p:nvSpPr>
        <p:spPr>
          <a:xfrm>
            <a:off x="3505200" y="4800600"/>
            <a:ext cx="228600" cy="304800"/>
          </a:xfrm>
          <a:prstGeom prst="rightBrace">
            <a:avLst>
              <a:gd fmla="val 11111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5"/>
          <p:cNvSpPr txBox="1"/>
          <p:nvPr/>
        </p:nvSpPr>
        <p:spPr>
          <a:xfrm>
            <a:off x="3733800" y="4752975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83" name="Google Shape;183;p5"/>
          <p:cNvSpPr/>
          <p:nvPr/>
        </p:nvSpPr>
        <p:spPr>
          <a:xfrm>
            <a:off x="3505200" y="5105400"/>
            <a:ext cx="228600" cy="304800"/>
          </a:xfrm>
          <a:prstGeom prst="rightBrace">
            <a:avLst>
              <a:gd fmla="val 11111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5"/>
          <p:cNvSpPr txBox="1"/>
          <p:nvPr/>
        </p:nvSpPr>
        <p:spPr>
          <a:xfrm>
            <a:off x="3733800" y="5105400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grpSp>
        <p:nvGrpSpPr>
          <p:cNvPr id="185" name="Google Shape;185;p5"/>
          <p:cNvGrpSpPr/>
          <p:nvPr/>
        </p:nvGrpSpPr>
        <p:grpSpPr>
          <a:xfrm>
            <a:off x="4648200" y="4038600"/>
            <a:ext cx="3810000" cy="1874838"/>
            <a:chOff x="4648200" y="4038600"/>
            <a:chExt cx="3810000" cy="1874838"/>
          </a:xfrm>
        </p:grpSpPr>
        <p:sp>
          <p:nvSpPr>
            <p:cNvPr id="186" name="Google Shape;186;p5"/>
            <p:cNvSpPr/>
            <p:nvPr/>
          </p:nvSpPr>
          <p:spPr>
            <a:xfrm>
              <a:off x="4648200" y="4038600"/>
              <a:ext cx="3810000" cy="1825625"/>
            </a:xfrm>
            <a:prstGeom prst="rect">
              <a:avLst/>
            </a:prstGeom>
            <a:solidFill>
              <a:srgbClr val="CCFFCC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7" name="Google Shape;187;p5"/>
            <p:cNvCxnSpPr/>
            <p:nvPr/>
          </p:nvCxnSpPr>
          <p:spPr>
            <a:xfrm>
              <a:off x="4876800" y="4419600"/>
              <a:ext cx="152400" cy="228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88" name="Google Shape;188;p5"/>
            <p:cNvSpPr txBox="1"/>
            <p:nvPr/>
          </p:nvSpPr>
          <p:spPr>
            <a:xfrm>
              <a:off x="4800600" y="5638800"/>
              <a:ext cx="609600" cy="2746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CFG</a:t>
              </a:r>
              <a:endParaRPr/>
            </a:p>
          </p:txBody>
        </p:sp>
        <p:sp>
          <p:nvSpPr>
            <p:cNvPr id="189" name="Google Shape;189;p5"/>
            <p:cNvSpPr/>
            <p:nvPr/>
          </p:nvSpPr>
          <p:spPr>
            <a:xfrm>
              <a:off x="4876800" y="4648200"/>
              <a:ext cx="609600" cy="466725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90" name="Google Shape;190;p5"/>
            <p:cNvSpPr/>
            <p:nvPr/>
          </p:nvSpPr>
          <p:spPr>
            <a:xfrm>
              <a:off x="5943600" y="4648200"/>
              <a:ext cx="609600" cy="466725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91" name="Google Shape;191;p5"/>
            <p:cNvCxnSpPr/>
            <p:nvPr/>
          </p:nvCxnSpPr>
          <p:spPr>
            <a:xfrm>
              <a:off x="5486400" y="4876800"/>
              <a:ext cx="4572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92" name="Google Shape;192;p5"/>
            <p:cNvSpPr/>
            <p:nvPr/>
          </p:nvSpPr>
          <p:spPr>
            <a:xfrm>
              <a:off x="6858000" y="4648200"/>
              <a:ext cx="609600" cy="466725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3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93" name="Google Shape;193;p5"/>
            <p:cNvSpPr txBox="1"/>
            <p:nvPr/>
          </p:nvSpPr>
          <p:spPr>
            <a:xfrm>
              <a:off x="5486400" y="4876800"/>
              <a:ext cx="457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  <p:sp>
          <p:nvSpPr>
            <p:cNvPr id="194" name="Google Shape;194;p5"/>
            <p:cNvSpPr txBox="1"/>
            <p:nvPr/>
          </p:nvSpPr>
          <p:spPr>
            <a:xfrm>
              <a:off x="5105400" y="4114800"/>
              <a:ext cx="457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/>
            </a:p>
          </p:txBody>
        </p:sp>
        <p:sp>
          <p:nvSpPr>
            <p:cNvPr id="195" name="Google Shape;195;p5"/>
            <p:cNvSpPr/>
            <p:nvPr/>
          </p:nvSpPr>
          <p:spPr>
            <a:xfrm>
              <a:off x="7620000" y="4648200"/>
              <a:ext cx="609600" cy="466725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4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96" name="Google Shape;196;p5"/>
            <p:cNvCxnSpPr/>
            <p:nvPr/>
          </p:nvCxnSpPr>
          <p:spPr>
            <a:xfrm>
              <a:off x="7924800" y="5105400"/>
              <a:ext cx="304800" cy="228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97" name="Google Shape;197;p5"/>
            <p:cNvCxnSpPr/>
            <p:nvPr/>
          </p:nvCxnSpPr>
          <p:spPr>
            <a:xfrm>
              <a:off x="6553200" y="4876800"/>
              <a:ext cx="304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98" name="Google Shape;198;p5"/>
            <p:cNvSpPr/>
            <p:nvPr/>
          </p:nvSpPr>
          <p:spPr>
            <a:xfrm>
              <a:off x="5170488" y="4267200"/>
              <a:ext cx="2982912" cy="381000"/>
            </a:xfrm>
            <a:custGeom>
              <a:rect b="b" l="l" r="r" t="t"/>
              <a:pathLst>
                <a:path extrusionOk="0" h="240" w="1776">
                  <a:moveTo>
                    <a:pt x="55" y="240"/>
                  </a:moveTo>
                  <a:cubicBezTo>
                    <a:pt x="27" y="160"/>
                    <a:pt x="0" y="83"/>
                    <a:pt x="247" y="48"/>
                  </a:cubicBezTo>
                  <a:cubicBezTo>
                    <a:pt x="494" y="13"/>
                    <a:pt x="1304" y="0"/>
                    <a:pt x="1540" y="30"/>
                  </a:cubicBezTo>
                  <a:cubicBezTo>
                    <a:pt x="1776" y="60"/>
                    <a:pt x="1640" y="187"/>
                    <a:pt x="1666" y="228"/>
                  </a:cubicBezTo>
                </a:path>
              </a:pathLst>
            </a:cu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5"/>
            <p:cNvSpPr/>
            <p:nvPr/>
          </p:nvSpPr>
          <p:spPr>
            <a:xfrm>
              <a:off x="4860925" y="5105400"/>
              <a:ext cx="2609850" cy="458788"/>
            </a:xfrm>
            <a:custGeom>
              <a:rect b="b" l="l" r="r" t="t"/>
              <a:pathLst>
                <a:path extrusionOk="0" h="289" w="1644">
                  <a:moveTo>
                    <a:pt x="1450" y="0"/>
                  </a:moveTo>
                  <a:cubicBezTo>
                    <a:pt x="1448" y="41"/>
                    <a:pt x="1644" y="209"/>
                    <a:pt x="1438" y="249"/>
                  </a:cubicBezTo>
                  <a:cubicBezTo>
                    <a:pt x="1232" y="289"/>
                    <a:pt x="428" y="281"/>
                    <a:pt x="214" y="240"/>
                  </a:cubicBezTo>
                  <a:cubicBezTo>
                    <a:pt x="0" y="199"/>
                    <a:pt x="166" y="50"/>
                    <a:pt x="154" y="0"/>
                  </a:cubicBezTo>
                </a:path>
              </a:pathLst>
            </a:cu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0" name="Google Shape;200;p5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201" name="Google Shape;20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5829300"/>
            <a:ext cx="13716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6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More Examples</a:t>
            </a:r>
            <a:endParaRPr/>
          </a:p>
        </p:txBody>
      </p:sp>
      <p:sp>
        <p:nvSpPr>
          <p:cNvPr id="207" name="Google Shape;207;p6"/>
          <p:cNvSpPr txBox="1"/>
          <p:nvPr/>
        </p:nvSpPr>
        <p:spPr>
          <a:xfrm>
            <a:off x="2164807" y="2781088"/>
            <a:ext cx="48144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5700" spcFirstLastPara="1" rIns="95700" wrap="square" tIns="914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for (int I = 0; I &lt; 10 ; I ++){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Statement1;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Statement2;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Statement3;</a:t>
            </a:r>
            <a:b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}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Statement4;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8" name="Google Shape;208;p6"/>
          <p:cNvSpPr txBox="1"/>
          <p:nvPr/>
        </p:nvSpPr>
        <p:spPr>
          <a:xfrm>
            <a:off x="3487916" y="2539064"/>
            <a:ext cx="38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cxnSp>
        <p:nvCxnSpPr>
          <p:cNvPr id="209" name="Google Shape;209;p6"/>
          <p:cNvCxnSpPr/>
          <p:nvPr/>
        </p:nvCxnSpPr>
        <p:spPr>
          <a:xfrm>
            <a:off x="3134625" y="3210579"/>
            <a:ext cx="12954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0" name="Google Shape;210;p6"/>
          <p:cNvCxnSpPr/>
          <p:nvPr/>
        </p:nvCxnSpPr>
        <p:spPr>
          <a:xfrm>
            <a:off x="4734825" y="3210579"/>
            <a:ext cx="6477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1" name="Google Shape;211;p6"/>
          <p:cNvSpPr txBox="1"/>
          <p:nvPr/>
        </p:nvSpPr>
        <p:spPr>
          <a:xfrm>
            <a:off x="4868175" y="2542312"/>
            <a:ext cx="38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4572035" y="3247216"/>
            <a:ext cx="228600" cy="905400"/>
          </a:xfrm>
          <a:prstGeom prst="rightBrace">
            <a:avLst>
              <a:gd fmla="val 16667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6"/>
          <p:cNvSpPr txBox="1"/>
          <p:nvPr/>
        </p:nvSpPr>
        <p:spPr>
          <a:xfrm>
            <a:off x="4849125" y="3516593"/>
            <a:ext cx="38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214" name="Google Shape;214;p6"/>
          <p:cNvSpPr txBox="1"/>
          <p:nvPr/>
        </p:nvSpPr>
        <p:spPr>
          <a:xfrm>
            <a:off x="6018102" y="2542312"/>
            <a:ext cx="38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5" name="Google Shape;215;p6"/>
          <p:cNvCxnSpPr/>
          <p:nvPr/>
        </p:nvCxnSpPr>
        <p:spPr>
          <a:xfrm>
            <a:off x="5884752" y="3210579"/>
            <a:ext cx="6477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6" name="Google Shape;216;p6"/>
          <p:cNvSpPr txBox="1"/>
          <p:nvPr/>
        </p:nvSpPr>
        <p:spPr>
          <a:xfrm>
            <a:off x="4887224" y="4481068"/>
            <a:ext cx="38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217" name="Google Shape;217;p6"/>
          <p:cNvSpPr/>
          <p:nvPr/>
        </p:nvSpPr>
        <p:spPr>
          <a:xfrm>
            <a:off x="4590723" y="4539087"/>
            <a:ext cx="228600" cy="304800"/>
          </a:xfrm>
          <a:prstGeom prst="rightBrace">
            <a:avLst>
              <a:gd fmla="val 11111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8" name="Google Shape;218;p6"/>
          <p:cNvGrpSpPr/>
          <p:nvPr/>
        </p:nvGrpSpPr>
        <p:grpSpPr>
          <a:xfrm>
            <a:off x="1904999" y="4743450"/>
            <a:ext cx="5715001" cy="2116812"/>
            <a:chOff x="1904999" y="3962400"/>
            <a:chExt cx="5715001" cy="2116812"/>
          </a:xfrm>
        </p:grpSpPr>
        <p:sp>
          <p:nvSpPr>
            <p:cNvPr id="219" name="Google Shape;219;p6"/>
            <p:cNvSpPr/>
            <p:nvPr/>
          </p:nvSpPr>
          <p:spPr>
            <a:xfrm>
              <a:off x="1904999" y="3962400"/>
              <a:ext cx="5715001" cy="2065337"/>
            </a:xfrm>
            <a:prstGeom prst="rect">
              <a:avLst/>
            </a:prstGeom>
            <a:solidFill>
              <a:srgbClr val="CCFFCC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0" name="Google Shape;220;p6"/>
            <p:cNvCxnSpPr/>
            <p:nvPr/>
          </p:nvCxnSpPr>
          <p:spPr>
            <a:xfrm>
              <a:off x="3810000" y="5040312"/>
              <a:ext cx="438150" cy="476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21" name="Google Shape;221;p6"/>
            <p:cNvSpPr txBox="1"/>
            <p:nvPr/>
          </p:nvSpPr>
          <p:spPr>
            <a:xfrm>
              <a:off x="2057400" y="5802312"/>
              <a:ext cx="6096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CFG</a:t>
              </a:r>
              <a:endParaRPr/>
            </a:p>
          </p:txBody>
        </p:sp>
        <p:sp>
          <p:nvSpPr>
            <p:cNvPr id="222" name="Google Shape;222;p6"/>
            <p:cNvSpPr/>
            <p:nvPr/>
          </p:nvSpPr>
          <p:spPr>
            <a:xfrm>
              <a:off x="2133600" y="4811712"/>
              <a:ext cx="609600" cy="466725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23" name="Google Shape;223;p6"/>
            <p:cNvSpPr/>
            <p:nvPr/>
          </p:nvSpPr>
          <p:spPr>
            <a:xfrm>
              <a:off x="3200400" y="4811712"/>
              <a:ext cx="609600" cy="466725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224" name="Google Shape;224;p6"/>
            <p:cNvCxnSpPr/>
            <p:nvPr/>
          </p:nvCxnSpPr>
          <p:spPr>
            <a:xfrm>
              <a:off x="2743200" y="5040312"/>
              <a:ext cx="4572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25" name="Google Shape;225;p6"/>
            <p:cNvSpPr/>
            <p:nvPr/>
          </p:nvSpPr>
          <p:spPr>
            <a:xfrm>
              <a:off x="4248150" y="4795837"/>
              <a:ext cx="609600" cy="466725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3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26" name="Google Shape;226;p6"/>
            <p:cNvSpPr txBox="1"/>
            <p:nvPr/>
          </p:nvSpPr>
          <p:spPr>
            <a:xfrm>
              <a:off x="4389798" y="4194606"/>
              <a:ext cx="4572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/>
            </a:p>
          </p:txBody>
        </p:sp>
        <p:sp>
          <p:nvSpPr>
            <p:cNvPr id="227" name="Google Shape;227;p6"/>
            <p:cNvSpPr/>
            <p:nvPr/>
          </p:nvSpPr>
          <p:spPr>
            <a:xfrm>
              <a:off x="5264727" y="4795837"/>
              <a:ext cx="609600" cy="466725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4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228" name="Google Shape;228;p6"/>
            <p:cNvCxnSpPr/>
            <p:nvPr/>
          </p:nvCxnSpPr>
          <p:spPr>
            <a:xfrm flipH="1" rot="10800000">
              <a:off x="4857749" y="5042692"/>
              <a:ext cx="406977" cy="238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29" name="Google Shape;229;p6"/>
            <p:cNvSpPr/>
            <p:nvPr/>
          </p:nvSpPr>
          <p:spPr>
            <a:xfrm>
              <a:off x="3363190" y="5278437"/>
              <a:ext cx="2609850" cy="458788"/>
            </a:xfrm>
            <a:custGeom>
              <a:rect b="b" l="l" r="r" t="t"/>
              <a:pathLst>
                <a:path extrusionOk="0" h="289" w="1644">
                  <a:moveTo>
                    <a:pt x="1450" y="0"/>
                  </a:moveTo>
                  <a:cubicBezTo>
                    <a:pt x="1448" y="41"/>
                    <a:pt x="1644" y="209"/>
                    <a:pt x="1438" y="249"/>
                  </a:cubicBezTo>
                  <a:cubicBezTo>
                    <a:pt x="1232" y="289"/>
                    <a:pt x="428" y="281"/>
                    <a:pt x="214" y="240"/>
                  </a:cubicBezTo>
                  <a:cubicBezTo>
                    <a:pt x="0" y="199"/>
                    <a:pt x="166" y="50"/>
                    <a:pt x="154" y="0"/>
                  </a:cubicBezTo>
                </a:path>
              </a:pathLst>
            </a:cu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6"/>
            <p:cNvSpPr txBox="1"/>
            <p:nvPr/>
          </p:nvSpPr>
          <p:spPr>
            <a:xfrm>
              <a:off x="3821762" y="5102656"/>
              <a:ext cx="4572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  <p:sp>
          <p:nvSpPr>
            <p:cNvPr id="231" name="Google Shape;231;p6"/>
            <p:cNvSpPr/>
            <p:nvPr/>
          </p:nvSpPr>
          <p:spPr>
            <a:xfrm>
              <a:off x="5779077" y="4032681"/>
              <a:ext cx="609600" cy="466725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5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232" name="Google Shape;232;p6"/>
            <p:cNvCxnSpPr/>
            <p:nvPr/>
          </p:nvCxnSpPr>
          <p:spPr>
            <a:xfrm flipH="1" rot="10800000">
              <a:off x="3544164" y="4347006"/>
              <a:ext cx="2234913" cy="46470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233" name="Google Shape;233;p6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234" name="Google Shape;23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5829300"/>
            <a:ext cx="13716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7"/>
          <p:cNvSpPr/>
          <p:nvPr/>
        </p:nvSpPr>
        <p:spPr>
          <a:xfrm>
            <a:off x="4876809" y="3584575"/>
            <a:ext cx="3810000" cy="1825500"/>
          </a:xfrm>
          <a:prstGeom prst="rect">
            <a:avLst/>
          </a:prstGeom>
          <a:solidFill>
            <a:srgbClr val="CCFFCC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7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Combined Examples</a:t>
            </a:r>
            <a:endParaRPr/>
          </a:p>
        </p:txBody>
      </p:sp>
      <p:sp>
        <p:nvSpPr>
          <p:cNvPr id="242" name="Google Shape;242;p7"/>
          <p:cNvSpPr txBox="1"/>
          <p:nvPr/>
        </p:nvSpPr>
        <p:spPr>
          <a:xfrm>
            <a:off x="1001000" y="3429000"/>
            <a:ext cx="2667000" cy="2036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7850" lIns="95700" spcFirstLastPara="1" rIns="95700" wrap="square" tIns="47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Statement1;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Statement2;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if </a:t>
            </a: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&lt; 10 then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Statement3;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Statement4;</a:t>
            </a:r>
            <a:endParaRPr/>
          </a:p>
        </p:txBody>
      </p:sp>
      <p:sp>
        <p:nvSpPr>
          <p:cNvPr id="243" name="Google Shape;243;p7"/>
          <p:cNvSpPr/>
          <p:nvPr/>
        </p:nvSpPr>
        <p:spPr>
          <a:xfrm>
            <a:off x="3668000" y="3505200"/>
            <a:ext cx="228600" cy="457200"/>
          </a:xfrm>
          <a:prstGeom prst="rightBrace">
            <a:avLst>
              <a:gd fmla="val 16667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7"/>
          <p:cNvSpPr txBox="1"/>
          <p:nvPr/>
        </p:nvSpPr>
        <p:spPr>
          <a:xfrm>
            <a:off x="3972800" y="3505200"/>
            <a:ext cx="38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45" name="Google Shape;245;p7"/>
          <p:cNvSpPr/>
          <p:nvPr/>
        </p:nvSpPr>
        <p:spPr>
          <a:xfrm>
            <a:off x="3668000" y="4267200"/>
            <a:ext cx="228600" cy="304800"/>
          </a:xfrm>
          <a:prstGeom prst="rightBrace">
            <a:avLst>
              <a:gd fmla="val 11111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7"/>
          <p:cNvSpPr txBox="1"/>
          <p:nvPr/>
        </p:nvSpPr>
        <p:spPr>
          <a:xfrm>
            <a:off x="3972800" y="4191000"/>
            <a:ext cx="38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247" name="Google Shape;247;p7"/>
          <p:cNvSpPr/>
          <p:nvPr/>
        </p:nvSpPr>
        <p:spPr>
          <a:xfrm>
            <a:off x="3668000" y="4572000"/>
            <a:ext cx="228600" cy="304800"/>
          </a:xfrm>
          <a:prstGeom prst="rightBrace">
            <a:avLst>
              <a:gd fmla="val 11111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7"/>
          <p:cNvSpPr txBox="1"/>
          <p:nvPr/>
        </p:nvSpPr>
        <p:spPr>
          <a:xfrm>
            <a:off x="3972800" y="4572000"/>
            <a:ext cx="38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249" name="Google Shape;249;p7"/>
          <p:cNvSpPr/>
          <p:nvPr/>
        </p:nvSpPr>
        <p:spPr>
          <a:xfrm>
            <a:off x="3668000" y="5105400"/>
            <a:ext cx="228600" cy="304800"/>
          </a:xfrm>
          <a:prstGeom prst="rightBrace">
            <a:avLst>
              <a:gd fmla="val 11111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7"/>
          <p:cNvSpPr txBox="1"/>
          <p:nvPr/>
        </p:nvSpPr>
        <p:spPr>
          <a:xfrm>
            <a:off x="3972800" y="5105400"/>
            <a:ext cx="38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251" name="Google Shape;251;p7"/>
          <p:cNvSpPr/>
          <p:nvPr/>
        </p:nvSpPr>
        <p:spPr>
          <a:xfrm>
            <a:off x="5181609" y="4041775"/>
            <a:ext cx="609600" cy="4668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</a:t>
            </a:r>
            <a:endParaRPr b="0" i="0" sz="2500" u="none" cap="none" strike="noStrik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52" name="Google Shape;252;p7"/>
          <p:cNvCxnSpPr/>
          <p:nvPr/>
        </p:nvCxnSpPr>
        <p:spPr>
          <a:xfrm>
            <a:off x="4986347" y="3770313"/>
            <a:ext cx="304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3" name="Google Shape;253;p7"/>
          <p:cNvCxnSpPr/>
          <p:nvPr/>
        </p:nvCxnSpPr>
        <p:spPr>
          <a:xfrm>
            <a:off x="5791209" y="4270375"/>
            <a:ext cx="53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4" name="Google Shape;254;p7"/>
          <p:cNvSpPr txBox="1"/>
          <p:nvPr/>
        </p:nvSpPr>
        <p:spPr>
          <a:xfrm>
            <a:off x="4953009" y="5108575"/>
            <a:ext cx="609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CFG</a:t>
            </a:r>
            <a:endParaRPr/>
          </a:p>
        </p:txBody>
      </p:sp>
      <p:sp>
        <p:nvSpPr>
          <p:cNvPr id="255" name="Google Shape;255;p7"/>
          <p:cNvSpPr/>
          <p:nvPr/>
        </p:nvSpPr>
        <p:spPr>
          <a:xfrm>
            <a:off x="6324609" y="4041775"/>
            <a:ext cx="609600" cy="4668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b="0" i="0" sz="2500" u="none" cap="none" strike="noStrik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7467609" y="3736975"/>
            <a:ext cx="609600" cy="4668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endParaRPr b="0" i="0" sz="2500" u="none" cap="none" strike="noStrik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57" name="Google Shape;257;p7"/>
          <p:cNvCxnSpPr/>
          <p:nvPr/>
        </p:nvCxnSpPr>
        <p:spPr>
          <a:xfrm flipH="1" rot="10800000">
            <a:off x="6906500" y="4051300"/>
            <a:ext cx="60960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8" name="Google Shape;258;p7"/>
          <p:cNvSpPr/>
          <p:nvPr/>
        </p:nvSpPr>
        <p:spPr>
          <a:xfrm>
            <a:off x="7467609" y="4727575"/>
            <a:ext cx="609600" cy="4668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endParaRPr b="0" i="0" sz="2500" u="none" cap="none" strike="noStrik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59" name="Google Shape;259;p7"/>
          <p:cNvCxnSpPr/>
          <p:nvPr/>
        </p:nvCxnSpPr>
        <p:spPr>
          <a:xfrm>
            <a:off x="6858009" y="4498975"/>
            <a:ext cx="6096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0" name="Google Shape;260;p7"/>
          <p:cNvCxnSpPr/>
          <p:nvPr/>
        </p:nvCxnSpPr>
        <p:spPr>
          <a:xfrm>
            <a:off x="7772409" y="4194175"/>
            <a:ext cx="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1" name="Google Shape;261;p7"/>
          <p:cNvCxnSpPr/>
          <p:nvPr/>
        </p:nvCxnSpPr>
        <p:spPr>
          <a:xfrm>
            <a:off x="8077209" y="4956175"/>
            <a:ext cx="53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2" name="Google Shape;262;p7"/>
          <p:cNvSpPr txBox="1"/>
          <p:nvPr/>
        </p:nvSpPr>
        <p:spPr>
          <a:xfrm>
            <a:off x="7010409" y="3736975"/>
            <a:ext cx="45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/>
          </a:p>
        </p:txBody>
      </p:sp>
      <p:sp>
        <p:nvSpPr>
          <p:cNvPr id="263" name="Google Shape;263;p7"/>
          <p:cNvSpPr txBox="1"/>
          <p:nvPr/>
        </p:nvSpPr>
        <p:spPr>
          <a:xfrm>
            <a:off x="6934209" y="4727575"/>
            <a:ext cx="45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  <p:sp>
        <p:nvSpPr>
          <p:cNvPr id="264" name="Google Shape;264;p7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265" name="Google Shape;26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5829300"/>
            <a:ext cx="13716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8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Number of Paths through CFG</a:t>
            </a:r>
            <a:endParaRPr/>
          </a:p>
        </p:txBody>
      </p:sp>
      <p:sp>
        <p:nvSpPr>
          <p:cNvPr id="272" name="Google Shape;272;p8"/>
          <p:cNvSpPr txBox="1"/>
          <p:nvPr>
            <p:ph idx="1" type="body"/>
          </p:nvPr>
        </p:nvSpPr>
        <p:spPr>
          <a:xfrm>
            <a:off x="457200" y="1143000"/>
            <a:ext cx="8686800" cy="4987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1976"/>
              <a:buChar char="🞂"/>
            </a:pPr>
            <a:r>
              <a:rPr lang="en-US"/>
              <a:t>Given a program, how do we exercise all statements and branches at least once?</a:t>
            </a:r>
            <a:endParaRPr/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ts val="1976"/>
              <a:buChar char="🞂"/>
            </a:pPr>
            <a:r>
              <a:rPr lang="en-US"/>
              <a:t>Translating the program into a CFG, an equivalent question is:</a:t>
            </a:r>
            <a:endParaRPr/>
          </a:p>
          <a:p>
            <a:pPr indent="-274320" lvl="1" marL="548640" rtl="0" algn="l">
              <a:spcBef>
                <a:spcPts val="500"/>
              </a:spcBef>
              <a:spcAft>
                <a:spcPts val="0"/>
              </a:spcAft>
              <a:buSzPts val="1748"/>
              <a:buChar char="🞂"/>
            </a:pPr>
            <a:r>
              <a:rPr lang="en-US"/>
              <a:t>Given a CFG, how do we cover all arcs and nodes at least once?</a:t>
            </a:r>
            <a:endParaRPr/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ts val="1976"/>
              <a:buChar char="🞂"/>
            </a:pPr>
            <a:r>
              <a:rPr lang="en-US"/>
              <a:t>Since a path is a trail of nodes linked by arcs, this is similar to ask:</a:t>
            </a:r>
            <a:endParaRPr/>
          </a:p>
          <a:p>
            <a:pPr indent="-274320" lvl="1" marL="548640" rtl="0" algn="l">
              <a:spcBef>
                <a:spcPts val="500"/>
              </a:spcBef>
              <a:spcAft>
                <a:spcPts val="0"/>
              </a:spcAft>
              <a:buSzPts val="1748"/>
              <a:buChar char="🞂"/>
            </a:pPr>
            <a:r>
              <a:rPr lang="en-US"/>
              <a:t>Given a CFG, what is the set of paths that can cover all arcs and nodes?</a:t>
            </a:r>
            <a:endParaRPr/>
          </a:p>
        </p:txBody>
      </p:sp>
      <p:sp>
        <p:nvSpPr>
          <p:cNvPr id="273" name="Google Shape;273;p8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274" name="Google Shape;27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5791200"/>
            <a:ext cx="13716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9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281" name="Google Shape;281;p9"/>
          <p:cNvSpPr/>
          <p:nvPr/>
        </p:nvSpPr>
        <p:spPr>
          <a:xfrm>
            <a:off x="914400" y="1676400"/>
            <a:ext cx="1755775" cy="1825625"/>
          </a:xfrm>
          <a:prstGeom prst="rect">
            <a:avLst/>
          </a:prstGeom>
          <a:solidFill>
            <a:srgbClr val="CCFFCC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9"/>
          <p:cNvSpPr/>
          <p:nvPr/>
        </p:nvSpPr>
        <p:spPr>
          <a:xfrm>
            <a:off x="1524000" y="2286000"/>
            <a:ext cx="609600" cy="466725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</a:t>
            </a:r>
            <a:endParaRPr b="0" i="0" sz="2500" u="none" cap="none" strike="noStrik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83" name="Google Shape;283;p9"/>
          <p:cNvCxnSpPr/>
          <p:nvPr/>
        </p:nvCxnSpPr>
        <p:spPr>
          <a:xfrm>
            <a:off x="1828800" y="1828800"/>
            <a:ext cx="3175" cy="4667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4" name="Google Shape;284;p9"/>
          <p:cNvCxnSpPr/>
          <p:nvPr/>
        </p:nvCxnSpPr>
        <p:spPr>
          <a:xfrm>
            <a:off x="1828800" y="2743200"/>
            <a:ext cx="3175" cy="4667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5" name="Google Shape;285;p9"/>
          <p:cNvSpPr txBox="1"/>
          <p:nvPr/>
        </p:nvSpPr>
        <p:spPr>
          <a:xfrm>
            <a:off x="914400" y="3200400"/>
            <a:ext cx="609600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CFG</a:t>
            </a:r>
            <a:endParaRPr/>
          </a:p>
        </p:txBody>
      </p:sp>
      <p:grpSp>
        <p:nvGrpSpPr>
          <p:cNvPr id="286" name="Google Shape;286;p9"/>
          <p:cNvGrpSpPr/>
          <p:nvPr/>
        </p:nvGrpSpPr>
        <p:grpSpPr>
          <a:xfrm>
            <a:off x="4419600" y="1676400"/>
            <a:ext cx="3810000" cy="1825625"/>
            <a:chOff x="3072" y="2544"/>
            <a:chExt cx="2400" cy="1150"/>
          </a:xfrm>
        </p:grpSpPr>
        <p:sp>
          <p:nvSpPr>
            <p:cNvPr id="287" name="Google Shape;287;p9"/>
            <p:cNvSpPr/>
            <p:nvPr/>
          </p:nvSpPr>
          <p:spPr>
            <a:xfrm>
              <a:off x="3072" y="2544"/>
              <a:ext cx="2400" cy="1150"/>
            </a:xfrm>
            <a:prstGeom prst="rect">
              <a:avLst/>
            </a:prstGeom>
            <a:solidFill>
              <a:srgbClr val="CCFFCC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9"/>
            <p:cNvSpPr/>
            <p:nvPr/>
          </p:nvSpPr>
          <p:spPr>
            <a:xfrm>
              <a:off x="3264" y="2832"/>
              <a:ext cx="384" cy="294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289" name="Google Shape;289;p9"/>
            <p:cNvCxnSpPr/>
            <p:nvPr/>
          </p:nvCxnSpPr>
          <p:spPr>
            <a:xfrm>
              <a:off x="3141" y="2661"/>
              <a:ext cx="192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90" name="Google Shape;290;p9"/>
            <p:cNvCxnSpPr/>
            <p:nvPr/>
          </p:nvCxnSpPr>
          <p:spPr>
            <a:xfrm>
              <a:off x="3648" y="2976"/>
              <a:ext cx="336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91" name="Google Shape;291;p9"/>
            <p:cNvSpPr txBox="1"/>
            <p:nvPr/>
          </p:nvSpPr>
          <p:spPr>
            <a:xfrm>
              <a:off x="3120" y="3504"/>
              <a:ext cx="384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CFG</a:t>
              </a:r>
              <a:endParaRPr/>
            </a:p>
          </p:txBody>
        </p:sp>
        <p:sp>
          <p:nvSpPr>
            <p:cNvPr id="292" name="Google Shape;292;p9"/>
            <p:cNvSpPr/>
            <p:nvPr/>
          </p:nvSpPr>
          <p:spPr>
            <a:xfrm>
              <a:off x="3984" y="2832"/>
              <a:ext cx="384" cy="294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93" name="Google Shape;293;p9"/>
            <p:cNvSpPr/>
            <p:nvPr/>
          </p:nvSpPr>
          <p:spPr>
            <a:xfrm>
              <a:off x="4704" y="2640"/>
              <a:ext cx="384" cy="294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3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294" name="Google Shape;294;p9"/>
            <p:cNvCxnSpPr/>
            <p:nvPr/>
          </p:nvCxnSpPr>
          <p:spPr>
            <a:xfrm flipH="1" rot="10800000">
              <a:off x="4320" y="2784"/>
              <a:ext cx="384" cy="9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95" name="Google Shape;295;p9"/>
            <p:cNvSpPr/>
            <p:nvPr/>
          </p:nvSpPr>
          <p:spPr>
            <a:xfrm>
              <a:off x="4704" y="3264"/>
              <a:ext cx="384" cy="294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4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296" name="Google Shape;296;p9"/>
            <p:cNvCxnSpPr/>
            <p:nvPr/>
          </p:nvCxnSpPr>
          <p:spPr>
            <a:xfrm>
              <a:off x="4320" y="3120"/>
              <a:ext cx="384" cy="2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97" name="Google Shape;297;p9"/>
            <p:cNvCxnSpPr/>
            <p:nvPr/>
          </p:nvCxnSpPr>
          <p:spPr>
            <a:xfrm>
              <a:off x="4896" y="2928"/>
              <a:ext cx="0" cy="33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98" name="Google Shape;298;p9"/>
            <p:cNvCxnSpPr/>
            <p:nvPr/>
          </p:nvCxnSpPr>
          <p:spPr>
            <a:xfrm>
              <a:off x="5088" y="3408"/>
              <a:ext cx="336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99" name="Google Shape;299;p9"/>
            <p:cNvSpPr txBox="1"/>
            <p:nvPr/>
          </p:nvSpPr>
          <p:spPr>
            <a:xfrm>
              <a:off x="4416" y="2640"/>
              <a:ext cx="28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  <p:sp>
          <p:nvSpPr>
            <p:cNvPr id="300" name="Google Shape;300;p9"/>
            <p:cNvSpPr txBox="1"/>
            <p:nvPr/>
          </p:nvSpPr>
          <p:spPr>
            <a:xfrm>
              <a:off x="4368" y="3264"/>
              <a:ext cx="28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/>
            </a:p>
          </p:txBody>
        </p:sp>
      </p:grpSp>
      <p:sp>
        <p:nvSpPr>
          <p:cNvPr id="301" name="Google Shape;301;p9"/>
          <p:cNvSpPr txBox="1"/>
          <p:nvPr>
            <p:ph idx="1" type="body"/>
          </p:nvPr>
        </p:nvSpPr>
        <p:spPr>
          <a:xfrm>
            <a:off x="762000" y="3581400"/>
            <a:ext cx="3276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44"/>
              <a:buChar char="🞂"/>
            </a:pPr>
            <a:r>
              <a:rPr lang="en-US" sz="1900"/>
              <a:t>Only </a:t>
            </a:r>
            <a:r>
              <a:rPr b="1" lang="en-US" sz="1900"/>
              <a:t>one </a:t>
            </a:r>
            <a:r>
              <a:rPr lang="en-US" sz="1900"/>
              <a:t>path is needed: </a:t>
            </a:r>
            <a:endParaRPr/>
          </a:p>
          <a:p>
            <a:pPr indent="-274319" lvl="1" marL="54864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292"/>
              <a:buChar char="🞂"/>
            </a:pPr>
            <a:r>
              <a:rPr b="1" lang="en-US" sz="1700"/>
              <a:t>[ 1 ]</a:t>
            </a:r>
            <a:endParaRPr sz="1700"/>
          </a:p>
        </p:txBody>
      </p:sp>
      <p:grpSp>
        <p:nvGrpSpPr>
          <p:cNvPr id="302" name="Google Shape;302;p9"/>
          <p:cNvGrpSpPr/>
          <p:nvPr/>
        </p:nvGrpSpPr>
        <p:grpSpPr>
          <a:xfrm>
            <a:off x="838200" y="4419600"/>
            <a:ext cx="3810000" cy="1676400"/>
            <a:chOff x="3120" y="2496"/>
            <a:chExt cx="2400" cy="1150"/>
          </a:xfrm>
        </p:grpSpPr>
        <p:sp>
          <p:nvSpPr>
            <p:cNvPr id="303" name="Google Shape;303;p9"/>
            <p:cNvSpPr/>
            <p:nvPr/>
          </p:nvSpPr>
          <p:spPr>
            <a:xfrm>
              <a:off x="3120" y="2496"/>
              <a:ext cx="2400" cy="1150"/>
            </a:xfrm>
            <a:prstGeom prst="rect">
              <a:avLst/>
            </a:prstGeom>
            <a:solidFill>
              <a:srgbClr val="CCFFCC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04" name="Google Shape;304;p9"/>
            <p:cNvCxnSpPr/>
            <p:nvPr/>
          </p:nvCxnSpPr>
          <p:spPr>
            <a:xfrm>
              <a:off x="3216" y="2928"/>
              <a:ext cx="24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05" name="Google Shape;305;p9"/>
            <p:cNvSpPr txBox="1"/>
            <p:nvPr/>
          </p:nvSpPr>
          <p:spPr>
            <a:xfrm>
              <a:off x="3216" y="3457"/>
              <a:ext cx="384" cy="1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CFG</a:t>
              </a:r>
              <a:endParaRPr/>
            </a:p>
          </p:txBody>
        </p:sp>
        <p:sp>
          <p:nvSpPr>
            <p:cNvPr id="306" name="Google Shape;306;p9"/>
            <p:cNvSpPr/>
            <p:nvPr/>
          </p:nvSpPr>
          <p:spPr>
            <a:xfrm>
              <a:off x="3456" y="2784"/>
              <a:ext cx="384" cy="294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307" name="Google Shape;307;p9"/>
            <p:cNvSpPr/>
            <p:nvPr/>
          </p:nvSpPr>
          <p:spPr>
            <a:xfrm>
              <a:off x="4128" y="2592"/>
              <a:ext cx="384" cy="294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308" name="Google Shape;308;p9"/>
            <p:cNvCxnSpPr/>
            <p:nvPr/>
          </p:nvCxnSpPr>
          <p:spPr>
            <a:xfrm flipH="1" rot="10800000">
              <a:off x="3792" y="2736"/>
              <a:ext cx="336" cy="9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09" name="Google Shape;309;p9"/>
            <p:cNvSpPr/>
            <p:nvPr/>
          </p:nvSpPr>
          <p:spPr>
            <a:xfrm>
              <a:off x="4176" y="3120"/>
              <a:ext cx="384" cy="294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3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310" name="Google Shape;310;p9"/>
            <p:cNvCxnSpPr/>
            <p:nvPr/>
          </p:nvCxnSpPr>
          <p:spPr>
            <a:xfrm>
              <a:off x="3792" y="3024"/>
              <a:ext cx="384" cy="2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11" name="Google Shape;311;p9"/>
            <p:cNvCxnSpPr/>
            <p:nvPr/>
          </p:nvCxnSpPr>
          <p:spPr>
            <a:xfrm>
              <a:off x="4512" y="2688"/>
              <a:ext cx="288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12" name="Google Shape;312;p9"/>
            <p:cNvCxnSpPr/>
            <p:nvPr/>
          </p:nvCxnSpPr>
          <p:spPr>
            <a:xfrm flipH="1" rot="10800000">
              <a:off x="4560" y="3120"/>
              <a:ext cx="288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13" name="Google Shape;313;p9"/>
            <p:cNvSpPr txBox="1"/>
            <p:nvPr/>
          </p:nvSpPr>
          <p:spPr>
            <a:xfrm>
              <a:off x="3888" y="2592"/>
              <a:ext cx="288" cy="2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  <p:sp>
          <p:nvSpPr>
            <p:cNvPr id="314" name="Google Shape;314;p9"/>
            <p:cNvSpPr txBox="1"/>
            <p:nvPr/>
          </p:nvSpPr>
          <p:spPr>
            <a:xfrm>
              <a:off x="3840" y="3216"/>
              <a:ext cx="288" cy="2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/>
            </a:p>
          </p:txBody>
        </p:sp>
        <p:sp>
          <p:nvSpPr>
            <p:cNvPr id="315" name="Google Shape;315;p9"/>
            <p:cNvSpPr/>
            <p:nvPr/>
          </p:nvSpPr>
          <p:spPr>
            <a:xfrm>
              <a:off x="4752" y="2832"/>
              <a:ext cx="300" cy="3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4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316" name="Google Shape;316;p9"/>
            <p:cNvCxnSpPr/>
            <p:nvPr/>
          </p:nvCxnSpPr>
          <p:spPr>
            <a:xfrm>
              <a:off x="5136" y="2976"/>
              <a:ext cx="24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317" name="Google Shape;317;p9"/>
          <p:cNvSpPr/>
          <p:nvPr/>
        </p:nvSpPr>
        <p:spPr>
          <a:xfrm>
            <a:off x="4800600" y="3505200"/>
            <a:ext cx="3429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35"/>
              <a:buFont typeface="Noto Sans Symbols"/>
              <a:buChar char="■"/>
            </a:pPr>
            <a:r>
              <a:rPr b="1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 </a:t>
            </a:r>
            <a:r>
              <a:rPr b="0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paths are needed:</a:t>
            </a:r>
            <a:endParaRPr/>
          </a:p>
          <a:p>
            <a:pPr indent="-325438" lvl="1" marL="669925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chemeClr val="accent2"/>
              </a:buClr>
              <a:buSzPts val="1020"/>
              <a:buFont typeface="Noto Sans Symbols"/>
              <a:buChar char="❑"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[ 1 – 2 – 4 ]</a:t>
            </a:r>
            <a:endParaRPr/>
          </a:p>
          <a:p>
            <a:pPr indent="-325438" lvl="1" marL="669925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chemeClr val="accent2"/>
              </a:buClr>
              <a:buSzPts val="1020"/>
              <a:buFont typeface="Noto Sans Symbols"/>
              <a:buChar char="❑"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[ 1 – 2 – 3 – 4 ]</a:t>
            </a:r>
            <a:endParaRPr/>
          </a:p>
        </p:txBody>
      </p:sp>
      <p:sp>
        <p:nvSpPr>
          <p:cNvPr id="318" name="Google Shape;318;p9"/>
          <p:cNvSpPr/>
          <p:nvPr/>
        </p:nvSpPr>
        <p:spPr>
          <a:xfrm>
            <a:off x="4724400" y="4953000"/>
            <a:ext cx="3048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35"/>
              <a:buFont typeface="Noto Sans Symbols"/>
              <a:buChar char="■"/>
            </a:pPr>
            <a:r>
              <a:rPr b="1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 </a:t>
            </a:r>
            <a:r>
              <a:rPr b="0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paths are needed:</a:t>
            </a:r>
            <a:endParaRPr/>
          </a:p>
          <a:p>
            <a:pPr indent="-325438" lvl="1" marL="669925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chemeClr val="accent2"/>
              </a:buClr>
              <a:buSzPts val="1020"/>
              <a:buFont typeface="Noto Sans Symbols"/>
              <a:buChar char="❑"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[ 1 – 2 – 4 ]</a:t>
            </a:r>
            <a:endParaRPr/>
          </a:p>
          <a:p>
            <a:pPr indent="-325438" lvl="1" marL="669925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chemeClr val="accent2"/>
              </a:buClr>
              <a:buSzPts val="1020"/>
              <a:buFont typeface="Noto Sans Symbols"/>
              <a:buChar char="❑"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[ 1 – 3 – 4 ]</a:t>
            </a:r>
            <a:endParaRPr/>
          </a:p>
        </p:txBody>
      </p:sp>
      <p:cxnSp>
        <p:nvCxnSpPr>
          <p:cNvPr id="319" name="Google Shape;319;p9"/>
          <p:cNvCxnSpPr/>
          <p:nvPr/>
        </p:nvCxnSpPr>
        <p:spPr>
          <a:xfrm>
            <a:off x="609600" y="4343400"/>
            <a:ext cx="8153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0" name="Google Shape;320;p9"/>
          <p:cNvCxnSpPr/>
          <p:nvPr/>
        </p:nvCxnSpPr>
        <p:spPr>
          <a:xfrm>
            <a:off x="4114800" y="1524000"/>
            <a:ext cx="0" cy="27432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1" name="Google Shape;321;p9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322" name="Google Shape;32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5829300"/>
            <a:ext cx="13716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0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White Box Testing: Path Based</a:t>
            </a:r>
            <a:endParaRPr/>
          </a:p>
        </p:txBody>
      </p:sp>
      <p:sp>
        <p:nvSpPr>
          <p:cNvPr id="329" name="Google Shape;329;p10"/>
          <p:cNvSpPr txBox="1"/>
          <p:nvPr>
            <p:ph idx="1" type="body"/>
          </p:nvPr>
        </p:nvSpPr>
        <p:spPr>
          <a:xfrm>
            <a:off x="457200" y="1295400"/>
            <a:ext cx="84582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33400" lvl="0" marL="533400" rtl="0" algn="l">
              <a:spcBef>
                <a:spcPts val="0"/>
              </a:spcBef>
              <a:spcAft>
                <a:spcPts val="0"/>
              </a:spcAft>
              <a:buSzPts val="1976"/>
              <a:buChar char="🞂"/>
            </a:pPr>
            <a:r>
              <a:rPr lang="en-US" sz="2600"/>
              <a:t>A generalized technique to find out the number of paths needed (known as </a:t>
            </a:r>
            <a:r>
              <a:rPr i="1" lang="en-US" sz="2600"/>
              <a:t>cyclomatic complexity</a:t>
            </a:r>
            <a:r>
              <a:rPr lang="en-US" sz="2600"/>
              <a:t>) to cover all arcs and nodes in CFG.</a:t>
            </a:r>
            <a:endParaRPr/>
          </a:p>
          <a:p>
            <a:pPr indent="-533400" lvl="0" marL="533400" rtl="0" algn="l">
              <a:spcBef>
                <a:spcPts val="600"/>
              </a:spcBef>
              <a:spcAft>
                <a:spcPts val="0"/>
              </a:spcAft>
              <a:buSzPts val="1976"/>
              <a:buChar char="🞂"/>
            </a:pPr>
            <a:r>
              <a:rPr lang="en-US" sz="2600"/>
              <a:t>Steps:</a:t>
            </a:r>
            <a:endParaRPr/>
          </a:p>
          <a:p>
            <a:pPr indent="-495300" lvl="1" marL="952500" rtl="0" algn="l">
              <a:spcBef>
                <a:spcPts val="500"/>
              </a:spcBef>
              <a:spcAft>
                <a:spcPts val="0"/>
              </a:spcAft>
              <a:buSzPts val="1672"/>
              <a:buFont typeface="Noto Sans Symbols"/>
              <a:buAutoNum type="arabicPeriod"/>
            </a:pPr>
            <a:r>
              <a:rPr lang="en-US" sz="2200"/>
              <a:t>Draw the CFG for the code fragment.</a:t>
            </a:r>
            <a:endParaRPr/>
          </a:p>
          <a:p>
            <a:pPr indent="-495300" lvl="1" marL="952500" rtl="0" algn="l">
              <a:spcBef>
                <a:spcPts val="500"/>
              </a:spcBef>
              <a:spcAft>
                <a:spcPts val="0"/>
              </a:spcAft>
              <a:buSzPts val="1672"/>
              <a:buFont typeface="Noto Sans Symbols"/>
              <a:buAutoNum type="arabicPeriod"/>
            </a:pPr>
            <a:r>
              <a:rPr lang="en-US" sz="2200"/>
              <a:t>Compute the </a:t>
            </a:r>
            <a:r>
              <a:rPr i="1" lang="en-US" sz="2200"/>
              <a:t>cyclomatic complexity number </a:t>
            </a:r>
            <a:r>
              <a:rPr b="1" i="1" lang="en-US" sz="2200"/>
              <a:t>C</a:t>
            </a:r>
            <a:r>
              <a:rPr lang="en-US" sz="2200"/>
              <a:t>, for the CFG.</a:t>
            </a:r>
            <a:endParaRPr/>
          </a:p>
          <a:p>
            <a:pPr indent="-495300" lvl="1" marL="952500" rtl="0" algn="l">
              <a:spcBef>
                <a:spcPts val="500"/>
              </a:spcBef>
              <a:spcAft>
                <a:spcPts val="0"/>
              </a:spcAft>
              <a:buSzPts val="1672"/>
              <a:buFont typeface="Noto Sans Symbols"/>
              <a:buAutoNum type="arabicPeriod"/>
            </a:pPr>
            <a:r>
              <a:rPr lang="en-US" sz="2200"/>
              <a:t>Find at most </a:t>
            </a:r>
            <a:r>
              <a:rPr b="1" i="1" lang="en-US" sz="2200"/>
              <a:t>C </a:t>
            </a:r>
            <a:r>
              <a:rPr lang="en-US" sz="2200"/>
              <a:t>paths that cover the nodes and arcs in a CFG, also known as </a:t>
            </a:r>
            <a:r>
              <a:rPr b="1" lang="en-US" sz="2200"/>
              <a:t>Basic Paths Set;</a:t>
            </a:r>
            <a:endParaRPr/>
          </a:p>
          <a:p>
            <a:pPr indent="-495300" lvl="1" marL="952500" rtl="0" algn="l">
              <a:spcBef>
                <a:spcPts val="500"/>
              </a:spcBef>
              <a:spcAft>
                <a:spcPts val="0"/>
              </a:spcAft>
              <a:buSzPts val="1672"/>
              <a:buFont typeface="Noto Sans Symbols"/>
              <a:buAutoNum type="arabicPeriod"/>
            </a:pPr>
            <a:r>
              <a:rPr lang="en-US" sz="2200"/>
              <a:t>Design test cases to force execution along paths in the </a:t>
            </a:r>
            <a:r>
              <a:rPr b="1" lang="en-US" sz="2200"/>
              <a:t>Basic Paths Set.</a:t>
            </a:r>
            <a:endParaRPr sz="2200"/>
          </a:p>
        </p:txBody>
      </p:sp>
      <p:sp>
        <p:nvSpPr>
          <p:cNvPr id="330" name="Google Shape;330;p10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331" name="Google Shape;33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5829300"/>
            <a:ext cx="13716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1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Path Based Testing: Step 1</a:t>
            </a:r>
            <a:endParaRPr/>
          </a:p>
        </p:txBody>
      </p:sp>
      <p:sp>
        <p:nvSpPr>
          <p:cNvPr id="338" name="Google Shape;338;p11"/>
          <p:cNvSpPr txBox="1"/>
          <p:nvPr/>
        </p:nvSpPr>
        <p:spPr>
          <a:xfrm>
            <a:off x="685800" y="2133600"/>
            <a:ext cx="3352800" cy="3786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91425" lIns="95700" spcFirstLastPara="1" rIns="95700" wrap="square" tIns="914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min = A[0];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I = 1;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while (I &lt; N) {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if (A[I] &lt; min)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min = A[I];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 = I + 1;</a:t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print min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39" name="Google Shape;339;p11"/>
          <p:cNvSpPr/>
          <p:nvPr/>
        </p:nvSpPr>
        <p:spPr>
          <a:xfrm>
            <a:off x="4038600" y="2286000"/>
            <a:ext cx="228600" cy="609600"/>
          </a:xfrm>
          <a:prstGeom prst="rightBrace">
            <a:avLst>
              <a:gd fmla="val 22222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1"/>
          <p:cNvSpPr txBox="1"/>
          <p:nvPr/>
        </p:nvSpPr>
        <p:spPr>
          <a:xfrm>
            <a:off x="4267200" y="2362200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341" name="Google Shape;341;p11"/>
          <p:cNvSpPr/>
          <p:nvPr/>
        </p:nvSpPr>
        <p:spPr>
          <a:xfrm>
            <a:off x="4038600" y="3200400"/>
            <a:ext cx="228600" cy="304800"/>
          </a:xfrm>
          <a:prstGeom prst="rightBrace">
            <a:avLst>
              <a:gd fmla="val 11111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1"/>
          <p:cNvSpPr txBox="1"/>
          <p:nvPr/>
        </p:nvSpPr>
        <p:spPr>
          <a:xfrm>
            <a:off x="4267200" y="3124200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343" name="Google Shape;343;p11"/>
          <p:cNvSpPr/>
          <p:nvPr/>
        </p:nvSpPr>
        <p:spPr>
          <a:xfrm>
            <a:off x="4038600" y="3581400"/>
            <a:ext cx="228600" cy="304800"/>
          </a:xfrm>
          <a:prstGeom prst="rightBrace">
            <a:avLst>
              <a:gd fmla="val 11111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1"/>
          <p:cNvSpPr txBox="1"/>
          <p:nvPr/>
        </p:nvSpPr>
        <p:spPr>
          <a:xfrm>
            <a:off x="4267200" y="3581400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345" name="Google Shape;345;p11"/>
          <p:cNvSpPr/>
          <p:nvPr/>
        </p:nvSpPr>
        <p:spPr>
          <a:xfrm>
            <a:off x="4038600" y="3962400"/>
            <a:ext cx="228600" cy="2286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1"/>
          <p:cNvSpPr txBox="1"/>
          <p:nvPr/>
        </p:nvSpPr>
        <p:spPr>
          <a:xfrm>
            <a:off x="4267200" y="3886200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347" name="Google Shape;347;p11"/>
          <p:cNvSpPr/>
          <p:nvPr/>
        </p:nvSpPr>
        <p:spPr>
          <a:xfrm>
            <a:off x="4038600" y="4267200"/>
            <a:ext cx="228600" cy="2286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1"/>
          <p:cNvSpPr txBox="1"/>
          <p:nvPr/>
        </p:nvSpPr>
        <p:spPr>
          <a:xfrm>
            <a:off x="4267200" y="4191000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349" name="Google Shape;349;p11"/>
          <p:cNvSpPr/>
          <p:nvPr/>
        </p:nvSpPr>
        <p:spPr>
          <a:xfrm>
            <a:off x="4038600" y="4876800"/>
            <a:ext cx="228600" cy="2286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1"/>
          <p:cNvSpPr txBox="1"/>
          <p:nvPr/>
        </p:nvSpPr>
        <p:spPr>
          <a:xfrm>
            <a:off x="4267200" y="4800600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351" name="Google Shape;351;p11"/>
          <p:cNvSpPr/>
          <p:nvPr/>
        </p:nvSpPr>
        <p:spPr>
          <a:xfrm>
            <a:off x="4810450" y="1410000"/>
            <a:ext cx="3810000" cy="4568700"/>
          </a:xfrm>
          <a:prstGeom prst="rect">
            <a:avLst/>
          </a:prstGeom>
          <a:solidFill>
            <a:srgbClr val="CCFFCC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2" name="Google Shape;352;p11"/>
          <p:cNvCxnSpPr/>
          <p:nvPr/>
        </p:nvCxnSpPr>
        <p:spPr>
          <a:xfrm>
            <a:off x="6400800" y="1600200"/>
            <a:ext cx="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3" name="Google Shape;353;p11"/>
          <p:cNvSpPr txBox="1"/>
          <p:nvPr/>
        </p:nvSpPr>
        <p:spPr>
          <a:xfrm>
            <a:off x="6553200" y="5715000"/>
            <a:ext cx="609600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CFG</a:t>
            </a:r>
            <a:endParaRPr/>
          </a:p>
        </p:txBody>
      </p:sp>
      <p:sp>
        <p:nvSpPr>
          <p:cNvPr id="354" name="Google Shape;354;p11"/>
          <p:cNvSpPr/>
          <p:nvPr/>
        </p:nvSpPr>
        <p:spPr>
          <a:xfrm>
            <a:off x="6096000" y="2057400"/>
            <a:ext cx="609600" cy="466725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</a:t>
            </a:r>
            <a:endParaRPr b="0" i="0" sz="2500" u="none" cap="none" strike="noStrik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55" name="Google Shape;355;p11"/>
          <p:cNvSpPr/>
          <p:nvPr/>
        </p:nvSpPr>
        <p:spPr>
          <a:xfrm>
            <a:off x="6096000" y="2743200"/>
            <a:ext cx="609600" cy="4668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b="0" i="0" sz="2500" u="none" cap="none" strike="noStrik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356" name="Google Shape;356;p11"/>
          <p:cNvCxnSpPr/>
          <p:nvPr/>
        </p:nvCxnSpPr>
        <p:spPr>
          <a:xfrm>
            <a:off x="6400800" y="2514600"/>
            <a:ext cx="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7" name="Google Shape;357;p11"/>
          <p:cNvSpPr/>
          <p:nvPr/>
        </p:nvSpPr>
        <p:spPr>
          <a:xfrm>
            <a:off x="6858000" y="3505200"/>
            <a:ext cx="609600" cy="466725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endParaRPr b="0" i="0" sz="2500" u="none" cap="none" strike="noStrik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58" name="Google Shape;358;p11"/>
          <p:cNvSpPr txBox="1"/>
          <p:nvPr/>
        </p:nvSpPr>
        <p:spPr>
          <a:xfrm>
            <a:off x="6858000" y="32004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/>
          </a:p>
        </p:txBody>
      </p:sp>
      <p:sp>
        <p:nvSpPr>
          <p:cNvPr id="359" name="Google Shape;359;p11"/>
          <p:cNvSpPr txBox="1"/>
          <p:nvPr/>
        </p:nvSpPr>
        <p:spPr>
          <a:xfrm>
            <a:off x="5715000" y="32004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  <p:sp>
        <p:nvSpPr>
          <p:cNvPr id="360" name="Google Shape;360;p11"/>
          <p:cNvSpPr/>
          <p:nvPr/>
        </p:nvSpPr>
        <p:spPr>
          <a:xfrm>
            <a:off x="7620000" y="4221307"/>
            <a:ext cx="609600" cy="466725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endParaRPr b="0" i="0" sz="2500" u="none" cap="none" strike="noStrik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361" name="Google Shape;361;p11"/>
          <p:cNvCxnSpPr/>
          <p:nvPr/>
        </p:nvCxnSpPr>
        <p:spPr>
          <a:xfrm>
            <a:off x="6705600" y="3124200"/>
            <a:ext cx="338138" cy="3952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2" name="Google Shape;362;p11"/>
          <p:cNvCxnSpPr/>
          <p:nvPr/>
        </p:nvCxnSpPr>
        <p:spPr>
          <a:xfrm flipH="1">
            <a:off x="6553200" y="3962400"/>
            <a:ext cx="4572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3" name="Google Shape;363;p11"/>
          <p:cNvSpPr/>
          <p:nvPr/>
        </p:nvSpPr>
        <p:spPr>
          <a:xfrm>
            <a:off x="6195796" y="4269365"/>
            <a:ext cx="609600" cy="466725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endParaRPr b="0" i="0" sz="2500" u="none" cap="none" strike="noStrik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64" name="Google Shape;364;p11"/>
          <p:cNvSpPr/>
          <p:nvPr/>
        </p:nvSpPr>
        <p:spPr>
          <a:xfrm>
            <a:off x="5181600" y="4800600"/>
            <a:ext cx="609600" cy="466725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endParaRPr b="0" i="0" sz="2500" u="none" cap="none" strike="noStrik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65" name="Google Shape;365;p11"/>
          <p:cNvSpPr txBox="1"/>
          <p:nvPr/>
        </p:nvSpPr>
        <p:spPr>
          <a:xfrm>
            <a:off x="7391400" y="38862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/>
          </a:p>
        </p:txBody>
      </p:sp>
      <p:cxnSp>
        <p:nvCxnSpPr>
          <p:cNvPr id="366" name="Google Shape;366;p11"/>
          <p:cNvCxnSpPr/>
          <p:nvPr/>
        </p:nvCxnSpPr>
        <p:spPr>
          <a:xfrm>
            <a:off x="7315200" y="3962399"/>
            <a:ext cx="533400" cy="30696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7" name="Google Shape;367;p11"/>
          <p:cNvSpPr txBox="1"/>
          <p:nvPr/>
        </p:nvSpPr>
        <p:spPr>
          <a:xfrm>
            <a:off x="6195796" y="38862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  <p:cxnSp>
        <p:nvCxnSpPr>
          <p:cNvPr id="368" name="Google Shape;368;p11"/>
          <p:cNvCxnSpPr/>
          <p:nvPr/>
        </p:nvCxnSpPr>
        <p:spPr>
          <a:xfrm flipH="1">
            <a:off x="5486400" y="3200400"/>
            <a:ext cx="685800" cy="1600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9" name="Google Shape;369;p11"/>
          <p:cNvCxnSpPr/>
          <p:nvPr/>
        </p:nvCxnSpPr>
        <p:spPr>
          <a:xfrm>
            <a:off x="5486400" y="5257800"/>
            <a:ext cx="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0" name="Google Shape;370;p11"/>
          <p:cNvCxnSpPr/>
          <p:nvPr/>
        </p:nvCxnSpPr>
        <p:spPr>
          <a:xfrm rot="10800000">
            <a:off x="6805395" y="4495800"/>
            <a:ext cx="814603" cy="692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1" name="Google Shape;371;p11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372" name="Google Shape;37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5829300"/>
            <a:ext cx="13716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2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Path Base Testing: Step 2</a:t>
            </a:r>
            <a:endParaRPr/>
          </a:p>
        </p:txBody>
      </p:sp>
      <p:sp>
        <p:nvSpPr>
          <p:cNvPr id="378" name="Google Shape;378;p12"/>
          <p:cNvSpPr txBox="1"/>
          <p:nvPr/>
        </p:nvSpPr>
        <p:spPr>
          <a:xfrm>
            <a:off x="609600" y="1219200"/>
            <a:ext cx="77470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1.  The complexity M is then defined as </a:t>
            </a:r>
            <a:endParaRPr/>
          </a:p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24"/>
              <a:buFont typeface="Noto Sans Symbols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        </a:t>
            </a:r>
            <a:r>
              <a:rPr b="1" i="0" lang="en-US" sz="2400" u="none" cap="none" strike="noStrike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M = R + 1</a:t>
            </a:r>
            <a:r>
              <a:rPr b="0" i="0" lang="en-US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,</a:t>
            </a:r>
            <a:endParaRPr/>
          </a:p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24"/>
              <a:buFont typeface="Noto Sans Symbol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where </a:t>
            </a:r>
            <a:r>
              <a:rPr b="0" i="1" lang="en-US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 </a:t>
            </a:r>
            <a:r>
              <a:rPr b="0" i="0" lang="en-US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= the number of regions in the graph. 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2.   The complexity M is then defined as </a:t>
            </a:r>
            <a:endParaRPr/>
          </a:p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24"/>
              <a:buFont typeface="Noto Sans Symbols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        </a:t>
            </a:r>
            <a:r>
              <a:rPr b="1" i="0" lang="en-US" sz="2400" u="none" cap="none" strike="noStrike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M = P + 1</a:t>
            </a:r>
            <a:r>
              <a:rPr b="0" i="0" lang="en-US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,</a:t>
            </a:r>
            <a:endParaRPr/>
          </a:p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24"/>
              <a:buFont typeface="Noto Sans Symbol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where </a:t>
            </a:r>
            <a:r>
              <a:rPr b="0" i="1" lang="en-US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 </a:t>
            </a:r>
            <a:r>
              <a:rPr b="0" i="0" lang="en-US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= the number of predicate nodes in the graph.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3.   The complexity M is then defined as </a:t>
            </a:r>
            <a:endParaRPr/>
          </a:p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24"/>
              <a:buFont typeface="Noto Sans Symbol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			</a:t>
            </a:r>
            <a:r>
              <a:rPr b="1" i="0" lang="en-US" sz="2400" u="none" cap="none" strike="noStrike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M = E − N + 2P</a:t>
            </a:r>
            <a:r>
              <a:rPr b="0" i="0" lang="en-US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,where </a:t>
            </a:r>
            <a:endParaRPr/>
          </a:p>
          <a:p>
            <a:pPr indent="-274320" lvl="1" marL="54864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520"/>
              <a:buFont typeface="Noto Sans Symbols"/>
              <a:buChar char="🞂"/>
            </a:pPr>
            <a:r>
              <a:rPr b="0" i="1" lang="en-US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 </a:t>
            </a:r>
            <a:r>
              <a:rPr b="0" i="0" lang="en-US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= the number of edges of the graph. </a:t>
            </a:r>
            <a:endParaRPr/>
          </a:p>
          <a:p>
            <a:pPr indent="-274320" lvl="1" marL="54864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520"/>
              <a:buFont typeface="Noto Sans Symbols"/>
              <a:buChar char="🞂"/>
            </a:pPr>
            <a:r>
              <a:rPr b="0" i="1" lang="en-US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 </a:t>
            </a:r>
            <a:r>
              <a:rPr b="0" i="0" lang="en-US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= the number of nodes of the graph. </a:t>
            </a:r>
            <a:endParaRPr/>
          </a:p>
          <a:p>
            <a:pPr indent="-274320" lvl="1" marL="54864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520"/>
              <a:buFont typeface="Noto Sans Symbols"/>
              <a:buChar char="🞂"/>
            </a:pPr>
            <a:r>
              <a:rPr b="0" i="1" lang="en-US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 </a:t>
            </a:r>
            <a:r>
              <a:rPr b="0" i="0" lang="en-US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= the number of connected components. </a:t>
            </a:r>
            <a:endParaRPr/>
          </a:p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/>
          </a:p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48844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79" name="Google Shape;379;p12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380" name="Google Shape;38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5829300"/>
            <a:ext cx="13716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8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8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8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8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3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Path Base Testing: Step 2</a:t>
            </a:r>
            <a:endParaRPr/>
          </a:p>
        </p:txBody>
      </p:sp>
      <p:grpSp>
        <p:nvGrpSpPr>
          <p:cNvPr id="387" name="Google Shape;387;p13"/>
          <p:cNvGrpSpPr/>
          <p:nvPr/>
        </p:nvGrpSpPr>
        <p:grpSpPr>
          <a:xfrm>
            <a:off x="457200" y="1676400"/>
            <a:ext cx="3581400" cy="4362450"/>
            <a:chOff x="3072" y="1104"/>
            <a:chExt cx="2400" cy="2748"/>
          </a:xfrm>
        </p:grpSpPr>
        <p:sp>
          <p:nvSpPr>
            <p:cNvPr id="388" name="Google Shape;388;p13"/>
            <p:cNvSpPr/>
            <p:nvPr/>
          </p:nvSpPr>
          <p:spPr>
            <a:xfrm>
              <a:off x="3072" y="1152"/>
              <a:ext cx="2400" cy="2700"/>
            </a:xfrm>
            <a:prstGeom prst="rect">
              <a:avLst/>
            </a:prstGeom>
            <a:solidFill>
              <a:srgbClr val="CCFFCC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89" name="Google Shape;389;p13"/>
            <p:cNvCxnSpPr/>
            <p:nvPr/>
          </p:nvCxnSpPr>
          <p:spPr>
            <a:xfrm>
              <a:off x="4080" y="1104"/>
              <a:ext cx="0" cy="2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90" name="Google Shape;390;p13"/>
            <p:cNvSpPr txBox="1"/>
            <p:nvPr/>
          </p:nvSpPr>
          <p:spPr>
            <a:xfrm>
              <a:off x="4176" y="3648"/>
              <a:ext cx="384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CFG</a:t>
              </a:r>
              <a:endParaRPr/>
            </a:p>
          </p:txBody>
        </p:sp>
        <p:sp>
          <p:nvSpPr>
            <p:cNvPr id="391" name="Google Shape;391;p13"/>
            <p:cNvSpPr/>
            <p:nvPr/>
          </p:nvSpPr>
          <p:spPr>
            <a:xfrm>
              <a:off x="3888" y="1344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392" name="Google Shape;392;p13"/>
            <p:cNvSpPr/>
            <p:nvPr/>
          </p:nvSpPr>
          <p:spPr>
            <a:xfrm>
              <a:off x="3888" y="1824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393" name="Google Shape;393;p13"/>
            <p:cNvCxnSpPr/>
            <p:nvPr/>
          </p:nvCxnSpPr>
          <p:spPr>
            <a:xfrm>
              <a:off x="4080" y="1632"/>
              <a:ext cx="0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94" name="Google Shape;394;p13"/>
            <p:cNvSpPr/>
            <p:nvPr/>
          </p:nvSpPr>
          <p:spPr>
            <a:xfrm>
              <a:off x="4368" y="2256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3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395" name="Google Shape;395;p13"/>
            <p:cNvSpPr txBox="1"/>
            <p:nvPr/>
          </p:nvSpPr>
          <p:spPr>
            <a:xfrm>
              <a:off x="4368" y="2064"/>
              <a:ext cx="28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  <p:sp>
          <p:nvSpPr>
            <p:cNvPr id="396" name="Google Shape;396;p13"/>
            <p:cNvSpPr txBox="1"/>
            <p:nvPr/>
          </p:nvSpPr>
          <p:spPr>
            <a:xfrm>
              <a:off x="3648" y="2064"/>
              <a:ext cx="28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/>
            </a:p>
          </p:txBody>
        </p:sp>
        <p:sp>
          <p:nvSpPr>
            <p:cNvPr id="397" name="Google Shape;397;p13"/>
            <p:cNvSpPr/>
            <p:nvPr/>
          </p:nvSpPr>
          <p:spPr>
            <a:xfrm>
              <a:off x="4752" y="2688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4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398" name="Google Shape;398;p13"/>
            <p:cNvCxnSpPr/>
            <p:nvPr/>
          </p:nvCxnSpPr>
          <p:spPr>
            <a:xfrm>
              <a:off x="4272" y="2016"/>
              <a:ext cx="213" cy="24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99" name="Google Shape;399;p13"/>
            <p:cNvCxnSpPr/>
            <p:nvPr/>
          </p:nvCxnSpPr>
          <p:spPr>
            <a:xfrm flipH="1">
              <a:off x="4272" y="2544"/>
              <a:ext cx="192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400" name="Google Shape;400;p13"/>
            <p:cNvSpPr/>
            <p:nvPr/>
          </p:nvSpPr>
          <p:spPr>
            <a:xfrm>
              <a:off x="4080" y="2688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5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401" name="Google Shape;401;p13"/>
            <p:cNvSpPr/>
            <p:nvPr/>
          </p:nvSpPr>
          <p:spPr>
            <a:xfrm>
              <a:off x="3312" y="3072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6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402" name="Google Shape;402;p13"/>
            <p:cNvSpPr txBox="1"/>
            <p:nvPr/>
          </p:nvSpPr>
          <p:spPr>
            <a:xfrm>
              <a:off x="4704" y="2496"/>
              <a:ext cx="28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  <p:cxnSp>
          <p:nvCxnSpPr>
            <p:cNvPr id="403" name="Google Shape;403;p13"/>
            <p:cNvCxnSpPr/>
            <p:nvPr/>
          </p:nvCxnSpPr>
          <p:spPr>
            <a:xfrm>
              <a:off x="4656" y="2544"/>
              <a:ext cx="192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404" name="Google Shape;404;p13"/>
            <p:cNvSpPr txBox="1"/>
            <p:nvPr/>
          </p:nvSpPr>
          <p:spPr>
            <a:xfrm>
              <a:off x="4128" y="2496"/>
              <a:ext cx="28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/>
            </a:p>
          </p:txBody>
        </p:sp>
        <p:cxnSp>
          <p:nvCxnSpPr>
            <p:cNvPr id="405" name="Google Shape;405;p13"/>
            <p:cNvCxnSpPr/>
            <p:nvPr/>
          </p:nvCxnSpPr>
          <p:spPr>
            <a:xfrm flipH="1">
              <a:off x="3504" y="2064"/>
              <a:ext cx="432" cy="100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06" name="Google Shape;406;p13"/>
            <p:cNvCxnSpPr/>
            <p:nvPr/>
          </p:nvCxnSpPr>
          <p:spPr>
            <a:xfrm>
              <a:off x="3504" y="3360"/>
              <a:ext cx="0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07" name="Google Shape;407;p13"/>
            <p:cNvCxnSpPr/>
            <p:nvPr/>
          </p:nvCxnSpPr>
          <p:spPr>
            <a:xfrm rot="10800000">
              <a:off x="4464" y="2880"/>
              <a:ext cx="28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08" name="Google Shape;408;p13"/>
            <p:cNvCxnSpPr/>
            <p:nvPr/>
          </p:nvCxnSpPr>
          <p:spPr>
            <a:xfrm rot="10800000">
              <a:off x="4080" y="2112"/>
              <a:ext cx="0" cy="67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409" name="Google Shape;409;p13"/>
          <p:cNvSpPr txBox="1"/>
          <p:nvPr>
            <p:ph idx="1" type="body"/>
          </p:nvPr>
        </p:nvSpPr>
        <p:spPr>
          <a:xfrm>
            <a:off x="4213325" y="2768150"/>
            <a:ext cx="5029200" cy="51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1976"/>
              <a:buChar char="🞂"/>
            </a:pPr>
            <a:r>
              <a:rPr lang="en-US" sz="2600"/>
              <a:t>Cyclomatic complexity = </a:t>
            </a:r>
            <a:endParaRPr/>
          </a:p>
          <a:p>
            <a:pPr indent="-274320" lvl="1" marL="548640" rtl="0" algn="l">
              <a:spcBef>
                <a:spcPts val="500"/>
              </a:spcBef>
              <a:spcAft>
                <a:spcPts val="0"/>
              </a:spcAft>
              <a:buSzPts val="1824"/>
              <a:buChar char="🞂"/>
            </a:pPr>
            <a:r>
              <a:rPr lang="en-US" sz="2400"/>
              <a:t>The number of ‘regions’ in the graph( R )  + 1</a:t>
            </a:r>
            <a:endParaRPr sz="2400"/>
          </a:p>
          <a:p>
            <a:pPr indent="-339852" lvl="1" marL="548640" rtl="0" algn="l">
              <a:spcBef>
                <a:spcPts val="600"/>
              </a:spcBef>
              <a:spcAft>
                <a:spcPts val="0"/>
              </a:spcAft>
              <a:buSzPts val="2400"/>
              <a:buChar char="🞂"/>
            </a:pPr>
            <a:r>
              <a:rPr b="1" lang="en-US" sz="2400">
                <a:solidFill>
                  <a:srgbClr val="0070C0"/>
                </a:solidFill>
              </a:rPr>
              <a:t>M = R + 1</a:t>
            </a:r>
            <a:endParaRPr sz="2400">
              <a:solidFill>
                <a:schemeClr val="dk1"/>
              </a:solidFill>
            </a:endParaRPr>
          </a:p>
          <a:p>
            <a:pPr indent="-274319" lvl="1" marL="548640" rtl="0" algn="l">
              <a:spcBef>
                <a:spcPts val="500"/>
              </a:spcBef>
              <a:spcAft>
                <a:spcPts val="0"/>
              </a:spcAft>
              <a:buSzPts val="1824"/>
              <a:buChar char="🞂"/>
            </a:pPr>
            <a:r>
              <a:rPr lang="en-US" sz="2400"/>
              <a:t> </a:t>
            </a:r>
            <a:endParaRPr/>
          </a:p>
        </p:txBody>
      </p:sp>
      <p:sp>
        <p:nvSpPr>
          <p:cNvPr id="410" name="Google Shape;410;p13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411" name="Google Shape;41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5829300"/>
            <a:ext cx="13716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4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Path Base Testing: Step 2</a:t>
            </a:r>
            <a:endParaRPr/>
          </a:p>
        </p:txBody>
      </p:sp>
      <p:sp>
        <p:nvSpPr>
          <p:cNvPr id="418" name="Google Shape;418;p14"/>
          <p:cNvSpPr txBox="1"/>
          <p:nvPr>
            <p:ph idx="1" type="body"/>
          </p:nvPr>
        </p:nvSpPr>
        <p:spPr>
          <a:xfrm>
            <a:off x="4682836" y="2628900"/>
            <a:ext cx="502920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1976"/>
              <a:buChar char="🞂"/>
            </a:pPr>
            <a:r>
              <a:rPr lang="en-US" sz="2600"/>
              <a:t>Cyclomatic complexity, M = </a:t>
            </a:r>
            <a:endParaRPr/>
          </a:p>
          <a:p>
            <a:pPr indent="-274319" lvl="1" marL="548640" rtl="0" algn="l">
              <a:spcBef>
                <a:spcPts val="500"/>
              </a:spcBef>
              <a:spcAft>
                <a:spcPts val="0"/>
              </a:spcAft>
              <a:buSzPts val="1824"/>
              <a:buChar char="🞂"/>
            </a:pPr>
            <a:r>
              <a:rPr lang="en-US" sz="2400"/>
              <a:t>The number of ‘regions’ in the graph( R )  + 1</a:t>
            </a:r>
            <a:endParaRPr/>
          </a:p>
          <a:p>
            <a:pPr indent="-274319" lvl="1" marL="548640" rtl="0" algn="l">
              <a:spcBef>
                <a:spcPts val="500"/>
              </a:spcBef>
              <a:spcAft>
                <a:spcPts val="0"/>
              </a:spcAft>
              <a:buSzPts val="1824"/>
              <a:buChar char="🞂"/>
            </a:pPr>
            <a:r>
              <a:rPr lang="en-US" sz="2400"/>
              <a:t> = 2 +1 = 3</a:t>
            </a:r>
            <a:endParaRPr/>
          </a:p>
        </p:txBody>
      </p:sp>
      <p:grpSp>
        <p:nvGrpSpPr>
          <p:cNvPr id="419" name="Google Shape;419;p14"/>
          <p:cNvGrpSpPr/>
          <p:nvPr/>
        </p:nvGrpSpPr>
        <p:grpSpPr>
          <a:xfrm>
            <a:off x="838200" y="1676400"/>
            <a:ext cx="3810000" cy="4416425"/>
            <a:chOff x="3072" y="1056"/>
            <a:chExt cx="2400" cy="2782"/>
          </a:xfrm>
        </p:grpSpPr>
        <p:sp>
          <p:nvSpPr>
            <p:cNvPr id="420" name="Google Shape;420;p14"/>
            <p:cNvSpPr/>
            <p:nvPr/>
          </p:nvSpPr>
          <p:spPr>
            <a:xfrm>
              <a:off x="3072" y="1056"/>
              <a:ext cx="2400" cy="2782"/>
            </a:xfrm>
            <a:prstGeom prst="rect">
              <a:avLst/>
            </a:prstGeom>
            <a:solidFill>
              <a:srgbClr val="CCFFCC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21" name="Google Shape;421;p14"/>
            <p:cNvCxnSpPr/>
            <p:nvPr/>
          </p:nvCxnSpPr>
          <p:spPr>
            <a:xfrm>
              <a:off x="4080" y="1104"/>
              <a:ext cx="0" cy="2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422" name="Google Shape;422;p14"/>
            <p:cNvSpPr txBox="1"/>
            <p:nvPr/>
          </p:nvSpPr>
          <p:spPr>
            <a:xfrm>
              <a:off x="4176" y="3648"/>
              <a:ext cx="384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CFG</a:t>
              </a:r>
              <a:endParaRPr/>
            </a:p>
          </p:txBody>
        </p:sp>
        <p:sp>
          <p:nvSpPr>
            <p:cNvPr id="423" name="Google Shape;423;p14"/>
            <p:cNvSpPr/>
            <p:nvPr/>
          </p:nvSpPr>
          <p:spPr>
            <a:xfrm>
              <a:off x="3888" y="1344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424" name="Google Shape;424;p14"/>
            <p:cNvSpPr/>
            <p:nvPr/>
          </p:nvSpPr>
          <p:spPr>
            <a:xfrm>
              <a:off x="3888" y="1824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425" name="Google Shape;425;p14"/>
            <p:cNvCxnSpPr/>
            <p:nvPr/>
          </p:nvCxnSpPr>
          <p:spPr>
            <a:xfrm>
              <a:off x="4080" y="1632"/>
              <a:ext cx="0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426" name="Google Shape;426;p14"/>
            <p:cNvSpPr/>
            <p:nvPr/>
          </p:nvSpPr>
          <p:spPr>
            <a:xfrm>
              <a:off x="4368" y="2256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3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427" name="Google Shape;427;p14"/>
            <p:cNvSpPr txBox="1"/>
            <p:nvPr/>
          </p:nvSpPr>
          <p:spPr>
            <a:xfrm>
              <a:off x="4368" y="2064"/>
              <a:ext cx="28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  <p:sp>
          <p:nvSpPr>
            <p:cNvPr id="428" name="Google Shape;428;p14"/>
            <p:cNvSpPr txBox="1"/>
            <p:nvPr/>
          </p:nvSpPr>
          <p:spPr>
            <a:xfrm>
              <a:off x="3648" y="2064"/>
              <a:ext cx="28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/>
            </a:p>
          </p:txBody>
        </p:sp>
        <p:sp>
          <p:nvSpPr>
            <p:cNvPr id="429" name="Google Shape;429;p14"/>
            <p:cNvSpPr/>
            <p:nvPr/>
          </p:nvSpPr>
          <p:spPr>
            <a:xfrm>
              <a:off x="4752" y="2688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4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430" name="Google Shape;430;p14"/>
            <p:cNvCxnSpPr/>
            <p:nvPr/>
          </p:nvCxnSpPr>
          <p:spPr>
            <a:xfrm>
              <a:off x="4272" y="2016"/>
              <a:ext cx="213" cy="24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31" name="Google Shape;431;p14"/>
            <p:cNvCxnSpPr/>
            <p:nvPr/>
          </p:nvCxnSpPr>
          <p:spPr>
            <a:xfrm flipH="1">
              <a:off x="4272" y="2544"/>
              <a:ext cx="192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432" name="Google Shape;432;p14"/>
            <p:cNvSpPr/>
            <p:nvPr/>
          </p:nvSpPr>
          <p:spPr>
            <a:xfrm>
              <a:off x="4080" y="2688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5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433" name="Google Shape;433;p14"/>
            <p:cNvSpPr/>
            <p:nvPr/>
          </p:nvSpPr>
          <p:spPr>
            <a:xfrm>
              <a:off x="3312" y="3072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6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434" name="Google Shape;434;p14"/>
            <p:cNvSpPr txBox="1"/>
            <p:nvPr/>
          </p:nvSpPr>
          <p:spPr>
            <a:xfrm>
              <a:off x="4704" y="2496"/>
              <a:ext cx="28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  <p:cxnSp>
          <p:nvCxnSpPr>
            <p:cNvPr id="435" name="Google Shape;435;p14"/>
            <p:cNvCxnSpPr/>
            <p:nvPr/>
          </p:nvCxnSpPr>
          <p:spPr>
            <a:xfrm>
              <a:off x="4656" y="2544"/>
              <a:ext cx="192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436" name="Google Shape;436;p14"/>
            <p:cNvSpPr txBox="1"/>
            <p:nvPr/>
          </p:nvSpPr>
          <p:spPr>
            <a:xfrm>
              <a:off x="4128" y="2496"/>
              <a:ext cx="28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/>
            </a:p>
          </p:txBody>
        </p:sp>
        <p:cxnSp>
          <p:nvCxnSpPr>
            <p:cNvPr id="437" name="Google Shape;437;p14"/>
            <p:cNvCxnSpPr/>
            <p:nvPr/>
          </p:nvCxnSpPr>
          <p:spPr>
            <a:xfrm flipH="1">
              <a:off x="3504" y="2064"/>
              <a:ext cx="432" cy="100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38" name="Google Shape;438;p14"/>
            <p:cNvCxnSpPr/>
            <p:nvPr/>
          </p:nvCxnSpPr>
          <p:spPr>
            <a:xfrm>
              <a:off x="3504" y="3360"/>
              <a:ext cx="0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39" name="Google Shape;439;p14"/>
            <p:cNvCxnSpPr/>
            <p:nvPr/>
          </p:nvCxnSpPr>
          <p:spPr>
            <a:xfrm rot="10800000">
              <a:off x="4464" y="2880"/>
              <a:ext cx="28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40" name="Google Shape;440;p14"/>
            <p:cNvCxnSpPr/>
            <p:nvPr/>
          </p:nvCxnSpPr>
          <p:spPr>
            <a:xfrm rot="10800000">
              <a:off x="4080" y="2112"/>
              <a:ext cx="0" cy="67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441" name="Google Shape;441;p14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442" name="Google Shape;44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5829300"/>
            <a:ext cx="13716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5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Path Base Testing: Step 2</a:t>
            </a:r>
            <a:endParaRPr/>
          </a:p>
        </p:txBody>
      </p:sp>
      <p:grpSp>
        <p:nvGrpSpPr>
          <p:cNvPr id="449" name="Google Shape;449;p15"/>
          <p:cNvGrpSpPr/>
          <p:nvPr/>
        </p:nvGrpSpPr>
        <p:grpSpPr>
          <a:xfrm>
            <a:off x="838200" y="1676400"/>
            <a:ext cx="3810000" cy="4416425"/>
            <a:chOff x="3072" y="1056"/>
            <a:chExt cx="2400" cy="2782"/>
          </a:xfrm>
        </p:grpSpPr>
        <p:sp>
          <p:nvSpPr>
            <p:cNvPr id="450" name="Google Shape;450;p15"/>
            <p:cNvSpPr/>
            <p:nvPr/>
          </p:nvSpPr>
          <p:spPr>
            <a:xfrm>
              <a:off x="3072" y="1056"/>
              <a:ext cx="2400" cy="2782"/>
            </a:xfrm>
            <a:prstGeom prst="rect">
              <a:avLst/>
            </a:prstGeom>
            <a:solidFill>
              <a:srgbClr val="CCFFCC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51" name="Google Shape;451;p15"/>
            <p:cNvCxnSpPr/>
            <p:nvPr/>
          </p:nvCxnSpPr>
          <p:spPr>
            <a:xfrm>
              <a:off x="4080" y="1104"/>
              <a:ext cx="0" cy="2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452" name="Google Shape;452;p15"/>
            <p:cNvSpPr txBox="1"/>
            <p:nvPr/>
          </p:nvSpPr>
          <p:spPr>
            <a:xfrm>
              <a:off x="4176" y="3648"/>
              <a:ext cx="384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CFG</a:t>
              </a:r>
              <a:endParaRPr/>
            </a:p>
          </p:txBody>
        </p:sp>
        <p:sp>
          <p:nvSpPr>
            <p:cNvPr id="453" name="Google Shape;453;p15"/>
            <p:cNvSpPr/>
            <p:nvPr/>
          </p:nvSpPr>
          <p:spPr>
            <a:xfrm>
              <a:off x="3888" y="1344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454" name="Google Shape;454;p15"/>
            <p:cNvSpPr/>
            <p:nvPr/>
          </p:nvSpPr>
          <p:spPr>
            <a:xfrm>
              <a:off x="3888" y="1824"/>
              <a:ext cx="384" cy="294"/>
            </a:xfrm>
            <a:prstGeom prst="ellipse">
              <a:avLst/>
            </a:prstGeom>
            <a:solidFill>
              <a:srgbClr val="339966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455" name="Google Shape;455;p15"/>
            <p:cNvCxnSpPr/>
            <p:nvPr/>
          </p:nvCxnSpPr>
          <p:spPr>
            <a:xfrm>
              <a:off x="4080" y="1632"/>
              <a:ext cx="0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456" name="Google Shape;456;p15"/>
            <p:cNvSpPr/>
            <p:nvPr/>
          </p:nvSpPr>
          <p:spPr>
            <a:xfrm>
              <a:off x="4416" y="2256"/>
              <a:ext cx="300" cy="300"/>
            </a:xfrm>
            <a:prstGeom prst="ellipse">
              <a:avLst/>
            </a:prstGeom>
            <a:solidFill>
              <a:srgbClr val="339966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3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457" name="Google Shape;457;p15"/>
            <p:cNvSpPr txBox="1"/>
            <p:nvPr/>
          </p:nvSpPr>
          <p:spPr>
            <a:xfrm>
              <a:off x="4368" y="2064"/>
              <a:ext cx="28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  <p:sp>
          <p:nvSpPr>
            <p:cNvPr id="458" name="Google Shape;458;p15"/>
            <p:cNvSpPr txBox="1"/>
            <p:nvPr/>
          </p:nvSpPr>
          <p:spPr>
            <a:xfrm>
              <a:off x="3648" y="2064"/>
              <a:ext cx="28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/>
            </a:p>
          </p:txBody>
        </p:sp>
        <p:sp>
          <p:nvSpPr>
            <p:cNvPr id="459" name="Google Shape;459;p15"/>
            <p:cNvSpPr/>
            <p:nvPr/>
          </p:nvSpPr>
          <p:spPr>
            <a:xfrm>
              <a:off x="4752" y="2688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4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460" name="Google Shape;460;p15"/>
            <p:cNvCxnSpPr/>
            <p:nvPr/>
          </p:nvCxnSpPr>
          <p:spPr>
            <a:xfrm>
              <a:off x="4272" y="2016"/>
              <a:ext cx="213" cy="24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61" name="Google Shape;461;p15"/>
            <p:cNvCxnSpPr/>
            <p:nvPr/>
          </p:nvCxnSpPr>
          <p:spPr>
            <a:xfrm flipH="1">
              <a:off x="4272" y="2544"/>
              <a:ext cx="192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462" name="Google Shape;462;p15"/>
            <p:cNvSpPr/>
            <p:nvPr/>
          </p:nvSpPr>
          <p:spPr>
            <a:xfrm>
              <a:off x="4080" y="2688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5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463" name="Google Shape;463;p15"/>
            <p:cNvSpPr/>
            <p:nvPr/>
          </p:nvSpPr>
          <p:spPr>
            <a:xfrm>
              <a:off x="3312" y="3072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6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464" name="Google Shape;464;p15"/>
            <p:cNvSpPr txBox="1"/>
            <p:nvPr/>
          </p:nvSpPr>
          <p:spPr>
            <a:xfrm>
              <a:off x="4704" y="2496"/>
              <a:ext cx="28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  <p:cxnSp>
          <p:nvCxnSpPr>
            <p:cNvPr id="465" name="Google Shape;465;p15"/>
            <p:cNvCxnSpPr/>
            <p:nvPr/>
          </p:nvCxnSpPr>
          <p:spPr>
            <a:xfrm>
              <a:off x="4656" y="2544"/>
              <a:ext cx="192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466" name="Google Shape;466;p15"/>
            <p:cNvSpPr txBox="1"/>
            <p:nvPr/>
          </p:nvSpPr>
          <p:spPr>
            <a:xfrm>
              <a:off x="4128" y="2496"/>
              <a:ext cx="28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/>
            </a:p>
          </p:txBody>
        </p:sp>
        <p:cxnSp>
          <p:nvCxnSpPr>
            <p:cNvPr id="467" name="Google Shape;467;p15"/>
            <p:cNvCxnSpPr/>
            <p:nvPr/>
          </p:nvCxnSpPr>
          <p:spPr>
            <a:xfrm flipH="1">
              <a:off x="3504" y="2064"/>
              <a:ext cx="432" cy="100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68" name="Google Shape;468;p15"/>
            <p:cNvCxnSpPr/>
            <p:nvPr/>
          </p:nvCxnSpPr>
          <p:spPr>
            <a:xfrm>
              <a:off x="3504" y="3360"/>
              <a:ext cx="0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69" name="Google Shape;469;p15"/>
            <p:cNvCxnSpPr/>
            <p:nvPr/>
          </p:nvCxnSpPr>
          <p:spPr>
            <a:xfrm rot="10800000">
              <a:off x="4464" y="2880"/>
              <a:ext cx="28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70" name="Google Shape;470;p15"/>
            <p:cNvCxnSpPr/>
            <p:nvPr/>
          </p:nvCxnSpPr>
          <p:spPr>
            <a:xfrm rot="10800000">
              <a:off x="4080" y="2112"/>
              <a:ext cx="0" cy="67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471" name="Google Shape;471;p15"/>
          <p:cNvSpPr txBox="1"/>
          <p:nvPr>
            <p:ph idx="1" type="body"/>
          </p:nvPr>
        </p:nvSpPr>
        <p:spPr>
          <a:xfrm>
            <a:off x="4800600" y="1752600"/>
            <a:ext cx="39624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1596"/>
              <a:buChar char="🞂"/>
            </a:pPr>
            <a:r>
              <a:rPr lang="en-US" sz="2100"/>
              <a:t>M = Number of ‘predicate’ node (P) + 1</a:t>
            </a:r>
            <a:endParaRPr/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ts val="1596"/>
              <a:buChar char="🞂"/>
            </a:pPr>
            <a:r>
              <a:rPr lang="en-US" sz="2100"/>
              <a:t>In this example:</a:t>
            </a:r>
            <a:endParaRPr/>
          </a:p>
          <a:p>
            <a:pPr indent="-274320" lvl="1" marL="548640" rtl="0" algn="l">
              <a:spcBef>
                <a:spcPts val="500"/>
              </a:spcBef>
              <a:spcAft>
                <a:spcPts val="0"/>
              </a:spcAft>
              <a:buSzPts val="1520"/>
              <a:buChar char="🞂"/>
            </a:pPr>
            <a:r>
              <a:rPr lang="en-US" sz="2000"/>
              <a:t>Predicates, P = 2 </a:t>
            </a:r>
            <a:endParaRPr/>
          </a:p>
          <a:p>
            <a:pPr indent="-228600" lvl="2" marL="822960" rtl="0" algn="l">
              <a:spcBef>
                <a:spcPts val="500"/>
              </a:spcBef>
              <a:spcAft>
                <a:spcPts val="0"/>
              </a:spcAft>
              <a:buSzPts val="1368"/>
              <a:buChar char="🞂"/>
            </a:pPr>
            <a:r>
              <a:rPr lang="en-US" sz="1800"/>
              <a:t>(Node 2 and 3)</a:t>
            </a:r>
            <a:endParaRPr/>
          </a:p>
          <a:p>
            <a:pPr indent="-274320" lvl="1" marL="548640" rtl="0" algn="l">
              <a:spcBef>
                <a:spcPts val="500"/>
              </a:spcBef>
              <a:spcAft>
                <a:spcPts val="0"/>
              </a:spcAft>
              <a:buSzPts val="1520"/>
              <a:buChar char="🞂"/>
            </a:pPr>
            <a:r>
              <a:rPr lang="en-US" sz="2000"/>
              <a:t>Cyclomatic Complexity, M </a:t>
            </a:r>
            <a:endParaRPr/>
          </a:p>
          <a:p>
            <a:pPr indent="-274320" lvl="1" marL="548640" rtl="0" algn="l">
              <a:spcBef>
                <a:spcPts val="500"/>
              </a:spcBef>
              <a:spcAft>
                <a:spcPts val="0"/>
              </a:spcAft>
              <a:buSzPts val="1520"/>
              <a:buFont typeface="Noto Sans Symbols"/>
              <a:buNone/>
            </a:pPr>
            <a:r>
              <a:rPr lang="en-US" sz="2000"/>
              <a:t>	= 2 + 1</a:t>
            </a:r>
            <a:endParaRPr/>
          </a:p>
          <a:p>
            <a:pPr indent="-274320" lvl="1" marL="548640" rtl="0" algn="l">
              <a:spcBef>
                <a:spcPts val="500"/>
              </a:spcBef>
              <a:spcAft>
                <a:spcPts val="0"/>
              </a:spcAft>
              <a:buSzPts val="1520"/>
              <a:buFont typeface="Noto Sans Symbols"/>
              <a:buNone/>
            </a:pPr>
            <a:r>
              <a:rPr lang="en-US" sz="2000"/>
              <a:t>    = 3</a:t>
            </a:r>
            <a:endParaRPr sz="2200"/>
          </a:p>
        </p:txBody>
      </p:sp>
      <p:sp>
        <p:nvSpPr>
          <p:cNvPr id="472" name="Google Shape;472;p15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473" name="Google Shape;47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5829300"/>
            <a:ext cx="13716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16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Path Base Testing: Step 2</a:t>
            </a:r>
            <a:endParaRPr/>
          </a:p>
        </p:txBody>
      </p:sp>
      <p:pic>
        <p:nvPicPr>
          <p:cNvPr id="479" name="Google Shape;479;p1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7800" y="1828800"/>
            <a:ext cx="6019800" cy="419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16"/>
          <p:cNvSpPr txBox="1"/>
          <p:nvPr/>
        </p:nvSpPr>
        <p:spPr>
          <a:xfrm>
            <a:off x="2667000" y="1288473"/>
            <a:ext cx="35487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Connected Components in a Graph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81" name="Google Shape;481;p16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482" name="Google Shape;48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72400" y="5829300"/>
            <a:ext cx="13716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17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Path Base Testing: Step 2</a:t>
            </a:r>
            <a:endParaRPr/>
          </a:p>
        </p:txBody>
      </p:sp>
      <p:grpSp>
        <p:nvGrpSpPr>
          <p:cNvPr id="489" name="Google Shape;489;p17"/>
          <p:cNvGrpSpPr/>
          <p:nvPr/>
        </p:nvGrpSpPr>
        <p:grpSpPr>
          <a:xfrm>
            <a:off x="457200" y="1524000"/>
            <a:ext cx="3581400" cy="4591050"/>
            <a:chOff x="3072" y="1056"/>
            <a:chExt cx="2400" cy="2892"/>
          </a:xfrm>
        </p:grpSpPr>
        <p:sp>
          <p:nvSpPr>
            <p:cNvPr id="490" name="Google Shape;490;p17"/>
            <p:cNvSpPr/>
            <p:nvPr/>
          </p:nvSpPr>
          <p:spPr>
            <a:xfrm>
              <a:off x="3072" y="1056"/>
              <a:ext cx="2400" cy="2782"/>
            </a:xfrm>
            <a:prstGeom prst="rect">
              <a:avLst/>
            </a:prstGeom>
            <a:solidFill>
              <a:srgbClr val="CCFFCC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91" name="Google Shape;491;p17"/>
            <p:cNvCxnSpPr/>
            <p:nvPr/>
          </p:nvCxnSpPr>
          <p:spPr>
            <a:xfrm>
              <a:off x="4080" y="1104"/>
              <a:ext cx="0" cy="2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492" name="Google Shape;492;p17"/>
            <p:cNvSpPr txBox="1"/>
            <p:nvPr/>
          </p:nvSpPr>
          <p:spPr>
            <a:xfrm>
              <a:off x="4176" y="3648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CFG</a:t>
              </a:r>
              <a:endParaRPr/>
            </a:p>
          </p:txBody>
        </p:sp>
        <p:sp>
          <p:nvSpPr>
            <p:cNvPr id="493" name="Google Shape;493;p17"/>
            <p:cNvSpPr/>
            <p:nvPr/>
          </p:nvSpPr>
          <p:spPr>
            <a:xfrm>
              <a:off x="3888" y="1344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5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494" name="Google Shape;494;p17"/>
            <p:cNvSpPr/>
            <p:nvPr/>
          </p:nvSpPr>
          <p:spPr>
            <a:xfrm>
              <a:off x="3888" y="1824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5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sz="2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495" name="Google Shape;495;p17"/>
            <p:cNvCxnSpPr/>
            <p:nvPr/>
          </p:nvCxnSpPr>
          <p:spPr>
            <a:xfrm>
              <a:off x="4080" y="1632"/>
              <a:ext cx="0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496" name="Google Shape;496;p17"/>
            <p:cNvSpPr/>
            <p:nvPr/>
          </p:nvSpPr>
          <p:spPr>
            <a:xfrm>
              <a:off x="4368" y="2256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5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3</a:t>
              </a:r>
              <a:endParaRPr sz="2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497" name="Google Shape;497;p17"/>
            <p:cNvSpPr txBox="1"/>
            <p:nvPr/>
          </p:nvSpPr>
          <p:spPr>
            <a:xfrm>
              <a:off x="4368" y="2064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  <p:sp>
          <p:nvSpPr>
            <p:cNvPr id="498" name="Google Shape;498;p17"/>
            <p:cNvSpPr txBox="1"/>
            <p:nvPr/>
          </p:nvSpPr>
          <p:spPr>
            <a:xfrm>
              <a:off x="3648" y="2064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/>
            </a:p>
          </p:txBody>
        </p:sp>
        <p:sp>
          <p:nvSpPr>
            <p:cNvPr id="499" name="Google Shape;499;p17"/>
            <p:cNvSpPr/>
            <p:nvPr/>
          </p:nvSpPr>
          <p:spPr>
            <a:xfrm>
              <a:off x="4752" y="2688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5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4</a:t>
              </a:r>
              <a:endParaRPr sz="2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500" name="Google Shape;500;p17"/>
            <p:cNvCxnSpPr/>
            <p:nvPr/>
          </p:nvCxnSpPr>
          <p:spPr>
            <a:xfrm>
              <a:off x="4272" y="2016"/>
              <a:ext cx="213" cy="24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01" name="Google Shape;501;p17"/>
            <p:cNvCxnSpPr/>
            <p:nvPr/>
          </p:nvCxnSpPr>
          <p:spPr>
            <a:xfrm flipH="1">
              <a:off x="4272" y="2544"/>
              <a:ext cx="192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02" name="Google Shape;502;p17"/>
            <p:cNvSpPr/>
            <p:nvPr/>
          </p:nvSpPr>
          <p:spPr>
            <a:xfrm>
              <a:off x="4080" y="2688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5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5</a:t>
              </a:r>
              <a:endParaRPr sz="2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503" name="Google Shape;503;p17"/>
            <p:cNvSpPr/>
            <p:nvPr/>
          </p:nvSpPr>
          <p:spPr>
            <a:xfrm>
              <a:off x="3312" y="3072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5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6</a:t>
              </a:r>
              <a:endParaRPr sz="2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504" name="Google Shape;504;p17"/>
            <p:cNvSpPr txBox="1"/>
            <p:nvPr/>
          </p:nvSpPr>
          <p:spPr>
            <a:xfrm>
              <a:off x="4704" y="2496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  <p:cxnSp>
          <p:nvCxnSpPr>
            <p:cNvPr id="505" name="Google Shape;505;p17"/>
            <p:cNvCxnSpPr/>
            <p:nvPr/>
          </p:nvCxnSpPr>
          <p:spPr>
            <a:xfrm>
              <a:off x="4656" y="2544"/>
              <a:ext cx="192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06" name="Google Shape;506;p17"/>
            <p:cNvSpPr txBox="1"/>
            <p:nvPr/>
          </p:nvSpPr>
          <p:spPr>
            <a:xfrm>
              <a:off x="4128" y="2496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/>
            </a:p>
          </p:txBody>
        </p:sp>
        <p:cxnSp>
          <p:nvCxnSpPr>
            <p:cNvPr id="507" name="Google Shape;507;p17"/>
            <p:cNvCxnSpPr/>
            <p:nvPr/>
          </p:nvCxnSpPr>
          <p:spPr>
            <a:xfrm flipH="1">
              <a:off x="3504" y="2064"/>
              <a:ext cx="432" cy="100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08" name="Google Shape;508;p17"/>
            <p:cNvCxnSpPr/>
            <p:nvPr/>
          </p:nvCxnSpPr>
          <p:spPr>
            <a:xfrm>
              <a:off x="3504" y="3360"/>
              <a:ext cx="0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09" name="Google Shape;509;p17"/>
            <p:cNvCxnSpPr/>
            <p:nvPr/>
          </p:nvCxnSpPr>
          <p:spPr>
            <a:xfrm rot="10800000">
              <a:off x="4464" y="2880"/>
              <a:ext cx="28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10" name="Google Shape;510;p17"/>
            <p:cNvCxnSpPr/>
            <p:nvPr/>
          </p:nvCxnSpPr>
          <p:spPr>
            <a:xfrm rot="10800000">
              <a:off x="4080" y="2112"/>
              <a:ext cx="0" cy="67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511" name="Google Shape;511;p17"/>
          <p:cNvSpPr txBox="1"/>
          <p:nvPr>
            <p:ph idx="1" type="body"/>
          </p:nvPr>
        </p:nvSpPr>
        <p:spPr>
          <a:xfrm>
            <a:off x="4114800" y="2590800"/>
            <a:ext cx="502920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ct val="76000"/>
              <a:buChar char="🞂"/>
            </a:pPr>
            <a:r>
              <a:rPr lang="en-US" sz="2600"/>
              <a:t>Cyclomatic complexity, M = </a:t>
            </a:r>
            <a:r>
              <a:rPr b="1" lang="en-US" sz="2400">
                <a:solidFill>
                  <a:srgbClr val="0070C0"/>
                </a:solidFill>
              </a:rPr>
              <a:t>E − N + 2P</a:t>
            </a:r>
            <a:r>
              <a:rPr lang="en-US" sz="2400"/>
              <a:t> </a:t>
            </a:r>
            <a:endParaRPr/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ct val="76000"/>
              <a:buChar char="🞂"/>
            </a:pPr>
            <a:r>
              <a:rPr lang="en-US" sz="2400"/>
              <a:t>E, edges = 7</a:t>
            </a:r>
            <a:endParaRPr/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ct val="76000"/>
              <a:buChar char="🞂"/>
            </a:pPr>
            <a:r>
              <a:rPr lang="en-US" sz="2400"/>
              <a:t>N, nodes = 6</a:t>
            </a:r>
            <a:endParaRPr/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ct val="76000"/>
              <a:buChar char="🞂"/>
            </a:pPr>
            <a:r>
              <a:rPr lang="en-US" sz="2400"/>
              <a:t>P, connected components = 1</a:t>
            </a:r>
            <a:endParaRPr/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ct val="76000"/>
              <a:buChar char="🞂"/>
            </a:pPr>
            <a:r>
              <a:rPr lang="en-US" sz="2400"/>
              <a:t>= 7 – 6 + (2x1)</a:t>
            </a:r>
            <a:endParaRPr/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ct val="76000"/>
              <a:buChar char="🞂"/>
            </a:pPr>
            <a:r>
              <a:rPr lang="en-US" sz="2400"/>
              <a:t>= 3</a:t>
            </a:r>
            <a:endParaRPr/>
          </a:p>
        </p:txBody>
      </p:sp>
      <p:sp>
        <p:nvSpPr>
          <p:cNvPr id="512" name="Google Shape;512;p17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513" name="Google Shape;51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5829300"/>
            <a:ext cx="13716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18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Path Base Testing: Step 3</a:t>
            </a:r>
            <a:endParaRPr/>
          </a:p>
        </p:txBody>
      </p:sp>
      <p:sp>
        <p:nvSpPr>
          <p:cNvPr id="520" name="Google Shape;520;p18"/>
          <p:cNvSpPr txBox="1"/>
          <p:nvPr>
            <p:ph idx="1" type="body"/>
          </p:nvPr>
        </p:nvSpPr>
        <p:spPr>
          <a:xfrm>
            <a:off x="457200" y="1143000"/>
            <a:ext cx="8686800" cy="4987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76"/>
              <a:buChar char="🞂"/>
            </a:pPr>
            <a:r>
              <a:rPr lang="en-US" sz="2600"/>
              <a:t>Independent path: </a:t>
            </a:r>
            <a:endParaRPr/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72"/>
              <a:buChar char="🞂"/>
            </a:pPr>
            <a:r>
              <a:rPr lang="en-US" sz="2200"/>
              <a:t>An </a:t>
            </a:r>
            <a:r>
              <a:rPr b="1" lang="en-US" sz="2200"/>
              <a:t>executable </a:t>
            </a:r>
            <a:r>
              <a:rPr lang="en-US" sz="2200"/>
              <a:t>or</a:t>
            </a:r>
            <a:r>
              <a:rPr b="1" lang="en-US" sz="2200"/>
              <a:t> realizable path</a:t>
            </a:r>
            <a:r>
              <a:rPr lang="en-US" sz="2200"/>
              <a:t> through the graph from the start node to the end node that has not been traversed before.</a:t>
            </a:r>
            <a:endParaRPr/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72"/>
              <a:buChar char="🞂"/>
            </a:pPr>
            <a:r>
              <a:rPr b="1" lang="en-US" sz="2200"/>
              <a:t>Must </a:t>
            </a:r>
            <a:r>
              <a:rPr lang="en-US" sz="2200"/>
              <a:t>move along </a:t>
            </a:r>
            <a:r>
              <a:rPr b="1" lang="en-US" sz="2200"/>
              <a:t>at least one arc</a:t>
            </a:r>
            <a:r>
              <a:rPr lang="en-US" sz="2200"/>
              <a:t> that has not been yet traversed (an unvisited arc).</a:t>
            </a:r>
            <a:endParaRPr/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72"/>
              <a:buChar char="🞂"/>
            </a:pPr>
            <a:r>
              <a:rPr lang="en-US" sz="2200"/>
              <a:t>The objective is to cover all statements in a program by independent paths.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976"/>
              <a:buChar char="🞂"/>
            </a:pPr>
            <a:r>
              <a:rPr lang="en-US" sz="2600"/>
              <a:t>The number of independent paths to discover &lt;= </a:t>
            </a:r>
            <a:r>
              <a:rPr lang="en-US"/>
              <a:t>C</a:t>
            </a:r>
            <a:r>
              <a:rPr lang="en-US" sz="2600"/>
              <a:t>yclomatic complexity number</a:t>
            </a:r>
            <a:r>
              <a:rPr lang="en-US"/>
              <a:t>, M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976"/>
              <a:buChar char="🞂"/>
            </a:pPr>
            <a:r>
              <a:rPr lang="en-US" sz="2600"/>
              <a:t>The set of Independent paths is called </a:t>
            </a:r>
            <a:r>
              <a:rPr b="1" lang="en-US" sz="2600"/>
              <a:t>Basic Path Set</a:t>
            </a:r>
            <a:endParaRPr/>
          </a:p>
          <a:p>
            <a:pPr indent="-148844" lvl="0" marL="27432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 sz="2600"/>
          </a:p>
        </p:txBody>
      </p:sp>
      <p:sp>
        <p:nvSpPr>
          <p:cNvPr id="521" name="Google Shape;521;p18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522" name="Google Shape;52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5829300"/>
            <a:ext cx="13716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19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528" name="Google Shape;528;p19"/>
          <p:cNvSpPr txBox="1"/>
          <p:nvPr>
            <p:ph idx="1" type="body"/>
          </p:nvPr>
        </p:nvSpPr>
        <p:spPr>
          <a:xfrm>
            <a:off x="381000" y="2590800"/>
            <a:ext cx="87630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1824"/>
              <a:buChar char="🞂"/>
            </a:pPr>
            <a:r>
              <a:rPr lang="en-US" sz="2400"/>
              <a:t>M = Regions + 1 = 2 + 1 = 3</a:t>
            </a:r>
            <a:endParaRPr/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ts val="1824"/>
              <a:buChar char="🞂"/>
            </a:pPr>
            <a:r>
              <a:rPr lang="en-US" sz="2400"/>
              <a:t>1-2-3-5 can be the first independent path; 1-2-4-5 is another; 1-2-3-5-2-4-5 is one more. </a:t>
            </a:r>
            <a:endParaRPr/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ts val="1824"/>
              <a:buChar char="🞂"/>
            </a:pPr>
            <a:r>
              <a:rPr lang="en-US" sz="2400"/>
              <a:t>Alternatively, if we had identified 1-2-3-5-2-4-5 as the first independent path, there would be no more independent paths.  </a:t>
            </a:r>
            <a:endParaRPr/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ts val="1824"/>
              <a:buChar char="🞂"/>
            </a:pPr>
            <a:r>
              <a:rPr lang="en-US" sz="2400"/>
              <a:t>The number of independent paths therefore can vary according to the order we identify them. </a:t>
            </a:r>
            <a:endParaRPr/>
          </a:p>
          <a:p>
            <a:pPr indent="-148844" lvl="0" marL="274320" rtl="0" algn="l"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</p:txBody>
      </p:sp>
      <p:sp>
        <p:nvSpPr>
          <p:cNvPr id="529" name="Google Shape;529;p19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0" name="Google Shape;530;p19"/>
          <p:cNvPicPr preferRelativeResize="0"/>
          <p:nvPr/>
        </p:nvPicPr>
        <p:blipFill rotWithShape="1">
          <a:blip r:embed="rId3">
            <a:alphaModFix/>
          </a:blip>
          <a:srcRect b="21094" l="25999" r="34500" t="57031"/>
          <a:stretch/>
        </p:blipFill>
        <p:spPr>
          <a:xfrm>
            <a:off x="2895600" y="533400"/>
            <a:ext cx="6019800" cy="2133601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19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532" name="Google Shape;53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72400" y="5829300"/>
            <a:ext cx="13716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20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Path Base Testing: Step 3</a:t>
            </a:r>
            <a:endParaRPr/>
          </a:p>
        </p:txBody>
      </p:sp>
      <p:grpSp>
        <p:nvGrpSpPr>
          <p:cNvPr id="539" name="Google Shape;539;p20"/>
          <p:cNvGrpSpPr/>
          <p:nvPr/>
        </p:nvGrpSpPr>
        <p:grpSpPr>
          <a:xfrm>
            <a:off x="838200" y="1676400"/>
            <a:ext cx="3810000" cy="4416425"/>
            <a:chOff x="3072" y="1056"/>
            <a:chExt cx="2400" cy="2782"/>
          </a:xfrm>
        </p:grpSpPr>
        <p:sp>
          <p:nvSpPr>
            <p:cNvPr id="540" name="Google Shape;540;p20"/>
            <p:cNvSpPr/>
            <p:nvPr/>
          </p:nvSpPr>
          <p:spPr>
            <a:xfrm>
              <a:off x="3072" y="1056"/>
              <a:ext cx="2400" cy="2782"/>
            </a:xfrm>
            <a:prstGeom prst="rect">
              <a:avLst/>
            </a:prstGeom>
            <a:solidFill>
              <a:srgbClr val="CCFFCC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41" name="Google Shape;541;p20"/>
            <p:cNvCxnSpPr/>
            <p:nvPr/>
          </p:nvCxnSpPr>
          <p:spPr>
            <a:xfrm>
              <a:off x="4080" y="1104"/>
              <a:ext cx="0" cy="2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42" name="Google Shape;542;p20"/>
            <p:cNvSpPr txBox="1"/>
            <p:nvPr/>
          </p:nvSpPr>
          <p:spPr>
            <a:xfrm>
              <a:off x="4176" y="3648"/>
              <a:ext cx="384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CFG</a:t>
              </a:r>
              <a:endParaRPr/>
            </a:p>
          </p:txBody>
        </p:sp>
        <p:sp>
          <p:nvSpPr>
            <p:cNvPr id="543" name="Google Shape;543;p20"/>
            <p:cNvSpPr/>
            <p:nvPr/>
          </p:nvSpPr>
          <p:spPr>
            <a:xfrm>
              <a:off x="3888" y="1344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5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544" name="Google Shape;544;p20"/>
            <p:cNvSpPr/>
            <p:nvPr/>
          </p:nvSpPr>
          <p:spPr>
            <a:xfrm>
              <a:off x="3888" y="1824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5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sz="2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545" name="Google Shape;545;p20"/>
            <p:cNvCxnSpPr/>
            <p:nvPr/>
          </p:nvCxnSpPr>
          <p:spPr>
            <a:xfrm>
              <a:off x="4080" y="1632"/>
              <a:ext cx="0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46" name="Google Shape;546;p20"/>
            <p:cNvSpPr/>
            <p:nvPr/>
          </p:nvSpPr>
          <p:spPr>
            <a:xfrm>
              <a:off x="4368" y="2256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5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3</a:t>
              </a:r>
              <a:endParaRPr sz="2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547" name="Google Shape;547;p20"/>
            <p:cNvSpPr txBox="1"/>
            <p:nvPr/>
          </p:nvSpPr>
          <p:spPr>
            <a:xfrm>
              <a:off x="4368" y="2064"/>
              <a:ext cx="28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  <p:sp>
          <p:nvSpPr>
            <p:cNvPr id="548" name="Google Shape;548;p20"/>
            <p:cNvSpPr txBox="1"/>
            <p:nvPr/>
          </p:nvSpPr>
          <p:spPr>
            <a:xfrm>
              <a:off x="3648" y="2064"/>
              <a:ext cx="28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/>
            </a:p>
          </p:txBody>
        </p:sp>
        <p:sp>
          <p:nvSpPr>
            <p:cNvPr id="549" name="Google Shape;549;p20"/>
            <p:cNvSpPr/>
            <p:nvPr/>
          </p:nvSpPr>
          <p:spPr>
            <a:xfrm>
              <a:off x="4752" y="2688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5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4</a:t>
              </a:r>
              <a:endParaRPr sz="2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550" name="Google Shape;550;p20"/>
            <p:cNvCxnSpPr/>
            <p:nvPr/>
          </p:nvCxnSpPr>
          <p:spPr>
            <a:xfrm>
              <a:off x="4272" y="2016"/>
              <a:ext cx="213" cy="24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51" name="Google Shape;551;p20"/>
            <p:cNvCxnSpPr/>
            <p:nvPr/>
          </p:nvCxnSpPr>
          <p:spPr>
            <a:xfrm flipH="1">
              <a:off x="4272" y="2544"/>
              <a:ext cx="192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52" name="Google Shape;552;p20"/>
            <p:cNvSpPr/>
            <p:nvPr/>
          </p:nvSpPr>
          <p:spPr>
            <a:xfrm>
              <a:off x="4080" y="2688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5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5</a:t>
              </a:r>
              <a:endParaRPr sz="2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553" name="Google Shape;553;p20"/>
            <p:cNvSpPr/>
            <p:nvPr/>
          </p:nvSpPr>
          <p:spPr>
            <a:xfrm>
              <a:off x="3312" y="3072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5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6</a:t>
              </a:r>
              <a:endParaRPr sz="2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554" name="Google Shape;554;p20"/>
            <p:cNvSpPr txBox="1"/>
            <p:nvPr/>
          </p:nvSpPr>
          <p:spPr>
            <a:xfrm>
              <a:off x="4704" y="2496"/>
              <a:ext cx="28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  <p:cxnSp>
          <p:nvCxnSpPr>
            <p:cNvPr id="555" name="Google Shape;555;p20"/>
            <p:cNvCxnSpPr/>
            <p:nvPr/>
          </p:nvCxnSpPr>
          <p:spPr>
            <a:xfrm>
              <a:off x="4656" y="2544"/>
              <a:ext cx="192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56" name="Google Shape;556;p20"/>
            <p:cNvSpPr txBox="1"/>
            <p:nvPr/>
          </p:nvSpPr>
          <p:spPr>
            <a:xfrm>
              <a:off x="4128" y="2496"/>
              <a:ext cx="28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/>
            </a:p>
          </p:txBody>
        </p:sp>
        <p:cxnSp>
          <p:nvCxnSpPr>
            <p:cNvPr id="557" name="Google Shape;557;p20"/>
            <p:cNvCxnSpPr/>
            <p:nvPr/>
          </p:nvCxnSpPr>
          <p:spPr>
            <a:xfrm flipH="1">
              <a:off x="3504" y="2064"/>
              <a:ext cx="432" cy="100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58" name="Google Shape;558;p20"/>
            <p:cNvCxnSpPr/>
            <p:nvPr/>
          </p:nvCxnSpPr>
          <p:spPr>
            <a:xfrm>
              <a:off x="3504" y="3360"/>
              <a:ext cx="0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59" name="Google Shape;559;p20"/>
            <p:cNvCxnSpPr/>
            <p:nvPr/>
          </p:nvCxnSpPr>
          <p:spPr>
            <a:xfrm rot="10800000">
              <a:off x="4464" y="2880"/>
              <a:ext cx="28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60" name="Google Shape;560;p20"/>
            <p:cNvCxnSpPr/>
            <p:nvPr/>
          </p:nvCxnSpPr>
          <p:spPr>
            <a:xfrm rot="10800000">
              <a:off x="4080" y="2112"/>
              <a:ext cx="0" cy="67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561" name="Google Shape;561;p20"/>
          <p:cNvSpPr txBox="1"/>
          <p:nvPr>
            <p:ph idx="1" type="body"/>
          </p:nvPr>
        </p:nvSpPr>
        <p:spPr>
          <a:xfrm>
            <a:off x="4800600" y="1828800"/>
            <a:ext cx="4343400" cy="3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1824"/>
              <a:buChar char="🞂"/>
            </a:pPr>
            <a:r>
              <a:rPr lang="en-US" sz="2400"/>
              <a:t>Cyclomatic complexity = 3.</a:t>
            </a:r>
            <a:endParaRPr/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ts val="1824"/>
              <a:buChar char="🞂"/>
            </a:pPr>
            <a:r>
              <a:rPr lang="en-US" sz="2400"/>
              <a:t>Need at most </a:t>
            </a:r>
            <a:r>
              <a:rPr b="1" lang="en-US" sz="2400"/>
              <a:t>3 </a:t>
            </a:r>
            <a:r>
              <a:rPr lang="en-US" sz="2400"/>
              <a:t>independent paths to cover the CFG.</a:t>
            </a:r>
            <a:endParaRPr/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ts val="1824"/>
              <a:buChar char="🞂"/>
            </a:pPr>
            <a:r>
              <a:rPr lang="en-US" sz="2400"/>
              <a:t>In this example:</a:t>
            </a:r>
            <a:endParaRPr/>
          </a:p>
          <a:p>
            <a:pPr indent="-274320" lvl="1" marL="548640" rtl="0" algn="l">
              <a:spcBef>
                <a:spcPts val="500"/>
              </a:spcBef>
              <a:spcAft>
                <a:spcPts val="0"/>
              </a:spcAft>
              <a:buSzPts val="1520"/>
              <a:buChar char="🞂"/>
            </a:pPr>
            <a:r>
              <a:rPr lang="en-US" sz="2000">
                <a:solidFill>
                  <a:srgbClr val="FF3300"/>
                </a:solidFill>
              </a:rPr>
              <a:t>[ 1 – 2 – 6 ]</a:t>
            </a:r>
            <a:endParaRPr/>
          </a:p>
          <a:p>
            <a:pPr indent="-274320" lvl="1" marL="548640" rtl="0" algn="l">
              <a:spcBef>
                <a:spcPts val="500"/>
              </a:spcBef>
              <a:spcAft>
                <a:spcPts val="0"/>
              </a:spcAft>
              <a:buSzPts val="1520"/>
              <a:buChar char="🞂"/>
            </a:pPr>
            <a:r>
              <a:rPr lang="en-US" sz="2000">
                <a:solidFill>
                  <a:srgbClr val="009900"/>
                </a:solidFill>
              </a:rPr>
              <a:t>[ 1 – 2 – 3 – 5 – 2 – 6 ]</a:t>
            </a:r>
            <a:endParaRPr/>
          </a:p>
          <a:p>
            <a:pPr indent="-274320" lvl="1" marL="548640" rtl="0" algn="l">
              <a:spcBef>
                <a:spcPts val="500"/>
              </a:spcBef>
              <a:spcAft>
                <a:spcPts val="0"/>
              </a:spcAft>
              <a:buSzPts val="1520"/>
              <a:buChar char="🞂"/>
            </a:pPr>
            <a:r>
              <a:rPr lang="en-US" sz="2000">
                <a:solidFill>
                  <a:srgbClr val="0033CC"/>
                </a:solidFill>
              </a:rPr>
              <a:t>[ 1 – 2 – 3 – 4 – 5 – 2 – 6]</a:t>
            </a:r>
            <a:endParaRPr/>
          </a:p>
        </p:txBody>
      </p:sp>
      <p:sp>
        <p:nvSpPr>
          <p:cNvPr id="562" name="Google Shape;562;p20"/>
          <p:cNvSpPr/>
          <p:nvPr/>
        </p:nvSpPr>
        <p:spPr>
          <a:xfrm>
            <a:off x="1271588" y="1771650"/>
            <a:ext cx="1071562" cy="3986213"/>
          </a:xfrm>
          <a:custGeom>
            <a:rect b="b" l="l" r="r" t="t"/>
            <a:pathLst>
              <a:path extrusionOk="0" h="2511" w="675">
                <a:moveTo>
                  <a:pt x="639" y="0"/>
                </a:moveTo>
                <a:lnTo>
                  <a:pt x="675" y="747"/>
                </a:lnTo>
                <a:lnTo>
                  <a:pt x="34" y="2071"/>
                </a:lnTo>
                <a:lnTo>
                  <a:pt x="0" y="2511"/>
                </a:lnTo>
              </a:path>
            </a:pathLst>
          </a:cu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20"/>
          <p:cNvSpPr/>
          <p:nvPr/>
        </p:nvSpPr>
        <p:spPr>
          <a:xfrm>
            <a:off x="1447800" y="1757363"/>
            <a:ext cx="1709738" cy="4033837"/>
          </a:xfrm>
          <a:custGeom>
            <a:rect b="b" l="l" r="r" t="t"/>
            <a:pathLst>
              <a:path extrusionOk="0" h="2541" w="1077">
                <a:moveTo>
                  <a:pt x="609" y="0"/>
                </a:moveTo>
                <a:lnTo>
                  <a:pt x="672" y="846"/>
                </a:lnTo>
                <a:lnTo>
                  <a:pt x="1077" y="1305"/>
                </a:lnTo>
                <a:lnTo>
                  <a:pt x="699" y="1584"/>
                </a:lnTo>
                <a:lnTo>
                  <a:pt x="690" y="1593"/>
                </a:lnTo>
                <a:lnTo>
                  <a:pt x="636" y="918"/>
                </a:lnTo>
                <a:lnTo>
                  <a:pt x="573" y="837"/>
                </a:lnTo>
                <a:lnTo>
                  <a:pt x="18" y="2161"/>
                </a:lnTo>
                <a:lnTo>
                  <a:pt x="0" y="2541"/>
                </a:lnTo>
              </a:path>
            </a:pathLst>
          </a:custGeom>
          <a:noFill/>
          <a:ln cap="flat" cmpd="sng" w="38100">
            <a:solidFill>
              <a:srgbClr val="008000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20"/>
          <p:cNvSpPr/>
          <p:nvPr/>
        </p:nvSpPr>
        <p:spPr>
          <a:xfrm>
            <a:off x="1676400" y="1743075"/>
            <a:ext cx="2209800" cy="4043363"/>
          </a:xfrm>
          <a:custGeom>
            <a:rect b="b" l="l" r="r" t="t"/>
            <a:pathLst>
              <a:path extrusionOk="0" h="2547" w="1392">
                <a:moveTo>
                  <a:pt x="519" y="0"/>
                </a:moveTo>
                <a:lnTo>
                  <a:pt x="609" y="828"/>
                </a:lnTo>
                <a:lnTo>
                  <a:pt x="1068" y="1341"/>
                </a:lnTo>
                <a:lnTo>
                  <a:pt x="1392" y="1656"/>
                </a:lnTo>
                <a:lnTo>
                  <a:pt x="1356" y="1827"/>
                </a:lnTo>
                <a:lnTo>
                  <a:pt x="438" y="1800"/>
                </a:lnTo>
                <a:lnTo>
                  <a:pt x="438" y="1008"/>
                </a:lnTo>
                <a:lnTo>
                  <a:pt x="420" y="972"/>
                </a:lnTo>
                <a:lnTo>
                  <a:pt x="18" y="2167"/>
                </a:lnTo>
                <a:lnTo>
                  <a:pt x="0" y="2547"/>
                </a:lnTo>
              </a:path>
            </a:pathLst>
          </a:cu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20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566" name="Google Shape;56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5829300"/>
            <a:ext cx="13716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21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Path Base Testing: Step 4</a:t>
            </a:r>
            <a:endParaRPr/>
          </a:p>
        </p:txBody>
      </p:sp>
      <p:sp>
        <p:nvSpPr>
          <p:cNvPr id="573" name="Google Shape;573;p21"/>
          <p:cNvSpPr txBox="1"/>
          <p:nvPr>
            <p:ph idx="1" type="body"/>
          </p:nvPr>
        </p:nvSpPr>
        <p:spPr>
          <a:xfrm>
            <a:off x="457200" y="1235075"/>
            <a:ext cx="83820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1976"/>
              <a:buChar char="🞂"/>
            </a:pPr>
            <a:r>
              <a:rPr lang="en-US" sz="2600"/>
              <a:t>Prepare a test case for each independent path.</a:t>
            </a:r>
            <a:endParaRPr/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ts val="1824"/>
              <a:buChar char="🞂"/>
            </a:pPr>
            <a:r>
              <a:rPr lang="en-US" sz="2400"/>
              <a:t>In this example:</a:t>
            </a:r>
            <a:endParaRPr/>
          </a:p>
          <a:p>
            <a:pPr indent="-274320" lvl="1" marL="548640" rtl="0" algn="l">
              <a:spcBef>
                <a:spcPts val="500"/>
              </a:spcBef>
              <a:spcAft>
                <a:spcPts val="0"/>
              </a:spcAft>
              <a:buSzPts val="1520"/>
              <a:buChar char="🞂"/>
            </a:pPr>
            <a:r>
              <a:rPr lang="en-US" sz="2000"/>
              <a:t>Path: [ 1 – 2 – 6 ]</a:t>
            </a:r>
            <a:endParaRPr/>
          </a:p>
          <a:p>
            <a:pPr indent="-228600" lvl="2" marL="822960" rtl="0" algn="l">
              <a:spcBef>
                <a:spcPts val="500"/>
              </a:spcBef>
              <a:spcAft>
                <a:spcPts val="0"/>
              </a:spcAft>
              <a:buSzPts val="1368"/>
              <a:buChar char="🞂"/>
            </a:pPr>
            <a:r>
              <a:rPr lang="en-US" sz="1800"/>
              <a:t>Test Case:  A = { 5, …}, N = 1</a:t>
            </a:r>
            <a:endParaRPr/>
          </a:p>
          <a:p>
            <a:pPr indent="-228600" lvl="2" marL="822960" rtl="0" algn="l">
              <a:spcBef>
                <a:spcPts val="500"/>
              </a:spcBef>
              <a:spcAft>
                <a:spcPts val="0"/>
              </a:spcAft>
              <a:buSzPts val="1368"/>
              <a:buChar char="🞂"/>
            </a:pPr>
            <a:r>
              <a:rPr lang="en-US" sz="1800"/>
              <a:t>Expected Output: 5</a:t>
            </a:r>
            <a:endParaRPr/>
          </a:p>
        </p:txBody>
      </p:sp>
      <p:sp>
        <p:nvSpPr>
          <p:cNvPr id="574" name="Google Shape;574;p21"/>
          <p:cNvSpPr txBox="1"/>
          <p:nvPr/>
        </p:nvSpPr>
        <p:spPr>
          <a:xfrm>
            <a:off x="304800" y="6172200"/>
            <a:ext cx="7391400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Try to verify that the test cases actually force execution along a desired path.</a:t>
            </a:r>
            <a:endParaRPr/>
          </a:p>
        </p:txBody>
      </p:sp>
      <p:sp>
        <p:nvSpPr>
          <p:cNvPr id="575" name="Google Shape;575;p21"/>
          <p:cNvSpPr txBox="1"/>
          <p:nvPr/>
        </p:nvSpPr>
        <p:spPr>
          <a:xfrm>
            <a:off x="4724400" y="1850571"/>
            <a:ext cx="3352800" cy="31654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91425" lIns="95700" spcFirstLastPara="1" rIns="95700" wrap="square" tIns="914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min = A[0];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I = 1;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while (I &lt; N) {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if (A[I] &lt; min)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min = A[I];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I = I + 1;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print min</a:t>
            </a:r>
            <a:endParaRPr/>
          </a:p>
        </p:txBody>
      </p:sp>
      <p:sp>
        <p:nvSpPr>
          <p:cNvPr id="576" name="Google Shape;576;p21"/>
          <p:cNvSpPr/>
          <p:nvPr/>
        </p:nvSpPr>
        <p:spPr>
          <a:xfrm>
            <a:off x="8077200" y="1981200"/>
            <a:ext cx="228600" cy="609600"/>
          </a:xfrm>
          <a:prstGeom prst="rightBrace">
            <a:avLst>
              <a:gd fmla="val 22222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21"/>
          <p:cNvSpPr txBox="1"/>
          <p:nvPr/>
        </p:nvSpPr>
        <p:spPr>
          <a:xfrm>
            <a:off x="8305800" y="2057400"/>
            <a:ext cx="3810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578" name="Google Shape;578;p21"/>
          <p:cNvSpPr/>
          <p:nvPr/>
        </p:nvSpPr>
        <p:spPr>
          <a:xfrm>
            <a:off x="8077200" y="2895600"/>
            <a:ext cx="228600" cy="304800"/>
          </a:xfrm>
          <a:prstGeom prst="rightBrace">
            <a:avLst>
              <a:gd fmla="val 11111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21"/>
          <p:cNvSpPr txBox="1"/>
          <p:nvPr/>
        </p:nvSpPr>
        <p:spPr>
          <a:xfrm>
            <a:off x="8305800" y="2819400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580" name="Google Shape;580;p21"/>
          <p:cNvSpPr/>
          <p:nvPr/>
        </p:nvSpPr>
        <p:spPr>
          <a:xfrm>
            <a:off x="8077200" y="3276600"/>
            <a:ext cx="228600" cy="304800"/>
          </a:xfrm>
          <a:prstGeom prst="rightBrace">
            <a:avLst>
              <a:gd fmla="val 11111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21"/>
          <p:cNvSpPr txBox="1"/>
          <p:nvPr/>
        </p:nvSpPr>
        <p:spPr>
          <a:xfrm>
            <a:off x="8305800" y="3276600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582" name="Google Shape;582;p21"/>
          <p:cNvSpPr/>
          <p:nvPr/>
        </p:nvSpPr>
        <p:spPr>
          <a:xfrm>
            <a:off x="8077200" y="3657600"/>
            <a:ext cx="228600" cy="2286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21"/>
          <p:cNvSpPr txBox="1"/>
          <p:nvPr/>
        </p:nvSpPr>
        <p:spPr>
          <a:xfrm>
            <a:off x="8305800" y="3581400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584" name="Google Shape;584;p21"/>
          <p:cNvSpPr/>
          <p:nvPr/>
        </p:nvSpPr>
        <p:spPr>
          <a:xfrm>
            <a:off x="8077200" y="3962400"/>
            <a:ext cx="228600" cy="2286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21"/>
          <p:cNvSpPr txBox="1"/>
          <p:nvPr/>
        </p:nvSpPr>
        <p:spPr>
          <a:xfrm>
            <a:off x="8305800" y="3886200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586" name="Google Shape;586;p21"/>
          <p:cNvSpPr/>
          <p:nvPr/>
        </p:nvSpPr>
        <p:spPr>
          <a:xfrm>
            <a:off x="8077200" y="4572000"/>
            <a:ext cx="228600" cy="2286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21"/>
          <p:cNvSpPr txBox="1"/>
          <p:nvPr/>
        </p:nvSpPr>
        <p:spPr>
          <a:xfrm>
            <a:off x="8305800" y="4495800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588" name="Google Shape;588;p21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589" name="Google Shape;58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5829300"/>
            <a:ext cx="13716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rigin">
  <a:themeElements>
    <a:clrScheme name="Paper">
      <a:dk1>
        <a:srgbClr val="000000"/>
      </a:dk1>
      <a:lt1>
        <a:srgbClr val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2020-05-26T17:53:17Z</dcterms:created>
  <dc:creator>User</dc:creator>
</cp:coreProperties>
</file>