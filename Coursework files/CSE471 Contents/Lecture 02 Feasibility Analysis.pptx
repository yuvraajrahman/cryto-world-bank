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y="6858000" cx="9144000"/>
  <p:notesSz cx="6735750" cy="9866300"/>
  <p:embeddedFontLst>
    <p:embeddedFont>
      <p:font typeface="Tahoma"/>
      <p:regular r:id="rId47"/>
      <p:bold r:id="rId48"/>
    </p:embeddedFont>
    <p:embeddedFont>
      <p:font typeface="Century Schoolbook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331">
          <p15:clr>
            <a:srgbClr val="000000"/>
          </p15:clr>
        </p15:guide>
        <p15:guide id="2" pos="2829">
          <p15:clr>
            <a:srgbClr val="000000"/>
          </p15:clr>
        </p15:guide>
      </p15:notesGuideLst>
    </p:ext>
    <p:ext uri="GoogleSlidesCustomDataVersion2">
      <go:slidesCustomData xmlns:go="http://customooxmlschemas.google.com/" r:id="rId53" roundtripDataSignature="AMtx7mitkNiuDvbqP5QNJehAMUD17/QH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0F939C-3A13-4D76-8C8E-E9BC1A7F52DC}">
  <a:tblStyle styleId="{220F939C-3A13-4D76-8C8E-E9BC1A7F52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1C42D17-DE3A-4A9C-AE35-83107BFB3BB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AEB"/>
          </a:solidFill>
        </a:fill>
      </a:tcStyle>
    </a:wholeTbl>
    <a:band1H>
      <a:tcTxStyle/>
      <a:tcStyle>
        <a:fill>
          <a:solidFill>
            <a:srgbClr val="CBD4D5"/>
          </a:solidFill>
        </a:fill>
      </a:tcStyle>
    </a:band1H>
    <a:band2H>
      <a:tcTxStyle/>
    </a:band2H>
    <a:band1V>
      <a:tcTxStyle/>
      <a:tcStyle>
        <a:fill>
          <a:solidFill>
            <a:srgbClr val="CBD4D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96E78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96E78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96E78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331" orient="horz"/>
        <p:guide pos="282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Tahoma-bold.fntdata"/><Relationship Id="rId47" Type="http://schemas.openxmlformats.org/officeDocument/2006/relationships/font" Target="fonts/Tahoma-regular.fntdata"/><Relationship Id="rId49" Type="http://schemas.openxmlformats.org/officeDocument/2006/relationships/font" Target="fonts/CenturySchoolbook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CenturySchoolbook-italic.fntdata"/><Relationship Id="rId50" Type="http://schemas.openxmlformats.org/officeDocument/2006/relationships/font" Target="fonts/CenturySchoolbook-bold.fntdata"/><Relationship Id="rId53" Type="http://customschemas.google.com/relationships/presentationmetadata" Target="metadata"/><Relationship Id="rId52" Type="http://schemas.openxmlformats.org/officeDocument/2006/relationships/font" Target="fonts/CenturySchoolbook-bold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635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e2e29acd0_0_7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e2e29acd0_0_7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0e2e29acd0_0_7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1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c8be3d3bf_0_6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g3bc8be3d3bf_0_6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3710035b85_3_6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3710035b85_3_6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3710035b85_3_6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2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390d055ca6_0_0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g3390d055ca6_0_0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2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3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3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3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3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0" name="Google Shape;380;p3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3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/>
          <p:nvPr>
            <p:ph type="ctr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subTitle"/>
          </p:nvPr>
        </p:nvSpPr>
        <p:spPr>
          <a:xfrm>
            <a:off x="946404" y="48006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D8D8D8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" name="Google Shape;22;p3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/>
          <p:nvPr>
            <p:ph type="title"/>
          </p:nvPr>
        </p:nvSpPr>
        <p:spPr>
          <a:xfrm rot="5400000">
            <a:off x="4466431" y="2401094"/>
            <a:ext cx="5897562" cy="1857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" type="body"/>
          </p:nvPr>
        </p:nvSpPr>
        <p:spPr>
          <a:xfrm rot="5400000">
            <a:off x="523081" y="429419"/>
            <a:ext cx="5897562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 rot="5400000">
            <a:off x="1993900" y="781050"/>
            <a:ext cx="4351337" cy="644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/>
          <p:nvPr>
            <p:ph type="title"/>
          </p:nvPr>
        </p:nvSpPr>
        <p:spPr>
          <a:xfrm>
            <a:off x="630936" y="457201"/>
            <a:ext cx="24003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" type="body"/>
          </p:nvPr>
        </p:nvSpPr>
        <p:spPr>
          <a:xfrm>
            <a:off x="3378200" y="685800"/>
            <a:ext cx="455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1" name="Google Shape;61;p45"/>
          <p:cNvSpPr txBox="1"/>
          <p:nvPr>
            <p:ph idx="2" type="body"/>
          </p:nvPr>
        </p:nvSpPr>
        <p:spPr>
          <a:xfrm>
            <a:off x="630936" y="2099735"/>
            <a:ext cx="24003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5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" type="body"/>
          </p:nvPr>
        </p:nvSpPr>
        <p:spPr>
          <a:xfrm>
            <a:off x="946404" y="1717185"/>
            <a:ext cx="3360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47"/>
          <p:cNvSpPr txBox="1"/>
          <p:nvPr>
            <p:ph idx="2" type="body"/>
          </p:nvPr>
        </p:nvSpPr>
        <p:spPr>
          <a:xfrm>
            <a:off x="946404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3" name="Google Shape;73;p47"/>
          <p:cNvSpPr txBox="1"/>
          <p:nvPr>
            <p:ph idx="3" type="body"/>
          </p:nvPr>
        </p:nvSpPr>
        <p:spPr>
          <a:xfrm>
            <a:off x="4599432" y="1717185"/>
            <a:ext cx="3364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Font typeface="Century Schoolbook"/>
              <a:buNone/>
              <a:defRPr b="0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4" type="body"/>
          </p:nvPr>
        </p:nvSpPr>
        <p:spPr>
          <a:xfrm>
            <a:off x="4594860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5" name="Google Shape;75;p4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" type="body"/>
          </p:nvPr>
        </p:nvSpPr>
        <p:spPr>
          <a:xfrm>
            <a:off x="946404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1" name="Google Shape;81;p48"/>
          <p:cNvSpPr txBox="1"/>
          <p:nvPr>
            <p:ph idx="2" type="body"/>
          </p:nvPr>
        </p:nvSpPr>
        <p:spPr>
          <a:xfrm>
            <a:off x="4594860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2" name="Google Shape;82;p4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1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5715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2" type="body"/>
          </p:nvPr>
        </p:nvSpPr>
        <p:spPr>
          <a:xfrm>
            <a:off x="46482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353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11" name="Google Shape;11;p36"/>
          <p:cNvGrpSpPr/>
          <p:nvPr/>
        </p:nvGrpSpPr>
        <p:grpSpPr>
          <a:xfrm>
            <a:off x="990600" y="2764330"/>
            <a:ext cx="7598156" cy="281593"/>
            <a:chOff x="504" y="3634"/>
            <a:chExt cx="4786" cy="177"/>
          </a:xfrm>
        </p:grpSpPr>
        <p:sp>
          <p:nvSpPr>
            <p:cNvPr id="12" name="Google Shape;12;p36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14" name="Google Shape;14;p36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6" name="Google Shape;16;p3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" name="Google Shape;27;p3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8" name="Google Shape;28;p38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32" name="Google Shape;32;p38"/>
          <p:cNvGrpSpPr/>
          <p:nvPr/>
        </p:nvGrpSpPr>
        <p:grpSpPr>
          <a:xfrm>
            <a:off x="533400" y="1316530"/>
            <a:ext cx="7598156" cy="281593"/>
            <a:chOff x="504" y="3634"/>
            <a:chExt cx="4786" cy="177"/>
          </a:xfrm>
        </p:grpSpPr>
        <p:sp>
          <p:nvSpPr>
            <p:cNvPr id="33" name="Google Shape;33;p38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4" name="Google Shape;34;p38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87" name="Google Shape;87;p40"/>
          <p:cNvGrpSpPr/>
          <p:nvPr/>
        </p:nvGrpSpPr>
        <p:grpSpPr>
          <a:xfrm>
            <a:off x="533400" y="1316530"/>
            <a:ext cx="7598156" cy="281593"/>
            <a:chOff x="504" y="3634"/>
            <a:chExt cx="4786" cy="177"/>
          </a:xfrm>
        </p:grpSpPr>
        <p:sp>
          <p:nvSpPr>
            <p:cNvPr id="88" name="Google Shape;88;p40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90" name="Google Shape;90;p40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1" name="Google Shape;91;p40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2" name="Google Shape;92;p40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 cap="none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06" name="Google Shape;106;p1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solidFill>
                <a:srgbClr val="D8D8D8"/>
              </a:solidFill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13" name="Google Shape;113;p2"/>
          <p:cNvSpPr txBox="1"/>
          <p:nvPr>
            <p:ph idx="1" type="body"/>
          </p:nvPr>
        </p:nvSpPr>
        <p:spPr>
          <a:xfrm>
            <a:off x="393700" y="1820862"/>
            <a:ext cx="78327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Projects initiated to create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 using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information technology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needs: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Lower cost/Increase revenue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 customer service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 latest/emerging technologies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…</a:t>
            </a:r>
            <a:endParaRPr/>
          </a:p>
          <a:p>
            <a:pPr indent="-40323" lvl="0" marL="182563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946150" y="365125"/>
            <a:ext cx="7269162" cy="93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20" name="Google Shape;120;p3"/>
          <p:cNvSpPr txBox="1"/>
          <p:nvPr>
            <p:ph idx="1" type="body"/>
          </p:nvPr>
        </p:nvSpPr>
        <p:spPr>
          <a:xfrm>
            <a:off x="609600" y="1600200"/>
            <a:ext cx="7605712" cy="516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presents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brief summary of a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explains how a system that supports the need will create business value.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a key person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Recognize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Understand business value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Adoption of new IT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Want system to succeed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reviews proposals from various groups and units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Approve/decline/suspend projects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27" name="Google Shape;127;p4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34" name="Google Shape;134;p5"/>
          <p:cNvSpPr txBox="1"/>
          <p:nvPr>
            <p:ph idx="1" type="body"/>
          </p:nvPr>
        </p:nvSpPr>
        <p:spPr>
          <a:xfrm>
            <a:off x="838200" y="1676400"/>
            <a:ext cx="7467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quantified and measured easily,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2% reduction in operating costs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5% increase in sales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– system provides important but hard-to-measure benefits,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improved customer service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better competitive position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1" name="Google Shape;141;p6"/>
          <p:cNvSpPr txBox="1"/>
          <p:nvPr>
            <p:ph idx="1" type="body"/>
          </p:nvPr>
        </p:nvSpPr>
        <p:spPr>
          <a:xfrm>
            <a:off x="946150" y="1828800"/>
            <a:ext cx="726916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business reasons for building a system – the 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prepares the document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reviews and judges the system request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9" name="Google Shape;149;p7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Lists key elements of the project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requirements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issues or constraints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aphicFrame>
        <p:nvGraphicFramePr>
          <p:cNvPr id="156" name="Google Shape;156;p8"/>
          <p:cNvGraphicFramePr/>
          <p:nvPr/>
        </p:nvGraphicFramePr>
        <p:xfrm>
          <a:off x="95388" y="126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{220F939C-3A13-4D76-8C8E-E9BC1A7F52DC}</a:tableStyleId>
              </a:tblPr>
              <a:tblGrid>
                <a:gridCol w="1729925"/>
                <a:gridCol w="2273775"/>
                <a:gridCol w="4341625"/>
              </a:tblGrid>
              <a:tr h="478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Sponsor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person who initiates the project and who serves as the primary point of contact for the project on the business side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Several members of the finance department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Vice president of marketing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r>
                        <a:rPr lang="en-US" sz="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Need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business-related reason for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initiating the system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Reach a new market segment Offer a capability to keep up with competitors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Improve access to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Decrease product defects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Streamline supply acquisition processes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Requirements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new or enhanced business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capabilities that the system will provide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Provide onIine access to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Capture customer demographic information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Include product search capabilities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Produce performance reports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Enhance online user support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8"/>
          <p:cNvSpPr txBox="1"/>
          <p:nvPr>
            <p:ph type="title"/>
          </p:nvPr>
        </p:nvSpPr>
        <p:spPr>
          <a:xfrm>
            <a:off x="699175" y="70675"/>
            <a:ext cx="7269300" cy="822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Elements of the Systems Request</a:t>
            </a:r>
            <a:endParaRPr sz="3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e2e29acd0_0_7"/>
          <p:cNvSpPr txBox="1"/>
          <p:nvPr>
            <p:ph type="title"/>
          </p:nvPr>
        </p:nvSpPr>
        <p:spPr>
          <a:xfrm>
            <a:off x="413800" y="0"/>
            <a:ext cx="72693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Elements of the Systems Request (Continued)</a:t>
            </a:r>
            <a:endParaRPr sz="3600"/>
          </a:p>
        </p:txBody>
      </p:sp>
      <p:sp>
        <p:nvSpPr>
          <p:cNvPr id="164" name="Google Shape;164;g30e2e29acd0_0_7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</p:spPr>
        <p:txBody>
          <a:bodyPr anchorCtr="0" anchor="ctr" bIns="45700" lIns="27425" spcFirstLastPara="1" rIns="27425" wrap="square" tIns="45700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ct val="100000"/>
              <a:buFont typeface="Century Schoolbook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165" name="Google Shape;165;g30e2e29acd0_0_7"/>
          <p:cNvGraphicFramePr/>
          <p:nvPr/>
        </p:nvGraphicFramePr>
        <p:xfrm>
          <a:off x="76200" y="136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{220F939C-3A13-4D76-8C8E-E9BC1A7F52DC}</a:tableStyleId>
              </a:tblPr>
              <a:tblGrid>
                <a:gridCol w="1695925"/>
                <a:gridCol w="2167000"/>
                <a:gridCol w="4359725"/>
              </a:tblGrid>
              <a:tr h="577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Examples</a:t>
                      </a:r>
                      <a:endParaRPr b="1"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</a:tr>
              <a:tr h="2660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Value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benefits that the system will create for the organization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3% increase in sales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1% increase in market share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Reduction in headcount by 5 FTEs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$200,000 cost savings from decreased supply costs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$150,000 savings from removal of outdated technology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Special Issues 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Issues that pertain to the approval committee’s decision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Government-mandated deadline for May 30 System needed in time for the Christmas holiday season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Top-level security clearance needed by project team to work with data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Screen Clipping" id="171" name="Google Shape;17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988" y="-15888"/>
            <a:ext cx="6283200" cy="688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Clipping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75"/>
            <a:ext cx="8458200" cy="684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rgbClr val="3333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Your Turn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84" name="Google Shape;184;p11"/>
          <p:cNvSpPr txBox="1"/>
          <p:nvPr>
            <p:ph idx="1" type="body"/>
          </p:nvPr>
        </p:nvSpPr>
        <p:spPr>
          <a:xfrm>
            <a:off x="609600" y="1828800"/>
            <a:ext cx="73914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you were building a web-based system for course enrollment --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functionality?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expected value?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special issues or constraints would you foresee?</a:t>
            </a: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91" name="Google Shape;191;p12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98" name="Google Shape;198;p13"/>
          <p:cNvSpPr txBox="1"/>
          <p:nvPr>
            <p:ph idx="1" type="body"/>
          </p:nvPr>
        </p:nvSpPr>
        <p:spPr>
          <a:xfrm>
            <a:off x="533400" y="1828800"/>
            <a:ext cx="76819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Feasibility analysis guides the organization in determining whether to proceed with the project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Also identifies the important risks associated with the project that must be managed if the project is approved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Each organization has its own process and format for the feasibility analysis</a:t>
            </a:r>
            <a:endParaRPr sz="2400"/>
          </a:p>
          <a:p>
            <a:pPr indent="-341376" lvl="0" marL="457200" rtl="0" algn="just">
              <a:spcBef>
                <a:spcPts val="1600"/>
              </a:spcBef>
              <a:spcAft>
                <a:spcPts val="0"/>
              </a:spcAft>
              <a:buSzPct val="80000"/>
              <a:buChar char="•"/>
            </a:pPr>
            <a:r>
              <a:rPr lang="en-US" sz="2400"/>
              <a:t>Most include techniques to assess three areas: technical feasibility, economic feasibility, and organizational feasibility</a:t>
            </a:r>
            <a:endParaRPr sz="2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06" name="Google Shape;206;p14"/>
          <p:cNvSpPr txBox="1"/>
          <p:nvPr>
            <p:ph idx="1" type="body"/>
          </p:nvPr>
        </p:nvSpPr>
        <p:spPr>
          <a:xfrm>
            <a:off x="571500" y="1676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Detailing Expected Costs and Benefits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 Feasibility: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</a:t>
            </a:r>
            <a:r>
              <a:rPr b="0" i="0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13" name="Google Shape;213;p15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application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Knowledge of business domain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technology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 of existing firm technologies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size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Number of people, time, and features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Compatibility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Ease of integrating the system with the company’s existing technology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936625" y="238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Should</a:t>
            </a:r>
            <a:r>
              <a:rPr b="0" i="0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20" name="Google Shape;220;p1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 cost benefit analysis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 costs and benefits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Calculate cash flow and ROI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Development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/>
              <a:t>O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perational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lang="en-US" sz="2800"/>
              <a:t>Tangible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benefits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benefits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 txBox="1"/>
          <p:nvPr>
            <p:ph type="title"/>
          </p:nvPr>
        </p:nvSpPr>
        <p:spPr>
          <a:xfrm>
            <a:off x="5715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 Steps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4 at 12.27.42 PM.png" id="229" name="Google Shape;2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50700"/>
            <a:ext cx="7572375" cy="55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571500" y="304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Cost &amp; Benefits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850" y="1618000"/>
            <a:ext cx="6858000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498125" y="20265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50" y="821375"/>
            <a:ext cx="6357800" cy="603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609600" y="152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Cost-Benefit Analysis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5" y="609600"/>
            <a:ext cx="7874575" cy="60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(ROI)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56" name="Google Shape;256;p24"/>
          <p:cNvSpPr txBox="1"/>
          <p:nvPr>
            <p:ph idx="1" type="body"/>
          </p:nvPr>
        </p:nvSpPr>
        <p:spPr>
          <a:xfrm>
            <a:off x="457200" y="1828800"/>
            <a:ext cx="77581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Measures money received in return for money invested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 ROI is desirable when benefits exceed costs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determined per year, or for entire project completion period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>
            <p:ph type="title"/>
          </p:nvPr>
        </p:nvSpPr>
        <p:spPr>
          <a:xfrm>
            <a:off x="609600" y="365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42082" l="0" r="11911" t="0"/>
          <a:stretch/>
        </p:blipFill>
        <p:spPr>
          <a:xfrm>
            <a:off x="228600" y="2057400"/>
            <a:ext cx="8539162" cy="169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title"/>
          </p:nvPr>
        </p:nvSpPr>
        <p:spPr>
          <a:xfrm>
            <a:off x="533400" y="100012"/>
            <a:ext cx="726916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271" name="Google Shape;27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731962"/>
            <a:ext cx="88233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1.59 AM.png" id="272" name="Google Shape;27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4419600"/>
            <a:ext cx="57689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439737" y="168275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entury Schoolbook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Length of time when returns will match amount invested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entury Schoolbook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Greater time -&gt; Greater risks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entury Schoolbook"/>
              <a:buChar char="•"/>
            </a:pPr>
            <a:r>
              <a:rPr b="0" i="0" lang="en-US" sz="25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Easier to picture graphically – plot cumulative present value of benefits and costs for each year</a:t>
            </a:r>
            <a:endParaRPr b="0" i="0" sz="25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8.20 AM.png" id="286" name="Google Shape;286;p28"/>
          <p:cNvPicPr preferRelativeResize="0"/>
          <p:nvPr/>
        </p:nvPicPr>
        <p:blipFill rotWithShape="1">
          <a:blip r:embed="rId3">
            <a:alphaModFix/>
          </a:blip>
          <a:srcRect b="0" l="0" r="0" t="6883"/>
          <a:stretch/>
        </p:blipFill>
        <p:spPr>
          <a:xfrm>
            <a:off x="79538" y="2124375"/>
            <a:ext cx="8250251" cy="1183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8.30 AM.png" id="287" name="Google Shape;28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699" y="3225150"/>
            <a:ext cx="6623850" cy="104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1.48 AM.png" id="288" name="Google Shape;28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0263" y="98975"/>
            <a:ext cx="6412675" cy="19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267200" y="4720425"/>
            <a:ext cx="7738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How to calculate Number of years of negative cash flow?</a:t>
            </a:r>
            <a:endParaRPr b="1" sz="1700"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1: Find the number of cumulative net cash flow, </a:t>
            </a:r>
            <a:r>
              <a:rPr b="1" i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</a:t>
            </a:r>
            <a:r>
              <a:rPr b="1" lang="en-US">
                <a:solidFill>
                  <a:srgbClr val="741B4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[here N = 3]</a:t>
            </a:r>
            <a:endParaRPr b="1">
              <a:solidFill>
                <a:srgbClr val="741B47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Step 2: Look at initial year Total benefit.</a:t>
            </a:r>
            <a:endParaRPr sz="17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if benefit present then </a:t>
            </a:r>
            <a:r>
              <a:rPr b="1" i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</a:t>
            </a:r>
            <a:r>
              <a:rPr b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unchanged</a:t>
            </a:r>
            <a:endParaRPr sz="17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	</a:t>
            </a:r>
            <a:r>
              <a:rPr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No benefit then </a:t>
            </a:r>
            <a:r>
              <a:rPr b="1" i="1" lang="en-US" sz="17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 = N-1 </a:t>
            </a:r>
            <a:r>
              <a:rPr b="1" lang="en-US">
                <a:solidFill>
                  <a:srgbClr val="351C75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[No benefit so N = 3 - 1 = 2]</a:t>
            </a:r>
            <a:endParaRPr b="1">
              <a:solidFill>
                <a:srgbClr val="351C75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1662550" y="3998025"/>
            <a:ext cx="188100" cy="465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3734800" y="1989675"/>
            <a:ext cx="188100" cy="286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4486675" y="1989675"/>
            <a:ext cx="188100" cy="286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5321900" y="1989675"/>
            <a:ext cx="188100" cy="2865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c8be3d3bf_0_6"/>
          <p:cNvSpPr txBox="1"/>
          <p:nvPr>
            <p:ph type="title"/>
          </p:nvPr>
        </p:nvSpPr>
        <p:spPr>
          <a:xfrm>
            <a:off x="946150" y="365125"/>
            <a:ext cx="72693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299" name="Google Shape;299;g3bc8be3d3bf_0_6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8.20 AM.png" id="300" name="Google Shape;300;g3bc8be3d3bf_0_6"/>
          <p:cNvPicPr preferRelativeResize="0"/>
          <p:nvPr/>
        </p:nvPicPr>
        <p:blipFill rotWithShape="1">
          <a:blip r:embed="rId3">
            <a:alphaModFix/>
          </a:blip>
          <a:srcRect b="0" l="0" r="0" t="6881"/>
          <a:stretch/>
        </p:blipFill>
        <p:spPr>
          <a:xfrm>
            <a:off x="66313" y="1669100"/>
            <a:ext cx="8250251" cy="1183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8.30 AM.png" id="301" name="Google Shape;301;g3bc8be3d3bf_0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463" y="2852750"/>
            <a:ext cx="7538527" cy="11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Graph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8" name="Google Shape;3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12" y="1809312"/>
            <a:ext cx="8124824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descr="Table is accessible to screenreaders" id="314" name="Google Shape;314;g33710035b85_3_6"/>
          <p:cNvGraphicFramePr/>
          <p:nvPr/>
        </p:nvGraphicFramePr>
        <p:xfrm>
          <a:off x="79525" y="2951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{C1C42D17-DE3A-4A9C-AE35-83107BFB3BBA}</a:tableStyleId>
              </a:tblPr>
              <a:tblGrid>
                <a:gridCol w="2939250"/>
                <a:gridCol w="989150"/>
                <a:gridCol w="1013350"/>
                <a:gridCol w="883125"/>
                <a:gridCol w="926675"/>
                <a:gridCol w="1020275"/>
                <a:gridCol w="1143875"/>
              </a:tblGrid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2024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2022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2025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Benefits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720250">
                <a:tc>
                  <a:txBody>
                    <a:bodyPr/>
                    <a:lstStyle/>
                    <a:p>
                      <a:pPr indent="0" lvl="0" marL="179388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Increased sales</a:t>
                      </a:r>
                      <a:endParaRPr/>
                    </a:p>
                    <a:p>
                      <a:pPr indent="0" lvl="0" marL="179388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Reduction in customer complaint calls</a:t>
                      </a:r>
                      <a:r>
                        <a:rPr b="0" baseline="3000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  <a:p>
                      <a:pPr indent="0" lvl="0" marL="179388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Reduced inventory costs</a:t>
                      </a:r>
                      <a:endParaRPr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70,000 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530,000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561,800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595,508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70,000</a:t>
                      </a:r>
                      <a:endParaRPr b="0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68,000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Benefits</a:t>
                      </a:r>
                      <a:r>
                        <a:rPr b="1" baseline="3000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b="1"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638,000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668,000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699,800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733,508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Present Value Total Benefits</a:t>
                      </a:r>
                      <a:endParaRPr b="1" baseline="30000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601,887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594,518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587,566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581,007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2,364,978</a:t>
                      </a:r>
                      <a:endParaRPr b="1"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1080550">
                <a:tc>
                  <a:txBody>
                    <a:bodyPr/>
                    <a:lstStyle/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servers @ $125,000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Printer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licenses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 software</a:t>
                      </a:r>
                      <a:endParaRPr/>
                    </a:p>
                    <a:p>
                      <a:pPr indent="0" lvl="0" marL="88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Development labor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250,000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100,000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34,825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10,945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1,236,525</a:t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Development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</a:t>
                      </a:r>
                      <a:endParaRPr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Costs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687600">
                <a:tc>
                  <a:txBody>
                    <a:bodyPr/>
                    <a:lstStyle/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/>
                    </a:p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</a:t>
                      </a:r>
                      <a:endParaRPr/>
                    </a:p>
                    <a:p>
                      <a:pPr indent="11430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Operational labor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115,000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119,600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124,384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50,000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20,000</a:t>
                      </a:r>
                      <a:endParaRPr/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129,359</a:t>
                      </a:r>
                      <a:endParaRPr b="1" sz="1200"/>
                    </a:p>
                  </a:txBody>
                  <a:tcPr marT="45725" marB="45725" marR="127425" marL="1274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/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Operational Costs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185,000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189,600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194,384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199,359</a:t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27425" marL="127425"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Costs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185,000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189,600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194,384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199,359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Present</a:t>
                      </a:r>
                      <a:r>
                        <a:rPr b="1" lang="en-US" sz="1200"/>
                        <a:t> Value Total Costs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1,632,295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174,528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168,743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163,209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157,911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2,296,686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NPV (PV Total Benefits</a:t>
                      </a:r>
                      <a:r>
                        <a:rPr b="1" lang="en-US" sz="1200"/>
                        <a:t> − PV Total Costs </a:t>
                      </a:r>
                      <a:r>
                        <a:rPr b="1" lang="en-US" sz="1200"/>
                        <a:t>)</a:t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     68,292</a:t>
                      </a:r>
                      <a:endParaRPr b="1" sz="1200"/>
                    </a:p>
                  </a:txBody>
                  <a:tcPr marT="45725" marB="45725" marR="142775" marL="142775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g33710035b85_3_6"/>
          <p:cNvSpPr txBox="1"/>
          <p:nvPr/>
        </p:nvSpPr>
        <p:spPr>
          <a:xfrm>
            <a:off x="79525" y="6329950"/>
            <a:ext cx="570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*6% interest rate</a:t>
            </a:r>
            <a:endParaRPr sz="1800">
              <a:solidFill>
                <a:srgbClr val="FF003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 Value Calculation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22" name="Google Shape;322;p22"/>
          <p:cNvGrpSpPr/>
          <p:nvPr/>
        </p:nvGrpSpPr>
        <p:grpSpPr>
          <a:xfrm>
            <a:off x="1447800" y="1600200"/>
            <a:ext cx="6340475" cy="3048000"/>
            <a:chOff x="864" y="1056"/>
            <a:chExt cx="3994" cy="3087"/>
          </a:xfrm>
        </p:grpSpPr>
        <p:sp>
          <p:nvSpPr>
            <p:cNvPr id="323" name="Google Shape;323;p22"/>
            <p:cNvSpPr txBox="1"/>
            <p:nvPr/>
          </p:nvSpPr>
          <p:spPr>
            <a:xfrm>
              <a:off x="874" y="2818"/>
              <a:ext cx="3984" cy="1325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(1 + interest rate)</a:t>
              </a:r>
              <a:r>
                <a:rPr b="0" baseline="30000" i="0" lang="en-US" sz="3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2"/>
            <p:cNvSpPr txBox="1"/>
            <p:nvPr/>
          </p:nvSpPr>
          <p:spPr>
            <a:xfrm>
              <a:off x="874" y="1115"/>
              <a:ext cx="3984" cy="170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Cash flow amount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2"/>
            <p:cNvSpPr txBox="1"/>
            <p:nvPr/>
          </p:nvSpPr>
          <p:spPr>
            <a:xfrm>
              <a:off x="864" y="2496"/>
              <a:ext cx="3984" cy="384"/>
            </a:xfrm>
            <a:prstGeom prst="rect">
              <a:avLst/>
            </a:prstGeom>
            <a:solidFill>
              <a:srgbClr val="CC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874" y="1056"/>
              <a:ext cx="3984" cy="481"/>
            </a:xfrm>
            <a:prstGeom prst="rect">
              <a:avLst/>
            </a:prstGeom>
            <a:solidFill>
              <a:srgbClr val="EAEAE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PRESENT VALUE EQUALS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22"/>
            <p:cNvCxnSpPr/>
            <p:nvPr/>
          </p:nvCxnSpPr>
          <p:spPr>
            <a:xfrm>
              <a:off x="874" y="1109"/>
              <a:ext cx="0" cy="277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28" name="Google Shape;328;p22"/>
            <p:cNvCxnSpPr/>
            <p:nvPr/>
          </p:nvCxnSpPr>
          <p:spPr>
            <a:xfrm>
              <a:off x="864" y="244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9" name="Google Shape;329;p22"/>
            <p:cNvSpPr txBox="1"/>
            <p:nvPr/>
          </p:nvSpPr>
          <p:spPr>
            <a:xfrm>
              <a:off x="1776" y="2445"/>
              <a:ext cx="154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         Divided by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22"/>
            <p:cNvCxnSpPr/>
            <p:nvPr/>
          </p:nvCxnSpPr>
          <p:spPr>
            <a:xfrm>
              <a:off x="4858" y="1537"/>
              <a:ext cx="0" cy="13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31" name="Google Shape;331;p22"/>
            <p:cNvSpPr txBox="1"/>
            <p:nvPr/>
          </p:nvSpPr>
          <p:spPr>
            <a:xfrm>
              <a:off x="864" y="3623"/>
              <a:ext cx="3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Where “n” equals the number of periods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2" name="Google Shape;332;p22"/>
            <p:cNvCxnSpPr/>
            <p:nvPr/>
          </p:nvCxnSpPr>
          <p:spPr>
            <a:xfrm>
              <a:off x="864" y="292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33" name="Google Shape;333;p22"/>
          <p:cNvSpPr txBox="1"/>
          <p:nvPr/>
        </p:nvSpPr>
        <p:spPr>
          <a:xfrm>
            <a:off x="440525" y="4717262"/>
            <a:ext cx="7848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$100 received in 3 years with a required rate of return of 10% has a PV of $75.13.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 Shot 2018-01-25 at 10.34.18 AM.png" id="334" name="Google Shape;33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5638800"/>
            <a:ext cx="4310062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390d055ca6_0_0"/>
          <p:cNvSpPr txBox="1"/>
          <p:nvPr>
            <p:ph type="title"/>
          </p:nvPr>
        </p:nvSpPr>
        <p:spPr>
          <a:xfrm>
            <a:off x="946150" y="365125"/>
            <a:ext cx="726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 Value Calculation</a:t>
            </a:r>
            <a:endParaRPr/>
          </a:p>
        </p:txBody>
      </p:sp>
      <p:sp>
        <p:nvSpPr>
          <p:cNvPr id="340" name="Google Shape;340;g3390d055ca6_0_0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41" name="Google Shape;341;g3390d055ca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050" y="2097750"/>
            <a:ext cx="7966401" cy="23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Net Present Value (NPV)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609600" y="1828800"/>
            <a:ext cx="7696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NPV is simply the difference between the total present value of the benefits and the total present value of the costs.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 Shot 2018-01-24 at 12.56.30 PM.png" id="349" name="Google Shape;3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86200"/>
            <a:ext cx="6969125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0"/>
          <p:cNvSpPr txBox="1"/>
          <p:nvPr>
            <p:ph type="title"/>
          </p:nvPr>
        </p:nvSpPr>
        <p:spPr>
          <a:xfrm>
            <a:off x="571500" y="3048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Formulas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56" name="Google Shape;35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8534400" cy="558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533400" y="152400"/>
            <a:ext cx="7673975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62" name="Google Shape;362;p31"/>
          <p:cNvSpPr txBox="1"/>
          <p:nvPr>
            <p:ph idx="1" type="body"/>
          </p:nvPr>
        </p:nvSpPr>
        <p:spPr>
          <a:xfrm>
            <a:off x="946150" y="1828800"/>
            <a:ext cx="72612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the </a:t>
            </a:r>
            <a:r>
              <a:rPr b="0" i="0" lang="en-US" sz="32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users accept</a:t>
            </a: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the system?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it be incorporated in the organization?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How to assess?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Check </a:t>
            </a:r>
            <a:r>
              <a:rPr b="0" i="1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Strategic Alignment</a:t>
            </a: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fit between project and business strategy?</a:t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69" name="Google Shape;369;p32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Perform </a:t>
            </a:r>
            <a:r>
              <a:rPr b="0" i="1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</a:t>
            </a:r>
            <a:endParaRPr b="0" i="0" sz="2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any person, group, or organization that can affect or will be affected by the system</a:t>
            </a:r>
            <a:endParaRPr/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 considers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champion(s)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management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users</a:t>
            </a:r>
            <a:endParaRPr/>
          </a:p>
        </p:txBody>
      </p:sp>
      <p:sp>
        <p:nvSpPr>
          <p:cNvPr id="370" name="Google Shape;370;p3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5715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Stakeholders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7" name="Google Shape;3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14400"/>
            <a:ext cx="9143999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382" name="Google Shape;3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450" y="-12"/>
            <a:ext cx="6705600" cy="691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Summary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88" name="Google Shape;388;p35"/>
          <p:cNvSpPr txBox="1"/>
          <p:nvPr>
            <p:ph idx="1" type="body"/>
          </p:nvPr>
        </p:nvSpPr>
        <p:spPr>
          <a:xfrm>
            <a:off x="342900" y="1524000"/>
            <a:ext cx="80391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initiation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involves creating and assessing goals and expectations for a new system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of the new project is a key to success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an overview of the proposed system.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 study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 concerned with ensuring that technical, economic, and organizational benefits outweigh costs and risks</a:t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9" name="Google Shape;389;p3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