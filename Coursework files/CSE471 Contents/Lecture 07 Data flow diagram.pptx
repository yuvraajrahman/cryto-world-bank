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 id="21474836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y="6858000" cx="9144000"/>
  <p:notesSz cx="6858000" cy="9144000"/>
  <p:embeddedFontLst>
    <p:embeddedFont>
      <p:font typeface="Arial Narrow"/>
      <p:regular r:id="rId62"/>
      <p:bold r:id="rId63"/>
      <p:italic r:id="rId64"/>
      <p:boldItalic r:id="rId65"/>
    </p:embeddedFont>
    <p:embeddedFont>
      <p:font typeface="Corbel"/>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0" roundtripDataSignature="AMtx7mhwHkmY5N1hpgnYDispo5MWaaUA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904993-7FB6-4D49-B55C-7F6A4D5BB8BD}">
  <a:tblStyle styleId="{96904993-7FB6-4D49-B55C-7F6A4D5BB8B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0" Type="http://customschemas.google.com/relationships/presentationmetadata" Target="meta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ArialNarrow-regular.fntdata"/><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font" Target="fonts/ArialNarrow-italic.fntdata"/><Relationship Id="rId63" Type="http://schemas.openxmlformats.org/officeDocument/2006/relationships/font" Target="fonts/ArialNarrow-bold.fntdata"/><Relationship Id="rId22" Type="http://schemas.openxmlformats.org/officeDocument/2006/relationships/slide" Target="slides/slide14.xml"/><Relationship Id="rId66" Type="http://schemas.openxmlformats.org/officeDocument/2006/relationships/font" Target="fonts/Corbel-regular.fntdata"/><Relationship Id="rId21" Type="http://schemas.openxmlformats.org/officeDocument/2006/relationships/slide" Target="slides/slide13.xml"/><Relationship Id="rId65" Type="http://schemas.openxmlformats.org/officeDocument/2006/relationships/font" Target="fonts/ArialNarrow-boldItalic.fntdata"/><Relationship Id="rId24" Type="http://schemas.openxmlformats.org/officeDocument/2006/relationships/slide" Target="slides/slide16.xml"/><Relationship Id="rId68" Type="http://schemas.openxmlformats.org/officeDocument/2006/relationships/font" Target="fonts/Corbel-italic.fntdata"/><Relationship Id="rId23" Type="http://schemas.openxmlformats.org/officeDocument/2006/relationships/slide" Target="slides/slide15.xml"/><Relationship Id="rId67" Type="http://schemas.openxmlformats.org/officeDocument/2006/relationships/font" Target="fonts/Corbel-bold.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Corbel-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5" name="Google Shape;85;p2: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2: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0" marL="0" rtl="0" algn="l">
              <a:lnSpc>
                <a:spcPct val="90000"/>
              </a:lnSpc>
              <a:spcBef>
                <a:spcPts val="600"/>
              </a:spcBef>
              <a:spcAft>
                <a:spcPts val="0"/>
              </a:spcAft>
              <a:buSzPts val="1400"/>
              <a:buNone/>
            </a:pPr>
            <a:r>
              <a:rPr lang="en-US">
                <a:latin typeface="Arial"/>
                <a:ea typeface="Arial"/>
                <a:cs typeface="Arial"/>
                <a:sym typeface="Arial"/>
              </a:rPr>
              <a:t>In some books, the term </a:t>
            </a:r>
            <a:r>
              <a:rPr i="1" lang="en-US">
                <a:latin typeface="Arial"/>
                <a:ea typeface="Arial"/>
                <a:cs typeface="Arial"/>
                <a:sym typeface="Arial"/>
              </a:rPr>
              <a:t>logical</a:t>
            </a:r>
            <a:r>
              <a:rPr lang="en-US">
                <a:latin typeface="Arial"/>
                <a:ea typeface="Arial"/>
                <a:cs typeface="Arial"/>
                <a:sym typeface="Arial"/>
              </a:rPr>
              <a:t>  is called a </a:t>
            </a:r>
            <a:r>
              <a:rPr i="1" lang="en-US">
                <a:latin typeface="Arial"/>
                <a:ea typeface="Arial"/>
                <a:cs typeface="Arial"/>
                <a:sym typeface="Arial"/>
              </a:rPr>
              <a:t>conceptual</a:t>
            </a:r>
            <a:r>
              <a:rPr lang="en-US">
                <a:latin typeface="Arial"/>
                <a:ea typeface="Arial"/>
                <a:cs typeface="Arial"/>
                <a:sym typeface="Arial"/>
              </a:rPr>
              <a:t> or </a:t>
            </a:r>
            <a:r>
              <a:rPr i="1" lang="en-US">
                <a:latin typeface="Arial"/>
                <a:ea typeface="Arial"/>
                <a:cs typeface="Arial"/>
                <a:sym typeface="Arial"/>
              </a:rPr>
              <a:t>essential</a:t>
            </a:r>
            <a:r>
              <a:rPr lang="en-US">
                <a:latin typeface="Arial"/>
                <a:ea typeface="Arial"/>
                <a:cs typeface="Arial"/>
                <a:sym typeface="Arial"/>
              </a:rPr>
              <a:t>.  The term </a:t>
            </a:r>
            <a:r>
              <a:rPr i="1" lang="en-US">
                <a:latin typeface="Arial"/>
                <a:ea typeface="Arial"/>
                <a:cs typeface="Arial"/>
                <a:sym typeface="Arial"/>
              </a:rPr>
              <a:t>essential</a:t>
            </a:r>
            <a:r>
              <a:rPr lang="en-US">
                <a:latin typeface="Arial"/>
                <a:ea typeface="Arial"/>
                <a:cs typeface="Arial"/>
                <a:sym typeface="Arial"/>
              </a:rPr>
              <a:t> comes from the notion that the model represents the “essence” of the system.</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For database-oriented instructors, the term </a:t>
            </a:r>
            <a:r>
              <a:rPr i="1" lang="en-US">
                <a:latin typeface="Arial"/>
                <a:ea typeface="Arial"/>
                <a:cs typeface="Arial"/>
                <a:sym typeface="Arial"/>
              </a:rPr>
              <a:t>logical</a:t>
            </a:r>
            <a:r>
              <a:rPr lang="en-US">
                <a:latin typeface="Arial"/>
                <a:ea typeface="Arial"/>
                <a:cs typeface="Arial"/>
                <a:sym typeface="Arial"/>
              </a:rPr>
              <a:t> in the world of systems analysis is NOT equivalent to the term </a:t>
            </a:r>
            <a:r>
              <a:rPr i="1" lang="en-US">
                <a:latin typeface="Arial"/>
                <a:ea typeface="Arial"/>
                <a:cs typeface="Arial"/>
                <a:sym typeface="Arial"/>
              </a:rPr>
              <a:t>logical</a:t>
            </a:r>
            <a:r>
              <a:rPr lang="en-US">
                <a:latin typeface="Arial"/>
                <a:ea typeface="Arial"/>
                <a:cs typeface="Arial"/>
                <a:sym typeface="Arial"/>
              </a:rPr>
              <a:t> in the world of database. In the database world, a “logical schema” is already constrained by the choice of a database technology, which runs contrary to the systems analysis expectation that a logical model is technology-</a:t>
            </a:r>
            <a:r>
              <a:rPr lang="en-US" u="sng">
                <a:latin typeface="Arial"/>
                <a:ea typeface="Arial"/>
                <a:cs typeface="Arial"/>
                <a:sym typeface="Arial"/>
              </a:rPr>
              <a:t>in</a:t>
            </a:r>
            <a:r>
              <a:rPr lang="en-US">
                <a:latin typeface="Arial"/>
                <a:ea typeface="Arial"/>
                <a:cs typeface="Arial"/>
                <a:sym typeface="Arial"/>
              </a:rPr>
              <a:t>dependent.</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In some books, the term </a:t>
            </a:r>
            <a:r>
              <a:rPr i="1" lang="en-US">
                <a:latin typeface="Arial"/>
                <a:ea typeface="Arial"/>
                <a:cs typeface="Arial"/>
                <a:sym typeface="Arial"/>
              </a:rPr>
              <a:t>physical</a:t>
            </a:r>
            <a:r>
              <a:rPr lang="en-US">
                <a:latin typeface="Arial"/>
                <a:ea typeface="Arial"/>
                <a:cs typeface="Arial"/>
                <a:sym typeface="Arial"/>
              </a:rPr>
              <a:t> is called </a:t>
            </a:r>
            <a:r>
              <a:rPr i="1" lang="en-US">
                <a:latin typeface="Arial"/>
                <a:ea typeface="Arial"/>
                <a:cs typeface="Arial"/>
                <a:sym typeface="Arial"/>
              </a:rPr>
              <a:t>implementation</a:t>
            </a:r>
            <a:r>
              <a:rPr lang="en-US">
                <a:latin typeface="Arial"/>
                <a:ea typeface="Arial"/>
                <a:cs typeface="Arial"/>
                <a:sym typeface="Arial"/>
              </a:rPr>
              <a:t> or </a:t>
            </a:r>
            <a:r>
              <a:rPr i="1" lang="en-US">
                <a:latin typeface="Arial"/>
                <a:ea typeface="Arial"/>
                <a:cs typeface="Arial"/>
                <a:sym typeface="Arial"/>
              </a:rPr>
              <a:t>technical</a:t>
            </a:r>
            <a:r>
              <a:rPr lang="en-US">
                <a:latin typeface="Arial"/>
                <a:ea typeface="Arial"/>
                <a:cs typeface="Arial"/>
                <a:sym typeface="Arial"/>
              </a:rPr>
              <a:t>.</a:t>
            </a:r>
            <a:endParaRPr/>
          </a:p>
          <a:p>
            <a:pPr indent="0" lvl="0" marL="0" rtl="0" algn="l">
              <a:lnSpc>
                <a:spcPct val="90000"/>
              </a:lnSpc>
              <a:spcBef>
                <a:spcPts val="300"/>
              </a:spcBef>
              <a:spcAft>
                <a:spcPts val="0"/>
              </a:spcAft>
              <a:buSzPts val="1400"/>
              <a:buNone/>
            </a:pPr>
            <a:r>
              <a:rPr lang="en-US">
                <a:latin typeface="Arial"/>
                <a:ea typeface="Arial"/>
                <a:cs typeface="Arial"/>
                <a:sym typeface="Arial"/>
              </a:rPr>
              <a:t>Emphasize that there are nearly always </a:t>
            </a:r>
            <a:r>
              <a:rPr lang="en-US" u="sng">
                <a:latin typeface="Arial"/>
                <a:ea typeface="Arial"/>
                <a:cs typeface="Arial"/>
                <a:sym typeface="Arial"/>
              </a:rPr>
              <a:t>multiple</a:t>
            </a:r>
            <a:r>
              <a:rPr lang="en-US">
                <a:latin typeface="Arial"/>
                <a:ea typeface="Arial"/>
                <a:cs typeface="Arial"/>
                <a:sym typeface="Arial"/>
              </a:rPr>
              <a:t> technical solutions for any given set of business requirements.  In most projects, there is </a:t>
            </a:r>
            <a:r>
              <a:rPr lang="en-US" u="sng">
                <a:latin typeface="Arial"/>
                <a:ea typeface="Arial"/>
                <a:cs typeface="Arial"/>
                <a:sym typeface="Arial"/>
              </a:rPr>
              <a:t>one</a:t>
            </a:r>
            <a:r>
              <a:rPr lang="en-US">
                <a:latin typeface="Arial"/>
                <a:ea typeface="Arial"/>
                <a:cs typeface="Arial"/>
                <a:sym typeface="Arial"/>
              </a:rPr>
              <a:t> logical model that represents the mandatory and desirable business requirements, </a:t>
            </a:r>
            <a:r>
              <a:rPr lang="en-US" u="sng">
                <a:latin typeface="Arial"/>
                <a:ea typeface="Arial"/>
                <a:cs typeface="Arial"/>
                <a:sym typeface="Arial"/>
              </a:rPr>
              <a:t>regardless</a:t>
            </a:r>
            <a:r>
              <a:rPr lang="en-US">
                <a:latin typeface="Arial"/>
                <a:ea typeface="Arial"/>
                <a:cs typeface="Arial"/>
                <a:sym typeface="Arial"/>
              </a:rPr>
              <a:t> of how those requirements might be implemented. On the other hand, given that </a:t>
            </a:r>
            <a:r>
              <a:rPr lang="en-US" u="sng">
                <a:latin typeface="Arial"/>
                <a:ea typeface="Arial"/>
                <a:cs typeface="Arial"/>
                <a:sym typeface="Arial"/>
              </a:rPr>
              <a:t>one</a:t>
            </a:r>
            <a:r>
              <a:rPr lang="en-US">
                <a:latin typeface="Arial"/>
                <a:ea typeface="Arial"/>
                <a:cs typeface="Arial"/>
                <a:sym typeface="Arial"/>
              </a:rPr>
              <a:t> logical model, there are multiple candidate physical models that could represent alternative, technical implementations that could fulfill the business requirements (although analysts rarely draw more than one or two of those physical models).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5" name="Google Shape;95;p3: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 name="Google Shape;96;p3: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86468bc1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686468bc17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3686468bc17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1" name="Google Shape;11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1" name="Google Shape;121;p7: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2" name="Google Shape;122;p7: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Font typeface="Arial"/>
              <a:buNone/>
            </a:pPr>
            <a:r>
              <a:rPr b="1" lang="en-US">
                <a:latin typeface="Arial"/>
                <a:ea typeface="Arial"/>
                <a:cs typeface="Arial"/>
                <a:sym typeface="Arial"/>
              </a:rPr>
              <a:t>Teaching Notes</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Most books do not teach “control flows.”  The were initially proposed by Paul Ward in his books that extended structured analysis techniques to cover real-time systems.  They are especially useful in contemporary information systems analysis because they are as close as structured analysis gets to illustrating “messages” in an object-oriented world.</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Make sure students do not confuse data flows with flowchart arrows.  Flowchart arrows are not named because they merely indicate “the next step.”  Data flows pass actual data attributes to and from processes.</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CRUD is a useful acronym from the database world to remember the basic data flows as they relate to data stores: </a:t>
            </a:r>
            <a:r>
              <a:rPr lang="en-US" u="sng">
                <a:latin typeface="Arial"/>
                <a:ea typeface="Arial"/>
                <a:cs typeface="Arial"/>
                <a:sym typeface="Arial"/>
              </a:rPr>
              <a:t>C</a:t>
            </a:r>
            <a:r>
              <a:rPr lang="en-US">
                <a:latin typeface="Arial"/>
                <a:ea typeface="Arial"/>
                <a:cs typeface="Arial"/>
                <a:sym typeface="Arial"/>
              </a:rPr>
              <a:t>reate, </a:t>
            </a:r>
            <a:r>
              <a:rPr lang="en-US" u="sng">
                <a:latin typeface="Arial"/>
                <a:ea typeface="Arial"/>
                <a:cs typeface="Arial"/>
                <a:sym typeface="Arial"/>
              </a:rPr>
              <a:t>R</a:t>
            </a:r>
            <a:r>
              <a:rPr lang="en-US">
                <a:latin typeface="Arial"/>
                <a:ea typeface="Arial"/>
                <a:cs typeface="Arial"/>
                <a:sym typeface="Arial"/>
              </a:rPr>
              <a:t>ead, </a:t>
            </a:r>
            <a:r>
              <a:rPr lang="en-US" u="sng">
                <a:latin typeface="Arial"/>
                <a:ea typeface="Arial"/>
                <a:cs typeface="Arial"/>
                <a:sym typeface="Arial"/>
              </a:rPr>
              <a:t>U</a:t>
            </a:r>
            <a:r>
              <a:rPr lang="en-US">
                <a:latin typeface="Arial"/>
                <a:ea typeface="Arial"/>
                <a:cs typeface="Arial"/>
                <a:sym typeface="Arial"/>
              </a:rPr>
              <a:t>pdate (or change), and </a:t>
            </a:r>
            <a:r>
              <a:rPr lang="en-US" u="sng">
                <a:latin typeface="Arial"/>
                <a:ea typeface="Arial"/>
                <a:cs typeface="Arial"/>
                <a:sym typeface="Arial"/>
              </a:rPr>
              <a:t>D</a:t>
            </a:r>
            <a:r>
              <a:rPr lang="en-US">
                <a:latin typeface="Arial"/>
                <a:ea typeface="Arial"/>
                <a:cs typeface="Arial"/>
                <a:sym typeface="Arial"/>
              </a:rPr>
              <a:t>elete.</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One of the most common uses of composite data flows is to combine many reports into a single data flow on a high-level DFD.  They can also be used to combine similar transactions on a higher level DFD before differentiating between those flows on lower-level DFDs.</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Use case diagrams, an object-oriented analysis tool that also describes interfaces are taught in Chapter 7.</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3" name="Google Shape;133;p5: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4" name="Google Shape;134;p5: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Emphasize that a data store contains all instances of a data entity (from the data model).  That is why data store names are plurals (as contrasted to data entity names that are singular).</a:t>
            </a:r>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Although we don’t prefer it, some analysts designate a data store to contain all instances of several entities and relationships from a data model.  For example, an ORDERS data store might include all instances of the data entities ORDER and ORDERED PRODUCT, and all instances of the relationship between ORDER and ORDERED PRODUCT—We prefer the simplicity of representing each data entity from the data model as its own data store on the process models.</a:t>
            </a:r>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Emphasize that because data stores are shared resources available to many processes, it is acceptable to duplicate them on several DFDs—The duplication does NOT indicate redundant storage (on </a:t>
            </a:r>
            <a:r>
              <a:rPr lang="en-US" u="sng">
                <a:latin typeface="Arial"/>
                <a:ea typeface="Arial"/>
                <a:cs typeface="Arial"/>
                <a:sym typeface="Arial"/>
              </a:rPr>
              <a:t>logical</a:t>
            </a:r>
            <a:r>
              <a:rPr lang="en-US">
                <a:latin typeface="Arial"/>
                <a:ea typeface="Arial"/>
                <a:cs typeface="Arial"/>
                <a:sym typeface="Arial"/>
              </a:rPr>
              <a:t> DFDs); it merely represents the sharing of the data store by several processes.</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5" name="Google Shape;145;p4: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6" name="Google Shape;146;p4: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It is very important to emphasize the external agents on DFDs are not the same as entities on ERDs (from Chapter 7)—especially if the instructor prefers the more traditional term “external entity.”</a:t>
            </a:r>
            <a:endParaRPr/>
          </a:p>
          <a:p>
            <a:pPr indent="0" lvl="3" marL="0" rtl="0" algn="l">
              <a:lnSpc>
                <a:spcPct val="100000"/>
              </a:lnSpc>
              <a:spcBef>
                <a:spcPts val="0"/>
              </a:spcBef>
              <a:spcAft>
                <a:spcPts val="0"/>
              </a:spcAft>
              <a:buSzPts val="1800"/>
              <a:buFont typeface="Arial"/>
              <a:buNone/>
            </a:pPr>
            <a:r>
              <a:rPr lang="en-US">
                <a:latin typeface="Arial"/>
                <a:ea typeface="Arial"/>
                <a:cs typeface="Arial"/>
                <a:sym typeface="Arial"/>
              </a:rPr>
              <a:t>This is true even though you could have both an entity (on an ERD) with the same name as an external agent/entity on a DFD.  Consider the entity CUSTOMER and the external agent CUSTOMER:</a:t>
            </a:r>
            <a:endParaRPr/>
          </a:p>
          <a:p>
            <a:pPr indent="0" lvl="4" marL="0" rtl="0" algn="l">
              <a:lnSpc>
                <a:spcPct val="100000"/>
              </a:lnSpc>
              <a:spcBef>
                <a:spcPts val="0"/>
              </a:spcBef>
              <a:spcAft>
                <a:spcPts val="0"/>
              </a:spcAft>
              <a:buSzPts val="1800"/>
              <a:buFont typeface="Arial"/>
              <a:buNone/>
            </a:pPr>
            <a:r>
              <a:rPr lang="en-US">
                <a:latin typeface="Arial"/>
                <a:ea typeface="Arial"/>
                <a:cs typeface="Arial"/>
                <a:sym typeface="Arial"/>
              </a:rPr>
              <a:t>The entity CUSTOMER indicates the requirement to store data about customers.</a:t>
            </a:r>
            <a:endParaRPr/>
          </a:p>
          <a:p>
            <a:pPr indent="0" lvl="4" marL="0" rtl="0" algn="l">
              <a:lnSpc>
                <a:spcPct val="100000"/>
              </a:lnSpc>
              <a:spcBef>
                <a:spcPts val="0"/>
              </a:spcBef>
              <a:spcAft>
                <a:spcPts val="0"/>
              </a:spcAft>
              <a:buSzPts val="1800"/>
              <a:buFont typeface="Arial"/>
              <a:buNone/>
            </a:pPr>
            <a:r>
              <a:rPr lang="en-US">
                <a:latin typeface="Arial"/>
                <a:ea typeface="Arial"/>
                <a:cs typeface="Arial"/>
                <a:sym typeface="Arial"/>
              </a:rPr>
              <a:t>The external agent CUSTOMER indicates the requirement for an interaction (inputs and/or outputs) with customers.</a:t>
            </a:r>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It is very important for students to understand that external agents are “processes” outside of the scope of the system or business.  As such, as scope “increases,” external agents can become processes.  Conversely, if scope “decreases,” processes can become external agents.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fb9dccea9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fb9dccea9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2fb9dccea9d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b9dccea9d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fb9dccea9d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fb9dccea9d_0_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6" name="Google Shape;186;p11: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7" name="Google Shape;187;p11: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0" marL="0" rtl="0" algn="l">
              <a:lnSpc>
                <a:spcPct val="100000"/>
              </a:lnSpc>
              <a:spcBef>
                <a:spcPts val="600"/>
              </a:spcBef>
              <a:spcAft>
                <a:spcPts val="0"/>
              </a:spcAft>
              <a:buSzPts val="1400"/>
              <a:buNone/>
            </a:pPr>
            <a:r>
              <a:rPr lang="en-US">
                <a:latin typeface="Arial"/>
                <a:ea typeface="Arial"/>
                <a:cs typeface="Arial"/>
                <a:sym typeface="Arial"/>
              </a:rPr>
              <a:t>Idea: Correct this diagram as an in-class exercise.</a:t>
            </a:r>
            <a:endParaRPr/>
          </a:p>
          <a:p>
            <a:pPr indent="0" lvl="1" marL="0" rtl="0" algn="l">
              <a:lnSpc>
                <a:spcPct val="100000"/>
              </a:lnSpc>
              <a:spcBef>
                <a:spcPts val="600"/>
              </a:spcBef>
              <a:spcAft>
                <a:spcPts val="0"/>
              </a:spcAft>
              <a:buSzPts val="1800"/>
              <a:buFont typeface="Arial"/>
              <a:buNone/>
            </a:pPr>
            <a:r>
              <a:rPr lang="en-US">
                <a:latin typeface="Arial"/>
                <a:ea typeface="Arial"/>
                <a:cs typeface="Arial"/>
                <a:sym typeface="Arial"/>
              </a:rPr>
              <a:t>3.1.1:  To correct the diagram, a data flow, ACCOUNTING DATA, should be added from the data store, MEMBER ACCOUNTS, to process 3.1.1.</a:t>
            </a:r>
            <a:endParaRPr/>
          </a:p>
          <a:p>
            <a:pPr indent="0" lvl="1" marL="0" rtl="0" algn="l">
              <a:lnSpc>
                <a:spcPct val="100000"/>
              </a:lnSpc>
              <a:spcBef>
                <a:spcPts val="600"/>
              </a:spcBef>
              <a:spcAft>
                <a:spcPts val="0"/>
              </a:spcAft>
              <a:buSzPts val="1800"/>
              <a:buFont typeface="Arial"/>
              <a:buNone/>
            </a:pPr>
            <a:r>
              <a:rPr lang="en-US">
                <a:latin typeface="Arial"/>
                <a:ea typeface="Arial"/>
                <a:cs typeface="Arial"/>
                <a:sym typeface="Arial"/>
              </a:rPr>
              <a:t>3.1.2:  To fix the black hole, we might add an output data flow called NEW MEMBER ACCOUNT from process 3.1.2 to the data store MEMBER ACCOUNTS.</a:t>
            </a:r>
            <a:endParaRPr/>
          </a:p>
          <a:p>
            <a:pPr indent="0" lvl="1" marL="0" rtl="0" algn="l">
              <a:lnSpc>
                <a:spcPct val="100000"/>
              </a:lnSpc>
              <a:spcBef>
                <a:spcPts val="300"/>
              </a:spcBef>
              <a:spcAft>
                <a:spcPts val="0"/>
              </a:spcAft>
              <a:buSzPts val="1800"/>
              <a:buFont typeface="Arial"/>
              <a:buNone/>
            </a:pPr>
            <a:r>
              <a:rPr lang="en-US">
                <a:latin typeface="Arial"/>
                <a:ea typeface="Arial"/>
                <a:cs typeface="Arial"/>
                <a:sym typeface="Arial"/>
              </a:rPr>
              <a:t>3.1.3:  To fix the miracle, you would need to at least add a data flow such as ACCOUNTING DATA from the data store, MEMBER ACCOUNTS, to process 3.1.3.  In all likelihood, you also need some type of triggering data flow, such as ACCOUNT FREEZE AUTHORIZATION, from a new external agent, such ACCOUNTING DEPARTMENT, to process 3.1 3.</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2" name="Google Shape;202;p13: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3" name="Google Shape;203;p13: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0" marL="0" rtl="0" algn="l">
              <a:lnSpc>
                <a:spcPct val="100000"/>
              </a:lnSpc>
              <a:spcBef>
                <a:spcPts val="600"/>
              </a:spcBef>
              <a:spcAft>
                <a:spcPts val="0"/>
              </a:spcAft>
              <a:buSzPts val="1400"/>
              <a:buNone/>
            </a:pPr>
            <a:r>
              <a:rPr lang="en-US">
                <a:latin typeface="Arial"/>
                <a:ea typeface="Arial"/>
                <a:cs typeface="Arial"/>
                <a:sym typeface="Arial"/>
              </a:rPr>
              <a:t>Some DFD methodologies suggest that data flows to and from data stores </a:t>
            </a:r>
            <a:r>
              <a:rPr lang="en-US" u="sng">
                <a:latin typeface="Arial"/>
                <a:ea typeface="Arial"/>
                <a:cs typeface="Arial"/>
                <a:sym typeface="Arial"/>
              </a:rPr>
              <a:t>not</a:t>
            </a:r>
            <a:r>
              <a:rPr lang="en-US">
                <a:latin typeface="Arial"/>
                <a:ea typeface="Arial"/>
                <a:cs typeface="Arial"/>
                <a:sym typeface="Arial"/>
              </a:rPr>
              <a:t> be named.  We think this confuses the end-users when they try to read the diagrams.  Also, we believe that it is easier to have DFD errors of omission if the rules state that some flows are named while others are not.</a:t>
            </a:r>
            <a:endParaRPr/>
          </a:p>
          <a:p>
            <a:pPr indent="0" lvl="0" marL="0" rtl="0" algn="l">
              <a:lnSpc>
                <a:spcPct val="100000"/>
              </a:lnSpc>
              <a:spcBef>
                <a:spcPts val="300"/>
              </a:spcBef>
              <a:spcAft>
                <a:spcPts val="0"/>
              </a:spcAft>
              <a:buSzPts val="1400"/>
              <a:buNone/>
            </a:pPr>
            <a:r>
              <a:rPr lang="en-US">
                <a:latin typeface="Arial"/>
                <a:ea typeface="Arial"/>
                <a:cs typeface="Arial"/>
                <a:sym typeface="Arial"/>
              </a:rPr>
              <a:t>Some DFD notations actually use the CRUD letters only to name flows to and from data stores.  We consider this an acceptable alternative.  CRUD is a useful acronym from the database world to remember the basic data flows as they relate to data stores: </a:t>
            </a:r>
            <a:r>
              <a:rPr lang="en-US" u="sng">
                <a:latin typeface="Arial"/>
                <a:ea typeface="Arial"/>
                <a:cs typeface="Arial"/>
                <a:sym typeface="Arial"/>
              </a:rPr>
              <a:t>C</a:t>
            </a:r>
            <a:r>
              <a:rPr lang="en-US">
                <a:latin typeface="Arial"/>
                <a:ea typeface="Arial"/>
                <a:cs typeface="Arial"/>
                <a:sym typeface="Arial"/>
              </a:rPr>
              <a:t>reate, </a:t>
            </a:r>
            <a:r>
              <a:rPr lang="en-US" u="sng">
                <a:latin typeface="Arial"/>
                <a:ea typeface="Arial"/>
                <a:cs typeface="Arial"/>
                <a:sym typeface="Arial"/>
              </a:rPr>
              <a:t>R</a:t>
            </a:r>
            <a:r>
              <a:rPr lang="en-US">
                <a:latin typeface="Arial"/>
                <a:ea typeface="Arial"/>
                <a:cs typeface="Arial"/>
                <a:sym typeface="Arial"/>
              </a:rPr>
              <a:t>ead, </a:t>
            </a:r>
            <a:r>
              <a:rPr lang="en-US" u="sng">
                <a:latin typeface="Arial"/>
                <a:ea typeface="Arial"/>
                <a:cs typeface="Arial"/>
                <a:sym typeface="Arial"/>
              </a:rPr>
              <a:t>U</a:t>
            </a:r>
            <a:r>
              <a:rPr lang="en-US">
                <a:latin typeface="Arial"/>
                <a:ea typeface="Arial"/>
                <a:cs typeface="Arial"/>
                <a:sym typeface="Arial"/>
              </a:rPr>
              <a:t>pdate (or change), and </a:t>
            </a:r>
            <a:r>
              <a:rPr lang="en-US" u="sng">
                <a:latin typeface="Arial"/>
                <a:ea typeface="Arial"/>
                <a:cs typeface="Arial"/>
                <a:sym typeface="Arial"/>
              </a:rPr>
              <a:t>D</a:t>
            </a:r>
            <a:r>
              <a:rPr lang="en-US">
                <a:latin typeface="Arial"/>
                <a:ea typeface="Arial"/>
                <a:cs typeface="Arial"/>
                <a:sym typeface="Arial"/>
              </a:rPr>
              <a:t>elete.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0" name="Google Shape;21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1" name="Google Shape;21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9" name="Google Shape;219;p15: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0" name="Google Shape;220;p15: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7" name="Google Shape;227;p16: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8" name="Google Shape;228;p16: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Different CASE tools use different notations to illustrate converging and diverging data flows.  In fact, some CASE tools do not even support this concept.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7" name="Google Shape;277;p23: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8" name="Google Shape;278;p23: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6" name="Google Shape;286;p24: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7" name="Google Shape;287;p24: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p>
          <a:p>
            <a:pPr indent="0" lvl="0" marL="0" rtl="0" algn="l">
              <a:lnSpc>
                <a:spcPct val="100000"/>
              </a:lnSpc>
              <a:spcBef>
                <a:spcPts val="600"/>
              </a:spcBef>
              <a:spcAft>
                <a:spcPts val="0"/>
              </a:spcAft>
              <a:buSzPts val="1400"/>
              <a:buNone/>
            </a:pPr>
            <a:r>
              <a:rPr lang="en-US">
                <a:latin typeface="Arial"/>
                <a:ea typeface="Arial"/>
                <a:cs typeface="Arial"/>
                <a:sym typeface="Arial"/>
              </a:rPr>
              <a:t>Decomposition is a top-down problem-solving approach.  </a:t>
            </a:r>
            <a:endParaRPr/>
          </a:p>
          <a:p>
            <a:pPr indent="0" lvl="0" marL="0" rtl="0" algn="l">
              <a:lnSpc>
                <a:spcPct val="100000"/>
              </a:lnSpc>
              <a:spcBef>
                <a:spcPts val="600"/>
              </a:spcBef>
              <a:spcAft>
                <a:spcPts val="0"/>
              </a:spcAft>
              <a:buSzPts val="1400"/>
              <a:buNone/>
            </a:pPr>
            <a:r>
              <a:rPr lang="en-US">
                <a:latin typeface="Arial"/>
                <a:ea typeface="Arial"/>
                <a:cs typeface="Arial"/>
                <a:sym typeface="Arial"/>
              </a:rPr>
              <a:t>It might be useful to point out the numbering scheme.  This scheme is common, but we do not like it because if the system is restructured, it forces renumbering all processes.</a:t>
            </a:r>
            <a:endParaRPr/>
          </a:p>
          <a:p>
            <a:pPr indent="0" lvl="0" marL="0" rtl="0" algn="l">
              <a:lnSpc>
                <a:spcPct val="100000"/>
              </a:lnSpc>
              <a:spcBef>
                <a:spcPts val="300"/>
              </a:spcBef>
              <a:spcAft>
                <a:spcPts val="0"/>
              </a:spcAft>
              <a:buSzPts val="1400"/>
              <a:buNone/>
            </a:pPr>
            <a:r>
              <a:rPr lang="en-US">
                <a:latin typeface="Arial"/>
                <a:ea typeface="Arial"/>
                <a:cs typeface="Arial"/>
                <a:sym typeface="Arial"/>
              </a:rPr>
              <a:t>Some instructors like to do a quick example using a small but realistic problem.</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86468bc17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686468bc17_0_1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86468bc17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686468bc17_0_22: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86468bc17_0_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686468bc17_0_29: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6" name="Google Shape;31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7" name="Google Shape;31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This may be review from chapter 5.</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5" name="Google Shape;325;p25: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6" name="Google Shape;326;p25: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4" name="Google Shape;334;p26: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5" name="Google Shape;335;p26: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3" name="Google Shape;343;p27: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4" name="Google Shape;344;p27: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686468bc17_0_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686468bc17_0_141: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8" name="Google Shape;35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9" name="Google Shape;35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400"/>
              <a:buNone/>
            </a:pPr>
            <a:r>
              <a:rPr lang="en-US">
                <a:latin typeface="Arial"/>
                <a:ea typeface="Arial"/>
                <a:cs typeface="Arial"/>
                <a:sym typeface="Arial"/>
              </a:rPr>
              <a:t>Discuss balancing with the class, the concept that requires that data flow diagrams at different levels of detail reflect consistency and completeness.</a:t>
            </a:r>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686468bc17_0_3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686468bc17_0_389: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686468bc17_0_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g3686468bc17_0_237: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686468bc17_0_2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686468bc17_0_244: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86468bc17_0_2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3686468bc17_0_251: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686468bc17_0_2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3686468bc17_0_258: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686468bc17_0_2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686468bc17_0_26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686468bc17_0_2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686468bc17_0_272: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686468bc17_0_2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686468bc17_0_279: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686468bc17_0_2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686468bc17_0_286: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86468bc17_0_2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g3686468bc17_0_293: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86468bc17_0_4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686468bc17_0_4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g3686468bc17_0_485: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3"/>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SzPts val="1400"/>
              <a:buNone/>
              <a:defRPr sz="5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3"/>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28" name="Google Shape;28;p43"/>
          <p:cNvSpPr txBox="1"/>
          <p:nvPr>
            <p:ph idx="10" type="dt"/>
          </p:nvPr>
        </p:nvSpPr>
        <p:spPr>
          <a:xfrm>
            <a:off x="7326312" y="6116637"/>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1" type="ftr"/>
          </p:nvPr>
        </p:nvSpPr>
        <p:spPr>
          <a:xfrm>
            <a:off x="3624262" y="6116637"/>
            <a:ext cx="36083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3"/>
          <p:cNvSpPr txBox="1"/>
          <p:nvPr>
            <p:ph idx="12" type="sldNum"/>
          </p:nvPr>
        </p:nvSpPr>
        <p:spPr>
          <a:xfrm>
            <a:off x="8275637" y="6116637"/>
            <a:ext cx="4111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45"/>
          <p:cNvSpPr txBox="1"/>
          <p:nvPr>
            <p:ph type="title"/>
          </p:nvPr>
        </p:nvSpPr>
        <p:spPr>
          <a:xfrm>
            <a:off x="964122" y="158376"/>
            <a:ext cx="6790267"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 type="body"/>
          </p:nvPr>
        </p:nvSpPr>
        <p:spPr>
          <a:xfrm>
            <a:off x="982133" y="1676400"/>
            <a:ext cx="3739896"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8" name="Google Shape;48;p45"/>
          <p:cNvSpPr txBox="1"/>
          <p:nvPr>
            <p:ph idx="2" type="body"/>
          </p:nvPr>
        </p:nvSpPr>
        <p:spPr>
          <a:xfrm>
            <a:off x="4946904" y="1676400"/>
            <a:ext cx="3739896"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9" name="Google Shape;49;p45"/>
          <p:cNvSpPr txBox="1"/>
          <p:nvPr>
            <p:ph idx="10" type="dt"/>
          </p:nvPr>
        </p:nvSpPr>
        <p:spPr>
          <a:xfrm>
            <a:off x="7385050" y="6478587"/>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5"/>
          <p:cNvSpPr txBox="1"/>
          <p:nvPr>
            <p:ph idx="11" type="ftr"/>
          </p:nvPr>
        </p:nvSpPr>
        <p:spPr>
          <a:xfrm>
            <a:off x="1130300" y="6492875"/>
            <a:ext cx="62277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5"/>
          <p:cNvSpPr txBox="1"/>
          <p:nvPr>
            <p:ph idx="12" type="sldNum"/>
          </p:nvPr>
        </p:nvSpPr>
        <p:spPr>
          <a:xfrm>
            <a:off x="8245475" y="6478587"/>
            <a:ext cx="41433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47"/>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7"/>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70" name="Google Shape;70;p47"/>
          <p:cNvSpPr txBox="1"/>
          <p:nvPr>
            <p:ph idx="10" type="dt"/>
          </p:nvPr>
        </p:nvSpPr>
        <p:spPr>
          <a:xfrm>
            <a:off x="7400925" y="6492875"/>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1" type="ftr"/>
          </p:nvPr>
        </p:nvSpPr>
        <p:spPr>
          <a:xfrm>
            <a:off x="2036762" y="6473825"/>
            <a:ext cx="53149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7"/>
          <p:cNvSpPr txBox="1"/>
          <p:nvPr>
            <p:ph idx="12" type="sldNum"/>
          </p:nvPr>
        </p:nvSpPr>
        <p:spPr>
          <a:xfrm>
            <a:off x="8302625" y="6483350"/>
            <a:ext cx="4286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73" name="Shape 73"/>
        <p:cNvGrpSpPr/>
        <p:nvPr/>
      </p:nvGrpSpPr>
      <p:grpSpPr>
        <a:xfrm>
          <a:off x="0" y="0"/>
          <a:ext cx="0" cy="0"/>
          <a:chOff x="0" y="0"/>
          <a:chExt cx="0" cy="0"/>
        </a:xfrm>
      </p:grpSpPr>
      <p:sp>
        <p:nvSpPr>
          <p:cNvPr id="74" name="Google Shape;74;g3686468bc17_0_118"/>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g3686468bc17_0_118"/>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350520" lvl="1" marL="914400" marR="0" algn="l">
              <a:lnSpc>
                <a:spcPct val="90000"/>
              </a:lnSpc>
              <a:spcBef>
                <a:spcPts val="500"/>
              </a:spcBef>
              <a:spcAft>
                <a:spcPts val="0"/>
              </a:spcAft>
              <a:buClr>
                <a:schemeClr val="accent2"/>
              </a:buClr>
              <a:buSzPts val="1920"/>
              <a:buFont typeface="Courier New"/>
              <a:buChar char="o"/>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406400" lvl="3" marL="18288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60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g3686468bc17_0_118"/>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77" name="Google Shape;77;g3686468bc17_0_118"/>
          <p:cNvSpPr txBox="1"/>
          <p:nvPr>
            <p:ph idx="11" type="ftr"/>
          </p:nvPr>
        </p:nvSpPr>
        <p:spPr>
          <a:xfrm>
            <a:off x="3028950" y="6356351"/>
            <a:ext cx="30861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2"/>
          <p:cNvGrpSpPr/>
          <p:nvPr/>
        </p:nvGrpSpPr>
        <p:grpSpPr>
          <a:xfrm>
            <a:off x="203200" y="0"/>
            <a:ext cx="3778250" cy="6858000"/>
            <a:chOff x="203200" y="0"/>
            <a:chExt cx="3778250" cy="6858001"/>
          </a:xfrm>
        </p:grpSpPr>
        <p:sp>
          <p:nvSpPr>
            <p:cNvPr id="11" name="Google Shape;11;p42"/>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 name="Google Shape;12;p42"/>
            <p:cNvSpPr/>
            <p:nvPr/>
          </p:nvSpPr>
          <p:spPr>
            <a:xfrm>
              <a:off x="203200" y="0"/>
              <a:ext cx="1336675" cy="3862389"/>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3" name="Google Shape;13;p42"/>
            <p:cNvSpPr/>
            <p:nvPr/>
          </p:nvSpPr>
          <p:spPr>
            <a:xfrm>
              <a:off x="207963" y="3776664"/>
              <a:ext cx="1936750" cy="3081337"/>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4" name="Google Shape;14;p42"/>
            <p:cNvSpPr/>
            <p:nvPr/>
          </p:nvSpPr>
          <p:spPr>
            <a:xfrm>
              <a:off x="646113" y="3886201"/>
              <a:ext cx="2373312" cy="2971800"/>
            </a:xfrm>
            <a:custGeom>
              <a:rect b="b" l="l" r="r" t="t"/>
              <a:pathLst>
                <a:path extrusionOk="0" h="1872" w="1495">
                  <a:moveTo>
                    <a:pt x="1495" y="1872"/>
                  </a:moveTo>
                  <a:lnTo>
                    <a:pt x="0" y="0"/>
                  </a:lnTo>
                  <a:lnTo>
                    <a:pt x="1442" y="1872"/>
                  </a:lnTo>
                  <a:lnTo>
                    <a:pt x="1495" y="1872"/>
                  </a:lnTo>
                  <a:close/>
                </a:path>
              </a:pathLst>
            </a:custGeom>
            <a:solidFill>
              <a:srgbClr val="25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5" name="Google Shape;15;p42"/>
            <p:cNvSpPr/>
            <p:nvPr/>
          </p:nvSpPr>
          <p:spPr>
            <a:xfrm>
              <a:off x="641350" y="3881439"/>
              <a:ext cx="3340100" cy="2976562"/>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7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6" name="Google Shape;16;p42"/>
            <p:cNvSpPr/>
            <p:nvPr/>
          </p:nvSpPr>
          <p:spPr>
            <a:xfrm>
              <a:off x="203200" y="3771901"/>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sp>
        <p:nvSpPr>
          <p:cNvPr id="17" name="Google Shape;17;p42"/>
          <p:cNvSpPr/>
          <p:nvPr/>
        </p:nvSpPr>
        <p:spPr>
          <a:xfrm>
            <a:off x="203200" y="3771900"/>
            <a:ext cx="361950" cy="90487"/>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8" name="Google Shape;18;p42"/>
          <p:cNvSpPr/>
          <p:nvPr/>
        </p:nvSpPr>
        <p:spPr>
          <a:xfrm>
            <a:off x="560387" y="3867150"/>
            <a:ext cx="61912" cy="80962"/>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pic>
        <p:nvPicPr>
          <p:cNvPr id="19" name="Google Shape;19;p42"/>
          <p:cNvPicPr preferRelativeResize="0"/>
          <p:nvPr/>
        </p:nvPicPr>
        <p:blipFill rotWithShape="1">
          <a:blip r:embed="rId2">
            <a:alphaModFix/>
          </a:blip>
          <a:srcRect b="0" l="0" r="0" t="0"/>
          <a:stretch/>
        </p:blipFill>
        <p:spPr>
          <a:xfrm>
            <a:off x="7754937" y="76200"/>
            <a:ext cx="1295400" cy="1189037"/>
          </a:xfrm>
          <a:prstGeom prst="rect">
            <a:avLst/>
          </a:prstGeom>
          <a:noFill/>
          <a:ln>
            <a:noFill/>
          </a:ln>
        </p:spPr>
      </p:pic>
      <p:sp>
        <p:nvSpPr>
          <p:cNvPr id="20" name="Google Shape;20;p42"/>
          <p:cNvSpPr txBox="1"/>
          <p:nvPr>
            <p:ph type="title"/>
          </p:nvPr>
        </p:nvSpPr>
        <p:spPr>
          <a:xfrm>
            <a:off x="982662" y="457200"/>
            <a:ext cx="6789737" cy="1295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42"/>
          <p:cNvSpPr txBox="1"/>
          <p:nvPr>
            <p:ph idx="1" type="body"/>
          </p:nvPr>
        </p:nvSpPr>
        <p:spPr>
          <a:xfrm>
            <a:off x="982662" y="1814512"/>
            <a:ext cx="7704137" cy="4624387"/>
          </a:xfrm>
          <a:prstGeom prst="rect">
            <a:avLst/>
          </a:prstGeom>
          <a:noFill/>
          <a:ln>
            <a:noFill/>
          </a:ln>
        </p:spPr>
        <p:txBody>
          <a:bodyPr anchorCtr="0" anchor="ctr" bIns="45700" lIns="91425" spcFirstLastPara="1" rIns="91425" wrap="square" tIns="45700">
            <a:noAutofit/>
          </a:bodyPr>
          <a:lstStyle>
            <a:lvl1pPr indent="-449580" lvl="0" marL="457200" marR="0" rtl="0" algn="l">
              <a:lnSpc>
                <a:spcPct val="100000"/>
              </a:lnSpc>
              <a:spcBef>
                <a:spcPts val="480"/>
              </a:spcBef>
              <a:spcAft>
                <a:spcPts val="0"/>
              </a:spcAft>
              <a:buClr>
                <a:srgbClr val="37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7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76092"/>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376092"/>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376092"/>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22" name="Google Shape;22;p42"/>
          <p:cNvSpPr txBox="1"/>
          <p:nvPr>
            <p:ph idx="10" type="dt"/>
          </p:nvPr>
        </p:nvSpPr>
        <p:spPr>
          <a:xfrm>
            <a:off x="7326312" y="6116637"/>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3" name="Google Shape;23;p42"/>
          <p:cNvSpPr txBox="1"/>
          <p:nvPr>
            <p:ph idx="11" type="ftr"/>
          </p:nvPr>
        </p:nvSpPr>
        <p:spPr>
          <a:xfrm>
            <a:off x="3624262" y="6116637"/>
            <a:ext cx="36083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4" name="Google Shape;24;p42"/>
          <p:cNvSpPr txBox="1"/>
          <p:nvPr>
            <p:ph idx="12" type="sldNum"/>
          </p:nvPr>
        </p:nvSpPr>
        <p:spPr>
          <a:xfrm>
            <a:off x="8275637" y="6116637"/>
            <a:ext cx="411162"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 name="Shape 31"/>
        <p:cNvGrpSpPr/>
        <p:nvPr/>
      </p:nvGrpSpPr>
      <p:grpSpPr>
        <a:xfrm>
          <a:off x="0" y="0"/>
          <a:ext cx="0" cy="0"/>
          <a:chOff x="0" y="0"/>
          <a:chExt cx="0" cy="0"/>
        </a:xfrm>
      </p:grpSpPr>
      <p:grpSp>
        <p:nvGrpSpPr>
          <p:cNvPr id="32" name="Google Shape;32;p44"/>
          <p:cNvGrpSpPr/>
          <p:nvPr/>
        </p:nvGrpSpPr>
        <p:grpSpPr>
          <a:xfrm>
            <a:off x="0" y="0"/>
            <a:ext cx="2132012" cy="6858000"/>
            <a:chOff x="0" y="0"/>
            <a:chExt cx="2132013" cy="6858001"/>
          </a:xfrm>
        </p:grpSpPr>
        <p:sp>
          <p:nvSpPr>
            <p:cNvPr id="33" name="Google Shape;33;p44"/>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4" name="Google Shape;34;p44"/>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5" name="Google Shape;35;p44"/>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6" name="Google Shape;36;p44"/>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5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7" name="Google Shape;37;p44"/>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7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8" name="Google Shape;38;p44"/>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pic>
        <p:nvPicPr>
          <p:cNvPr id="39" name="Google Shape;39;p44"/>
          <p:cNvPicPr preferRelativeResize="0"/>
          <p:nvPr/>
        </p:nvPicPr>
        <p:blipFill rotWithShape="1">
          <a:blip r:embed="rId2">
            <a:alphaModFix/>
          </a:blip>
          <a:srcRect b="0" l="0" r="0" t="0"/>
          <a:stretch/>
        </p:blipFill>
        <p:spPr>
          <a:xfrm>
            <a:off x="7772400" y="160337"/>
            <a:ext cx="1295400" cy="1189037"/>
          </a:xfrm>
          <a:prstGeom prst="rect">
            <a:avLst/>
          </a:prstGeom>
          <a:noFill/>
          <a:ln>
            <a:noFill/>
          </a:ln>
        </p:spPr>
      </p:pic>
      <p:sp>
        <p:nvSpPr>
          <p:cNvPr id="40" name="Google Shape;40;p44"/>
          <p:cNvSpPr txBox="1"/>
          <p:nvPr>
            <p:ph type="title"/>
          </p:nvPr>
        </p:nvSpPr>
        <p:spPr>
          <a:xfrm>
            <a:off x="982662" y="457200"/>
            <a:ext cx="6789737" cy="1295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41" name="Google Shape;41;p44"/>
          <p:cNvSpPr txBox="1"/>
          <p:nvPr>
            <p:ph idx="1" type="body"/>
          </p:nvPr>
        </p:nvSpPr>
        <p:spPr>
          <a:xfrm>
            <a:off x="982662" y="1814512"/>
            <a:ext cx="7704137" cy="4624387"/>
          </a:xfrm>
          <a:prstGeom prst="rect">
            <a:avLst/>
          </a:prstGeom>
          <a:noFill/>
          <a:ln>
            <a:noFill/>
          </a:ln>
        </p:spPr>
        <p:txBody>
          <a:bodyPr anchorCtr="0" anchor="ctr" bIns="45700" lIns="91425" spcFirstLastPara="1" rIns="91425" wrap="square" tIns="45700">
            <a:noAutofit/>
          </a:bodyPr>
          <a:lstStyle>
            <a:lvl1pPr indent="-449580" lvl="0" marL="457200" marR="0" rtl="0" algn="l">
              <a:lnSpc>
                <a:spcPct val="100000"/>
              </a:lnSpc>
              <a:spcBef>
                <a:spcPts val="480"/>
              </a:spcBef>
              <a:spcAft>
                <a:spcPts val="0"/>
              </a:spcAft>
              <a:buClr>
                <a:srgbClr val="37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7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76092"/>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376092"/>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376092"/>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42" name="Google Shape;42;p44"/>
          <p:cNvSpPr txBox="1"/>
          <p:nvPr>
            <p:ph idx="10" type="dt"/>
          </p:nvPr>
        </p:nvSpPr>
        <p:spPr>
          <a:xfrm>
            <a:off x="7385050" y="6478587"/>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43" name="Google Shape;43;p44"/>
          <p:cNvSpPr txBox="1"/>
          <p:nvPr>
            <p:ph idx="11" type="ftr"/>
          </p:nvPr>
        </p:nvSpPr>
        <p:spPr>
          <a:xfrm>
            <a:off x="1130300" y="6492875"/>
            <a:ext cx="622776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44" name="Google Shape;44;p44"/>
          <p:cNvSpPr txBox="1"/>
          <p:nvPr>
            <p:ph idx="12" type="sldNum"/>
          </p:nvPr>
        </p:nvSpPr>
        <p:spPr>
          <a:xfrm>
            <a:off x="8245475" y="6478587"/>
            <a:ext cx="41433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2" name="Shape 52"/>
        <p:cNvGrpSpPr/>
        <p:nvPr/>
      </p:nvGrpSpPr>
      <p:grpSpPr>
        <a:xfrm>
          <a:off x="0" y="0"/>
          <a:ext cx="0" cy="0"/>
          <a:chOff x="0" y="0"/>
          <a:chExt cx="0" cy="0"/>
        </a:xfrm>
      </p:grpSpPr>
      <p:grpSp>
        <p:nvGrpSpPr>
          <p:cNvPr id="53" name="Google Shape;53;p46"/>
          <p:cNvGrpSpPr/>
          <p:nvPr/>
        </p:nvGrpSpPr>
        <p:grpSpPr>
          <a:xfrm>
            <a:off x="0" y="0"/>
            <a:ext cx="2132012" cy="6858000"/>
            <a:chOff x="0" y="0"/>
            <a:chExt cx="2132013" cy="6858001"/>
          </a:xfrm>
        </p:grpSpPr>
        <p:sp>
          <p:nvSpPr>
            <p:cNvPr id="54" name="Google Shape;54;p46"/>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5" name="Google Shape;55;p46"/>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6" name="Google Shape;56;p46"/>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7" name="Google Shape;57;p46"/>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5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8" name="Google Shape;58;p46"/>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7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9" name="Google Shape;59;p46"/>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pic>
        <p:nvPicPr>
          <p:cNvPr id="60" name="Google Shape;60;p46"/>
          <p:cNvPicPr preferRelativeResize="0"/>
          <p:nvPr/>
        </p:nvPicPr>
        <p:blipFill rotWithShape="1">
          <a:blip r:embed="rId2">
            <a:alphaModFix/>
          </a:blip>
          <a:srcRect b="0" l="0" r="0" t="0"/>
          <a:stretch/>
        </p:blipFill>
        <p:spPr>
          <a:xfrm>
            <a:off x="7772400" y="160337"/>
            <a:ext cx="1295400" cy="1189037"/>
          </a:xfrm>
          <a:prstGeom prst="rect">
            <a:avLst/>
          </a:prstGeom>
          <a:noFill/>
          <a:ln>
            <a:noFill/>
          </a:ln>
        </p:spPr>
      </p:pic>
      <p:cxnSp>
        <p:nvCxnSpPr>
          <p:cNvPr id="61" name="Google Shape;61;p46"/>
          <p:cNvCxnSpPr/>
          <p:nvPr/>
        </p:nvCxnSpPr>
        <p:spPr>
          <a:xfrm>
            <a:off x="381000" y="1447800"/>
            <a:ext cx="8305800" cy="0"/>
          </a:xfrm>
          <a:prstGeom prst="straightConnector1">
            <a:avLst/>
          </a:prstGeom>
          <a:noFill/>
          <a:ln cap="flat" cmpd="sng" w="76200">
            <a:solidFill>
              <a:srgbClr val="558ED5"/>
            </a:solidFill>
            <a:prstDash val="solid"/>
            <a:miter lim="800000"/>
            <a:headEnd len="sm" w="sm" type="none"/>
            <a:tailEnd len="sm" w="sm" type="none"/>
          </a:ln>
        </p:spPr>
      </p:cxnSp>
      <p:sp>
        <p:nvSpPr>
          <p:cNvPr id="62" name="Google Shape;62;p46"/>
          <p:cNvSpPr txBox="1"/>
          <p:nvPr>
            <p:ph type="title"/>
          </p:nvPr>
        </p:nvSpPr>
        <p:spPr>
          <a:xfrm>
            <a:off x="982662" y="457200"/>
            <a:ext cx="6789737" cy="1295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63" name="Google Shape;63;p46"/>
          <p:cNvSpPr txBox="1"/>
          <p:nvPr>
            <p:ph idx="1" type="body"/>
          </p:nvPr>
        </p:nvSpPr>
        <p:spPr>
          <a:xfrm>
            <a:off x="982662" y="1814512"/>
            <a:ext cx="7704137" cy="4624387"/>
          </a:xfrm>
          <a:prstGeom prst="rect">
            <a:avLst/>
          </a:prstGeom>
          <a:noFill/>
          <a:ln>
            <a:noFill/>
          </a:ln>
        </p:spPr>
        <p:txBody>
          <a:bodyPr anchorCtr="0" anchor="ctr" bIns="45700" lIns="91425" spcFirstLastPara="1" rIns="91425" wrap="square" tIns="45700">
            <a:noAutofit/>
          </a:bodyPr>
          <a:lstStyle>
            <a:lvl1pPr indent="-449580" lvl="0" marL="457200" marR="0" rtl="0" algn="l">
              <a:lnSpc>
                <a:spcPct val="100000"/>
              </a:lnSpc>
              <a:spcBef>
                <a:spcPts val="480"/>
              </a:spcBef>
              <a:spcAft>
                <a:spcPts val="0"/>
              </a:spcAft>
              <a:buClr>
                <a:srgbClr val="37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7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76092"/>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376092"/>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376092"/>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64" name="Google Shape;64;p46"/>
          <p:cNvSpPr txBox="1"/>
          <p:nvPr>
            <p:ph idx="10" type="dt"/>
          </p:nvPr>
        </p:nvSpPr>
        <p:spPr>
          <a:xfrm>
            <a:off x="7400925" y="6492875"/>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65" name="Google Shape;65;p46"/>
          <p:cNvSpPr txBox="1"/>
          <p:nvPr>
            <p:ph idx="11" type="ftr"/>
          </p:nvPr>
        </p:nvSpPr>
        <p:spPr>
          <a:xfrm>
            <a:off x="2036762" y="6473825"/>
            <a:ext cx="531495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66" name="Google Shape;66;p46"/>
          <p:cNvSpPr txBox="1"/>
          <p:nvPr>
            <p:ph idx="12" type="sldNum"/>
          </p:nvPr>
        </p:nvSpPr>
        <p:spPr>
          <a:xfrm>
            <a:off x="8302625" y="6483350"/>
            <a:ext cx="4286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txBox="1"/>
          <p:nvPr>
            <p:ph type="ctrTitle"/>
          </p:nvPr>
        </p:nvSpPr>
        <p:spPr>
          <a:xfrm>
            <a:off x="685800" y="1066800"/>
            <a:ext cx="7772400" cy="2819400"/>
          </a:xfrm>
          <a:prstGeom prst="rect">
            <a:avLst/>
          </a:prstGeom>
          <a:noFill/>
          <a:ln>
            <a:noFill/>
          </a:ln>
        </p:spPr>
        <p:txBody>
          <a:bodyPr anchorCtr="0" anchor="b" bIns="45700" lIns="91425" spcFirstLastPara="1" rIns="91425" wrap="square" tIns="45700">
            <a:normAutofit fontScale="90000"/>
          </a:bodyPr>
          <a:lstStyle/>
          <a:p>
            <a:pPr indent="0" lvl="0" marL="0" rtl="0" algn="r">
              <a:lnSpc>
                <a:spcPct val="100000"/>
              </a:lnSpc>
              <a:spcBef>
                <a:spcPts val="0"/>
              </a:spcBef>
              <a:spcAft>
                <a:spcPts val="0"/>
              </a:spcAft>
              <a:buClr>
                <a:schemeClr val="dk2"/>
              </a:buClr>
              <a:buSzPct val="100000"/>
              <a:buFont typeface="Corbel"/>
              <a:buNone/>
            </a:pPr>
            <a:br>
              <a:rPr b="0" i="0" lang="en-US" sz="2800" u="none">
                <a:solidFill>
                  <a:schemeClr val="dk2"/>
                </a:solidFill>
                <a:latin typeface="Corbel"/>
                <a:ea typeface="Corbel"/>
                <a:cs typeface="Corbel"/>
                <a:sym typeface="Corbel"/>
              </a:rPr>
            </a:br>
            <a:br>
              <a:rPr b="0" i="0" lang="en-US" sz="2800" u="none">
                <a:solidFill>
                  <a:schemeClr val="dk2"/>
                </a:solidFill>
                <a:latin typeface="Corbel"/>
                <a:ea typeface="Corbel"/>
                <a:cs typeface="Corbel"/>
                <a:sym typeface="Corbel"/>
              </a:rPr>
            </a:br>
            <a:r>
              <a:rPr lang="en-US" sz="4000">
                <a:solidFill>
                  <a:schemeClr val="dk2"/>
                </a:solidFill>
              </a:rPr>
              <a:t>D</a:t>
            </a:r>
            <a:r>
              <a:rPr b="0" i="0" lang="en-US" sz="4000" u="none">
                <a:solidFill>
                  <a:schemeClr val="dk2"/>
                </a:solidFill>
                <a:latin typeface="Corbel"/>
                <a:ea typeface="Corbel"/>
                <a:cs typeface="Corbel"/>
                <a:sym typeface="Corbel"/>
              </a:rPr>
              <a:t>ata Modeling</a:t>
            </a:r>
            <a:br>
              <a:rPr b="0" i="0" lang="en-US" sz="4000" u="none">
                <a:solidFill>
                  <a:schemeClr val="dk2"/>
                </a:solidFill>
                <a:latin typeface="Corbel"/>
                <a:ea typeface="Corbel"/>
                <a:cs typeface="Corbel"/>
                <a:sym typeface="Corbel"/>
              </a:rPr>
            </a:br>
            <a:r>
              <a:rPr b="0" i="0" lang="en-US" sz="4000" u="none">
                <a:solidFill>
                  <a:schemeClr val="dk2"/>
                </a:solidFill>
                <a:latin typeface="Corbel"/>
                <a:ea typeface="Corbel"/>
                <a:cs typeface="Corbel"/>
                <a:sym typeface="Corbel"/>
              </a:rPr>
              <a:t>Data Flow Diagram</a:t>
            </a:r>
            <a:br>
              <a:rPr b="0" i="0" lang="en-US" sz="4000" u="none">
                <a:solidFill>
                  <a:schemeClr val="dk2"/>
                </a:solidFill>
                <a:latin typeface="Corbel"/>
                <a:ea typeface="Corbel"/>
                <a:cs typeface="Corbel"/>
                <a:sym typeface="Corbel"/>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txBox="1"/>
          <p:nvPr>
            <p:ph type="title"/>
          </p:nvPr>
        </p:nvSpPr>
        <p:spPr>
          <a:xfrm>
            <a:off x="963612" y="158750"/>
            <a:ext cx="6791325"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Models: Logical and Physical</a:t>
            </a:r>
            <a:endParaRPr/>
          </a:p>
        </p:txBody>
      </p:sp>
      <p:sp>
        <p:nvSpPr>
          <p:cNvPr id="89" name="Google Shape;89;p2"/>
          <p:cNvSpPr txBox="1"/>
          <p:nvPr>
            <p:ph idx="1" type="body"/>
          </p:nvPr>
        </p:nvSpPr>
        <p:spPr>
          <a:xfrm>
            <a:off x="1025525" y="3505200"/>
            <a:ext cx="3787775" cy="29114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76092"/>
              </a:buClr>
              <a:buSzPts val="3480"/>
              <a:buFont typeface="Arial"/>
              <a:buNone/>
            </a:pPr>
            <a:r>
              <a:rPr b="1" i="0" lang="en-US" sz="2400" u="none" cap="none" strike="noStrike">
                <a:solidFill>
                  <a:schemeClr val="dk1"/>
                </a:solidFill>
                <a:latin typeface="Corbel"/>
                <a:ea typeface="Corbel"/>
                <a:cs typeface="Corbel"/>
                <a:sym typeface="Corbel"/>
              </a:rPr>
              <a:t>Logical model</a:t>
            </a:r>
            <a:r>
              <a:rPr b="0" i="0" lang="en-US" sz="2400" u="none" cap="none" strike="noStrike">
                <a:solidFill>
                  <a:schemeClr val="dk1"/>
                </a:solidFill>
                <a:latin typeface="Corbel"/>
                <a:ea typeface="Corbel"/>
                <a:cs typeface="Corbel"/>
                <a:sym typeface="Corbel"/>
              </a:rPr>
              <a:t> – a nontechnical pictorial representation that depicts what a system is or does. Synonyms or </a:t>
            </a:r>
            <a:r>
              <a:rPr b="0" i="1" lang="en-US" sz="2400" u="none" cap="none" strike="noStrike">
                <a:solidFill>
                  <a:schemeClr val="dk1"/>
                </a:solidFill>
                <a:latin typeface="Corbel"/>
                <a:ea typeface="Corbel"/>
                <a:cs typeface="Corbel"/>
                <a:sym typeface="Corbel"/>
              </a:rPr>
              <a:t>essential model</a:t>
            </a:r>
            <a:r>
              <a:rPr b="0" i="0" lang="en-US" sz="2400" u="none" cap="none" strike="noStrike">
                <a:solidFill>
                  <a:schemeClr val="dk1"/>
                </a:solidFill>
                <a:latin typeface="Corbel"/>
                <a:ea typeface="Corbel"/>
                <a:cs typeface="Corbel"/>
                <a:sym typeface="Corbel"/>
              </a:rPr>
              <a:t>, </a:t>
            </a:r>
            <a:r>
              <a:rPr b="0" i="1" lang="en-US" sz="2400" u="none" cap="none" strike="noStrike">
                <a:solidFill>
                  <a:schemeClr val="dk1"/>
                </a:solidFill>
                <a:latin typeface="Corbel"/>
                <a:ea typeface="Corbel"/>
                <a:cs typeface="Corbel"/>
                <a:sym typeface="Corbel"/>
              </a:rPr>
              <a:t>conceptual model</a:t>
            </a:r>
            <a:r>
              <a:rPr b="0" i="0" lang="en-US" sz="2400" u="none" cap="none" strike="noStrike">
                <a:solidFill>
                  <a:schemeClr val="dk1"/>
                </a:solidFill>
                <a:latin typeface="Corbel"/>
                <a:ea typeface="Corbel"/>
                <a:cs typeface="Corbel"/>
                <a:sym typeface="Corbel"/>
              </a:rPr>
              <a:t>, and </a:t>
            </a:r>
            <a:r>
              <a:rPr b="0" i="1" lang="en-US" sz="2400" u="none" cap="none" strike="noStrike">
                <a:solidFill>
                  <a:schemeClr val="dk1"/>
                </a:solidFill>
                <a:latin typeface="Corbel"/>
                <a:ea typeface="Corbel"/>
                <a:cs typeface="Corbel"/>
                <a:sym typeface="Corbel"/>
              </a:rPr>
              <a:t>business model</a:t>
            </a:r>
            <a:r>
              <a:rPr b="0" i="0" lang="en-US" sz="2400" u="none" cap="none" strike="noStrike">
                <a:solidFill>
                  <a:schemeClr val="dk1"/>
                </a:solidFill>
                <a:latin typeface="Corbel"/>
                <a:ea typeface="Corbel"/>
                <a:cs typeface="Corbel"/>
                <a:sym typeface="Corbel"/>
              </a:rPr>
              <a:t>.</a:t>
            </a:r>
            <a:endParaRPr/>
          </a:p>
        </p:txBody>
      </p:sp>
      <p:sp>
        <p:nvSpPr>
          <p:cNvPr id="90" name="Google Shape;90;p2"/>
          <p:cNvSpPr txBox="1"/>
          <p:nvPr>
            <p:ph idx="2" type="body"/>
          </p:nvPr>
        </p:nvSpPr>
        <p:spPr>
          <a:xfrm>
            <a:off x="4886325" y="3516312"/>
            <a:ext cx="4181475" cy="29606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76092"/>
              </a:buClr>
              <a:buSzPts val="3480"/>
              <a:buFont typeface="Arial"/>
              <a:buNone/>
            </a:pPr>
            <a:r>
              <a:rPr b="1" i="0" lang="en-US" sz="2400" u="none" cap="none" strike="noStrike">
                <a:solidFill>
                  <a:schemeClr val="dk1"/>
                </a:solidFill>
                <a:latin typeface="Corbel"/>
                <a:ea typeface="Corbel"/>
                <a:cs typeface="Corbel"/>
                <a:sym typeface="Corbel"/>
              </a:rPr>
              <a:t>Physical model</a:t>
            </a:r>
            <a:r>
              <a:rPr b="0" i="0" lang="en-US" sz="2400" u="none" cap="none" strike="noStrike">
                <a:solidFill>
                  <a:schemeClr val="dk1"/>
                </a:solidFill>
                <a:latin typeface="Corbel"/>
                <a:ea typeface="Corbel"/>
                <a:cs typeface="Corbel"/>
                <a:sym typeface="Corbel"/>
              </a:rPr>
              <a:t> – a technical pictorial representation that depicts what a system is or does and how the system is implemented. Synonyms are </a:t>
            </a:r>
            <a:r>
              <a:rPr b="0" i="1" lang="en-US" sz="2400" u="none" cap="none" strike="noStrike">
                <a:solidFill>
                  <a:schemeClr val="dk1"/>
                </a:solidFill>
                <a:latin typeface="Corbel"/>
                <a:ea typeface="Corbel"/>
                <a:cs typeface="Corbel"/>
                <a:sym typeface="Corbel"/>
              </a:rPr>
              <a:t>implementation model</a:t>
            </a:r>
            <a:r>
              <a:rPr b="0" i="0" lang="en-US" sz="2400" u="none" cap="none" strike="noStrike">
                <a:solidFill>
                  <a:schemeClr val="dk1"/>
                </a:solidFill>
                <a:latin typeface="Corbel"/>
                <a:ea typeface="Corbel"/>
                <a:cs typeface="Corbel"/>
                <a:sym typeface="Corbel"/>
              </a:rPr>
              <a:t> and </a:t>
            </a:r>
            <a:r>
              <a:rPr b="0" i="1" lang="en-US" sz="2400" u="none" cap="none" strike="noStrike">
                <a:solidFill>
                  <a:schemeClr val="dk1"/>
                </a:solidFill>
                <a:latin typeface="Corbel"/>
                <a:ea typeface="Corbel"/>
                <a:cs typeface="Corbel"/>
                <a:sym typeface="Corbel"/>
              </a:rPr>
              <a:t>technical model</a:t>
            </a:r>
            <a:r>
              <a:rPr b="0" i="0" lang="en-US" sz="2400" u="none" cap="none" strike="noStrike">
                <a:solidFill>
                  <a:schemeClr val="dk1"/>
                </a:solidFill>
                <a:latin typeface="Corbel"/>
                <a:ea typeface="Corbel"/>
                <a:cs typeface="Corbel"/>
                <a:sym typeface="Corbel"/>
              </a:rPr>
              <a:t>.</a:t>
            </a:r>
            <a:endParaRPr/>
          </a:p>
        </p:txBody>
      </p:sp>
      <p:sp>
        <p:nvSpPr>
          <p:cNvPr id="91" name="Google Shape;91;p2"/>
          <p:cNvSpPr txBox="1"/>
          <p:nvPr/>
        </p:nvSpPr>
        <p:spPr>
          <a:xfrm>
            <a:off x="1104900" y="1600200"/>
            <a:ext cx="7810500" cy="1600200"/>
          </a:xfrm>
          <a:prstGeom prst="rect">
            <a:avLst/>
          </a:prstGeom>
          <a:noFill/>
          <a:ln>
            <a:noFill/>
          </a:ln>
        </p:spPr>
        <p:txBody>
          <a:bodyPr anchorCtr="0" anchor="t" bIns="46025" lIns="92075" spcFirstLastPara="1" rIns="92075" wrap="square" tIns="46025">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Model</a:t>
            </a:r>
            <a:r>
              <a:rPr b="0" i="0" lang="en-US" sz="2800" u="none" cap="none" strike="noStrike">
                <a:solidFill>
                  <a:schemeClr val="dk1"/>
                </a:solidFill>
                <a:latin typeface="Arial"/>
                <a:ea typeface="Arial"/>
                <a:cs typeface="Arial"/>
                <a:sym typeface="Arial"/>
              </a:rPr>
              <a:t> – a pictorial representation of reality.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Just as a picture is worth a thousand words, most models are pictorial representations of reality.</a:t>
            </a:r>
            <a:endParaRPr b="0" i="0" sz="1400" u="none" cap="none" strike="noStrike">
              <a:solidFill>
                <a:srgbClr val="000000"/>
              </a:solidFill>
              <a:latin typeface="Arial"/>
              <a:ea typeface="Arial"/>
              <a:cs typeface="Arial"/>
              <a:sym typeface="Arial"/>
            </a:endParaRPr>
          </a:p>
        </p:txBody>
      </p:sp>
      <p:sp>
        <p:nvSpPr>
          <p:cNvPr id="92" name="Google Shape;92;p2"/>
          <p:cNvSpPr txBox="1"/>
          <p:nvPr>
            <p:ph idx="12" type="sldNum"/>
          </p:nvPr>
        </p:nvSpPr>
        <p:spPr>
          <a:xfrm>
            <a:off x="8245475" y="6478587"/>
            <a:ext cx="414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What is a Data Flow Diagram?</a:t>
            </a:r>
            <a:endParaRPr/>
          </a:p>
        </p:txBody>
      </p:sp>
      <p:sp>
        <p:nvSpPr>
          <p:cNvPr id="99" name="Google Shape;99;p3"/>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406400" lvl="0" marL="457200" rtl="0" algn="l">
              <a:lnSpc>
                <a:spcPct val="90000"/>
              </a:lnSpc>
              <a:spcBef>
                <a:spcPts val="0"/>
              </a:spcBef>
              <a:spcAft>
                <a:spcPts val="0"/>
              </a:spcAft>
              <a:buClr>
                <a:schemeClr val="accent2"/>
              </a:buClr>
              <a:buSzPts val="2800"/>
              <a:buChar char="•"/>
            </a:pPr>
            <a:r>
              <a:rPr lang="en-US"/>
              <a:t>Data flow diagramming is a technique that diagrams the business processes and the data that pass among them</a:t>
            </a:r>
            <a:endParaRPr/>
          </a:p>
          <a:p>
            <a:pPr indent="-406400" lvl="0" marL="457200" rtl="0" algn="l">
              <a:lnSpc>
                <a:spcPct val="90000"/>
              </a:lnSpc>
              <a:spcBef>
                <a:spcPts val="1000"/>
              </a:spcBef>
              <a:spcAft>
                <a:spcPts val="0"/>
              </a:spcAft>
              <a:buClr>
                <a:schemeClr val="accent2"/>
              </a:buClr>
              <a:buSzPts val="2800"/>
              <a:buChar char="•"/>
            </a:pPr>
            <a:r>
              <a:rPr lang="en-US"/>
              <a:t>We use data flow diagrams (DFDs) to describe the to-be system’s interactions with its environment, processes, flows of data, and data stores</a:t>
            </a:r>
            <a:endParaRPr/>
          </a:p>
          <a:p>
            <a:pPr indent="-406400" lvl="0" marL="457200" rtl="0" algn="l">
              <a:lnSpc>
                <a:spcPct val="90000"/>
              </a:lnSpc>
              <a:spcBef>
                <a:spcPts val="1000"/>
              </a:spcBef>
              <a:spcAft>
                <a:spcPts val="0"/>
              </a:spcAft>
              <a:buClr>
                <a:schemeClr val="accent2"/>
              </a:buClr>
              <a:buSzPts val="2800"/>
              <a:buChar char="•"/>
            </a:pPr>
            <a:r>
              <a:rPr lang="en-US"/>
              <a:t>Logical process models are models that describe processes, without suggesting how they are conducted</a:t>
            </a:r>
            <a:endParaRPr/>
          </a:p>
          <a:p>
            <a:pPr indent="-406400" lvl="0" marL="457200" rtl="0" algn="l">
              <a:lnSpc>
                <a:spcPct val="90000"/>
              </a:lnSpc>
              <a:spcBef>
                <a:spcPts val="1000"/>
              </a:spcBef>
              <a:spcAft>
                <a:spcPts val="0"/>
              </a:spcAft>
              <a:buClr>
                <a:schemeClr val="accent2"/>
              </a:buClr>
              <a:buSzPts val="2800"/>
              <a:buChar char="•"/>
            </a:pPr>
            <a:r>
              <a:rPr lang="en-US"/>
              <a:t>Physical models provide information that is needed to ultimately build the system</a:t>
            </a:r>
            <a:endParaRPr sz="2800">
              <a:latin typeface="Times New Roman"/>
              <a:ea typeface="Times New Roman"/>
              <a:cs typeface="Times New Roman"/>
              <a:sym typeface="Times New Roman"/>
            </a:endParaRPr>
          </a:p>
        </p:txBody>
      </p:sp>
      <p:sp>
        <p:nvSpPr>
          <p:cNvPr id="100" name="Google Shape;100;p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686468bc17_0_0"/>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descr="Illustration of a Data Flow Diagram for an event, that of the shop manager approving a custom drone order." id="107" name="Google Shape;107;g3686468bc17_0_0"/>
          <p:cNvPicPr preferRelativeResize="0"/>
          <p:nvPr>
            <p:ph idx="1" type="body"/>
          </p:nvPr>
        </p:nvPicPr>
        <p:blipFill rotWithShape="1">
          <a:blip r:embed="rId3">
            <a:alphaModFix/>
          </a:blip>
          <a:srcRect b="0" l="0" r="0" t="0"/>
          <a:stretch/>
        </p:blipFill>
        <p:spPr>
          <a:xfrm>
            <a:off x="0" y="809100"/>
            <a:ext cx="9144000" cy="5591700"/>
          </a:xfrm>
          <a:prstGeom prst="rect">
            <a:avLst/>
          </a:prstGeom>
          <a:noFill/>
          <a:ln>
            <a:noFill/>
          </a:ln>
        </p:spPr>
      </p:pic>
      <p:sp>
        <p:nvSpPr>
          <p:cNvPr id="108" name="Google Shape;108;g3686468bc17_0_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Process</a:t>
            </a:r>
            <a:endParaRPr/>
          </a:p>
        </p:txBody>
      </p:sp>
      <p:sp>
        <p:nvSpPr>
          <p:cNvPr id="115" name="Google Shape;115;p6"/>
          <p:cNvSpPr txBox="1"/>
          <p:nvPr>
            <p:ph idx="1" type="body"/>
          </p:nvPr>
        </p:nvSpPr>
        <p:spPr>
          <a:xfrm>
            <a:off x="609600" y="1524000"/>
            <a:ext cx="8229600" cy="5181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rgbClr val="376092"/>
              </a:buClr>
              <a:buSzPts val="5220"/>
              <a:buFont typeface="Arial"/>
              <a:buNone/>
            </a:pPr>
            <a:r>
              <a:rPr b="1" i="0" lang="en-US" sz="3300" u="none" cap="none" strike="noStrike">
                <a:solidFill>
                  <a:schemeClr val="dk1"/>
                </a:solidFill>
                <a:latin typeface="Corbel"/>
                <a:ea typeface="Corbel"/>
                <a:cs typeface="Corbel"/>
                <a:sym typeface="Corbel"/>
              </a:rPr>
              <a:t>Process</a:t>
            </a:r>
            <a:r>
              <a:rPr b="0" i="0" lang="en-US" sz="3300" u="none" cap="none" strike="noStrike">
                <a:solidFill>
                  <a:schemeClr val="dk1"/>
                </a:solidFill>
                <a:latin typeface="Corbel"/>
                <a:ea typeface="Corbel"/>
                <a:cs typeface="Corbel"/>
                <a:sym typeface="Corbel"/>
              </a:rPr>
              <a:t> – work performed by a system in response to incoming data flows or conditions. A synonym is </a:t>
            </a:r>
            <a:r>
              <a:rPr b="0" i="1" lang="en-US" sz="3300" u="none" cap="none" strike="noStrike">
                <a:solidFill>
                  <a:schemeClr val="dk1"/>
                </a:solidFill>
                <a:latin typeface="Corbel"/>
                <a:ea typeface="Corbel"/>
                <a:cs typeface="Corbel"/>
                <a:sym typeface="Corbel"/>
              </a:rPr>
              <a:t>transform</a:t>
            </a:r>
            <a:r>
              <a:rPr b="0" i="0" lang="en-US" sz="3300" u="none" cap="none" strike="noStrike">
                <a:solidFill>
                  <a:schemeClr val="dk1"/>
                </a:solidFill>
                <a:latin typeface="Corbel"/>
                <a:ea typeface="Corbel"/>
                <a:cs typeface="Corbel"/>
                <a:sym typeface="Corbel"/>
              </a:rPr>
              <a:t>.</a:t>
            </a:r>
            <a:r>
              <a:rPr b="0" i="0" lang="en-US" sz="2100" u="none" cap="none" strike="noStrike">
                <a:solidFill>
                  <a:schemeClr val="dk1"/>
                </a:solidFill>
                <a:latin typeface="Corbel"/>
                <a:ea typeface="Corbel"/>
                <a:cs typeface="Corbel"/>
                <a:sym typeface="Corbel"/>
              </a:rPr>
              <a:t> </a:t>
            </a:r>
            <a:endParaRPr sz="21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All information systems include </a:t>
            </a:r>
            <a:br>
              <a:rPr b="0" i="0" lang="en-US" sz="2100" u="none" cap="none" strike="noStrike">
                <a:solidFill>
                  <a:schemeClr val="dk1"/>
                </a:solidFill>
                <a:latin typeface="Corbel"/>
                <a:ea typeface="Corbel"/>
                <a:cs typeface="Corbel"/>
                <a:sym typeface="Corbel"/>
              </a:rPr>
            </a:br>
            <a:r>
              <a:rPr b="0" i="0" lang="en-US" sz="2100" u="none" cap="none" strike="noStrike">
                <a:solidFill>
                  <a:schemeClr val="dk1"/>
                </a:solidFill>
                <a:latin typeface="Corbel"/>
                <a:ea typeface="Corbel"/>
                <a:cs typeface="Corbel"/>
                <a:sym typeface="Corbel"/>
              </a:rPr>
              <a:t>processes - usually many of them</a:t>
            </a:r>
            <a:endParaRPr sz="17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Processes respond to business </a:t>
            </a:r>
            <a:br>
              <a:rPr b="0" i="0" lang="en-US" sz="2100" u="none" cap="none" strike="noStrike">
                <a:solidFill>
                  <a:schemeClr val="dk1"/>
                </a:solidFill>
                <a:latin typeface="Corbel"/>
                <a:ea typeface="Corbel"/>
                <a:cs typeface="Corbel"/>
                <a:sym typeface="Corbel"/>
              </a:rPr>
            </a:br>
            <a:r>
              <a:rPr b="0" i="0" lang="en-US" sz="2100" u="none" cap="none" strike="noStrike">
                <a:solidFill>
                  <a:schemeClr val="dk1"/>
                </a:solidFill>
                <a:latin typeface="Corbel"/>
                <a:ea typeface="Corbel"/>
                <a:cs typeface="Corbel"/>
                <a:sym typeface="Corbel"/>
              </a:rPr>
              <a:t>events and conditions and transform </a:t>
            </a:r>
            <a:br>
              <a:rPr b="0" i="0" lang="en-US" sz="2100" u="none" cap="none" strike="noStrike">
                <a:solidFill>
                  <a:schemeClr val="dk1"/>
                </a:solidFill>
                <a:latin typeface="Corbel"/>
                <a:ea typeface="Corbel"/>
                <a:cs typeface="Corbel"/>
                <a:sym typeface="Corbel"/>
              </a:rPr>
            </a:br>
            <a:r>
              <a:rPr b="0" i="0" lang="en-US" sz="2100" u="none" cap="none" strike="noStrike">
                <a:solidFill>
                  <a:schemeClr val="dk1"/>
                </a:solidFill>
                <a:latin typeface="Corbel"/>
                <a:ea typeface="Corbel"/>
                <a:cs typeface="Corbel"/>
                <a:sym typeface="Corbel"/>
              </a:rPr>
              <a:t>data into useful information</a:t>
            </a:r>
            <a:endParaRPr sz="17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Modeling processes helps us to understand the interactions with the system's environment, other systems, and other processes.</a:t>
            </a:r>
            <a:endParaRPr sz="17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Named with a strong action verb followed by object clause describing what the work is performed on/for .</a:t>
            </a:r>
            <a:endParaRPr sz="1700"/>
          </a:p>
        </p:txBody>
      </p:sp>
      <p:sp>
        <p:nvSpPr>
          <p:cNvPr id="116" name="Google Shape;116;p6"/>
          <p:cNvSpPr txBox="1"/>
          <p:nvPr/>
        </p:nvSpPr>
        <p:spPr>
          <a:xfrm>
            <a:off x="6781800" y="3976687"/>
            <a:ext cx="22240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Gane and Sarson shape</a:t>
            </a:r>
            <a:endParaRPr b="0" i="0" sz="1400" u="none" cap="none" strike="noStrike">
              <a:solidFill>
                <a:srgbClr val="000000"/>
              </a:solidFill>
              <a:latin typeface="Arial"/>
              <a:ea typeface="Arial"/>
              <a:cs typeface="Arial"/>
              <a:sym typeface="Arial"/>
            </a:endParaRPr>
          </a:p>
        </p:txBody>
      </p:sp>
      <p:pic>
        <p:nvPicPr>
          <p:cNvPr descr="process" id="117" name="Google Shape;117;p6"/>
          <p:cNvPicPr preferRelativeResize="0"/>
          <p:nvPr/>
        </p:nvPicPr>
        <p:blipFill rotWithShape="1">
          <a:blip r:embed="rId3">
            <a:alphaModFix/>
          </a:blip>
          <a:srcRect b="0" l="0" r="0" t="0"/>
          <a:stretch/>
        </p:blipFill>
        <p:spPr>
          <a:xfrm>
            <a:off x="7143750" y="3027362"/>
            <a:ext cx="1543050" cy="1011237"/>
          </a:xfrm>
          <a:prstGeom prst="rect">
            <a:avLst/>
          </a:prstGeom>
          <a:noFill/>
          <a:ln>
            <a:noFill/>
          </a:ln>
        </p:spPr>
      </p:pic>
      <p:sp>
        <p:nvSpPr>
          <p:cNvPr id="118" name="Google Shape;118;p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Data Flows &amp; Control Flows</a:t>
            </a:r>
            <a:endParaRPr/>
          </a:p>
        </p:txBody>
      </p:sp>
      <p:sp>
        <p:nvSpPr>
          <p:cNvPr id="125" name="Google Shape;125;p7"/>
          <p:cNvSpPr txBox="1"/>
          <p:nvPr>
            <p:ph idx="1" type="body"/>
          </p:nvPr>
        </p:nvSpPr>
        <p:spPr>
          <a:xfrm>
            <a:off x="701675" y="1677987"/>
            <a:ext cx="5622900" cy="4419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95000"/>
              </a:lnSpc>
              <a:spcBef>
                <a:spcPts val="0"/>
              </a:spcBef>
              <a:spcAft>
                <a:spcPts val="0"/>
              </a:spcAft>
              <a:buClr>
                <a:srgbClr val="376092"/>
              </a:buClr>
              <a:buSzPts val="3480"/>
              <a:buFont typeface="Arial"/>
              <a:buNone/>
            </a:pPr>
            <a:r>
              <a:rPr b="1" i="0" lang="en-US" sz="2400" u="none" cap="none" strike="noStrike">
                <a:solidFill>
                  <a:schemeClr val="dk1"/>
                </a:solidFill>
                <a:latin typeface="Times New Roman"/>
                <a:ea typeface="Times New Roman"/>
                <a:cs typeface="Times New Roman"/>
                <a:sym typeface="Times New Roman"/>
              </a:rPr>
              <a:t>	Data flow</a:t>
            </a:r>
            <a:r>
              <a:rPr b="0" i="0" lang="en-US" sz="2400" u="none" cap="none" strike="noStrike">
                <a:solidFill>
                  <a:schemeClr val="dk1"/>
                </a:solidFill>
                <a:latin typeface="Times New Roman"/>
                <a:ea typeface="Times New Roman"/>
                <a:cs typeface="Times New Roman"/>
                <a:sym typeface="Times New Roman"/>
              </a:rPr>
              <a:t> – data that is input to or output from a process.</a:t>
            </a:r>
            <a:endParaRPr/>
          </a:p>
          <a:p>
            <a:pPr indent="-285750" lvl="1" marL="742950" marR="0" rtl="0" algn="l">
              <a:lnSpc>
                <a:spcPct val="95000"/>
              </a:lnSpc>
              <a:spcBef>
                <a:spcPts val="1000"/>
              </a:spcBef>
              <a:spcAft>
                <a:spcPts val="0"/>
              </a:spcAft>
              <a:buClr>
                <a:srgbClr val="376092"/>
              </a:buClr>
              <a:buSzPts val="2900"/>
              <a:buFont typeface="Arial"/>
              <a:buChar char="•"/>
            </a:pPr>
            <a:r>
              <a:rPr b="0" i="0" lang="en-US" sz="2000" u="none" cap="none" strike="noStrike">
                <a:solidFill>
                  <a:schemeClr val="dk1"/>
                </a:solidFill>
                <a:latin typeface="Times New Roman"/>
                <a:ea typeface="Times New Roman"/>
                <a:cs typeface="Times New Roman"/>
                <a:sym typeface="Times New Roman"/>
              </a:rPr>
              <a:t>A data flow is data in motion</a:t>
            </a:r>
            <a:endParaRPr/>
          </a:p>
          <a:p>
            <a:pPr indent="-285750" lvl="1" marL="742950" marR="0" rtl="0" algn="l">
              <a:lnSpc>
                <a:spcPct val="95000"/>
              </a:lnSpc>
              <a:spcBef>
                <a:spcPts val="1000"/>
              </a:spcBef>
              <a:spcAft>
                <a:spcPts val="0"/>
              </a:spcAft>
              <a:buClr>
                <a:srgbClr val="376092"/>
              </a:buClr>
              <a:buSzPts val="2900"/>
              <a:buFont typeface="Arial"/>
              <a:buChar char="•"/>
            </a:pPr>
            <a:r>
              <a:rPr b="0" i="0" lang="en-US" sz="2000" u="none" cap="none" strike="noStrike">
                <a:solidFill>
                  <a:schemeClr val="dk1"/>
                </a:solidFill>
                <a:latin typeface="Times New Roman"/>
                <a:ea typeface="Times New Roman"/>
                <a:cs typeface="Times New Roman"/>
                <a:sym typeface="Times New Roman"/>
              </a:rPr>
              <a:t>A data flow may also be used to represent the creation, reading, deletion, or updating of data in a file or database (called a data store).</a:t>
            </a:r>
            <a:endParaRPr/>
          </a:p>
          <a:p>
            <a:pPr indent="-285750" lvl="0" marL="285750" marR="0" rtl="0" algn="l">
              <a:lnSpc>
                <a:spcPct val="95000"/>
              </a:lnSpc>
              <a:spcBef>
                <a:spcPts val="600"/>
              </a:spcBef>
              <a:spcAft>
                <a:spcPts val="0"/>
              </a:spcAft>
              <a:buClr>
                <a:srgbClr val="376092"/>
              </a:buClr>
              <a:buSzPts val="348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Composite data flow</a:t>
            </a:r>
            <a:r>
              <a:rPr b="0" i="0" lang="en-US" sz="2400" u="none" cap="none" strike="noStrike">
                <a:solidFill>
                  <a:schemeClr val="dk1"/>
                </a:solidFill>
                <a:latin typeface="Times New Roman"/>
                <a:ea typeface="Times New Roman"/>
                <a:cs typeface="Times New Roman"/>
                <a:sym typeface="Times New Roman"/>
              </a:rPr>
              <a:t> – a data flow that consists of other data flows.</a:t>
            </a:r>
            <a:endParaRPr/>
          </a:p>
          <a:p>
            <a:pPr indent="-285750" lvl="0" marL="285750" marR="0" rtl="0" algn="l">
              <a:lnSpc>
                <a:spcPct val="95000"/>
              </a:lnSpc>
              <a:spcBef>
                <a:spcPts val="600"/>
              </a:spcBef>
              <a:spcAft>
                <a:spcPts val="0"/>
              </a:spcAft>
              <a:buClr>
                <a:srgbClr val="376092"/>
              </a:buClr>
              <a:buSzPts val="348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Control flow</a:t>
            </a:r>
            <a:r>
              <a:rPr b="0" i="0" lang="en-US" sz="2400" u="none" cap="none" strike="noStrike">
                <a:solidFill>
                  <a:schemeClr val="dk1"/>
                </a:solidFill>
                <a:latin typeface="Times New Roman"/>
                <a:ea typeface="Times New Roman"/>
                <a:cs typeface="Times New Roman"/>
                <a:sym typeface="Times New Roman"/>
              </a:rPr>
              <a:t> – a condition or nondata event that triggers a process.</a:t>
            </a:r>
            <a:endParaRPr/>
          </a:p>
          <a:p>
            <a:pPr indent="-285750" lvl="1" marL="742950" marR="0" rtl="0" algn="l">
              <a:lnSpc>
                <a:spcPct val="95000"/>
              </a:lnSpc>
              <a:spcBef>
                <a:spcPts val="1000"/>
              </a:spcBef>
              <a:spcAft>
                <a:spcPts val="0"/>
              </a:spcAft>
              <a:buClr>
                <a:srgbClr val="376092"/>
              </a:buClr>
              <a:buSzPts val="2900"/>
              <a:buFont typeface="Arial"/>
              <a:buChar char="•"/>
            </a:pPr>
            <a:r>
              <a:rPr b="0" i="0" lang="en-US" sz="2000" u="none" cap="none" strike="noStrike">
                <a:solidFill>
                  <a:schemeClr val="dk1"/>
                </a:solidFill>
                <a:latin typeface="Times New Roman"/>
                <a:ea typeface="Times New Roman"/>
                <a:cs typeface="Times New Roman"/>
                <a:sym typeface="Times New Roman"/>
              </a:rPr>
              <a:t>Used sparingly on DFDs.</a:t>
            </a:r>
            <a:endParaRPr/>
          </a:p>
        </p:txBody>
      </p:sp>
      <p:cxnSp>
        <p:nvCxnSpPr>
          <p:cNvPr id="126" name="Google Shape;126;p7"/>
          <p:cNvCxnSpPr/>
          <p:nvPr/>
        </p:nvCxnSpPr>
        <p:spPr>
          <a:xfrm>
            <a:off x="6019800" y="2667000"/>
            <a:ext cx="2895600" cy="0"/>
          </a:xfrm>
          <a:prstGeom prst="straightConnector1">
            <a:avLst/>
          </a:prstGeom>
          <a:noFill/>
          <a:ln cap="flat" cmpd="sng" w="28575">
            <a:solidFill>
              <a:schemeClr val="dk1"/>
            </a:solidFill>
            <a:prstDash val="solid"/>
            <a:miter lim="800000"/>
            <a:headEnd len="sm" w="sm" type="none"/>
            <a:tailEnd len="lg" w="lg" type="triangle"/>
          </a:ln>
        </p:spPr>
      </p:cxnSp>
      <p:sp>
        <p:nvSpPr>
          <p:cNvPr id="127" name="Google Shape;127;p7"/>
          <p:cNvSpPr txBox="1"/>
          <p:nvPr/>
        </p:nvSpPr>
        <p:spPr>
          <a:xfrm>
            <a:off x="6656387" y="2338387"/>
            <a:ext cx="14892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Data flow name</a:t>
            </a:r>
            <a:endParaRPr b="0" i="0" sz="1400" u="none" cap="none" strike="noStrike">
              <a:solidFill>
                <a:srgbClr val="000000"/>
              </a:solidFill>
              <a:latin typeface="Arial"/>
              <a:ea typeface="Arial"/>
              <a:cs typeface="Arial"/>
              <a:sym typeface="Arial"/>
            </a:endParaRPr>
          </a:p>
        </p:txBody>
      </p:sp>
      <p:cxnSp>
        <p:nvCxnSpPr>
          <p:cNvPr id="128" name="Google Shape;128;p7"/>
          <p:cNvCxnSpPr/>
          <p:nvPr/>
        </p:nvCxnSpPr>
        <p:spPr>
          <a:xfrm>
            <a:off x="6019800" y="4953000"/>
            <a:ext cx="2895600" cy="0"/>
          </a:xfrm>
          <a:prstGeom prst="straightConnector1">
            <a:avLst/>
          </a:prstGeom>
          <a:noFill/>
          <a:ln cap="flat" cmpd="sng" w="28575">
            <a:solidFill>
              <a:schemeClr val="dk1"/>
            </a:solidFill>
            <a:prstDash val="solid"/>
            <a:miter lim="800000"/>
            <a:headEnd len="sm" w="sm" type="none"/>
            <a:tailEnd len="lg" w="lg" type="triangle"/>
          </a:ln>
        </p:spPr>
      </p:cxnSp>
      <p:sp>
        <p:nvSpPr>
          <p:cNvPr id="129" name="Google Shape;129;p7"/>
          <p:cNvSpPr txBox="1"/>
          <p:nvPr/>
        </p:nvSpPr>
        <p:spPr>
          <a:xfrm>
            <a:off x="6553200" y="4624387"/>
            <a:ext cx="16970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Control flow name</a:t>
            </a:r>
            <a:endParaRPr b="0" i="0" sz="1400" u="none" cap="none" strike="noStrike">
              <a:solidFill>
                <a:srgbClr val="000000"/>
              </a:solidFill>
              <a:latin typeface="Arial"/>
              <a:ea typeface="Arial"/>
              <a:cs typeface="Arial"/>
              <a:sym typeface="Arial"/>
            </a:endParaRPr>
          </a:p>
        </p:txBody>
      </p:sp>
      <p:sp>
        <p:nvSpPr>
          <p:cNvPr id="130" name="Google Shape;130;p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Data Stores</a:t>
            </a:r>
            <a:endParaRPr/>
          </a:p>
        </p:txBody>
      </p:sp>
      <p:sp>
        <p:nvSpPr>
          <p:cNvPr id="137" name="Google Shape;137;p5"/>
          <p:cNvSpPr txBox="1"/>
          <p:nvPr>
            <p:ph idx="1" type="body"/>
          </p:nvPr>
        </p:nvSpPr>
        <p:spPr>
          <a:xfrm>
            <a:off x="661987" y="1524000"/>
            <a:ext cx="7796212" cy="5181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76092"/>
              </a:buClr>
              <a:buSzPts val="4060"/>
              <a:buFont typeface="Arial"/>
              <a:buNone/>
            </a:pPr>
            <a:r>
              <a:rPr b="0" i="0" lang="en-US" sz="2500" u="none" cap="none" strike="noStrike">
                <a:solidFill>
                  <a:schemeClr val="dk1"/>
                </a:solidFill>
                <a:latin typeface="Times New Roman"/>
                <a:ea typeface="Times New Roman"/>
                <a:cs typeface="Times New Roman"/>
                <a:sym typeface="Times New Roman"/>
              </a:rPr>
              <a:t>	</a:t>
            </a:r>
            <a:r>
              <a:rPr b="1" i="0" lang="en-US" sz="2500" u="none" cap="none" strike="noStrike">
                <a:solidFill>
                  <a:schemeClr val="dk1"/>
                </a:solidFill>
                <a:latin typeface="Times New Roman"/>
                <a:ea typeface="Times New Roman"/>
                <a:cs typeface="Times New Roman"/>
                <a:sym typeface="Times New Roman"/>
              </a:rPr>
              <a:t>Data store</a:t>
            </a:r>
            <a:r>
              <a:rPr b="0" i="0" lang="en-US" sz="2500" u="none" cap="none" strike="noStrike">
                <a:solidFill>
                  <a:schemeClr val="dk1"/>
                </a:solidFill>
                <a:latin typeface="Times New Roman"/>
                <a:ea typeface="Times New Roman"/>
                <a:cs typeface="Times New Roman"/>
                <a:sym typeface="Times New Roman"/>
              </a:rPr>
              <a:t> – stored data intended for later use. Synonyms are </a:t>
            </a:r>
            <a:r>
              <a:rPr b="0" i="1" lang="en-US" sz="2500" u="none" cap="none" strike="noStrike">
                <a:solidFill>
                  <a:schemeClr val="dk1"/>
                </a:solidFill>
                <a:latin typeface="Times New Roman"/>
                <a:ea typeface="Times New Roman"/>
                <a:cs typeface="Times New Roman"/>
                <a:sym typeface="Times New Roman"/>
              </a:rPr>
              <a:t>file</a:t>
            </a:r>
            <a:r>
              <a:rPr b="0" i="0" lang="en-US" sz="2500" u="none" cap="none" strike="noStrike">
                <a:solidFill>
                  <a:schemeClr val="dk1"/>
                </a:solidFill>
                <a:latin typeface="Times New Roman"/>
                <a:ea typeface="Times New Roman"/>
                <a:cs typeface="Times New Roman"/>
                <a:sym typeface="Times New Roman"/>
              </a:rPr>
              <a:t> and </a:t>
            </a:r>
            <a:r>
              <a:rPr b="0" i="1" lang="en-US" sz="2500" u="none" cap="none" strike="noStrike">
                <a:solidFill>
                  <a:schemeClr val="dk1"/>
                </a:solidFill>
                <a:latin typeface="Times New Roman"/>
                <a:ea typeface="Times New Roman"/>
                <a:cs typeface="Times New Roman"/>
                <a:sym typeface="Times New Roman"/>
              </a:rPr>
              <a:t>database</a:t>
            </a:r>
            <a:r>
              <a:rPr b="0" i="0" lang="en-US" sz="2500" u="none" cap="none" strike="noStrike">
                <a:solidFill>
                  <a:schemeClr val="dk1"/>
                </a:solidFill>
                <a:latin typeface="Times New Roman"/>
                <a:ea typeface="Times New Roman"/>
                <a:cs typeface="Times New Roman"/>
                <a:sym typeface="Times New Roman"/>
              </a:rPr>
              <a:t>. </a:t>
            </a:r>
            <a:endParaRPr sz="21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Frequently implemented as a file or database.</a:t>
            </a:r>
            <a:endParaRPr sz="17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A data store is “data at rest” compared to a data flow that is “data in motion.”</a:t>
            </a:r>
            <a:endParaRPr sz="17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Almost always one of the following:</a:t>
            </a:r>
            <a:endParaRPr sz="1700"/>
          </a:p>
          <a:p>
            <a:pPr indent="-266700" lvl="2" marL="1200150" marR="0" rtl="0" algn="l">
              <a:lnSpc>
                <a:spcPct val="100000"/>
              </a:lnSpc>
              <a:spcBef>
                <a:spcPts val="1200"/>
              </a:spcBef>
              <a:spcAft>
                <a:spcPts val="0"/>
              </a:spcAft>
              <a:buClr>
                <a:srgbClr val="376092"/>
              </a:buClr>
              <a:buSzPts val="2600"/>
              <a:buFont typeface="Arial"/>
              <a:buChar char="•"/>
            </a:pPr>
            <a:r>
              <a:rPr b="0" i="0" lang="en-US" sz="1700" u="none" cap="none" strike="noStrike">
                <a:solidFill>
                  <a:schemeClr val="dk1"/>
                </a:solidFill>
                <a:latin typeface="Times New Roman"/>
                <a:ea typeface="Times New Roman"/>
                <a:cs typeface="Times New Roman"/>
                <a:sym typeface="Times New Roman"/>
              </a:rPr>
              <a:t>Persons, Places, Objects etc</a:t>
            </a:r>
            <a:endParaRPr sz="15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Data stores depicted on a DFD store </a:t>
            </a:r>
            <a:br>
              <a:rPr b="0" i="0" lang="en-US" sz="2100" u="none" cap="none" strike="noStrike">
                <a:solidFill>
                  <a:schemeClr val="dk1"/>
                </a:solidFill>
                <a:latin typeface="Times New Roman"/>
                <a:ea typeface="Times New Roman"/>
                <a:cs typeface="Times New Roman"/>
                <a:sym typeface="Times New Roman"/>
              </a:rPr>
            </a:br>
            <a:r>
              <a:rPr b="0" i="0" lang="en-US" sz="2100" u="none" cap="none" strike="noStrike">
                <a:solidFill>
                  <a:schemeClr val="dk1"/>
                </a:solidFill>
                <a:latin typeface="Times New Roman"/>
                <a:ea typeface="Times New Roman"/>
                <a:cs typeface="Times New Roman"/>
                <a:sym typeface="Times New Roman"/>
              </a:rPr>
              <a:t>all instances of data entities </a:t>
            </a:r>
            <a:br>
              <a:rPr b="0" i="0" lang="en-US" sz="2100" u="none" cap="none" strike="noStrike">
                <a:solidFill>
                  <a:schemeClr val="dk1"/>
                </a:solidFill>
                <a:latin typeface="Times New Roman"/>
                <a:ea typeface="Times New Roman"/>
                <a:cs typeface="Times New Roman"/>
                <a:sym typeface="Times New Roman"/>
              </a:rPr>
            </a:br>
            <a:r>
              <a:rPr b="0" i="0" lang="en-US" sz="2100" u="none" cap="none" strike="noStrike">
                <a:solidFill>
                  <a:schemeClr val="dk1"/>
                </a:solidFill>
                <a:latin typeface="Times New Roman"/>
                <a:ea typeface="Times New Roman"/>
                <a:cs typeface="Times New Roman"/>
                <a:sym typeface="Times New Roman"/>
              </a:rPr>
              <a:t>(depicted on an ERD)</a:t>
            </a:r>
            <a:endParaRPr sz="1700"/>
          </a:p>
        </p:txBody>
      </p:sp>
      <p:pic>
        <p:nvPicPr>
          <p:cNvPr descr="Untitled-2" id="138" name="Google Shape;138;p5"/>
          <p:cNvPicPr preferRelativeResize="0"/>
          <p:nvPr/>
        </p:nvPicPr>
        <p:blipFill rotWithShape="1">
          <a:blip r:embed="rId3">
            <a:alphaModFix/>
          </a:blip>
          <a:srcRect b="0" l="0" r="0" t="0"/>
          <a:stretch/>
        </p:blipFill>
        <p:spPr>
          <a:xfrm>
            <a:off x="7010400" y="3606800"/>
            <a:ext cx="1752600" cy="736600"/>
          </a:xfrm>
          <a:prstGeom prst="rect">
            <a:avLst/>
          </a:prstGeom>
          <a:noFill/>
          <a:ln>
            <a:noFill/>
          </a:ln>
        </p:spPr>
      </p:pic>
      <p:pic>
        <p:nvPicPr>
          <p:cNvPr descr="Untitled-1" id="139" name="Google Shape;139;p5"/>
          <p:cNvPicPr preferRelativeResize="0"/>
          <p:nvPr/>
        </p:nvPicPr>
        <p:blipFill rotWithShape="1">
          <a:blip r:embed="rId4">
            <a:alphaModFix/>
          </a:blip>
          <a:srcRect b="0" l="0" r="0" t="0"/>
          <a:stretch/>
        </p:blipFill>
        <p:spPr>
          <a:xfrm>
            <a:off x="7010400" y="5346700"/>
            <a:ext cx="1755775" cy="749300"/>
          </a:xfrm>
          <a:prstGeom prst="rect">
            <a:avLst/>
          </a:prstGeom>
          <a:noFill/>
          <a:ln>
            <a:noFill/>
          </a:ln>
        </p:spPr>
      </p:pic>
      <p:sp>
        <p:nvSpPr>
          <p:cNvPr id="140" name="Google Shape;140;p5"/>
          <p:cNvSpPr txBox="1"/>
          <p:nvPr/>
        </p:nvSpPr>
        <p:spPr>
          <a:xfrm>
            <a:off x="6842125" y="4343400"/>
            <a:ext cx="22240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Gane and Sarson shape</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6781800" y="6096000"/>
            <a:ext cx="22733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DeMarco/Yourdon shape</a:t>
            </a:r>
            <a:endParaRPr b="0" i="0" sz="1400" u="none" cap="none" strike="noStrike">
              <a:solidFill>
                <a:srgbClr val="000000"/>
              </a:solidFill>
              <a:latin typeface="Arial"/>
              <a:ea typeface="Arial"/>
              <a:cs typeface="Arial"/>
              <a:sym typeface="Arial"/>
            </a:endParaRPr>
          </a:p>
        </p:txBody>
      </p:sp>
      <p:sp>
        <p:nvSpPr>
          <p:cNvPr id="142" name="Google Shape;142;p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External Agents</a:t>
            </a:r>
            <a:endParaRPr/>
          </a:p>
        </p:txBody>
      </p:sp>
      <p:sp>
        <p:nvSpPr>
          <p:cNvPr id="149" name="Google Shape;149;p4"/>
          <p:cNvSpPr txBox="1"/>
          <p:nvPr>
            <p:ph idx="1" type="body"/>
          </p:nvPr>
        </p:nvSpPr>
        <p:spPr>
          <a:xfrm>
            <a:off x="693725" y="1463675"/>
            <a:ext cx="8001000" cy="52578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90000"/>
              </a:lnSpc>
              <a:spcBef>
                <a:spcPts val="0"/>
              </a:spcBef>
              <a:spcAft>
                <a:spcPts val="0"/>
              </a:spcAft>
              <a:buClr>
                <a:srgbClr val="376092"/>
              </a:buClr>
              <a:buSzPts val="4060"/>
              <a:buFont typeface="Arial"/>
              <a:buNone/>
            </a:pPr>
            <a:r>
              <a:rPr b="0"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chemeClr val="dk1"/>
                </a:solidFill>
                <a:latin typeface="Times New Roman"/>
                <a:ea typeface="Times New Roman"/>
                <a:cs typeface="Times New Roman"/>
                <a:sym typeface="Times New Roman"/>
              </a:rPr>
              <a:t>External agent</a:t>
            </a:r>
            <a:r>
              <a:rPr b="0" i="0" lang="en-US" sz="2800" u="none" cap="none" strike="noStrike">
                <a:solidFill>
                  <a:schemeClr val="dk1"/>
                </a:solidFill>
                <a:latin typeface="Times New Roman"/>
                <a:ea typeface="Times New Roman"/>
                <a:cs typeface="Times New Roman"/>
                <a:sym typeface="Times New Roman"/>
              </a:rPr>
              <a:t> – an outside person, unit, system, or organization that interacts with a system. Also called an </a:t>
            </a:r>
            <a:r>
              <a:rPr b="0" i="1" lang="en-US" sz="2800" u="none" cap="none" strike="noStrike">
                <a:solidFill>
                  <a:schemeClr val="dk1"/>
                </a:solidFill>
                <a:latin typeface="Times New Roman"/>
                <a:ea typeface="Times New Roman"/>
                <a:cs typeface="Times New Roman"/>
                <a:sym typeface="Times New Roman"/>
              </a:rPr>
              <a:t>external entity</a:t>
            </a:r>
            <a:r>
              <a:rPr b="0" i="0" lang="en-US" sz="2800" u="none" cap="none" strike="noStrike">
                <a:solidFill>
                  <a:schemeClr val="dk1"/>
                </a:solidFill>
                <a:latin typeface="Times New Roman"/>
                <a:ea typeface="Times New Roman"/>
                <a:cs typeface="Times New Roman"/>
                <a:sym typeface="Times New Roman"/>
              </a:rPr>
              <a:t>. </a:t>
            </a:r>
            <a:endParaRPr/>
          </a:p>
          <a:p>
            <a:pPr indent="-285750" lvl="0" marL="285750" marR="0" rtl="0" algn="l">
              <a:lnSpc>
                <a:spcPct val="90000"/>
              </a:lnSpc>
              <a:spcBef>
                <a:spcPts val="600"/>
              </a:spcBef>
              <a:spcAft>
                <a:spcPts val="0"/>
              </a:spcAft>
              <a:buClr>
                <a:srgbClr val="376092"/>
              </a:buClr>
              <a:buSzPts val="406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1080"/>
              </a:spcBef>
              <a:spcAft>
                <a:spcPts val="0"/>
              </a:spcAft>
              <a:buClr>
                <a:srgbClr val="376092"/>
              </a:buClr>
              <a:buSzPts val="3480"/>
              <a:buFont typeface="Arial"/>
              <a:buChar char="•"/>
            </a:pPr>
            <a:r>
              <a:rPr b="0" i="0" lang="en-US" sz="2400" u="none" cap="none" strike="noStrike">
                <a:solidFill>
                  <a:schemeClr val="dk1"/>
                </a:solidFill>
                <a:latin typeface="Times New Roman"/>
                <a:ea typeface="Times New Roman"/>
                <a:cs typeface="Times New Roman"/>
                <a:sym typeface="Times New Roman"/>
              </a:rPr>
              <a:t>External agents define the “boundary” or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scope of a system being modeled.</a:t>
            </a:r>
            <a:endParaRPr/>
          </a:p>
          <a:p>
            <a:pPr indent="-285750" lvl="1" marL="742950" marR="0" rtl="0" algn="l">
              <a:lnSpc>
                <a:spcPct val="90000"/>
              </a:lnSpc>
              <a:spcBef>
                <a:spcPts val="1080"/>
              </a:spcBef>
              <a:spcAft>
                <a:spcPts val="0"/>
              </a:spcAft>
              <a:buClr>
                <a:srgbClr val="376092"/>
              </a:buClr>
              <a:buSzPts val="3480"/>
              <a:buFont typeface="Arial"/>
              <a:buChar char="•"/>
            </a:pPr>
            <a:r>
              <a:rPr b="0" i="0" lang="en-US" sz="2400" u="none" cap="none" strike="noStrike">
                <a:solidFill>
                  <a:schemeClr val="dk1"/>
                </a:solidFill>
                <a:latin typeface="Times New Roman"/>
                <a:ea typeface="Times New Roman"/>
                <a:cs typeface="Times New Roman"/>
                <a:sym typeface="Times New Roman"/>
              </a:rPr>
              <a:t>As scope changes, external agents can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become processes, and vice versa.</a:t>
            </a:r>
            <a:endParaRPr/>
          </a:p>
        </p:txBody>
      </p:sp>
      <p:pic>
        <p:nvPicPr>
          <p:cNvPr descr="whi74173_ta0905" id="150" name="Google Shape;150;p4"/>
          <p:cNvPicPr preferRelativeResize="0"/>
          <p:nvPr/>
        </p:nvPicPr>
        <p:blipFill rotWithShape="1">
          <a:blip r:embed="rId3">
            <a:alphaModFix/>
          </a:blip>
          <a:srcRect b="16999" l="8639" r="9598" t="0"/>
          <a:stretch/>
        </p:blipFill>
        <p:spPr>
          <a:xfrm>
            <a:off x="1756050" y="5057150"/>
            <a:ext cx="1160462" cy="1128712"/>
          </a:xfrm>
          <a:prstGeom prst="rect">
            <a:avLst/>
          </a:prstGeom>
          <a:noFill/>
          <a:ln>
            <a:noFill/>
          </a:ln>
        </p:spPr>
      </p:pic>
      <p:pic>
        <p:nvPicPr>
          <p:cNvPr descr="whi74173_ta0906" id="151" name="Google Shape;151;p4"/>
          <p:cNvPicPr preferRelativeResize="0"/>
          <p:nvPr/>
        </p:nvPicPr>
        <p:blipFill rotWithShape="1">
          <a:blip r:embed="rId4">
            <a:alphaModFix/>
          </a:blip>
          <a:srcRect b="19783" l="0" r="0" t="0"/>
          <a:stretch/>
        </p:blipFill>
        <p:spPr>
          <a:xfrm>
            <a:off x="6248400" y="4867275"/>
            <a:ext cx="1577975" cy="1038225"/>
          </a:xfrm>
          <a:prstGeom prst="rect">
            <a:avLst/>
          </a:prstGeom>
          <a:noFill/>
          <a:ln>
            <a:noFill/>
          </a:ln>
        </p:spPr>
      </p:pic>
      <p:sp>
        <p:nvSpPr>
          <p:cNvPr id="152" name="Google Shape;152;p4"/>
          <p:cNvSpPr txBox="1"/>
          <p:nvPr/>
        </p:nvSpPr>
        <p:spPr>
          <a:xfrm>
            <a:off x="1224163" y="6185850"/>
            <a:ext cx="222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Gane and Sarson shape</a:t>
            </a:r>
            <a:endParaRPr b="0" i="0" sz="1400" u="none" cap="none" strike="noStrike">
              <a:solidFill>
                <a:srgbClr val="000000"/>
              </a:solidFill>
              <a:latin typeface="Arial"/>
              <a:ea typeface="Arial"/>
              <a:cs typeface="Arial"/>
              <a:sym typeface="Arial"/>
            </a:endParaRPr>
          </a:p>
        </p:txBody>
      </p:sp>
      <p:sp>
        <p:nvSpPr>
          <p:cNvPr id="153" name="Google Shape;153;p4"/>
          <p:cNvSpPr txBox="1"/>
          <p:nvPr/>
        </p:nvSpPr>
        <p:spPr>
          <a:xfrm>
            <a:off x="5867400" y="5919787"/>
            <a:ext cx="22733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DeMarco/Yourdon shape</a:t>
            </a:r>
            <a:endParaRPr b="0" i="0" sz="1400" u="none" cap="none" strike="noStrike">
              <a:solidFill>
                <a:srgbClr val="000000"/>
              </a:solidFill>
              <a:latin typeface="Arial"/>
              <a:ea typeface="Arial"/>
              <a:cs typeface="Arial"/>
              <a:sym typeface="Arial"/>
            </a:endParaRPr>
          </a:p>
        </p:txBody>
      </p:sp>
      <p:sp>
        <p:nvSpPr>
          <p:cNvPr id="154" name="Google Shape;154;p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fb9dccea9d_0_0"/>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161" name="Google Shape;161;g2fb9dccea9d_0_0"/>
          <p:cNvPicPr preferRelativeResize="0"/>
          <p:nvPr/>
        </p:nvPicPr>
        <p:blipFill>
          <a:blip r:embed="rId3">
            <a:alphaModFix/>
          </a:blip>
          <a:stretch>
            <a:fillRect/>
          </a:stretch>
        </p:blipFill>
        <p:spPr>
          <a:xfrm>
            <a:off x="0" y="991650"/>
            <a:ext cx="9144000" cy="5491700"/>
          </a:xfrm>
          <a:prstGeom prst="rect">
            <a:avLst/>
          </a:prstGeom>
          <a:noFill/>
          <a:ln>
            <a:noFill/>
          </a:ln>
        </p:spPr>
      </p:pic>
      <p:sp>
        <p:nvSpPr>
          <p:cNvPr id="162" name="Google Shape;162;g2fb9dccea9d_0_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fb9dccea9d_0_8"/>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169" name="Google Shape;169;g2fb9dccea9d_0_8"/>
          <p:cNvPicPr preferRelativeResize="0"/>
          <p:nvPr/>
        </p:nvPicPr>
        <p:blipFill>
          <a:blip r:embed="rId3">
            <a:alphaModFix/>
          </a:blip>
          <a:stretch>
            <a:fillRect/>
          </a:stretch>
        </p:blipFill>
        <p:spPr>
          <a:xfrm>
            <a:off x="0" y="1380400"/>
            <a:ext cx="9144000" cy="4734750"/>
          </a:xfrm>
          <a:prstGeom prst="rect">
            <a:avLst/>
          </a:prstGeom>
          <a:noFill/>
          <a:ln>
            <a:noFill/>
          </a:ln>
        </p:spPr>
      </p:pic>
      <p:sp>
        <p:nvSpPr>
          <p:cNvPr id="170" name="Google Shape;170;g2fb9dccea9d_0_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176" name="Google Shape;176;p8"/>
          <p:cNvPicPr preferRelativeResize="0"/>
          <p:nvPr>
            <p:ph idx="1" type="body"/>
          </p:nvPr>
        </p:nvPicPr>
        <p:blipFill rotWithShape="1">
          <a:blip r:embed="rId3">
            <a:alphaModFix/>
          </a:blip>
          <a:srcRect b="0" l="0" r="0" t="0"/>
          <a:stretch/>
        </p:blipFill>
        <p:spPr>
          <a:xfrm>
            <a:off x="11625" y="42000"/>
            <a:ext cx="8503200" cy="6774000"/>
          </a:xfrm>
          <a:prstGeom prst="rect">
            <a:avLst/>
          </a:prstGeom>
          <a:noFill/>
          <a:ln>
            <a:noFill/>
          </a:ln>
        </p:spPr>
      </p:pic>
      <p:sp>
        <p:nvSpPr>
          <p:cNvPr id="177" name="Google Shape;177;p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1600200" y="2857500"/>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Common Process Errors on DFDs</a:t>
            </a:r>
            <a:endParaRPr/>
          </a:p>
        </p:txBody>
      </p:sp>
      <p:sp>
        <p:nvSpPr>
          <p:cNvPr id="183" name="Google Shape;183;p1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457200" y="274637"/>
            <a:ext cx="8229600" cy="9112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Common Process Errors on DFDs</a:t>
            </a:r>
            <a:endParaRPr/>
          </a:p>
        </p:txBody>
      </p:sp>
      <p:pic>
        <p:nvPicPr>
          <p:cNvPr descr="0905" id="190" name="Google Shape;190;p11"/>
          <p:cNvPicPr preferRelativeResize="0"/>
          <p:nvPr/>
        </p:nvPicPr>
        <p:blipFill rotWithShape="1">
          <a:blip r:embed="rId3">
            <a:alphaModFix/>
          </a:blip>
          <a:srcRect b="0" l="0" r="0" t="0"/>
          <a:stretch/>
        </p:blipFill>
        <p:spPr>
          <a:xfrm>
            <a:off x="1393025" y="1333500"/>
            <a:ext cx="6760376" cy="5226101"/>
          </a:xfrm>
          <a:prstGeom prst="rect">
            <a:avLst/>
          </a:prstGeom>
          <a:noFill/>
          <a:ln>
            <a:noFill/>
          </a:ln>
        </p:spPr>
      </p:pic>
      <p:sp>
        <p:nvSpPr>
          <p:cNvPr id="191" name="Google Shape;191;p11"/>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Data Flow Packet Concept</a:t>
            </a:r>
            <a:endParaRPr/>
          </a:p>
        </p:txBody>
      </p:sp>
      <p:sp>
        <p:nvSpPr>
          <p:cNvPr id="197" name="Google Shape;197;p12"/>
          <p:cNvSpPr txBox="1"/>
          <p:nvPr>
            <p:ph idx="1" type="body"/>
          </p:nvPr>
        </p:nvSpPr>
        <p:spPr>
          <a:xfrm>
            <a:off x="914400" y="1600200"/>
            <a:ext cx="8153400" cy="1336675"/>
          </a:xfrm>
          <a:prstGeom prst="rect">
            <a:avLst/>
          </a:prstGeom>
          <a:noFill/>
          <a:ln>
            <a:noFill/>
          </a:ln>
        </p:spPr>
        <p:txBody>
          <a:bodyPr anchorCtr="0" anchor="t" bIns="45700" lIns="91425" spcFirstLastPara="1" rIns="91425" wrap="square" tIns="45700">
            <a:noAutofit/>
          </a:bodyPr>
          <a:lstStyle/>
          <a:p>
            <a:pPr indent="-285750" lvl="0" marL="285750" marR="0" rtl="0" algn="l">
              <a:lnSpc>
                <a:spcPct val="90000"/>
              </a:lnSpc>
              <a:spcBef>
                <a:spcPts val="0"/>
              </a:spcBef>
              <a:spcAft>
                <a:spcPts val="0"/>
              </a:spcAft>
              <a:buClr>
                <a:srgbClr val="376092"/>
              </a:buClr>
              <a:buSzPts val="4060"/>
              <a:buFont typeface="Arial"/>
              <a:buChar char="•"/>
            </a:pPr>
            <a:r>
              <a:rPr b="0" i="0" lang="en-US" sz="2800" u="none" cap="none" strike="noStrike">
                <a:solidFill>
                  <a:schemeClr val="dk1"/>
                </a:solidFill>
                <a:latin typeface="Corbel"/>
                <a:ea typeface="Corbel"/>
                <a:cs typeface="Corbel"/>
                <a:sym typeface="Corbel"/>
              </a:rPr>
              <a:t>Data that should travel together should be shown as a single data flow, no matter how many physical documents might be included.</a:t>
            </a:r>
            <a:endParaRPr/>
          </a:p>
        </p:txBody>
      </p:sp>
      <p:pic>
        <p:nvPicPr>
          <p:cNvPr descr="0910" id="198" name="Google Shape;198;p12"/>
          <p:cNvPicPr preferRelativeResize="0"/>
          <p:nvPr/>
        </p:nvPicPr>
        <p:blipFill rotWithShape="1">
          <a:blip r:embed="rId3">
            <a:alphaModFix/>
          </a:blip>
          <a:srcRect b="0" l="0" r="0" t="0"/>
          <a:stretch/>
        </p:blipFill>
        <p:spPr>
          <a:xfrm>
            <a:off x="457200" y="3108325"/>
            <a:ext cx="8229600" cy="3457575"/>
          </a:xfrm>
          <a:prstGeom prst="rect">
            <a:avLst/>
          </a:prstGeom>
          <a:noFill/>
          <a:ln>
            <a:noFill/>
          </a:ln>
        </p:spPr>
      </p:pic>
      <p:sp>
        <p:nvSpPr>
          <p:cNvPr id="199" name="Google Shape;199;p12"/>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3810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Data Flows to and from Data Stores</a:t>
            </a:r>
            <a:endParaRPr/>
          </a:p>
        </p:txBody>
      </p:sp>
      <p:pic>
        <p:nvPicPr>
          <p:cNvPr descr="whi74173_0912" id="206" name="Google Shape;206;p13"/>
          <p:cNvPicPr preferRelativeResize="0"/>
          <p:nvPr/>
        </p:nvPicPr>
        <p:blipFill rotWithShape="1">
          <a:blip r:embed="rId3">
            <a:alphaModFix/>
          </a:blip>
          <a:srcRect b="0" l="0" r="0" t="0"/>
          <a:stretch/>
        </p:blipFill>
        <p:spPr>
          <a:xfrm>
            <a:off x="2057400" y="1495425"/>
            <a:ext cx="5124450" cy="5286375"/>
          </a:xfrm>
          <a:prstGeom prst="rect">
            <a:avLst/>
          </a:prstGeom>
          <a:noFill/>
          <a:ln>
            <a:noFill/>
          </a:ln>
        </p:spPr>
      </p:pic>
      <p:sp>
        <p:nvSpPr>
          <p:cNvPr id="207" name="Google Shape;207;p1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990600" y="319087"/>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Rules for Data Flows</a:t>
            </a:r>
            <a:endParaRPr/>
          </a:p>
        </p:txBody>
      </p:sp>
      <p:sp>
        <p:nvSpPr>
          <p:cNvPr id="214" name="Google Shape;214;p14"/>
          <p:cNvSpPr txBox="1"/>
          <p:nvPr>
            <p:ph idx="1" type="body"/>
          </p:nvPr>
        </p:nvSpPr>
        <p:spPr>
          <a:xfrm>
            <a:off x="571500" y="1539875"/>
            <a:ext cx="2514600" cy="5181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76092"/>
              </a:buClr>
              <a:buSzPts val="2900"/>
              <a:buFont typeface="Arial"/>
              <a:buChar char="•"/>
            </a:pPr>
            <a:r>
              <a:rPr b="0" i="0" lang="en-US" sz="2000" u="none" cap="none" strike="noStrike">
                <a:solidFill>
                  <a:schemeClr val="dk1"/>
                </a:solidFill>
                <a:latin typeface="Corbel"/>
                <a:ea typeface="Corbel"/>
                <a:cs typeface="Corbel"/>
                <a:sym typeface="Corbel"/>
              </a:rPr>
              <a:t>A data flow should never go unnamed.</a:t>
            </a:r>
            <a:endParaRPr/>
          </a:p>
          <a:p>
            <a:pPr indent="-285750" lvl="0" marL="285750" marR="0" rtl="0" algn="l">
              <a:lnSpc>
                <a:spcPct val="100000"/>
              </a:lnSpc>
              <a:spcBef>
                <a:spcPts val="600"/>
              </a:spcBef>
              <a:spcAft>
                <a:spcPts val="0"/>
              </a:spcAft>
              <a:buClr>
                <a:srgbClr val="376092"/>
              </a:buClr>
              <a:buSzPts val="2900"/>
              <a:buFont typeface="Arial"/>
              <a:buChar char="•"/>
            </a:pPr>
            <a:r>
              <a:rPr b="0" i="0" lang="en-US" sz="2000" u="none" cap="none" strike="noStrike">
                <a:solidFill>
                  <a:schemeClr val="dk1"/>
                </a:solidFill>
                <a:latin typeface="Corbel"/>
                <a:ea typeface="Corbel"/>
                <a:cs typeface="Corbel"/>
                <a:sym typeface="Corbel"/>
              </a:rPr>
              <a:t>In logical modeling, data flow names should describe the data flow without describing the implementation</a:t>
            </a:r>
            <a:endParaRPr/>
          </a:p>
          <a:p>
            <a:pPr indent="-285750" lvl="0" marL="285750" marR="0" rtl="0" algn="l">
              <a:lnSpc>
                <a:spcPct val="100000"/>
              </a:lnSpc>
              <a:spcBef>
                <a:spcPts val="600"/>
              </a:spcBef>
              <a:spcAft>
                <a:spcPts val="0"/>
              </a:spcAft>
              <a:buClr>
                <a:srgbClr val="376092"/>
              </a:buClr>
              <a:buSzPts val="2900"/>
              <a:buFont typeface="Arial"/>
              <a:buChar char="•"/>
            </a:pPr>
            <a:r>
              <a:rPr b="0" i="0" lang="en-US" sz="2000" u="none" cap="none" strike="noStrike">
                <a:solidFill>
                  <a:schemeClr val="dk1"/>
                </a:solidFill>
                <a:latin typeface="Corbel"/>
                <a:ea typeface="Corbel"/>
                <a:cs typeface="Corbel"/>
                <a:sym typeface="Corbel"/>
              </a:rPr>
              <a:t>All data flows must begin and/or end at a process.</a:t>
            </a:r>
            <a:endParaRPr/>
          </a:p>
        </p:txBody>
      </p:sp>
      <p:pic>
        <p:nvPicPr>
          <p:cNvPr descr="whi74173_0913" id="215" name="Google Shape;215;p14"/>
          <p:cNvPicPr preferRelativeResize="0"/>
          <p:nvPr/>
        </p:nvPicPr>
        <p:blipFill rotWithShape="1">
          <a:blip r:embed="rId3">
            <a:alphaModFix/>
          </a:blip>
          <a:srcRect b="0" l="0" r="0" t="0"/>
          <a:stretch/>
        </p:blipFill>
        <p:spPr>
          <a:xfrm>
            <a:off x="3581400" y="1468437"/>
            <a:ext cx="5562600" cy="4932362"/>
          </a:xfrm>
          <a:prstGeom prst="rect">
            <a:avLst/>
          </a:prstGeom>
          <a:noFill/>
          <a:ln>
            <a:noFill/>
          </a:ln>
        </p:spPr>
      </p:pic>
      <p:sp>
        <p:nvSpPr>
          <p:cNvPr id="216" name="Google Shape;216;p1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5"/>
          <p:cNvSpPr txBox="1"/>
          <p:nvPr>
            <p:ph type="title"/>
          </p:nvPr>
        </p:nvSpPr>
        <p:spPr>
          <a:xfrm>
            <a:off x="982662" y="214312"/>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Diverging and Converging </a:t>
            </a:r>
            <a:br>
              <a:rPr b="0" i="0" lang="en-US" sz="3600" u="none">
                <a:solidFill>
                  <a:schemeClr val="dk1"/>
                </a:solidFill>
                <a:latin typeface="Corbel"/>
                <a:ea typeface="Corbel"/>
                <a:cs typeface="Corbel"/>
                <a:sym typeface="Corbel"/>
              </a:rPr>
            </a:br>
            <a:r>
              <a:rPr b="0" i="0" lang="en-US" sz="3600" u="none">
                <a:solidFill>
                  <a:schemeClr val="dk1"/>
                </a:solidFill>
                <a:latin typeface="Corbel"/>
                <a:ea typeface="Corbel"/>
                <a:cs typeface="Corbel"/>
                <a:sym typeface="Corbel"/>
              </a:rPr>
              <a:t>Data Flows</a:t>
            </a:r>
            <a:endParaRPr/>
          </a:p>
        </p:txBody>
      </p:sp>
      <p:sp>
        <p:nvSpPr>
          <p:cNvPr id="223" name="Google Shape;223;p15"/>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rmAutofit/>
          </a:bodyPr>
          <a:lstStyle/>
          <a:p>
            <a:pPr indent="-406400" lvl="0" marL="457200" marR="0" rtl="0" algn="just">
              <a:lnSpc>
                <a:spcPct val="80000"/>
              </a:lnSpc>
              <a:spcBef>
                <a:spcPts val="0"/>
              </a:spcBef>
              <a:spcAft>
                <a:spcPts val="0"/>
              </a:spcAft>
              <a:buClr>
                <a:schemeClr val="dk1"/>
              </a:buClr>
              <a:buSzPts val="2800"/>
              <a:buFont typeface="Corbel"/>
              <a:buChar char="•"/>
            </a:pPr>
            <a:r>
              <a:rPr b="1" i="0" lang="en-US" sz="2800" u="none" cap="none" strike="noStrike">
                <a:solidFill>
                  <a:schemeClr val="dk1"/>
                </a:solidFill>
                <a:latin typeface="Corbel"/>
                <a:ea typeface="Corbel"/>
                <a:cs typeface="Corbel"/>
                <a:sym typeface="Corbel"/>
              </a:rPr>
              <a:t>Diverging data flow</a:t>
            </a:r>
            <a:r>
              <a:rPr b="0" i="0" lang="en-US" sz="2800" u="none" cap="none" strike="noStrike">
                <a:solidFill>
                  <a:schemeClr val="dk1"/>
                </a:solidFill>
                <a:latin typeface="Corbel"/>
                <a:ea typeface="Corbel"/>
                <a:cs typeface="Corbel"/>
                <a:sym typeface="Corbel"/>
              </a:rPr>
              <a:t> – a data flow that splits into multiple data flows.</a:t>
            </a:r>
            <a:endParaRPr/>
          </a:p>
          <a:p>
            <a:pPr indent="-424180" lvl="1" marL="914400" marR="0" rtl="0" algn="just">
              <a:lnSpc>
                <a:spcPct val="80000"/>
              </a:lnSpc>
              <a:spcBef>
                <a:spcPts val="1080"/>
              </a:spcBef>
              <a:spcAft>
                <a:spcPts val="0"/>
              </a:spcAft>
              <a:buClr>
                <a:srgbClr val="376092"/>
              </a:buClr>
              <a:buSzPts val="3080"/>
              <a:buFont typeface="Arial"/>
              <a:buChar char="•"/>
            </a:pPr>
            <a:r>
              <a:rPr b="0" i="0" lang="en-US" u="none" cap="none" strike="noStrike">
                <a:solidFill>
                  <a:schemeClr val="dk1"/>
                </a:solidFill>
                <a:latin typeface="Corbel"/>
                <a:ea typeface="Corbel"/>
                <a:cs typeface="Corbel"/>
                <a:sym typeface="Corbel"/>
              </a:rPr>
              <a:t>Indicates data that starts out naturally as one flow, but is routed to different destinations.</a:t>
            </a:r>
            <a:endParaRPr sz="1600"/>
          </a:p>
          <a:p>
            <a:pPr indent="-424180" lvl="1" marL="914400" marR="0" rtl="0" algn="just">
              <a:lnSpc>
                <a:spcPct val="80000"/>
              </a:lnSpc>
              <a:spcBef>
                <a:spcPts val="1080"/>
              </a:spcBef>
              <a:spcAft>
                <a:spcPts val="0"/>
              </a:spcAft>
              <a:buClr>
                <a:srgbClr val="376092"/>
              </a:buClr>
              <a:buSzPts val="3080"/>
              <a:buFont typeface="Arial"/>
              <a:buChar char="•"/>
            </a:pPr>
            <a:r>
              <a:rPr b="0" i="0" lang="en-US" u="none" cap="none" strike="noStrike">
                <a:solidFill>
                  <a:schemeClr val="dk1"/>
                </a:solidFill>
                <a:latin typeface="Corbel"/>
                <a:ea typeface="Corbel"/>
                <a:cs typeface="Corbel"/>
                <a:sym typeface="Corbel"/>
              </a:rPr>
              <a:t>Also useful to indicate multiple copies of the same output going to different destinations.</a:t>
            </a:r>
            <a:endParaRPr sz="1600"/>
          </a:p>
          <a:p>
            <a:pPr indent="0" lvl="0" marL="457200" marR="0" rtl="0" algn="just">
              <a:lnSpc>
                <a:spcPct val="80000"/>
              </a:lnSpc>
              <a:spcBef>
                <a:spcPts val="600"/>
              </a:spcBef>
              <a:spcAft>
                <a:spcPts val="0"/>
              </a:spcAft>
              <a:buNone/>
            </a:pPr>
            <a:r>
              <a:t/>
            </a:r>
            <a:endParaRPr sz="2800"/>
          </a:p>
          <a:p>
            <a:pPr indent="-406400" lvl="0" marL="457200" marR="0" rtl="0" algn="just">
              <a:lnSpc>
                <a:spcPct val="80000"/>
              </a:lnSpc>
              <a:spcBef>
                <a:spcPts val="600"/>
              </a:spcBef>
              <a:spcAft>
                <a:spcPts val="0"/>
              </a:spcAft>
              <a:buClr>
                <a:schemeClr val="dk1"/>
              </a:buClr>
              <a:buSzPts val="2800"/>
              <a:buFont typeface="Corbel"/>
              <a:buChar char="•"/>
            </a:pPr>
            <a:r>
              <a:rPr b="1" i="0" lang="en-US" sz="2800" u="none" cap="none" strike="noStrike">
                <a:solidFill>
                  <a:schemeClr val="dk1"/>
                </a:solidFill>
                <a:latin typeface="Corbel"/>
                <a:ea typeface="Corbel"/>
                <a:cs typeface="Corbel"/>
                <a:sym typeface="Corbel"/>
              </a:rPr>
              <a:t>Converging data flow</a:t>
            </a:r>
            <a:r>
              <a:rPr b="0" i="0" lang="en-US" sz="2800" u="none" cap="none" strike="noStrike">
                <a:solidFill>
                  <a:schemeClr val="dk1"/>
                </a:solidFill>
                <a:latin typeface="Corbel"/>
                <a:ea typeface="Corbel"/>
                <a:cs typeface="Corbel"/>
                <a:sym typeface="Corbel"/>
              </a:rPr>
              <a:t> – the merger of multiple data flows into a single packet.</a:t>
            </a:r>
            <a:endParaRPr/>
          </a:p>
          <a:p>
            <a:pPr indent="-273050" lvl="1" marL="742950" marR="0" rtl="0" algn="just">
              <a:lnSpc>
                <a:spcPct val="80000"/>
              </a:lnSpc>
              <a:spcBef>
                <a:spcPts val="1080"/>
              </a:spcBef>
              <a:spcAft>
                <a:spcPts val="0"/>
              </a:spcAft>
              <a:buClr>
                <a:srgbClr val="376092"/>
              </a:buClr>
              <a:buSzPts val="3280"/>
              <a:buFont typeface="Arial"/>
              <a:buChar char="•"/>
            </a:pPr>
            <a:r>
              <a:rPr b="0" i="0" lang="en-US" sz="2200" u="none" cap="none" strike="noStrike">
                <a:solidFill>
                  <a:schemeClr val="dk1"/>
                </a:solidFill>
                <a:latin typeface="Corbel"/>
                <a:ea typeface="Corbel"/>
                <a:cs typeface="Corbel"/>
                <a:sym typeface="Corbel"/>
              </a:rPr>
              <a:t>Indicates data from multiple sources that can (must) come together as a single packet for subsequent processing.</a:t>
            </a:r>
            <a:endParaRPr sz="1800"/>
          </a:p>
        </p:txBody>
      </p:sp>
      <p:sp>
        <p:nvSpPr>
          <p:cNvPr id="224" name="Google Shape;224;p1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type="title"/>
          </p:nvPr>
        </p:nvSpPr>
        <p:spPr>
          <a:xfrm>
            <a:off x="990600" y="315912"/>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Diverging and Converging </a:t>
            </a:r>
            <a:br>
              <a:rPr b="0" i="0" lang="en-US" sz="3600" u="none">
                <a:solidFill>
                  <a:schemeClr val="dk1"/>
                </a:solidFill>
                <a:latin typeface="Corbel"/>
                <a:ea typeface="Corbel"/>
                <a:cs typeface="Corbel"/>
                <a:sym typeface="Corbel"/>
              </a:rPr>
            </a:br>
            <a:r>
              <a:rPr b="0" i="0" lang="en-US" sz="3600" u="none">
                <a:solidFill>
                  <a:schemeClr val="dk1"/>
                </a:solidFill>
                <a:latin typeface="Corbel"/>
                <a:ea typeface="Corbel"/>
                <a:cs typeface="Corbel"/>
                <a:sym typeface="Corbel"/>
              </a:rPr>
              <a:t>Data Flows</a:t>
            </a:r>
            <a:endParaRPr/>
          </a:p>
        </p:txBody>
      </p:sp>
      <p:pic>
        <p:nvPicPr>
          <p:cNvPr descr="whi74173_0916" id="231" name="Google Shape;231;p16"/>
          <p:cNvPicPr preferRelativeResize="0"/>
          <p:nvPr/>
        </p:nvPicPr>
        <p:blipFill rotWithShape="1">
          <a:blip r:embed="rId3">
            <a:alphaModFix/>
          </a:blip>
          <a:srcRect b="0" l="0" r="0" t="0"/>
          <a:stretch/>
        </p:blipFill>
        <p:spPr>
          <a:xfrm>
            <a:off x="457200" y="1704975"/>
            <a:ext cx="8229599" cy="4532312"/>
          </a:xfrm>
          <a:prstGeom prst="rect">
            <a:avLst/>
          </a:prstGeom>
          <a:noFill/>
          <a:ln>
            <a:noFill/>
          </a:ln>
        </p:spPr>
      </p:pic>
      <p:sp>
        <p:nvSpPr>
          <p:cNvPr id="232" name="Google Shape;232;p1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7"/>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Exercise: Order food</a:t>
            </a:r>
            <a:endParaRPr/>
          </a:p>
        </p:txBody>
      </p:sp>
      <p:sp>
        <p:nvSpPr>
          <p:cNvPr id="238" name="Google Shape;238;p17"/>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76092"/>
              </a:buClr>
              <a:buSzPts val="3190"/>
              <a:buFont typeface="Arial"/>
              <a:buChar char="•"/>
            </a:pPr>
            <a:r>
              <a:rPr b="0" i="0" lang="en-US" sz="2200" u="none" cap="none" strike="noStrike">
                <a:solidFill>
                  <a:schemeClr val="dk1"/>
                </a:solidFill>
                <a:latin typeface="Corbel"/>
                <a:ea typeface="Corbel"/>
                <a:cs typeface="Corbel"/>
                <a:sym typeface="Corbel"/>
              </a:rPr>
              <a:t>Draw a Data Flow Diagram (DFD) for “</a:t>
            </a:r>
            <a:r>
              <a:rPr b="1" i="1" lang="en-US" sz="2200" u="none" cap="none" strike="noStrike">
                <a:solidFill>
                  <a:schemeClr val="dk1"/>
                </a:solidFill>
                <a:latin typeface="Corbel"/>
                <a:ea typeface="Corbel"/>
                <a:cs typeface="Corbel"/>
                <a:sym typeface="Corbel"/>
              </a:rPr>
              <a:t>Food Ordering System”</a:t>
            </a:r>
            <a:r>
              <a:rPr b="0" i="0" lang="en-US" sz="2200" u="none" cap="none" strike="noStrike">
                <a:solidFill>
                  <a:schemeClr val="dk1"/>
                </a:solidFill>
                <a:latin typeface="Corbel"/>
                <a:ea typeface="Corbel"/>
                <a:cs typeface="Corbel"/>
                <a:sym typeface="Corbel"/>
              </a:rPr>
              <a:t> considering the following scenarios:</a:t>
            </a:r>
            <a:endParaRPr/>
          </a:p>
          <a:p>
            <a:pPr indent="-285750" lvl="0" marL="285750" marR="0" rtl="0" algn="l">
              <a:lnSpc>
                <a:spcPct val="100000"/>
              </a:lnSpc>
              <a:spcBef>
                <a:spcPts val="600"/>
              </a:spcBef>
              <a:spcAft>
                <a:spcPts val="0"/>
              </a:spcAft>
              <a:buClr>
                <a:srgbClr val="376092"/>
              </a:buClr>
              <a:buSzPts val="2900"/>
              <a:buFont typeface="Arial"/>
              <a:buChar char="•"/>
            </a:pPr>
            <a:br>
              <a:rPr b="0" i="0" lang="en-US" sz="2000" u="none" cap="none" strike="noStrike">
                <a:solidFill>
                  <a:schemeClr val="dk1"/>
                </a:solidFill>
                <a:latin typeface="Corbel"/>
                <a:ea typeface="Corbel"/>
                <a:cs typeface="Corbel"/>
                <a:sym typeface="Corbel"/>
              </a:rPr>
            </a:br>
            <a:r>
              <a:rPr b="1" i="0" lang="en-US" sz="2000" u="none" cap="none" strike="noStrike">
                <a:solidFill>
                  <a:schemeClr val="dk1"/>
                </a:solidFill>
                <a:latin typeface="Corbel"/>
                <a:ea typeface="Corbel"/>
                <a:cs typeface="Corbel"/>
                <a:sym typeface="Corbel"/>
              </a:rPr>
              <a:t>Customer</a:t>
            </a:r>
            <a:r>
              <a:rPr b="0" i="0" lang="en-US" sz="2000" u="none" cap="none" strike="noStrike">
                <a:solidFill>
                  <a:schemeClr val="dk1"/>
                </a:solidFill>
                <a:latin typeface="Corbel"/>
                <a:ea typeface="Corbel"/>
                <a:cs typeface="Corbel"/>
                <a:sym typeface="Corbel"/>
              </a:rPr>
              <a:t> place an </a:t>
            </a:r>
            <a:r>
              <a:rPr b="0"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The Order Food process receives the </a:t>
            </a:r>
            <a:r>
              <a:rPr b="0"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forwards it to the </a:t>
            </a:r>
            <a:r>
              <a:rPr b="1" i="0" lang="en-US" sz="2000" u="none" cap="none" strike="noStrike">
                <a:solidFill>
                  <a:schemeClr val="dk1"/>
                </a:solidFill>
                <a:latin typeface="Corbel"/>
                <a:ea typeface="Corbel"/>
                <a:cs typeface="Corbel"/>
                <a:sym typeface="Corbel"/>
              </a:rPr>
              <a:t>Kitchen</a:t>
            </a:r>
            <a:r>
              <a:rPr b="0" i="0" lang="en-US" sz="2000" u="none" cap="none" strike="noStrike">
                <a:solidFill>
                  <a:schemeClr val="dk1"/>
                </a:solidFill>
                <a:latin typeface="Corbel"/>
                <a:ea typeface="Corbel"/>
                <a:cs typeface="Corbel"/>
                <a:sym typeface="Corbel"/>
              </a:rPr>
              <a:t>, store it in the </a:t>
            </a:r>
            <a:r>
              <a:rPr b="1"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data store, and store the updated </a:t>
            </a:r>
            <a:r>
              <a:rPr b="0" i="1" lang="en-US" sz="2000" u="none" cap="none" strike="noStrike">
                <a:solidFill>
                  <a:schemeClr val="dk1"/>
                </a:solidFill>
                <a:latin typeface="Corbel"/>
                <a:ea typeface="Corbel"/>
                <a:cs typeface="Corbel"/>
                <a:sym typeface="Corbel"/>
              </a:rPr>
              <a:t>Inventory details</a:t>
            </a:r>
            <a:r>
              <a:rPr b="0" i="0" lang="en-US" sz="2000" u="none" cap="none" strike="noStrike">
                <a:solidFill>
                  <a:schemeClr val="dk1"/>
                </a:solidFill>
                <a:latin typeface="Corbel"/>
                <a:ea typeface="Corbel"/>
                <a:cs typeface="Corbel"/>
                <a:sym typeface="Corbel"/>
              </a:rPr>
              <a:t> in the </a:t>
            </a:r>
            <a:r>
              <a:rPr b="1" i="1" lang="en-US" sz="2000" u="none" cap="none" strike="noStrike">
                <a:solidFill>
                  <a:schemeClr val="dk1"/>
                </a:solidFill>
                <a:latin typeface="Corbel"/>
                <a:ea typeface="Corbel"/>
                <a:cs typeface="Corbel"/>
                <a:sym typeface="Corbel"/>
              </a:rPr>
              <a:t>Inventory</a:t>
            </a:r>
            <a:r>
              <a:rPr b="0" i="0" lang="en-US" sz="2000" u="none" cap="none" strike="noStrike">
                <a:solidFill>
                  <a:schemeClr val="dk1"/>
                </a:solidFill>
                <a:latin typeface="Corbel"/>
                <a:ea typeface="Corbel"/>
                <a:cs typeface="Corbel"/>
                <a:sym typeface="Corbel"/>
              </a:rPr>
              <a:t> data store. The process also delivers a </a:t>
            </a:r>
            <a:r>
              <a:rPr b="0" i="1" lang="en-US" sz="2000" u="none" cap="none" strike="noStrike">
                <a:solidFill>
                  <a:schemeClr val="dk1"/>
                </a:solidFill>
                <a:latin typeface="Corbel"/>
                <a:ea typeface="Corbel"/>
                <a:cs typeface="Corbel"/>
                <a:sym typeface="Corbel"/>
              </a:rPr>
              <a:t>Bill</a:t>
            </a:r>
            <a:r>
              <a:rPr b="0" i="0" lang="en-US" sz="2000" u="none" cap="none" strike="noStrike">
                <a:solidFill>
                  <a:schemeClr val="dk1"/>
                </a:solidFill>
                <a:latin typeface="Corbel"/>
                <a:ea typeface="Corbel"/>
                <a:cs typeface="Corbel"/>
                <a:sym typeface="Corbel"/>
              </a:rPr>
              <a:t> to the </a:t>
            </a:r>
            <a:r>
              <a:rPr b="1" i="0" lang="en-US" sz="2000" u="none" cap="none" strike="noStrike">
                <a:solidFill>
                  <a:schemeClr val="dk1"/>
                </a:solidFill>
                <a:latin typeface="Corbel"/>
                <a:ea typeface="Corbel"/>
                <a:cs typeface="Corbel"/>
                <a:sym typeface="Corbel"/>
              </a:rPr>
              <a:t>Customer</a:t>
            </a:r>
            <a:r>
              <a:rPr b="0" i="0" lang="en-US" sz="2000" u="none" cap="none" strike="noStrike">
                <a:solidFill>
                  <a:schemeClr val="dk1"/>
                </a:solidFill>
                <a:latin typeface="Corbel"/>
                <a:ea typeface="Corbel"/>
                <a:cs typeface="Corbel"/>
                <a:sym typeface="Corbel"/>
              </a:rPr>
              <a:t>. </a:t>
            </a:r>
            <a:r>
              <a:rPr b="1" i="0" lang="en-US" sz="2000" u="none" cap="none" strike="noStrike">
                <a:solidFill>
                  <a:schemeClr val="dk1"/>
                </a:solidFill>
                <a:latin typeface="Corbel"/>
                <a:ea typeface="Corbel"/>
                <a:cs typeface="Corbel"/>
                <a:sym typeface="Corbel"/>
              </a:rPr>
              <a:t>Manager</a:t>
            </a:r>
            <a:r>
              <a:rPr b="0" i="0" lang="en-US" sz="2000" u="none" cap="none" strike="noStrike">
                <a:solidFill>
                  <a:schemeClr val="dk1"/>
                </a:solidFill>
                <a:latin typeface="Corbel"/>
                <a:ea typeface="Corbel"/>
                <a:cs typeface="Corbel"/>
                <a:sym typeface="Corbel"/>
              </a:rPr>
              <a:t> can receive </a:t>
            </a:r>
            <a:r>
              <a:rPr b="0" i="1" lang="en-US" sz="2000" u="none" cap="none" strike="noStrike">
                <a:solidFill>
                  <a:schemeClr val="dk1"/>
                </a:solidFill>
                <a:latin typeface="Corbel"/>
                <a:ea typeface="Corbel"/>
                <a:cs typeface="Corbel"/>
                <a:sym typeface="Corbel"/>
              </a:rPr>
              <a:t>Reports</a:t>
            </a:r>
            <a:r>
              <a:rPr b="0" i="0" lang="en-US" sz="2000" u="none" cap="none" strike="noStrike">
                <a:solidFill>
                  <a:schemeClr val="dk1"/>
                </a:solidFill>
                <a:latin typeface="Corbel"/>
                <a:ea typeface="Corbel"/>
                <a:cs typeface="Corbel"/>
                <a:sym typeface="Corbel"/>
              </a:rPr>
              <a:t> through the Generate Reports process, which takes </a:t>
            </a:r>
            <a:r>
              <a:rPr b="0" i="1" lang="en-US" sz="2000" u="none" cap="none" strike="noStrike">
                <a:solidFill>
                  <a:schemeClr val="dk1"/>
                </a:solidFill>
                <a:latin typeface="Corbel"/>
                <a:ea typeface="Corbel"/>
                <a:cs typeface="Corbel"/>
                <a:sym typeface="Corbel"/>
              </a:rPr>
              <a:t>Inventory details</a:t>
            </a:r>
            <a:r>
              <a:rPr b="0" i="0" lang="en-US" sz="2000" u="none" cap="none" strike="noStrike">
                <a:solidFill>
                  <a:schemeClr val="dk1"/>
                </a:solidFill>
                <a:latin typeface="Corbel"/>
                <a:ea typeface="Corbel"/>
                <a:cs typeface="Corbel"/>
                <a:sym typeface="Corbel"/>
              </a:rPr>
              <a:t> and </a:t>
            </a:r>
            <a:r>
              <a:rPr b="0" i="1" lang="en-US" sz="2000" u="none" cap="none" strike="noStrike">
                <a:solidFill>
                  <a:schemeClr val="dk1"/>
                </a:solidFill>
                <a:latin typeface="Corbel"/>
                <a:ea typeface="Corbel"/>
                <a:cs typeface="Corbel"/>
                <a:sym typeface="Corbel"/>
              </a:rPr>
              <a:t>Orders</a:t>
            </a:r>
            <a:r>
              <a:rPr b="0" i="0" lang="en-US" sz="2000" u="none" cap="none" strike="noStrike">
                <a:solidFill>
                  <a:schemeClr val="dk1"/>
                </a:solidFill>
                <a:latin typeface="Corbel"/>
                <a:ea typeface="Corbel"/>
                <a:cs typeface="Corbel"/>
                <a:sym typeface="Corbel"/>
              </a:rPr>
              <a:t> as input from the </a:t>
            </a:r>
            <a:r>
              <a:rPr b="1" i="1" lang="en-US" sz="2000" u="none" cap="none" strike="noStrike">
                <a:solidFill>
                  <a:schemeClr val="dk1"/>
                </a:solidFill>
                <a:latin typeface="Corbel"/>
                <a:ea typeface="Corbel"/>
                <a:cs typeface="Corbel"/>
                <a:sym typeface="Corbel"/>
              </a:rPr>
              <a:t>Inventory</a:t>
            </a:r>
            <a:r>
              <a:rPr b="0" i="0" lang="en-US" sz="2000" u="none" cap="none" strike="noStrike">
                <a:solidFill>
                  <a:schemeClr val="dk1"/>
                </a:solidFill>
                <a:latin typeface="Corbel"/>
                <a:ea typeface="Corbel"/>
                <a:cs typeface="Corbel"/>
                <a:sym typeface="Corbel"/>
              </a:rPr>
              <a:t> and </a:t>
            </a:r>
            <a:r>
              <a:rPr b="1"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data store respectively. </a:t>
            </a:r>
            <a:r>
              <a:rPr b="1" i="0" lang="en-US" sz="2000" u="none" cap="none" strike="noStrike">
                <a:solidFill>
                  <a:schemeClr val="dk1"/>
                </a:solidFill>
                <a:latin typeface="Corbel"/>
                <a:ea typeface="Corbel"/>
                <a:cs typeface="Corbel"/>
                <a:sym typeface="Corbel"/>
              </a:rPr>
              <a:t>Manager</a:t>
            </a:r>
            <a:r>
              <a:rPr b="0" i="0" lang="en-US" sz="2000" u="none" cap="none" strike="noStrike">
                <a:solidFill>
                  <a:schemeClr val="dk1"/>
                </a:solidFill>
                <a:latin typeface="Corbel"/>
                <a:ea typeface="Corbel"/>
                <a:cs typeface="Corbel"/>
                <a:sym typeface="Corbel"/>
              </a:rPr>
              <a:t> can also initiate the Order Inventory process by providing </a:t>
            </a:r>
            <a:r>
              <a:rPr b="0" i="1" lang="en-US" sz="2000" u="none" cap="none" strike="noStrike">
                <a:solidFill>
                  <a:schemeClr val="dk1"/>
                </a:solidFill>
                <a:latin typeface="Corbel"/>
                <a:ea typeface="Corbel"/>
                <a:cs typeface="Corbel"/>
                <a:sym typeface="Corbel"/>
              </a:rPr>
              <a:t>Inventory order</a:t>
            </a:r>
            <a:r>
              <a:rPr b="0" i="0" lang="en-US" sz="2000" u="none" cap="none" strike="noStrike">
                <a:solidFill>
                  <a:schemeClr val="dk1"/>
                </a:solidFill>
                <a:latin typeface="Corbel"/>
                <a:ea typeface="Corbel"/>
                <a:cs typeface="Corbel"/>
                <a:sym typeface="Corbel"/>
              </a:rPr>
              <a:t>. The process forwards the </a:t>
            </a:r>
            <a:r>
              <a:rPr b="0" i="1" lang="en-US" sz="2000" u="none" cap="none" strike="noStrike">
                <a:solidFill>
                  <a:schemeClr val="dk1"/>
                </a:solidFill>
                <a:latin typeface="Corbel"/>
                <a:ea typeface="Corbel"/>
                <a:cs typeface="Corbel"/>
                <a:sym typeface="Corbel"/>
              </a:rPr>
              <a:t>Inventory order</a:t>
            </a:r>
            <a:r>
              <a:rPr b="0" i="0" lang="en-US" sz="2000" u="none" cap="none" strike="noStrike">
                <a:solidFill>
                  <a:schemeClr val="dk1"/>
                </a:solidFill>
                <a:latin typeface="Corbel"/>
                <a:ea typeface="Corbel"/>
                <a:cs typeface="Corbel"/>
                <a:sym typeface="Corbel"/>
              </a:rPr>
              <a:t> to the </a:t>
            </a:r>
            <a:r>
              <a:rPr b="1" i="0" lang="en-US" sz="2000" u="none" cap="none" strike="noStrike">
                <a:solidFill>
                  <a:schemeClr val="dk1"/>
                </a:solidFill>
                <a:latin typeface="Corbel"/>
                <a:ea typeface="Corbel"/>
                <a:cs typeface="Corbel"/>
                <a:sym typeface="Corbel"/>
              </a:rPr>
              <a:t>Supplier</a:t>
            </a:r>
            <a:r>
              <a:rPr b="0" i="0" lang="en-US" sz="2000" u="none" cap="none" strike="noStrike">
                <a:solidFill>
                  <a:schemeClr val="dk1"/>
                </a:solidFill>
                <a:latin typeface="Corbel"/>
                <a:ea typeface="Corbel"/>
                <a:cs typeface="Corbel"/>
                <a:sym typeface="Corbel"/>
              </a:rPr>
              <a:t> and stores the updated </a:t>
            </a:r>
            <a:r>
              <a:rPr b="0" i="1" lang="en-US" sz="2000" u="none" cap="none" strike="noStrike">
                <a:solidFill>
                  <a:schemeClr val="dk1"/>
                </a:solidFill>
                <a:latin typeface="Corbel"/>
                <a:ea typeface="Corbel"/>
                <a:cs typeface="Corbel"/>
                <a:sym typeface="Corbel"/>
              </a:rPr>
              <a:t>Inventory details</a:t>
            </a:r>
            <a:r>
              <a:rPr b="0" i="0" lang="en-US" sz="2000" u="none" cap="none" strike="noStrike">
                <a:solidFill>
                  <a:schemeClr val="dk1"/>
                </a:solidFill>
                <a:latin typeface="Corbel"/>
                <a:ea typeface="Corbel"/>
                <a:cs typeface="Corbel"/>
                <a:sym typeface="Corbel"/>
              </a:rPr>
              <a:t> in the </a:t>
            </a:r>
            <a:r>
              <a:rPr b="1" i="1" lang="en-US" sz="2000" u="none" cap="none" strike="noStrike">
                <a:solidFill>
                  <a:schemeClr val="dk1"/>
                </a:solidFill>
                <a:latin typeface="Corbel"/>
                <a:ea typeface="Corbel"/>
                <a:cs typeface="Corbel"/>
                <a:sym typeface="Corbel"/>
              </a:rPr>
              <a:t>Inventory</a:t>
            </a:r>
            <a:r>
              <a:rPr b="0" i="0" lang="en-US" sz="2000" u="none" cap="none" strike="noStrike">
                <a:solidFill>
                  <a:schemeClr val="dk1"/>
                </a:solidFill>
                <a:latin typeface="Corbel"/>
                <a:ea typeface="Corbel"/>
                <a:cs typeface="Corbel"/>
                <a:sym typeface="Corbel"/>
              </a:rPr>
              <a:t> data store.</a:t>
            </a:r>
            <a:endParaRPr/>
          </a:p>
        </p:txBody>
      </p:sp>
      <p:sp>
        <p:nvSpPr>
          <p:cNvPr id="239" name="Google Shape;239;p1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245" name="Google Shape;245;p18"/>
          <p:cNvPicPr preferRelativeResize="0"/>
          <p:nvPr>
            <p:ph idx="1" type="body"/>
          </p:nvPr>
        </p:nvPicPr>
        <p:blipFill rotWithShape="1">
          <a:blip r:embed="rId3">
            <a:alphaModFix/>
          </a:blip>
          <a:srcRect b="0" l="0" r="0" t="0"/>
          <a:stretch/>
        </p:blipFill>
        <p:spPr>
          <a:xfrm>
            <a:off x="1282925" y="629375"/>
            <a:ext cx="7404000" cy="5771400"/>
          </a:xfrm>
          <a:prstGeom prst="rect">
            <a:avLst/>
          </a:prstGeom>
          <a:noFill/>
          <a:ln>
            <a:noFill/>
          </a:ln>
        </p:spPr>
      </p:pic>
      <p:sp>
        <p:nvSpPr>
          <p:cNvPr id="246" name="Google Shape;246;p1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9"/>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252" name="Google Shape;252;p19"/>
          <p:cNvPicPr preferRelativeResize="0"/>
          <p:nvPr>
            <p:ph idx="1" type="body"/>
          </p:nvPr>
        </p:nvPicPr>
        <p:blipFill rotWithShape="1">
          <a:blip r:embed="rId3">
            <a:alphaModFix/>
          </a:blip>
          <a:srcRect b="0" l="0" r="0" t="0"/>
          <a:stretch/>
        </p:blipFill>
        <p:spPr>
          <a:xfrm>
            <a:off x="610225" y="556350"/>
            <a:ext cx="7469100" cy="5745300"/>
          </a:xfrm>
          <a:prstGeom prst="rect">
            <a:avLst/>
          </a:prstGeom>
          <a:noFill/>
          <a:ln>
            <a:noFill/>
          </a:ln>
        </p:spPr>
      </p:pic>
      <p:sp>
        <p:nvSpPr>
          <p:cNvPr id="253" name="Google Shape;253;p19"/>
          <p:cNvSpPr txBox="1"/>
          <p:nvPr/>
        </p:nvSpPr>
        <p:spPr>
          <a:xfrm>
            <a:off x="0" y="74612"/>
            <a:ext cx="43434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Payroll management system</a:t>
            </a:r>
            <a:endParaRPr b="0" i="0" sz="1400" u="none" cap="none" strike="noStrike">
              <a:solidFill>
                <a:srgbClr val="000000"/>
              </a:solidFill>
              <a:latin typeface="Arial"/>
              <a:ea typeface="Arial"/>
              <a:cs typeface="Arial"/>
              <a:sym typeface="Arial"/>
            </a:endParaRPr>
          </a:p>
        </p:txBody>
      </p:sp>
      <p:sp>
        <p:nvSpPr>
          <p:cNvPr id="254" name="Google Shape;254;p19"/>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0"/>
          <p:cNvSpPr txBox="1"/>
          <p:nvPr>
            <p:ph type="title"/>
          </p:nvPr>
        </p:nvSpPr>
        <p:spPr>
          <a:xfrm>
            <a:off x="447675" y="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Patient Information system</a:t>
            </a:r>
            <a:br>
              <a:rPr b="0" i="0" lang="en-US" sz="3600" u="none">
                <a:solidFill>
                  <a:schemeClr val="dk1"/>
                </a:solidFill>
                <a:latin typeface="Corbel"/>
                <a:ea typeface="Corbel"/>
                <a:cs typeface="Corbel"/>
                <a:sym typeface="Corbel"/>
              </a:rPr>
            </a:br>
            <a:endParaRPr/>
          </a:p>
        </p:txBody>
      </p:sp>
      <p:pic>
        <p:nvPicPr>
          <p:cNvPr id="260" name="Google Shape;260;p20"/>
          <p:cNvPicPr preferRelativeResize="0"/>
          <p:nvPr>
            <p:ph idx="1" type="body"/>
          </p:nvPr>
        </p:nvPicPr>
        <p:blipFill rotWithShape="1">
          <a:blip r:embed="rId3">
            <a:alphaModFix/>
          </a:blip>
          <a:srcRect b="9654" l="8583" r="5585" t="9606"/>
          <a:stretch/>
        </p:blipFill>
        <p:spPr>
          <a:xfrm>
            <a:off x="203200" y="701675"/>
            <a:ext cx="8737600" cy="6019800"/>
          </a:xfrm>
          <a:prstGeom prst="rect">
            <a:avLst/>
          </a:prstGeom>
          <a:noFill/>
          <a:ln>
            <a:noFill/>
          </a:ln>
        </p:spPr>
      </p:pic>
      <p:sp>
        <p:nvSpPr>
          <p:cNvPr id="261" name="Google Shape;261;p2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267" name="Google Shape;267;p21"/>
          <p:cNvPicPr preferRelativeResize="0"/>
          <p:nvPr>
            <p:ph idx="1" type="body"/>
          </p:nvPr>
        </p:nvPicPr>
        <p:blipFill rotWithShape="1">
          <a:blip r:embed="rId3">
            <a:alphaModFix/>
          </a:blip>
          <a:srcRect b="0" l="0" r="0" t="0"/>
          <a:stretch/>
        </p:blipFill>
        <p:spPr>
          <a:xfrm>
            <a:off x="1451800" y="848276"/>
            <a:ext cx="7057200" cy="5354100"/>
          </a:xfrm>
          <a:prstGeom prst="rect">
            <a:avLst/>
          </a:prstGeom>
          <a:noFill/>
          <a:ln>
            <a:noFill/>
          </a:ln>
        </p:spPr>
      </p:pic>
      <p:sp>
        <p:nvSpPr>
          <p:cNvPr id="268" name="Google Shape;268;p21"/>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2"/>
          <p:cNvSpPr txBox="1"/>
          <p:nvPr>
            <p:ph type="title"/>
          </p:nvPr>
        </p:nvSpPr>
        <p:spPr>
          <a:xfrm>
            <a:off x="1290637" y="2514600"/>
            <a:ext cx="6562725"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Process Decomposition</a:t>
            </a:r>
            <a:endParaRPr/>
          </a:p>
        </p:txBody>
      </p:sp>
      <p:sp>
        <p:nvSpPr>
          <p:cNvPr id="274" name="Google Shape;274;p22"/>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Process Decomposition</a:t>
            </a:r>
            <a:endParaRPr/>
          </a:p>
        </p:txBody>
      </p:sp>
      <p:sp>
        <p:nvSpPr>
          <p:cNvPr id="281" name="Google Shape;281;p23"/>
          <p:cNvSpPr txBox="1"/>
          <p:nvPr>
            <p:ph idx="1" type="body"/>
          </p:nvPr>
        </p:nvSpPr>
        <p:spPr>
          <a:xfrm>
            <a:off x="838200" y="1447800"/>
            <a:ext cx="80772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76092"/>
              </a:buClr>
              <a:buSzPts val="4060"/>
              <a:buFont typeface="Arial"/>
              <a:buNone/>
            </a:pPr>
            <a:r>
              <a:rPr b="1" i="0" lang="en-US" sz="2800" u="none" cap="none" strike="noStrike">
                <a:solidFill>
                  <a:schemeClr val="dk1"/>
                </a:solidFill>
                <a:latin typeface="Corbel"/>
                <a:ea typeface="Corbel"/>
                <a:cs typeface="Corbel"/>
                <a:sym typeface="Corbel"/>
              </a:rPr>
              <a:t>Decomposition</a:t>
            </a:r>
            <a:r>
              <a:rPr b="0" i="0" lang="en-US" sz="2800" u="none" cap="none" strike="noStrike">
                <a:solidFill>
                  <a:schemeClr val="dk1"/>
                </a:solidFill>
                <a:latin typeface="Corbel"/>
                <a:ea typeface="Corbel"/>
                <a:cs typeface="Corbel"/>
                <a:sym typeface="Corbel"/>
              </a:rPr>
              <a:t> – the act of breaking a system into sub-components. Each level of abstraction reveals more or less detail.</a:t>
            </a:r>
            <a:endParaRPr/>
          </a:p>
        </p:txBody>
      </p:sp>
      <p:pic>
        <p:nvPicPr>
          <p:cNvPr descr="0903" id="282" name="Google Shape;282;p23"/>
          <p:cNvPicPr preferRelativeResize="0"/>
          <p:nvPr/>
        </p:nvPicPr>
        <p:blipFill rotWithShape="1">
          <a:blip r:embed="rId3">
            <a:alphaModFix/>
          </a:blip>
          <a:srcRect b="0" l="0" r="0" t="0"/>
          <a:stretch/>
        </p:blipFill>
        <p:spPr>
          <a:xfrm>
            <a:off x="1962150" y="2732087"/>
            <a:ext cx="5219700" cy="3989387"/>
          </a:xfrm>
          <a:prstGeom prst="rect">
            <a:avLst/>
          </a:prstGeom>
          <a:noFill/>
          <a:ln>
            <a:noFill/>
          </a:ln>
        </p:spPr>
      </p:pic>
      <p:sp>
        <p:nvSpPr>
          <p:cNvPr id="283" name="Google Shape;283;p2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984250" y="60325"/>
            <a:ext cx="6562725"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Decomposition Diagrams</a:t>
            </a:r>
            <a:endParaRPr/>
          </a:p>
        </p:txBody>
      </p:sp>
      <p:sp>
        <p:nvSpPr>
          <p:cNvPr id="290" name="Google Shape;290;p24"/>
          <p:cNvSpPr txBox="1"/>
          <p:nvPr>
            <p:ph idx="1" type="body"/>
          </p:nvPr>
        </p:nvSpPr>
        <p:spPr>
          <a:xfrm>
            <a:off x="457200" y="1538287"/>
            <a:ext cx="3808412" cy="4848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76092"/>
              </a:buClr>
              <a:buSzPts val="4060"/>
              <a:buFont typeface="Arial"/>
              <a:buNone/>
            </a:pPr>
            <a:r>
              <a:rPr b="1" i="0" lang="en-US" sz="2800" u="none" cap="none" strike="noStrike">
                <a:solidFill>
                  <a:schemeClr val="dk1"/>
                </a:solidFill>
                <a:latin typeface="Corbel"/>
                <a:ea typeface="Corbel"/>
                <a:cs typeface="Corbel"/>
                <a:sym typeface="Corbel"/>
              </a:rPr>
              <a:t>Decomposition diagram</a:t>
            </a:r>
            <a:r>
              <a:rPr b="0" i="0" lang="en-US" sz="2800" u="none" cap="none" strike="noStrike">
                <a:solidFill>
                  <a:schemeClr val="dk1"/>
                </a:solidFill>
                <a:latin typeface="Corbel"/>
                <a:ea typeface="Corbel"/>
                <a:cs typeface="Corbel"/>
                <a:sym typeface="Corbel"/>
              </a:rPr>
              <a:t> – a tool used to depict the decomposition of a system. Also called hierarchy chart.</a:t>
            </a:r>
            <a:endParaRPr/>
          </a:p>
        </p:txBody>
      </p:sp>
      <p:pic>
        <p:nvPicPr>
          <p:cNvPr descr="0904" id="291" name="Google Shape;291;p24"/>
          <p:cNvPicPr preferRelativeResize="0"/>
          <p:nvPr/>
        </p:nvPicPr>
        <p:blipFill rotWithShape="1">
          <a:blip r:embed="rId3">
            <a:alphaModFix/>
          </a:blip>
          <a:srcRect b="0" l="0" r="0" t="0"/>
          <a:stretch/>
        </p:blipFill>
        <p:spPr>
          <a:xfrm>
            <a:off x="4265612" y="1257300"/>
            <a:ext cx="4775200" cy="5464175"/>
          </a:xfrm>
          <a:prstGeom prst="rect">
            <a:avLst/>
          </a:prstGeom>
          <a:noFill/>
          <a:ln>
            <a:noFill/>
          </a:ln>
        </p:spPr>
      </p:pic>
      <p:sp>
        <p:nvSpPr>
          <p:cNvPr id="292" name="Google Shape;292;p2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686468bc17_0_15"/>
          <p:cNvSpPr txBox="1"/>
          <p:nvPr>
            <p:ph type="title"/>
          </p:nvPr>
        </p:nvSpPr>
        <p:spPr>
          <a:xfrm>
            <a:off x="1068000" y="477150"/>
            <a:ext cx="7682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DFD Hierarchy </a:t>
            </a:r>
            <a:r>
              <a:rPr lang="en-US" sz="2000">
                <a:solidFill>
                  <a:schemeClr val="dk1"/>
                </a:solidFill>
              </a:rPr>
              <a:t>(1 of 3)</a:t>
            </a:r>
            <a:endParaRPr sz="2000">
              <a:solidFill>
                <a:schemeClr val="dk1"/>
              </a:solidFill>
            </a:endParaRPr>
          </a:p>
        </p:txBody>
      </p:sp>
      <p:pic>
        <p:nvPicPr>
          <p:cNvPr descr="Data flow diagram depicting customization shop management system level 0 DFD for a client service project." id="298" name="Google Shape;298;g3686468bc17_0_15"/>
          <p:cNvPicPr preferRelativeResize="0"/>
          <p:nvPr>
            <p:ph idx="1" type="body"/>
          </p:nvPr>
        </p:nvPicPr>
        <p:blipFill rotWithShape="1">
          <a:blip r:embed="rId3">
            <a:alphaModFix/>
          </a:blip>
          <a:srcRect b="0" l="0" r="0" t="0"/>
          <a:stretch/>
        </p:blipFill>
        <p:spPr>
          <a:xfrm>
            <a:off x="1775625" y="1545775"/>
            <a:ext cx="5427900" cy="5100900"/>
          </a:xfrm>
          <a:prstGeom prst="rect">
            <a:avLst/>
          </a:prstGeom>
          <a:noFill/>
          <a:ln>
            <a:noFill/>
          </a:ln>
        </p:spPr>
      </p:pic>
      <p:sp>
        <p:nvSpPr>
          <p:cNvPr id="299" name="Google Shape;299;g3686468bc17_0_15"/>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686468bc17_0_22"/>
          <p:cNvSpPr txBox="1"/>
          <p:nvPr>
            <p:ph type="title"/>
          </p:nvPr>
        </p:nvSpPr>
        <p:spPr>
          <a:xfrm>
            <a:off x="981400" y="494475"/>
            <a:ext cx="78111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DFD Hierarchy </a:t>
            </a:r>
            <a:r>
              <a:rPr lang="en-US" sz="2000">
                <a:solidFill>
                  <a:schemeClr val="dk1"/>
                </a:solidFill>
              </a:rPr>
              <a:t>(2 of 3)</a:t>
            </a:r>
            <a:endParaRPr>
              <a:solidFill>
                <a:schemeClr val="dk1"/>
              </a:solidFill>
            </a:endParaRPr>
          </a:p>
        </p:txBody>
      </p:sp>
      <p:sp>
        <p:nvSpPr>
          <p:cNvPr id="305" name="Google Shape;305;g3686468bc17_0_22"/>
          <p:cNvSpPr txBox="1"/>
          <p:nvPr>
            <p:ph idx="1" type="body"/>
          </p:nvPr>
        </p:nvSpPr>
        <p:spPr>
          <a:xfrm>
            <a:off x="934600" y="1752600"/>
            <a:ext cx="79047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dk1"/>
              </a:buClr>
              <a:buSzPts val="2800"/>
              <a:buFont typeface="Arial"/>
              <a:buChar char="•"/>
            </a:pPr>
            <a:r>
              <a:rPr lang="en-US"/>
              <a:t>Processes on Level 0 diagram each decompose into separate Level 1 diagrams</a:t>
            </a:r>
            <a:endParaRPr/>
          </a:p>
          <a:p>
            <a:pPr indent="-292608" lvl="0" marL="292608" marR="0" rtl="0" algn="l">
              <a:lnSpc>
                <a:spcPct val="90000"/>
              </a:lnSpc>
              <a:spcBef>
                <a:spcPts val="1000"/>
              </a:spcBef>
              <a:spcAft>
                <a:spcPts val="0"/>
              </a:spcAft>
              <a:buClr>
                <a:schemeClr val="dk1"/>
              </a:buClr>
              <a:buSzPts val="2800"/>
              <a:buFont typeface="Arial"/>
              <a:buChar char="•"/>
            </a:pPr>
            <a:r>
              <a:rPr lang="en-US"/>
              <a:t>Processes on Level 1 diagrams may or may not be decomposed into separate Level 2 diagrams</a:t>
            </a:r>
            <a:endParaRPr/>
          </a:p>
          <a:p>
            <a:pPr indent="-292608" lvl="0" marL="292608" marR="0" rtl="0" algn="l">
              <a:lnSpc>
                <a:spcPct val="90000"/>
              </a:lnSpc>
              <a:spcBef>
                <a:spcPts val="1000"/>
              </a:spcBef>
              <a:spcAft>
                <a:spcPts val="0"/>
              </a:spcAft>
              <a:buClr>
                <a:schemeClr val="dk1"/>
              </a:buClr>
              <a:buSzPts val="2800"/>
              <a:buFont typeface="Arial"/>
              <a:buChar char="•"/>
            </a:pPr>
            <a:r>
              <a:rPr lang="en-US"/>
              <a:t>Processes are decomposed until each process is a single-purpose, primitive process</a:t>
            </a:r>
            <a:endParaRPr/>
          </a:p>
        </p:txBody>
      </p:sp>
      <p:sp>
        <p:nvSpPr>
          <p:cNvPr id="306" name="Google Shape;306;g3686468bc17_0_22"/>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686468bc17_0_29"/>
          <p:cNvSpPr txBox="1"/>
          <p:nvPr>
            <p:ph type="title"/>
          </p:nvPr>
        </p:nvSpPr>
        <p:spPr>
          <a:xfrm>
            <a:off x="1013250" y="459500"/>
            <a:ext cx="7825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DFD Hierarchy </a:t>
            </a:r>
            <a:r>
              <a:rPr lang="en-US" sz="2000">
                <a:solidFill>
                  <a:schemeClr val="dk1"/>
                </a:solidFill>
              </a:rPr>
              <a:t>(3 of 3)</a:t>
            </a:r>
            <a:endParaRPr>
              <a:solidFill>
                <a:schemeClr val="dk1"/>
              </a:solidFill>
            </a:endParaRPr>
          </a:p>
        </p:txBody>
      </p:sp>
      <p:pic>
        <p:nvPicPr>
          <p:cNvPr descr="Data flow diagram depicting customization shop management system process 4 (Record Receipt of Components) level 1 DFD." id="312" name="Google Shape;312;g3686468bc17_0_29"/>
          <p:cNvPicPr preferRelativeResize="0"/>
          <p:nvPr>
            <p:ph idx="1" type="body"/>
          </p:nvPr>
        </p:nvPicPr>
        <p:blipFill rotWithShape="1">
          <a:blip r:embed="rId3">
            <a:alphaModFix/>
          </a:blip>
          <a:srcRect b="0" l="0" r="0" t="0"/>
          <a:stretch/>
        </p:blipFill>
        <p:spPr>
          <a:xfrm>
            <a:off x="1590375" y="1434800"/>
            <a:ext cx="5622000" cy="5423100"/>
          </a:xfrm>
          <a:prstGeom prst="rect">
            <a:avLst/>
          </a:prstGeom>
          <a:noFill/>
          <a:ln>
            <a:noFill/>
          </a:ln>
        </p:spPr>
      </p:pic>
      <p:sp>
        <p:nvSpPr>
          <p:cNvPr id="313" name="Google Shape;313;g3686468bc17_0_29"/>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990600" y="339725"/>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Context Data Flow Diagram</a:t>
            </a:r>
            <a:endParaRPr/>
          </a:p>
        </p:txBody>
      </p:sp>
      <p:sp>
        <p:nvSpPr>
          <p:cNvPr id="320" name="Google Shape;320;p33"/>
          <p:cNvSpPr txBox="1"/>
          <p:nvPr>
            <p:ph idx="1" type="body"/>
          </p:nvPr>
        </p:nvSpPr>
        <p:spPr>
          <a:xfrm>
            <a:off x="762000" y="1676400"/>
            <a:ext cx="8229600" cy="47244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US" sz="2600" u="none" cap="none" strike="noStrike">
                <a:solidFill>
                  <a:schemeClr val="dk1"/>
                </a:solidFill>
                <a:latin typeface="Corbel"/>
                <a:ea typeface="Corbel"/>
                <a:cs typeface="Corbel"/>
                <a:sym typeface="Corbel"/>
              </a:rPr>
              <a:t>Context data flow diagram</a:t>
            </a:r>
            <a:r>
              <a:rPr b="0" i="0" lang="en-US" sz="2600" u="none" cap="none" strike="noStrike">
                <a:solidFill>
                  <a:schemeClr val="dk1"/>
                </a:solidFill>
                <a:latin typeface="Corbel"/>
                <a:ea typeface="Corbel"/>
                <a:cs typeface="Corbel"/>
                <a:sym typeface="Corbel"/>
              </a:rPr>
              <a:t> - a process model used to document the scope for a system. Also called the environmental model.</a:t>
            </a:r>
            <a:br>
              <a:rPr b="0" i="0" lang="en-US" sz="2600" u="none" cap="none" strike="noStrike">
                <a:solidFill>
                  <a:schemeClr val="dk1"/>
                </a:solidFill>
                <a:latin typeface="Corbel"/>
                <a:ea typeface="Corbel"/>
                <a:cs typeface="Corbel"/>
                <a:sym typeface="Corbel"/>
              </a:rPr>
            </a:br>
            <a:endParaRPr/>
          </a:p>
          <a:p>
            <a:pPr indent="-368300" lvl="0" marL="457200" marR="0" rtl="0" algn="l">
              <a:lnSpc>
                <a:spcPct val="90000"/>
              </a:lnSpc>
              <a:spcBef>
                <a:spcPts val="1040"/>
              </a:spcBef>
              <a:spcAft>
                <a:spcPts val="0"/>
              </a:spcAft>
              <a:buClr>
                <a:schemeClr val="dk1"/>
              </a:buClr>
              <a:buSzPts val="2200"/>
              <a:buFont typeface="Corbel"/>
              <a:buChar char="•"/>
            </a:pPr>
            <a:r>
              <a:rPr lang="en-US" sz="2200"/>
              <a:t>Top-level DFD in every process model</a:t>
            </a:r>
            <a:endParaRPr sz="2200"/>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Think of the system as a "black box."</a:t>
            </a:r>
            <a:endParaRPr/>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Ask users what business transactions the system must respond to. These are inputs, and the sources are external agents.</a:t>
            </a:r>
            <a:endParaRPr/>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Ask users what responses must be produced by the system. These are outputs, and the destinations are external agents.</a:t>
            </a:r>
            <a:endParaRPr/>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Identify any external data stores, if any.</a:t>
            </a:r>
            <a:endParaRPr/>
          </a:p>
          <a:p>
            <a:pPr indent="0" lvl="0" marL="914400" marR="0" rtl="0" algn="l">
              <a:lnSpc>
                <a:spcPct val="90000"/>
              </a:lnSpc>
              <a:spcBef>
                <a:spcPts val="1040"/>
              </a:spcBef>
              <a:spcAft>
                <a:spcPts val="0"/>
              </a:spcAft>
              <a:buNone/>
            </a:pPr>
            <a:r>
              <a:t/>
            </a:r>
            <a:endParaRPr/>
          </a:p>
        </p:txBody>
      </p:sp>
      <p:pic>
        <p:nvPicPr>
          <p:cNvPr descr="Data flow diagram depicting customization shop management system process 5 (Finalize Parts Request) Level 1 DFD." id="321" name="Google Shape;321;p33"/>
          <p:cNvPicPr preferRelativeResize="0"/>
          <p:nvPr>
            <p:ph idx="4294967295" type="body"/>
          </p:nvPr>
        </p:nvPicPr>
        <p:blipFill rotWithShape="1">
          <a:blip r:embed="rId3">
            <a:alphaModFix/>
          </a:blip>
          <a:srcRect b="0" l="0" r="0" t="0"/>
          <a:stretch/>
        </p:blipFill>
        <p:spPr>
          <a:xfrm>
            <a:off x="4376407" y="5394161"/>
            <a:ext cx="4767600" cy="1444800"/>
          </a:xfrm>
          <a:prstGeom prst="rect">
            <a:avLst/>
          </a:prstGeom>
          <a:noFill/>
          <a:ln>
            <a:noFill/>
          </a:ln>
        </p:spPr>
      </p:pic>
      <p:sp>
        <p:nvSpPr>
          <p:cNvPr id="322" name="Google Shape;322;p3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5"/>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Level </a:t>
            </a:r>
            <a:r>
              <a:rPr lang="en-US">
                <a:latin typeface="Times New Roman"/>
                <a:ea typeface="Times New Roman"/>
                <a:cs typeface="Times New Roman"/>
                <a:sym typeface="Times New Roman"/>
              </a:rPr>
              <a:t>0</a:t>
            </a:r>
            <a:r>
              <a:rPr lang="en-US"/>
              <a:t> </a:t>
            </a:r>
            <a:r>
              <a:rPr b="0" i="0" lang="en-US" sz="4000" u="none">
                <a:solidFill>
                  <a:schemeClr val="dk1"/>
                </a:solidFill>
                <a:latin typeface="Corbel"/>
                <a:ea typeface="Corbel"/>
                <a:cs typeface="Corbel"/>
                <a:sym typeface="Corbel"/>
              </a:rPr>
              <a:t>Diagram</a:t>
            </a:r>
            <a:endParaRPr/>
          </a:p>
        </p:txBody>
      </p:sp>
      <p:sp>
        <p:nvSpPr>
          <p:cNvPr id="329" name="Google Shape;329;p25"/>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381000" lvl="0" marL="457200" rtl="0" algn="l">
              <a:lnSpc>
                <a:spcPct val="90000"/>
              </a:lnSpc>
              <a:spcBef>
                <a:spcPts val="0"/>
              </a:spcBef>
              <a:spcAft>
                <a:spcPts val="0"/>
              </a:spcAft>
              <a:buClr>
                <a:schemeClr val="dk1"/>
              </a:buClr>
              <a:buSzPts val="2400"/>
              <a:buChar char="•"/>
            </a:pPr>
            <a:r>
              <a:rPr lang="en-US">
                <a:latin typeface="Calibri"/>
                <a:ea typeface="Calibri"/>
                <a:cs typeface="Calibri"/>
                <a:sym typeface="Calibri"/>
              </a:rPr>
              <a:t>Shows all the major processes that comprise the overall system</a:t>
            </a:r>
            <a:endParaRPr>
              <a:latin typeface="Calibri"/>
              <a:ea typeface="Calibri"/>
              <a:cs typeface="Calibri"/>
              <a:sym typeface="Calibri"/>
            </a:endParaRPr>
          </a:p>
          <a:p>
            <a:pPr indent="-355600" lvl="1" marL="914400" rtl="0" algn="l">
              <a:lnSpc>
                <a:spcPct val="90000"/>
              </a:lnSpc>
              <a:spcBef>
                <a:spcPts val="500"/>
              </a:spcBef>
              <a:spcAft>
                <a:spcPts val="0"/>
              </a:spcAft>
              <a:buClr>
                <a:schemeClr val="dk1"/>
              </a:buClr>
              <a:buSzPts val="2000"/>
              <a:buChar char="•"/>
            </a:pPr>
            <a:r>
              <a:rPr lang="en-US">
                <a:latin typeface="Calibri"/>
                <a:ea typeface="Calibri"/>
                <a:cs typeface="Calibri"/>
                <a:sym typeface="Calibri"/>
              </a:rPr>
              <a:t>Internal components of process 0</a:t>
            </a:r>
            <a:endParaRPr>
              <a:latin typeface="Calibri"/>
              <a:ea typeface="Calibri"/>
              <a:cs typeface="Calibri"/>
              <a:sym typeface="Calibri"/>
            </a:endParaRPr>
          </a:p>
          <a:p>
            <a:pPr indent="-381000" lvl="0" marL="457200" rtl="0" algn="l">
              <a:lnSpc>
                <a:spcPct val="90000"/>
              </a:lnSpc>
              <a:spcBef>
                <a:spcPts val="1000"/>
              </a:spcBef>
              <a:spcAft>
                <a:spcPts val="0"/>
              </a:spcAft>
              <a:buClr>
                <a:schemeClr val="dk1"/>
              </a:buClr>
              <a:buSzPts val="2400"/>
              <a:buChar char="•"/>
            </a:pPr>
            <a:r>
              <a:rPr lang="en-US">
                <a:latin typeface="Calibri"/>
                <a:ea typeface="Calibri"/>
                <a:cs typeface="Calibri"/>
                <a:sym typeface="Calibri"/>
              </a:rPr>
              <a:t>Shows how the major processes are interrelated by data flows</a:t>
            </a:r>
            <a:endParaRPr>
              <a:latin typeface="Calibri"/>
              <a:ea typeface="Calibri"/>
              <a:cs typeface="Calibri"/>
              <a:sym typeface="Calibri"/>
            </a:endParaRPr>
          </a:p>
          <a:p>
            <a:pPr indent="-381000" lvl="0" marL="457200" rtl="0" algn="l">
              <a:lnSpc>
                <a:spcPct val="90000"/>
              </a:lnSpc>
              <a:spcBef>
                <a:spcPts val="1000"/>
              </a:spcBef>
              <a:spcAft>
                <a:spcPts val="0"/>
              </a:spcAft>
              <a:buClr>
                <a:schemeClr val="dk1"/>
              </a:buClr>
              <a:buSzPts val="2400"/>
              <a:buChar char="•"/>
            </a:pPr>
            <a:r>
              <a:rPr lang="en-US">
                <a:latin typeface="Calibri"/>
                <a:ea typeface="Calibri"/>
                <a:cs typeface="Calibri"/>
                <a:sym typeface="Calibri"/>
              </a:rPr>
              <a:t>Shows external entities and the major processes with which they interact</a:t>
            </a:r>
            <a:endParaRPr>
              <a:latin typeface="Calibri"/>
              <a:ea typeface="Calibri"/>
              <a:cs typeface="Calibri"/>
              <a:sym typeface="Calibri"/>
            </a:endParaRPr>
          </a:p>
          <a:p>
            <a:pPr indent="-381000" lvl="0" marL="457200" rtl="0" algn="l">
              <a:lnSpc>
                <a:spcPct val="90000"/>
              </a:lnSpc>
              <a:spcBef>
                <a:spcPts val="1000"/>
              </a:spcBef>
              <a:spcAft>
                <a:spcPts val="0"/>
              </a:spcAft>
              <a:buClr>
                <a:schemeClr val="dk1"/>
              </a:buClr>
              <a:buSzPts val="2400"/>
              <a:buChar char="•"/>
            </a:pPr>
            <a:r>
              <a:rPr lang="en-US">
                <a:latin typeface="Calibri"/>
                <a:ea typeface="Calibri"/>
                <a:cs typeface="Calibri"/>
                <a:sym typeface="Calibri"/>
              </a:rPr>
              <a:t>Adds stored data via the data stores</a:t>
            </a:r>
            <a:endParaRPr>
              <a:latin typeface="Calibri"/>
              <a:ea typeface="Calibri"/>
              <a:cs typeface="Calibri"/>
              <a:sym typeface="Calibri"/>
            </a:endParaRPr>
          </a:p>
          <a:p>
            <a:pPr indent="0" lvl="0" marL="457200" marR="0" rtl="0" algn="l">
              <a:lnSpc>
                <a:spcPct val="100000"/>
              </a:lnSpc>
              <a:spcBef>
                <a:spcPts val="600"/>
              </a:spcBef>
              <a:spcAft>
                <a:spcPts val="0"/>
              </a:spcAft>
              <a:buNone/>
            </a:pPr>
            <a:r>
              <a:t/>
            </a:r>
            <a:endParaRPr/>
          </a:p>
        </p:txBody>
      </p:sp>
      <p:pic>
        <p:nvPicPr>
          <p:cNvPr descr="Chart summarizing the data flow diagram quality checklist for identifying the most common errors." id="330" name="Google Shape;330;p25"/>
          <p:cNvPicPr preferRelativeResize="0"/>
          <p:nvPr>
            <p:ph idx="4294967295" type="body"/>
          </p:nvPr>
        </p:nvPicPr>
        <p:blipFill rotWithShape="1">
          <a:blip r:embed="rId3">
            <a:alphaModFix/>
          </a:blip>
          <a:srcRect b="0" l="0" r="0" t="0"/>
          <a:stretch/>
        </p:blipFill>
        <p:spPr>
          <a:xfrm>
            <a:off x="5158325" y="4728526"/>
            <a:ext cx="3985800" cy="2110500"/>
          </a:xfrm>
          <a:prstGeom prst="rect">
            <a:avLst/>
          </a:prstGeom>
          <a:noFill/>
          <a:ln>
            <a:noFill/>
          </a:ln>
        </p:spPr>
      </p:pic>
      <p:sp>
        <p:nvSpPr>
          <p:cNvPr id="331" name="Google Shape;331;p2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6"/>
          <p:cNvSpPr txBox="1"/>
          <p:nvPr>
            <p:ph type="title"/>
          </p:nvPr>
        </p:nvSpPr>
        <p:spPr>
          <a:xfrm>
            <a:off x="1630362" y="457200"/>
            <a:ext cx="6561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Level 1 Diagrams</a:t>
            </a:r>
            <a:endParaRPr/>
          </a:p>
        </p:txBody>
      </p:sp>
      <p:sp>
        <p:nvSpPr>
          <p:cNvPr id="338" name="Google Shape;338;p26"/>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368300" lvl="0" marL="457200" rtl="0" algn="l">
              <a:lnSpc>
                <a:spcPct val="90000"/>
              </a:lnSpc>
              <a:spcBef>
                <a:spcPts val="0"/>
              </a:spcBef>
              <a:spcAft>
                <a:spcPts val="0"/>
              </a:spcAft>
              <a:buClr>
                <a:schemeClr val="dk1"/>
              </a:buClr>
              <a:buSzPts val="2200"/>
              <a:buChar char="•"/>
            </a:pPr>
            <a:r>
              <a:rPr lang="en-US" sz="2200">
                <a:latin typeface="Calibri"/>
                <a:ea typeface="Calibri"/>
                <a:cs typeface="Calibri"/>
                <a:sym typeface="Calibri"/>
              </a:rPr>
              <a:t>Create one level 1 diagram for every major process on level 0 diagram</a:t>
            </a:r>
            <a:endParaRPr sz="2200">
              <a:latin typeface="Calibri"/>
              <a:ea typeface="Calibri"/>
              <a:cs typeface="Calibri"/>
              <a:sym typeface="Calibri"/>
            </a:endParaRPr>
          </a:p>
          <a:p>
            <a:pPr indent="-368300" lvl="0" marL="457200" rtl="0" algn="l">
              <a:lnSpc>
                <a:spcPct val="90000"/>
              </a:lnSpc>
              <a:spcBef>
                <a:spcPts val="1000"/>
              </a:spcBef>
              <a:spcAft>
                <a:spcPts val="0"/>
              </a:spcAft>
              <a:buClr>
                <a:schemeClr val="dk1"/>
              </a:buClr>
              <a:buSzPts val="2200"/>
              <a:buChar char="•"/>
            </a:pPr>
            <a:r>
              <a:rPr lang="en-US" sz="2200">
                <a:latin typeface="Calibri"/>
                <a:ea typeface="Calibri"/>
                <a:cs typeface="Calibri"/>
                <a:sym typeface="Calibri"/>
              </a:rPr>
              <a:t>Shows the internal processes that comprise a single process on the level 0 diagram</a:t>
            </a:r>
            <a:endParaRPr sz="2200">
              <a:latin typeface="Calibri"/>
              <a:ea typeface="Calibri"/>
              <a:cs typeface="Calibri"/>
              <a:sym typeface="Calibri"/>
            </a:endParaRPr>
          </a:p>
          <a:p>
            <a:pPr indent="-368300" lvl="0" marL="457200" rtl="0" algn="l">
              <a:lnSpc>
                <a:spcPct val="90000"/>
              </a:lnSpc>
              <a:spcBef>
                <a:spcPts val="1000"/>
              </a:spcBef>
              <a:spcAft>
                <a:spcPts val="0"/>
              </a:spcAft>
              <a:buClr>
                <a:schemeClr val="dk1"/>
              </a:buClr>
              <a:buSzPts val="2200"/>
              <a:buChar char="•"/>
            </a:pPr>
            <a:r>
              <a:rPr lang="en-US" sz="2200">
                <a:latin typeface="Calibri"/>
                <a:ea typeface="Calibri"/>
                <a:cs typeface="Calibri"/>
                <a:sym typeface="Calibri"/>
              </a:rPr>
              <a:t>Shows how information moves to and from each of these processes</a:t>
            </a:r>
            <a:endParaRPr sz="2200">
              <a:latin typeface="Calibri"/>
              <a:ea typeface="Calibri"/>
              <a:cs typeface="Calibri"/>
              <a:sym typeface="Calibri"/>
            </a:endParaRPr>
          </a:p>
          <a:p>
            <a:pPr indent="-368300" lvl="0" marL="457200" rtl="0" algn="l">
              <a:lnSpc>
                <a:spcPct val="90000"/>
              </a:lnSpc>
              <a:spcBef>
                <a:spcPts val="1000"/>
              </a:spcBef>
              <a:spcAft>
                <a:spcPts val="0"/>
              </a:spcAft>
              <a:buClr>
                <a:schemeClr val="dk1"/>
              </a:buClr>
              <a:buSzPts val="2200"/>
              <a:buChar char="•"/>
            </a:pPr>
            <a:r>
              <a:rPr lang="en-US" sz="2200">
                <a:latin typeface="Calibri"/>
                <a:ea typeface="Calibri"/>
                <a:cs typeface="Calibri"/>
                <a:sym typeface="Calibri"/>
              </a:rPr>
              <a:t>If a parent process is decomposed into, say, three child processes, then these three child processes wholly and completely make up the parent process</a:t>
            </a:r>
            <a:endParaRPr sz="2100"/>
          </a:p>
        </p:txBody>
      </p:sp>
      <p:pic>
        <p:nvPicPr>
          <p:cNvPr descr="Data flow diagram depicting some common syntax errors, where data only enters or leaves the system by way of the external entities." id="339" name="Google Shape;339;p26"/>
          <p:cNvPicPr preferRelativeResize="0"/>
          <p:nvPr>
            <p:ph idx="4294967295" type="body"/>
          </p:nvPr>
        </p:nvPicPr>
        <p:blipFill rotWithShape="1">
          <a:blip r:embed="rId3">
            <a:alphaModFix/>
          </a:blip>
          <a:srcRect b="0" l="0" r="0" t="0"/>
          <a:stretch/>
        </p:blipFill>
        <p:spPr>
          <a:xfrm>
            <a:off x="4380276" y="4914525"/>
            <a:ext cx="4763700" cy="1943400"/>
          </a:xfrm>
          <a:prstGeom prst="rect">
            <a:avLst/>
          </a:prstGeom>
          <a:noFill/>
          <a:ln>
            <a:noFill/>
          </a:ln>
        </p:spPr>
      </p:pic>
      <p:sp>
        <p:nvSpPr>
          <p:cNvPr id="340" name="Google Shape;340;p2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7"/>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Level 2 Diagrams</a:t>
            </a:r>
            <a:endParaRPr/>
          </a:p>
        </p:txBody>
      </p:sp>
      <p:sp>
        <p:nvSpPr>
          <p:cNvPr id="347" name="Google Shape;347;p27"/>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255270" lvl="0" marL="285750" marR="0" rtl="0" algn="l">
              <a:lnSpc>
                <a:spcPct val="90000"/>
              </a:lnSpc>
              <a:spcBef>
                <a:spcPts val="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Shows all processes that comprise a single process on the level 1 diagram</a:t>
            </a:r>
            <a:endParaRPr sz="1200"/>
          </a:p>
          <a:p>
            <a:pPr indent="-255270" lvl="0" marL="285750" marR="0" rtl="0" algn="l">
              <a:lnSpc>
                <a:spcPct val="90000"/>
              </a:lnSpc>
              <a:spcBef>
                <a:spcPts val="60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Shows how information moves from and to each of these processes</a:t>
            </a:r>
            <a:endParaRPr sz="1200"/>
          </a:p>
          <a:p>
            <a:pPr indent="-255270" lvl="0" marL="285750" marR="0" rtl="0" algn="l">
              <a:lnSpc>
                <a:spcPct val="90000"/>
              </a:lnSpc>
              <a:spcBef>
                <a:spcPts val="60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Level 2 diagrams may not be needed for all level 1 processes</a:t>
            </a:r>
            <a:endParaRPr sz="1200"/>
          </a:p>
          <a:p>
            <a:pPr indent="-255270" lvl="0" marL="285750" marR="0" rtl="0" algn="l">
              <a:lnSpc>
                <a:spcPct val="90000"/>
              </a:lnSpc>
              <a:spcBef>
                <a:spcPts val="60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Correctly numbering each process helps the user understand where the process fits into the overall system</a:t>
            </a:r>
            <a:endParaRPr sz="1200"/>
          </a:p>
        </p:txBody>
      </p:sp>
      <p:sp>
        <p:nvSpPr>
          <p:cNvPr id="348" name="Google Shape;348;p2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686468bc17_0_141"/>
          <p:cNvSpPr txBox="1"/>
          <p:nvPr>
            <p:ph type="title"/>
          </p:nvPr>
        </p:nvSpPr>
        <p:spPr>
          <a:xfrm>
            <a:off x="1434750" y="421550"/>
            <a:ext cx="51279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Diagram Numbering</a:t>
            </a:r>
            <a:endParaRPr>
              <a:solidFill>
                <a:schemeClr val="dk1"/>
              </a:solidFill>
            </a:endParaRPr>
          </a:p>
        </p:txBody>
      </p:sp>
      <p:sp>
        <p:nvSpPr>
          <p:cNvPr id="354" name="Google Shape;354;g3686468bc17_0_141"/>
          <p:cNvSpPr txBox="1"/>
          <p:nvPr>
            <p:ph idx="1" type="body"/>
          </p:nvPr>
        </p:nvSpPr>
        <p:spPr>
          <a:xfrm>
            <a:off x="584300" y="1652525"/>
            <a:ext cx="8275500" cy="4495800"/>
          </a:xfrm>
          <a:prstGeom prst="rect">
            <a:avLst/>
          </a:prstGeom>
          <a:noFill/>
          <a:ln>
            <a:noFill/>
          </a:ln>
        </p:spPr>
        <p:txBody>
          <a:bodyPr anchorCtr="0" anchor="t" bIns="45700" lIns="91425" spcFirstLastPara="1" rIns="91425" wrap="square" tIns="45700">
            <a:normAutofit/>
          </a:bodyPr>
          <a:lstStyle/>
          <a:p>
            <a:pPr indent="-279908" lvl="0" marL="292608" marR="0" rtl="0" algn="l">
              <a:lnSpc>
                <a:spcPct val="70000"/>
              </a:lnSpc>
              <a:spcBef>
                <a:spcPts val="0"/>
              </a:spcBef>
              <a:spcAft>
                <a:spcPts val="0"/>
              </a:spcAft>
              <a:buClr>
                <a:schemeClr val="dk1"/>
              </a:buClr>
              <a:buSzPts val="2600"/>
              <a:buFont typeface="Arial"/>
              <a:buChar char="•"/>
            </a:pPr>
            <a:r>
              <a:rPr lang="en-US" sz="2600"/>
              <a:t>Correctly numbering each process helps the user understand where the process fits into the overall hierarchy</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Context Diagram is always “Process 0”</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Level 0 processes are always numbered with integer value (1, 2, 3, and so on)</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Level 1 processes always have one “dot”: parent number “dot” unique number (1.1, 1.2, 1.3, and so on)</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Level 2 processes always have two “dots”: parent number “dot” unique number (1.1.1, 1.1.2, 1.1.3, and so on)</a:t>
            </a:r>
            <a:endParaRPr sz="2600"/>
          </a:p>
        </p:txBody>
      </p:sp>
      <p:sp>
        <p:nvSpPr>
          <p:cNvPr id="355" name="Google Shape;355;g3686468bc17_0_141"/>
          <p:cNvSpPr txBox="1"/>
          <p:nvPr>
            <p:ph idx="12" type="sldNum"/>
          </p:nvPr>
        </p:nvSpPr>
        <p:spPr>
          <a:xfrm>
            <a:off x="4843463" y="6356351"/>
            <a:ext cx="1785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4"/>
          <p:cNvSpPr txBox="1"/>
          <p:nvPr>
            <p:ph type="title"/>
          </p:nvPr>
        </p:nvSpPr>
        <p:spPr>
          <a:xfrm>
            <a:off x="982662" y="354525"/>
            <a:ext cx="6561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Balancing</a:t>
            </a:r>
            <a:endParaRPr/>
          </a:p>
        </p:txBody>
      </p:sp>
      <p:sp>
        <p:nvSpPr>
          <p:cNvPr id="362" name="Google Shape;362;p34"/>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76092"/>
              </a:buClr>
              <a:buSzPts val="3480"/>
              <a:buFont typeface="Arial"/>
              <a:buNone/>
            </a:pPr>
            <a:r>
              <a:rPr b="1" i="0" lang="en-US" sz="2700" u="none" cap="none" strike="noStrike">
                <a:solidFill>
                  <a:schemeClr val="dk1"/>
                </a:solidFill>
                <a:latin typeface="Corbel"/>
                <a:ea typeface="Corbel"/>
                <a:cs typeface="Corbel"/>
                <a:sym typeface="Corbel"/>
              </a:rPr>
              <a:t>Balancing</a:t>
            </a:r>
            <a:r>
              <a:rPr b="0" i="0" lang="en-US" sz="2700" u="none" cap="none" strike="noStrike">
                <a:solidFill>
                  <a:schemeClr val="dk1"/>
                </a:solidFill>
                <a:latin typeface="Corbel"/>
                <a:ea typeface="Corbel"/>
                <a:cs typeface="Corbel"/>
                <a:sym typeface="Corbel"/>
              </a:rPr>
              <a:t> - a concept that requires that data flow diagrams at different levels of detail reflect consistency and completeness</a:t>
            </a:r>
            <a:endParaRPr sz="2700"/>
          </a:p>
          <a:p>
            <a:pPr indent="0" lvl="0" marL="0" marR="0" rtl="0" algn="l">
              <a:lnSpc>
                <a:spcPct val="100000"/>
              </a:lnSpc>
              <a:spcBef>
                <a:spcPts val="0"/>
              </a:spcBef>
              <a:spcAft>
                <a:spcPts val="0"/>
              </a:spcAft>
              <a:buClr>
                <a:srgbClr val="376092"/>
              </a:buClr>
              <a:buSzPts val="3480"/>
              <a:buFont typeface="Arial"/>
              <a:buNone/>
            </a:pPr>
            <a:r>
              <a:t/>
            </a:r>
            <a:endParaRPr sz="2700"/>
          </a:p>
          <a:p>
            <a:pPr indent="-304800" lvl="1" marL="742950" marR="0" rtl="0" algn="l">
              <a:lnSpc>
                <a:spcPct val="100000"/>
              </a:lnSpc>
              <a:spcBef>
                <a:spcPts val="1000"/>
              </a:spcBef>
              <a:spcAft>
                <a:spcPts val="0"/>
              </a:spcAft>
              <a:buClr>
                <a:srgbClr val="376092"/>
              </a:buClr>
              <a:buSzPts val="3200"/>
              <a:buFont typeface="Arial"/>
              <a:buChar char="•"/>
            </a:pPr>
            <a:r>
              <a:rPr b="0" i="0" lang="en-US" sz="2300" u="none" cap="none" strike="noStrike">
                <a:solidFill>
                  <a:schemeClr val="dk1"/>
                </a:solidFill>
                <a:latin typeface="Corbel"/>
                <a:ea typeface="Corbel"/>
                <a:cs typeface="Corbel"/>
                <a:sym typeface="Corbel"/>
              </a:rPr>
              <a:t>Quality assurance technique</a:t>
            </a:r>
            <a:endParaRPr sz="2300"/>
          </a:p>
          <a:p>
            <a:pPr indent="-304800" lvl="1" marL="742950" marR="0" rtl="0" algn="l">
              <a:lnSpc>
                <a:spcPct val="100000"/>
              </a:lnSpc>
              <a:spcBef>
                <a:spcPts val="1000"/>
              </a:spcBef>
              <a:spcAft>
                <a:spcPts val="0"/>
              </a:spcAft>
              <a:buClr>
                <a:srgbClr val="376092"/>
              </a:buClr>
              <a:buSzPts val="3200"/>
              <a:buFont typeface="Arial"/>
              <a:buChar char="•"/>
            </a:pPr>
            <a:r>
              <a:rPr b="0" i="0" lang="en-US" sz="2300" u="none" cap="none" strike="noStrike">
                <a:solidFill>
                  <a:schemeClr val="dk1"/>
                </a:solidFill>
                <a:latin typeface="Corbel"/>
                <a:ea typeface="Corbel"/>
                <a:cs typeface="Corbel"/>
                <a:sym typeface="Corbel"/>
              </a:rPr>
              <a:t>Requires that if you explode a process to another DFD to reveal more detail, you must include the same </a:t>
            </a:r>
            <a:r>
              <a:rPr lang="en-US" sz="2300"/>
              <a:t>data</a:t>
            </a:r>
            <a:r>
              <a:rPr b="0" i="0" lang="en-US" sz="2300" u="none" cap="none" strike="noStrike">
                <a:solidFill>
                  <a:schemeClr val="dk1"/>
                </a:solidFill>
                <a:latin typeface="Corbel"/>
                <a:ea typeface="Corbel"/>
                <a:cs typeface="Corbel"/>
                <a:sym typeface="Corbel"/>
              </a:rPr>
              <a:t> flows and data stores</a:t>
            </a:r>
            <a:endParaRPr sz="2300"/>
          </a:p>
        </p:txBody>
      </p:sp>
      <p:sp>
        <p:nvSpPr>
          <p:cNvPr id="363" name="Google Shape;363;p3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686468bc17_0_389"/>
          <p:cNvSpPr txBox="1"/>
          <p:nvPr>
            <p:ph type="title"/>
          </p:nvPr>
        </p:nvSpPr>
        <p:spPr>
          <a:xfrm>
            <a:off x="1095575" y="365991"/>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lang="en-US" sz="3500">
                <a:solidFill>
                  <a:schemeClr val="dk1"/>
                </a:solidFill>
              </a:rPr>
              <a:t>Validating the Data Flow Diagrams</a:t>
            </a:r>
            <a:endParaRPr sz="3500">
              <a:solidFill>
                <a:schemeClr val="dk1"/>
              </a:solidFill>
            </a:endParaRPr>
          </a:p>
        </p:txBody>
      </p:sp>
      <p:graphicFrame>
        <p:nvGraphicFramePr>
          <p:cNvPr descr="Table is accessible to screen readers." id="369" name="Google Shape;369;g3686468bc17_0_389"/>
          <p:cNvGraphicFramePr/>
          <p:nvPr/>
        </p:nvGraphicFramePr>
        <p:xfrm>
          <a:off x="809650" y="1485850"/>
          <a:ext cx="3000000" cy="3000000"/>
        </p:xfrm>
        <a:graphic>
          <a:graphicData uri="http://schemas.openxmlformats.org/drawingml/2006/table">
            <a:tbl>
              <a:tblPr>
                <a:noFill/>
                <a:tableStyleId>{96904993-7FB6-4D49-B55C-7F6A4D5BB8BD}</a:tableStyleId>
              </a:tblPr>
              <a:tblGrid>
                <a:gridCol w="1328850"/>
                <a:gridCol w="6716525"/>
              </a:tblGrid>
              <a:tr h="702600">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Process</a:t>
                      </a:r>
                      <a:endParaRPr sz="1500"/>
                    </a:p>
                  </a:txBody>
                  <a:tcPr marT="45725" marB="45725" marR="122825" marL="122825"/>
                </a:tc>
                <a:tc>
                  <a:txBody>
                    <a:bodyPr/>
                    <a:lstStyle/>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process has a unique name that is an action-oriented verb phrase, a number, and a description.</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process has at least one input data flow.</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process has at least one output data flow.</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Output data flows usually have different names than input data flows because the process changes the input into a different output in some way.</a:t>
                      </a:r>
                      <a:endParaRPr sz="1700"/>
                    </a:p>
                    <a:p>
                      <a:pPr indent="-182563" lvl="0" marL="182563" marR="0" rtl="0" algn="l">
                        <a:spcBef>
                          <a:spcPts val="0"/>
                        </a:spcBef>
                        <a:spcAft>
                          <a:spcPts val="0"/>
                        </a:spcAft>
                        <a:buClr>
                          <a:schemeClr val="dk1"/>
                        </a:buClr>
                        <a:buSzPts val="1200"/>
                        <a:buFont typeface="Arial"/>
                        <a:buChar char="•"/>
                      </a:pPr>
                      <a:r>
                        <a:rPr b="0" i="0" lang="en-US" sz="1500" u="none" strike="noStrike">
                          <a:solidFill>
                            <a:schemeClr val="dk1"/>
                          </a:solidFill>
                          <a:latin typeface="Calibri"/>
                          <a:ea typeface="Calibri"/>
                          <a:cs typeface="Calibri"/>
                          <a:sym typeface="Calibri"/>
                        </a:rPr>
                        <a:t>There are between three and seven processes per D</a:t>
                      </a:r>
                      <a:r>
                        <a:rPr b="0" i="0" lang="en-US" sz="400" u="none" strike="noStrike">
                          <a:solidFill>
                            <a:schemeClr val="dk1"/>
                          </a:solidFill>
                          <a:latin typeface="Calibri"/>
                          <a:ea typeface="Calibri"/>
                          <a:cs typeface="Calibri"/>
                          <a:sym typeface="Calibri"/>
                        </a:rPr>
                        <a:t> </a:t>
                      </a:r>
                      <a:r>
                        <a:rPr b="0" i="0" lang="en-US" sz="1500" u="none" strike="noStrike">
                          <a:solidFill>
                            <a:schemeClr val="dk1"/>
                          </a:solidFill>
                          <a:latin typeface="Calibri"/>
                          <a:ea typeface="Calibri"/>
                          <a:cs typeface="Calibri"/>
                          <a:sym typeface="Calibri"/>
                        </a:rPr>
                        <a:t>F</a:t>
                      </a:r>
                      <a:r>
                        <a:rPr b="0" i="0" lang="en-US" sz="400" u="none" strike="noStrike">
                          <a:solidFill>
                            <a:schemeClr val="dk1"/>
                          </a:solidFill>
                          <a:latin typeface="Calibri"/>
                          <a:ea typeface="Calibri"/>
                          <a:cs typeface="Calibri"/>
                          <a:sym typeface="Calibri"/>
                        </a:rPr>
                        <a:t> </a:t>
                      </a:r>
                      <a:r>
                        <a:rPr b="0" i="0" lang="en-US" sz="1500" u="none" strike="noStrike">
                          <a:solidFill>
                            <a:schemeClr val="dk1"/>
                          </a:solidFill>
                          <a:latin typeface="Calibri"/>
                          <a:ea typeface="Calibri"/>
                          <a:cs typeface="Calibri"/>
                          <a:sym typeface="Calibri"/>
                        </a:rPr>
                        <a:t>D.</a:t>
                      </a:r>
                      <a:endParaRPr sz="1500"/>
                    </a:p>
                  </a:txBody>
                  <a:tcPr marT="45725" marB="45725" marR="122825" marL="122825"/>
                </a:tc>
              </a:tr>
              <a:tr h="486400">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Data Flow</a:t>
                      </a:r>
                      <a:endParaRPr sz="1500"/>
                    </a:p>
                  </a:txBody>
                  <a:tcPr marT="45725" marB="45725" marR="122825" marL="122825"/>
                </a:tc>
                <a:tc>
                  <a:txBody>
                    <a:bodyPr/>
                    <a:lstStyle/>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flow has a unique name that is a noun, and a description.</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flow connects to at least one process.</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Data flows only in one direction (no two-headed arrows).</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A minimum number of data flow lines cross.</a:t>
                      </a:r>
                      <a:endParaRPr sz="1500"/>
                    </a:p>
                  </a:txBody>
                  <a:tcPr marT="45725" marB="45725" marR="122825" marL="122825"/>
                </a:tc>
              </a:tr>
              <a:tr h="594500">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Data Store</a:t>
                      </a:r>
                      <a:endParaRPr sz="1500"/>
                    </a:p>
                  </a:txBody>
                  <a:tcPr marT="45725" marB="45725" marR="122825" marL="122825"/>
                </a:tc>
                <a:tc>
                  <a:txBody>
                    <a:bodyPr/>
                    <a:lstStyle/>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store has a unique name that is a noun, and a description.</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store has at least one input data flow (which means to add new data or change existing data in the data store) on some page of the process model.</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store has at least one output data flow (which means to read data from the data store) on some page of the process model.</a:t>
                      </a:r>
                      <a:endParaRPr sz="1500"/>
                    </a:p>
                  </a:txBody>
                  <a:tcPr marT="45725" marB="45725" marR="122825" marL="122825"/>
                </a:tc>
              </a:tr>
              <a:tr h="270225">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External Entity</a:t>
                      </a:r>
                      <a:endParaRPr sz="1500"/>
                    </a:p>
                  </a:txBody>
                  <a:tcPr marT="45725" marB="45725" marR="122825" marL="122825"/>
                </a:tc>
                <a:tc>
                  <a:txBody>
                    <a:bodyPr/>
                    <a:lstStyle/>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external entity has a unique name that is a noun, and a description.</a:t>
                      </a:r>
                      <a:endParaRPr sz="1700"/>
                    </a:p>
                    <a:p>
                      <a:pPr indent="-201613" lvl="0" marL="182563"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external entity has at least one input or output data flow.</a:t>
                      </a:r>
                      <a:endParaRPr sz="1500"/>
                    </a:p>
                  </a:txBody>
                  <a:tcPr marT="45725" marB="45725" marR="122825" marL="122825"/>
                </a:tc>
              </a:tr>
            </a:tbl>
          </a:graphicData>
        </a:graphic>
      </p:graphicFrame>
      <p:sp>
        <p:nvSpPr>
          <p:cNvPr id="370" name="Google Shape;370;g3686468bc17_0_389"/>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686468bc17_0_237"/>
          <p:cNvSpPr txBox="1"/>
          <p:nvPr>
            <p:ph type="title"/>
          </p:nvPr>
        </p:nvSpPr>
        <p:spPr>
          <a:xfrm>
            <a:off x="1117800" y="321541"/>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300">
                <a:solidFill>
                  <a:schemeClr val="dk1"/>
                </a:solidFill>
              </a:rPr>
              <a:t>Creating Data Flow Diagrams (1 of 2)</a:t>
            </a:r>
            <a:endParaRPr sz="3300">
              <a:solidFill>
                <a:schemeClr val="dk1"/>
              </a:solidFill>
            </a:endParaRPr>
          </a:p>
        </p:txBody>
      </p:sp>
      <p:sp>
        <p:nvSpPr>
          <p:cNvPr id="376" name="Google Shape;376;g3686468bc17_0_237"/>
          <p:cNvSpPr txBox="1"/>
          <p:nvPr>
            <p:ph idx="1" type="body"/>
          </p:nvPr>
        </p:nvSpPr>
        <p:spPr>
          <a:xfrm>
            <a:off x="956825" y="1752600"/>
            <a:ext cx="76917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dk1"/>
              </a:buClr>
              <a:buSzPts val="2800"/>
              <a:buFont typeface="Arial"/>
              <a:buChar char="•"/>
            </a:pPr>
            <a:r>
              <a:rPr lang="en-US"/>
              <a:t>Build the context diagram</a:t>
            </a:r>
            <a:endParaRPr/>
          </a:p>
          <a:p>
            <a:pPr indent="-320040" lvl="1" marL="621792" rtl="0" algn="l">
              <a:lnSpc>
                <a:spcPct val="90000"/>
              </a:lnSpc>
              <a:spcBef>
                <a:spcPts val="500"/>
              </a:spcBef>
              <a:spcAft>
                <a:spcPts val="0"/>
              </a:spcAft>
              <a:buClr>
                <a:schemeClr val="dk1"/>
              </a:buClr>
              <a:buSzPts val="1920"/>
              <a:buChar char="o"/>
            </a:pPr>
            <a:r>
              <a:rPr lang="en-US"/>
              <a:t>Identify the external entities and the major inflows they supply and the outflows they receive</a:t>
            </a:r>
            <a:endParaRPr/>
          </a:p>
          <a:p>
            <a:pPr indent="-292608" lvl="0" marL="292608" marR="0" rtl="0" algn="l">
              <a:lnSpc>
                <a:spcPct val="90000"/>
              </a:lnSpc>
              <a:spcBef>
                <a:spcPts val="1000"/>
              </a:spcBef>
              <a:spcAft>
                <a:spcPts val="0"/>
              </a:spcAft>
              <a:buClr>
                <a:schemeClr val="dk1"/>
              </a:buClr>
              <a:buSzPts val="2800"/>
              <a:buFont typeface="Arial"/>
              <a:buChar char="•"/>
            </a:pPr>
            <a:r>
              <a:rPr lang="en-US"/>
              <a:t>Identify all major processes encompassed by the Context Diagram</a:t>
            </a:r>
            <a:endParaRPr/>
          </a:p>
          <a:p>
            <a:pPr indent="-320040" lvl="1" marL="621792" rtl="0" algn="l">
              <a:lnSpc>
                <a:spcPct val="90000"/>
              </a:lnSpc>
              <a:spcBef>
                <a:spcPts val="500"/>
              </a:spcBef>
              <a:spcAft>
                <a:spcPts val="0"/>
              </a:spcAft>
              <a:buClr>
                <a:schemeClr val="dk1"/>
              </a:buClr>
              <a:buSzPts val="1920"/>
              <a:buChar char="o"/>
            </a:pPr>
            <a:r>
              <a:rPr lang="en-US"/>
              <a:t>Each major event / use case is “handled” by a process</a:t>
            </a:r>
            <a:endParaRPr/>
          </a:p>
          <a:p>
            <a:pPr indent="-292608" lvl="0" marL="292608" marR="0" rtl="0" algn="l">
              <a:lnSpc>
                <a:spcPct val="90000"/>
              </a:lnSpc>
              <a:spcBef>
                <a:spcPts val="1000"/>
              </a:spcBef>
              <a:spcAft>
                <a:spcPts val="0"/>
              </a:spcAft>
              <a:buClr>
                <a:schemeClr val="dk1"/>
              </a:buClr>
              <a:buSzPts val="2800"/>
              <a:buFont typeface="Arial"/>
              <a:buChar char="•"/>
            </a:pPr>
            <a:r>
              <a:rPr lang="en-US"/>
              <a:t>Create DFD “fragments” for each event / use case</a:t>
            </a:r>
            <a:endParaRPr/>
          </a:p>
          <a:p>
            <a:pPr indent="-320040" lvl="1" marL="621792" rtl="0" algn="l">
              <a:lnSpc>
                <a:spcPct val="90000"/>
              </a:lnSpc>
              <a:spcBef>
                <a:spcPts val="500"/>
              </a:spcBef>
              <a:spcAft>
                <a:spcPts val="0"/>
              </a:spcAft>
              <a:buClr>
                <a:schemeClr val="dk1"/>
              </a:buClr>
              <a:buSzPts val="1920"/>
              <a:buChar char="o"/>
            </a:pPr>
            <a:r>
              <a:rPr lang="en-US"/>
              <a:t>Each DFD fragment is a mini-diagram showing the process and the external entities and data stores with which it interacts</a:t>
            </a:r>
            <a:endParaRPr/>
          </a:p>
        </p:txBody>
      </p:sp>
      <p:sp>
        <p:nvSpPr>
          <p:cNvPr id="377" name="Google Shape;377;g3686468bc17_0_237"/>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686468bc17_0_244"/>
          <p:cNvSpPr txBox="1"/>
          <p:nvPr>
            <p:ph type="title"/>
          </p:nvPr>
        </p:nvSpPr>
        <p:spPr>
          <a:xfrm>
            <a:off x="967925" y="777250"/>
            <a:ext cx="67581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sz="3800">
                <a:solidFill>
                  <a:schemeClr val="dk1"/>
                </a:solidFill>
              </a:rPr>
              <a:t>Creating Data Flow Diagrams </a:t>
            </a:r>
            <a:r>
              <a:rPr lang="en-US" sz="1800">
                <a:solidFill>
                  <a:schemeClr val="dk1"/>
                </a:solidFill>
              </a:rPr>
              <a:t>(2 of 2)</a:t>
            </a:r>
            <a:endParaRPr sz="3800">
              <a:solidFill>
                <a:schemeClr val="dk1"/>
              </a:solidFill>
            </a:endParaRPr>
          </a:p>
        </p:txBody>
      </p:sp>
      <p:sp>
        <p:nvSpPr>
          <p:cNvPr id="383" name="Google Shape;383;g3686468bc17_0_244"/>
          <p:cNvSpPr txBox="1"/>
          <p:nvPr>
            <p:ph idx="1" type="body"/>
          </p:nvPr>
        </p:nvSpPr>
        <p:spPr>
          <a:xfrm>
            <a:off x="801200" y="1752600"/>
            <a:ext cx="77250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dk1"/>
              </a:buClr>
              <a:buSzPts val="2800"/>
              <a:buFont typeface="Arial"/>
              <a:buChar char="•"/>
            </a:pPr>
            <a:r>
              <a:rPr lang="en-US"/>
              <a:t>Organize DFD fragments into level 0 diagram</a:t>
            </a:r>
            <a:endParaRPr/>
          </a:p>
          <a:p>
            <a:pPr indent="-292608" lvl="0" marL="292608" marR="0" rtl="0" algn="l">
              <a:lnSpc>
                <a:spcPct val="90000"/>
              </a:lnSpc>
              <a:spcBef>
                <a:spcPts val="1000"/>
              </a:spcBef>
              <a:spcAft>
                <a:spcPts val="0"/>
              </a:spcAft>
              <a:buClr>
                <a:schemeClr val="dk1"/>
              </a:buClr>
              <a:buSzPts val="2800"/>
              <a:buFont typeface="Arial"/>
              <a:buChar char="•"/>
            </a:pPr>
            <a:r>
              <a:rPr lang="en-US"/>
              <a:t>Decompose each level 0 process into a level 1 diagram; decompose level 1 processes into level 2 diagrams as needed; etc.</a:t>
            </a:r>
            <a:endParaRPr/>
          </a:p>
          <a:p>
            <a:pPr indent="-292608" lvl="0" marL="292608" marR="0" rtl="0" algn="l">
              <a:lnSpc>
                <a:spcPct val="90000"/>
              </a:lnSpc>
              <a:spcBef>
                <a:spcPts val="1000"/>
              </a:spcBef>
              <a:spcAft>
                <a:spcPts val="0"/>
              </a:spcAft>
              <a:buClr>
                <a:schemeClr val="dk1"/>
              </a:buClr>
              <a:buSzPts val="2800"/>
              <a:buFont typeface="Arial"/>
              <a:buChar char="•"/>
            </a:pPr>
            <a:r>
              <a:rPr lang="en-US"/>
              <a:t>Validate DFDs with user to ensure completeness and correctness</a:t>
            </a:r>
            <a:endParaRPr/>
          </a:p>
        </p:txBody>
      </p:sp>
      <p:sp>
        <p:nvSpPr>
          <p:cNvPr id="384" name="Google Shape;384;g3686468bc17_0_244"/>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686468bc17_0_251"/>
          <p:cNvSpPr txBox="1"/>
          <p:nvPr>
            <p:ph type="title"/>
          </p:nvPr>
        </p:nvSpPr>
        <p:spPr>
          <a:xfrm>
            <a:off x="1062225" y="669341"/>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Illustration – Developing DFDs </a:t>
            </a:r>
            <a:endParaRPr>
              <a:solidFill>
                <a:schemeClr val="dk1"/>
              </a:solidFill>
            </a:endParaRPr>
          </a:p>
        </p:txBody>
      </p:sp>
      <p:sp>
        <p:nvSpPr>
          <p:cNvPr id="390" name="Google Shape;390;g3686468bc17_0_251"/>
          <p:cNvSpPr txBox="1"/>
          <p:nvPr>
            <p:ph idx="1" type="body"/>
          </p:nvPr>
        </p:nvSpPr>
        <p:spPr>
          <a:xfrm>
            <a:off x="728775" y="1752600"/>
            <a:ext cx="8097600" cy="4495800"/>
          </a:xfrm>
          <a:prstGeom prst="rect">
            <a:avLst/>
          </a:prstGeom>
          <a:noFill/>
          <a:ln>
            <a:noFill/>
          </a:ln>
        </p:spPr>
        <p:txBody>
          <a:bodyPr anchorCtr="0" anchor="t" bIns="45700" lIns="91425" spcFirstLastPara="1" rIns="91425" wrap="square" tIns="45700">
            <a:normAutofit/>
          </a:bodyPr>
          <a:lstStyle/>
          <a:p>
            <a:pPr indent="-501650" lvl="0" marL="514350" rtl="0" algn="l">
              <a:lnSpc>
                <a:spcPct val="90000"/>
              </a:lnSpc>
              <a:spcBef>
                <a:spcPts val="0"/>
              </a:spcBef>
              <a:spcAft>
                <a:spcPts val="0"/>
              </a:spcAft>
              <a:buClr>
                <a:schemeClr val="dk1"/>
              </a:buClr>
              <a:buSzPts val="2600"/>
              <a:buFont typeface="Calibri"/>
              <a:buAutoNum type="arabicPeriod"/>
            </a:pPr>
            <a:r>
              <a:rPr lang="en-US"/>
              <a:t>Creating the context diagram</a:t>
            </a:r>
            <a:endParaRPr/>
          </a:p>
          <a:p>
            <a:pPr indent="-501650" lvl="0" marL="514350" rtl="0" algn="l">
              <a:lnSpc>
                <a:spcPct val="90000"/>
              </a:lnSpc>
              <a:spcBef>
                <a:spcPts val="1000"/>
              </a:spcBef>
              <a:spcAft>
                <a:spcPts val="0"/>
              </a:spcAft>
              <a:buClr>
                <a:schemeClr val="dk1"/>
              </a:buClr>
              <a:buSzPts val="2600"/>
              <a:buFont typeface="Calibri"/>
              <a:buAutoNum type="arabicPeriod"/>
            </a:pPr>
            <a:r>
              <a:rPr lang="en-US"/>
              <a:t>Create a DFD “fragment” based on a use case</a:t>
            </a:r>
            <a:endParaRPr/>
          </a:p>
          <a:p>
            <a:pPr indent="-501650" lvl="0" marL="514350" rtl="0" algn="l">
              <a:lnSpc>
                <a:spcPct val="90000"/>
              </a:lnSpc>
              <a:spcBef>
                <a:spcPts val="1000"/>
              </a:spcBef>
              <a:spcAft>
                <a:spcPts val="0"/>
              </a:spcAft>
              <a:buClr>
                <a:schemeClr val="dk1"/>
              </a:buClr>
              <a:buSzPts val="2600"/>
              <a:buFont typeface="Calibri"/>
              <a:buAutoNum type="arabicPeriod"/>
            </a:pPr>
            <a:r>
              <a:rPr lang="en-US"/>
              <a:t>Merge DFD “fragment” diagrams into the Level 0 diagram</a:t>
            </a:r>
            <a:endParaRPr/>
          </a:p>
          <a:p>
            <a:pPr indent="-501650" lvl="0" marL="514350" rtl="0" algn="l">
              <a:lnSpc>
                <a:spcPct val="90000"/>
              </a:lnSpc>
              <a:spcBef>
                <a:spcPts val="1000"/>
              </a:spcBef>
              <a:spcAft>
                <a:spcPts val="0"/>
              </a:spcAft>
              <a:buClr>
                <a:schemeClr val="dk1"/>
              </a:buClr>
              <a:buSzPts val="2600"/>
              <a:buFont typeface="Calibri"/>
              <a:buAutoNum type="arabicPeriod"/>
            </a:pPr>
            <a:r>
              <a:rPr lang="en-US"/>
              <a:t>Develop level 1 diagrams for every process on the level 0 diagram</a:t>
            </a:r>
            <a:endParaRPr/>
          </a:p>
        </p:txBody>
      </p:sp>
      <p:sp>
        <p:nvSpPr>
          <p:cNvPr id="391" name="Google Shape;391;g3686468bc17_0_251"/>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686468bc17_0_258"/>
          <p:cNvSpPr txBox="1"/>
          <p:nvPr>
            <p:ph type="title"/>
          </p:nvPr>
        </p:nvSpPr>
        <p:spPr>
          <a:xfrm>
            <a:off x="984425" y="532716"/>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Creating the Context Diagram</a:t>
            </a:r>
            <a:endParaRPr>
              <a:solidFill>
                <a:schemeClr val="dk1"/>
              </a:solidFill>
            </a:endParaRPr>
          </a:p>
        </p:txBody>
      </p:sp>
      <p:pic>
        <p:nvPicPr>
          <p:cNvPr descr="Data flow diagrams depicting event 2, assign flight request to pilot DFD fragments." id="397" name="Google Shape;397;g3686468bc17_0_258"/>
          <p:cNvPicPr preferRelativeResize="0"/>
          <p:nvPr>
            <p:ph idx="1" type="body"/>
          </p:nvPr>
        </p:nvPicPr>
        <p:blipFill rotWithShape="1">
          <a:blip r:embed="rId3">
            <a:alphaModFix/>
          </a:blip>
          <a:srcRect b="0" l="0" r="0" t="0"/>
          <a:stretch/>
        </p:blipFill>
        <p:spPr>
          <a:xfrm>
            <a:off x="1594650" y="1619975"/>
            <a:ext cx="5954700" cy="4967400"/>
          </a:xfrm>
          <a:prstGeom prst="rect">
            <a:avLst/>
          </a:prstGeom>
          <a:noFill/>
          <a:ln>
            <a:noFill/>
          </a:ln>
        </p:spPr>
      </p:pic>
      <p:sp>
        <p:nvSpPr>
          <p:cNvPr id="398" name="Google Shape;398;g3686468bc17_0_258"/>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686468bc17_0_265"/>
          <p:cNvSpPr txBox="1"/>
          <p:nvPr>
            <p:ph type="title"/>
          </p:nvPr>
        </p:nvSpPr>
        <p:spPr>
          <a:xfrm>
            <a:off x="1040000" y="34376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400">
                <a:solidFill>
                  <a:schemeClr val="dk1"/>
                </a:solidFill>
              </a:rPr>
              <a:t>Create a DFD “Fragment” Based on a Use Case</a:t>
            </a:r>
            <a:endParaRPr sz="3400">
              <a:solidFill>
                <a:schemeClr val="dk1"/>
              </a:solidFill>
            </a:endParaRPr>
          </a:p>
        </p:txBody>
      </p:sp>
      <p:pic>
        <p:nvPicPr>
          <p:cNvPr descr="Data flow diagram depicting Level 2 diagrams for process 2.1 notifying pilots of new flight request. " id="404" name="Google Shape;404;g3686468bc17_0_265"/>
          <p:cNvPicPr preferRelativeResize="0"/>
          <p:nvPr>
            <p:ph idx="1" type="body"/>
          </p:nvPr>
        </p:nvPicPr>
        <p:blipFill rotWithShape="1">
          <a:blip r:embed="rId3">
            <a:alphaModFix/>
          </a:blip>
          <a:srcRect b="0" l="0" r="0" t="0"/>
          <a:stretch/>
        </p:blipFill>
        <p:spPr>
          <a:xfrm>
            <a:off x="2041950" y="1526401"/>
            <a:ext cx="5060100" cy="5331600"/>
          </a:xfrm>
          <a:prstGeom prst="rect">
            <a:avLst/>
          </a:prstGeom>
          <a:noFill/>
          <a:ln>
            <a:noFill/>
          </a:ln>
        </p:spPr>
      </p:pic>
      <p:sp>
        <p:nvSpPr>
          <p:cNvPr id="405" name="Google Shape;405;g3686468bc17_0_265"/>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686468bc17_0_272"/>
          <p:cNvSpPr txBox="1"/>
          <p:nvPr>
            <p:ph type="title"/>
          </p:nvPr>
        </p:nvSpPr>
        <p:spPr>
          <a:xfrm>
            <a:off x="1028875" y="25481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300">
                <a:solidFill>
                  <a:schemeClr val="dk1"/>
                </a:solidFill>
              </a:rPr>
              <a:t>Merge DFD “Fragment” Diagrams into the Level 0 Diagram</a:t>
            </a:r>
            <a:endParaRPr sz="3300">
              <a:solidFill>
                <a:schemeClr val="dk1"/>
              </a:solidFill>
            </a:endParaRPr>
          </a:p>
        </p:txBody>
      </p:sp>
      <p:pic>
        <p:nvPicPr>
          <p:cNvPr descr="Data flow diagram depicting Level 2 diagrams for process 2.2 pilot submits bid." id="411" name="Google Shape;411;g3686468bc17_0_272"/>
          <p:cNvPicPr preferRelativeResize="0"/>
          <p:nvPr>
            <p:ph idx="1" type="body"/>
          </p:nvPr>
        </p:nvPicPr>
        <p:blipFill rotWithShape="1">
          <a:blip r:embed="rId3">
            <a:alphaModFix/>
          </a:blip>
          <a:srcRect b="0" l="0" r="0" t="0"/>
          <a:stretch/>
        </p:blipFill>
        <p:spPr>
          <a:xfrm>
            <a:off x="1979275" y="1497900"/>
            <a:ext cx="5450400" cy="5360100"/>
          </a:xfrm>
          <a:prstGeom prst="rect">
            <a:avLst/>
          </a:prstGeom>
          <a:noFill/>
          <a:ln>
            <a:noFill/>
          </a:ln>
        </p:spPr>
      </p:pic>
      <p:sp>
        <p:nvSpPr>
          <p:cNvPr id="412" name="Google Shape;412;g3686468bc17_0_272"/>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686468bc17_0_279"/>
          <p:cNvSpPr txBox="1"/>
          <p:nvPr>
            <p:ph type="title"/>
          </p:nvPr>
        </p:nvSpPr>
        <p:spPr>
          <a:xfrm>
            <a:off x="1095575" y="29931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2900">
                <a:solidFill>
                  <a:schemeClr val="dk1"/>
                </a:solidFill>
              </a:rPr>
              <a:t>Level 1 – Process 3: Create Parts Request</a:t>
            </a:r>
            <a:endParaRPr sz="2900">
              <a:solidFill>
                <a:schemeClr val="dk1"/>
              </a:solidFill>
            </a:endParaRPr>
          </a:p>
        </p:txBody>
      </p:sp>
      <p:pic>
        <p:nvPicPr>
          <p:cNvPr descr="Data flow diagram depicting Level 2 diagrams for process 2.3 select winning flight bid." id="418" name="Google Shape;418;g3686468bc17_0_279"/>
          <p:cNvPicPr preferRelativeResize="0"/>
          <p:nvPr>
            <p:ph idx="1" type="body"/>
          </p:nvPr>
        </p:nvPicPr>
        <p:blipFill rotWithShape="1">
          <a:blip r:embed="rId3">
            <a:alphaModFix/>
          </a:blip>
          <a:srcRect b="0" l="0" r="0" t="0"/>
          <a:stretch/>
        </p:blipFill>
        <p:spPr>
          <a:xfrm>
            <a:off x="1895850" y="1429350"/>
            <a:ext cx="5352300" cy="5369100"/>
          </a:xfrm>
          <a:prstGeom prst="rect">
            <a:avLst/>
          </a:prstGeom>
          <a:noFill/>
          <a:ln>
            <a:noFill/>
          </a:ln>
        </p:spPr>
      </p:pic>
      <p:sp>
        <p:nvSpPr>
          <p:cNvPr id="419" name="Google Shape;419;g3686468bc17_0_279"/>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686468bc17_0_286"/>
          <p:cNvSpPr txBox="1"/>
          <p:nvPr>
            <p:ph type="title"/>
          </p:nvPr>
        </p:nvSpPr>
        <p:spPr>
          <a:xfrm>
            <a:off x="1040000" y="221491"/>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200">
                <a:solidFill>
                  <a:schemeClr val="dk1"/>
                </a:solidFill>
              </a:rPr>
              <a:t>Level 1 – Process 4: Record Receipt of Components</a:t>
            </a:r>
            <a:endParaRPr sz="3200">
              <a:solidFill>
                <a:schemeClr val="dk1"/>
              </a:solidFill>
            </a:endParaRPr>
          </a:p>
        </p:txBody>
      </p:sp>
      <p:pic>
        <p:nvPicPr>
          <p:cNvPr descr="Data flow diagram depicting Process 1 - check out process - with four subprocesses leading to automated clearing house." id="425" name="Google Shape;425;g3686468bc17_0_286"/>
          <p:cNvPicPr preferRelativeResize="0"/>
          <p:nvPr>
            <p:ph idx="1" type="body"/>
          </p:nvPr>
        </p:nvPicPr>
        <p:blipFill rotWithShape="1">
          <a:blip r:embed="rId3">
            <a:alphaModFix/>
          </a:blip>
          <a:srcRect b="0" l="0" r="0" t="0"/>
          <a:stretch/>
        </p:blipFill>
        <p:spPr>
          <a:xfrm>
            <a:off x="1731450" y="1485900"/>
            <a:ext cx="5681100" cy="5372100"/>
          </a:xfrm>
          <a:prstGeom prst="rect">
            <a:avLst/>
          </a:prstGeom>
          <a:noFill/>
          <a:ln>
            <a:noFill/>
          </a:ln>
        </p:spPr>
      </p:pic>
      <p:sp>
        <p:nvSpPr>
          <p:cNvPr id="426" name="Google Shape;426;g3686468bc17_0_286"/>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686468bc17_0_293"/>
          <p:cNvSpPr txBox="1"/>
          <p:nvPr>
            <p:ph type="title"/>
          </p:nvPr>
        </p:nvSpPr>
        <p:spPr>
          <a:xfrm>
            <a:off x="1040000" y="32151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300">
                <a:solidFill>
                  <a:schemeClr val="dk1"/>
                </a:solidFill>
              </a:rPr>
              <a:t>Level 1 – Process 5: Finalize Parts Request</a:t>
            </a:r>
            <a:endParaRPr sz="3300">
              <a:solidFill>
                <a:schemeClr val="dk1"/>
              </a:solidFill>
            </a:endParaRPr>
          </a:p>
        </p:txBody>
      </p:sp>
      <p:pic>
        <p:nvPicPr>
          <p:cNvPr descr="Data flow diagram depicting a client services company inventory management system level 1 DFD." id="432" name="Google Shape;432;g3686468bc17_0_293"/>
          <p:cNvPicPr preferRelativeResize="0"/>
          <p:nvPr>
            <p:ph idx="1" type="body"/>
          </p:nvPr>
        </p:nvPicPr>
        <p:blipFill rotWithShape="1">
          <a:blip r:embed="rId3">
            <a:alphaModFix/>
          </a:blip>
          <a:srcRect b="0" l="0" r="0" t="0"/>
          <a:stretch/>
        </p:blipFill>
        <p:spPr>
          <a:xfrm>
            <a:off x="1057051" y="1561800"/>
            <a:ext cx="7029900" cy="5296200"/>
          </a:xfrm>
          <a:prstGeom prst="rect">
            <a:avLst/>
          </a:prstGeom>
          <a:noFill/>
          <a:ln>
            <a:noFill/>
          </a:ln>
        </p:spPr>
      </p:pic>
      <p:sp>
        <p:nvSpPr>
          <p:cNvPr id="433" name="Google Shape;433;g3686468bc17_0_293"/>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5"/>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Manage Robot</a:t>
            </a:r>
            <a:endParaRPr/>
          </a:p>
        </p:txBody>
      </p:sp>
      <p:pic>
        <p:nvPicPr>
          <p:cNvPr id="439" name="Google Shape;439;p35"/>
          <p:cNvPicPr preferRelativeResize="0"/>
          <p:nvPr>
            <p:ph idx="1" type="body"/>
          </p:nvPr>
        </p:nvPicPr>
        <p:blipFill rotWithShape="1">
          <a:blip r:embed="rId3">
            <a:alphaModFix/>
          </a:blip>
          <a:srcRect b="0" l="0" r="0" t="0"/>
          <a:stretch/>
        </p:blipFill>
        <p:spPr>
          <a:xfrm>
            <a:off x="1772275" y="1468250"/>
            <a:ext cx="6097500" cy="5380200"/>
          </a:xfrm>
          <a:prstGeom prst="rect">
            <a:avLst/>
          </a:prstGeom>
          <a:noFill/>
          <a:ln>
            <a:noFill/>
          </a:ln>
        </p:spPr>
      </p:pic>
      <p:sp>
        <p:nvSpPr>
          <p:cNvPr id="440" name="Google Shape;440;p3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Manage Robot decomposed</a:t>
            </a:r>
            <a:endParaRPr/>
          </a:p>
        </p:txBody>
      </p:sp>
      <p:pic>
        <p:nvPicPr>
          <p:cNvPr id="446" name="Google Shape;446;p36"/>
          <p:cNvPicPr preferRelativeResize="0"/>
          <p:nvPr>
            <p:ph idx="1" type="body"/>
          </p:nvPr>
        </p:nvPicPr>
        <p:blipFill rotWithShape="1">
          <a:blip r:embed="rId3">
            <a:alphaModFix/>
          </a:blip>
          <a:srcRect b="0" l="0" r="0" t="0"/>
          <a:stretch/>
        </p:blipFill>
        <p:spPr>
          <a:xfrm>
            <a:off x="2292350" y="1600200"/>
            <a:ext cx="5237162" cy="4800600"/>
          </a:xfrm>
          <a:prstGeom prst="rect">
            <a:avLst/>
          </a:prstGeom>
          <a:noFill/>
          <a:ln>
            <a:noFill/>
          </a:ln>
        </p:spPr>
      </p:pic>
      <p:sp>
        <p:nvSpPr>
          <p:cNvPr id="447" name="Google Shape;447;p3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37"/>
          <p:cNvPicPr preferRelativeResize="0"/>
          <p:nvPr/>
        </p:nvPicPr>
        <p:blipFill rotWithShape="1">
          <a:blip r:embed="rId3">
            <a:alphaModFix/>
          </a:blip>
          <a:srcRect b="0" l="0" r="0" t="0"/>
          <a:stretch/>
        </p:blipFill>
        <p:spPr>
          <a:xfrm>
            <a:off x="-228600" y="609600"/>
            <a:ext cx="9144000" cy="6088062"/>
          </a:xfrm>
          <a:prstGeom prst="rect">
            <a:avLst/>
          </a:prstGeom>
          <a:noFill/>
          <a:ln>
            <a:noFill/>
          </a:ln>
        </p:spPr>
      </p:pic>
      <p:sp>
        <p:nvSpPr>
          <p:cNvPr id="453" name="Google Shape;453;p3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8"/>
          <p:cNvSpPr txBox="1"/>
          <p:nvPr/>
        </p:nvSpPr>
        <p:spPr>
          <a:xfrm>
            <a:off x="304800" y="1676400"/>
            <a:ext cx="8305800" cy="1200150"/>
          </a:xfrm>
          <a:prstGeom prst="rect">
            <a:avLst/>
          </a:prstGeom>
          <a:noFill/>
          <a:ln>
            <a:noFill/>
          </a:ln>
        </p:spPr>
        <p:txBody>
          <a:bodyPr anchorCtr="0" anchor="t" bIns="45700" lIns="91425" spcFirstLastPara="1" rIns="91425" wrap="square" tIns="45700">
            <a:spAutoFit/>
          </a:bodyPr>
          <a:lstStyle/>
          <a:p>
            <a:pPr indent="0" lvl="0" marL="22860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Here passenger input current location and destination address to set up destination and estimate fare process and the process send estimate fare to the passenger. The same process gather map information from Google map and rate from taxi rate data base.</a:t>
            </a:r>
            <a:endParaRPr b="0" i="0" sz="1400" u="none" cap="none" strike="noStrike">
              <a:solidFill>
                <a:srgbClr val="000000"/>
              </a:solidFill>
              <a:latin typeface="Arial"/>
              <a:ea typeface="Arial"/>
              <a:cs typeface="Arial"/>
              <a:sym typeface="Arial"/>
            </a:endParaRPr>
          </a:p>
        </p:txBody>
      </p:sp>
      <p:pic>
        <p:nvPicPr>
          <p:cNvPr id="459" name="Google Shape;459;p38"/>
          <p:cNvPicPr preferRelativeResize="0"/>
          <p:nvPr/>
        </p:nvPicPr>
        <p:blipFill rotWithShape="1">
          <a:blip r:embed="rId3">
            <a:alphaModFix/>
          </a:blip>
          <a:srcRect b="0" l="0" r="0" t="0"/>
          <a:stretch/>
        </p:blipFill>
        <p:spPr>
          <a:xfrm>
            <a:off x="914400" y="3352800"/>
            <a:ext cx="6678612" cy="2697162"/>
          </a:xfrm>
          <a:prstGeom prst="rect">
            <a:avLst/>
          </a:prstGeom>
          <a:noFill/>
          <a:ln>
            <a:noFill/>
          </a:ln>
        </p:spPr>
      </p:pic>
      <p:sp>
        <p:nvSpPr>
          <p:cNvPr id="460" name="Google Shape;460;p3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9"/>
          <p:cNvSpPr txBox="1"/>
          <p:nvPr/>
        </p:nvSpPr>
        <p:spPr>
          <a:xfrm>
            <a:off x="228600" y="1676400"/>
            <a:ext cx="8610600" cy="34785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000"/>
              <a:buFont typeface="Calibri"/>
              <a:buAutoNum type="romanLcPeriod"/>
            </a:pPr>
            <a:r>
              <a:rPr b="1" i="0" lang="en-US" sz="2000" u="none" cap="none" strike="noStrike">
                <a:solidFill>
                  <a:schemeClr val="dk1"/>
                </a:solidFill>
                <a:latin typeface="Corbel"/>
                <a:ea typeface="Corbel"/>
                <a:cs typeface="Corbel"/>
                <a:sym typeface="Corbel"/>
              </a:rPr>
              <a:t>Draw level </a:t>
            </a:r>
            <a:r>
              <a:rPr b="1" lang="en-US" sz="2000">
                <a:solidFill>
                  <a:schemeClr val="dk1"/>
                </a:solidFill>
                <a:latin typeface="Corbel"/>
                <a:ea typeface="Corbel"/>
                <a:cs typeface="Corbel"/>
                <a:sym typeface="Corbel"/>
              </a:rPr>
              <a:t>1</a:t>
            </a:r>
            <a:r>
              <a:rPr b="1" i="0" lang="en-US" sz="2000" u="none" cap="none" strike="noStrike">
                <a:solidFill>
                  <a:schemeClr val="dk1"/>
                </a:solidFill>
                <a:latin typeface="Corbel"/>
                <a:ea typeface="Corbel"/>
                <a:cs typeface="Corbel"/>
                <a:sym typeface="Corbel"/>
              </a:rPr>
              <a:t> DFD</a:t>
            </a:r>
            <a:r>
              <a:rPr b="0" i="0" lang="en-US" sz="2000" u="none" cap="none" strike="noStrike">
                <a:solidFill>
                  <a:schemeClr val="dk1"/>
                </a:solidFill>
                <a:latin typeface="Corbel"/>
                <a:ea typeface="Corbel"/>
                <a:cs typeface="Corbel"/>
                <a:sym typeface="Corbel"/>
              </a:rPr>
              <a:t> where set up destination and estimate fare process </a:t>
            </a:r>
            <a:r>
              <a:rPr lang="en-US" sz="2000">
                <a:solidFill>
                  <a:schemeClr val="dk1"/>
                </a:solidFill>
                <a:latin typeface="Corbel"/>
                <a:ea typeface="Corbel"/>
                <a:cs typeface="Corbel"/>
                <a:sym typeface="Corbel"/>
              </a:rPr>
              <a:t>a</a:t>
            </a:r>
            <a:r>
              <a:rPr b="0" i="0" lang="en-US" sz="2000" u="none" cap="none" strike="noStrike">
                <a:solidFill>
                  <a:schemeClr val="dk1"/>
                </a:solidFill>
                <a:latin typeface="Corbel"/>
                <a:ea typeface="Corbel"/>
                <a:cs typeface="Corbel"/>
                <a:sym typeface="Corbel"/>
              </a:rPr>
              <a:t>s decomposed into two sub processes as get distance and calculate fare. Data of distance will be sent from get distance to calculate fare.</a:t>
            </a:r>
            <a:endParaRPr b="0" i="0" sz="1400" u="none" cap="none" strike="noStrike">
              <a:solidFill>
                <a:srgbClr val="000000"/>
              </a:solidFill>
              <a:latin typeface="Arial"/>
              <a:ea typeface="Arial"/>
              <a:cs typeface="Arial"/>
              <a:sym typeface="Aria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342900" lvl="0" marL="342900" marR="0" rtl="0" algn="just">
              <a:lnSpc>
                <a:spcPct val="100000"/>
              </a:lnSpc>
              <a:spcBef>
                <a:spcPts val="0"/>
              </a:spcBef>
              <a:spcAft>
                <a:spcPts val="0"/>
              </a:spcAft>
              <a:buClr>
                <a:schemeClr val="dk1"/>
              </a:buClr>
              <a:buSzPts val="2000"/>
              <a:buFont typeface="Calibri"/>
              <a:buAutoNum type="romanLcPeriod"/>
            </a:pPr>
            <a:r>
              <a:rPr b="1" i="0" lang="en-US" sz="2000" u="none" cap="none" strike="noStrike">
                <a:solidFill>
                  <a:schemeClr val="dk1"/>
                </a:solidFill>
                <a:latin typeface="Corbel"/>
                <a:ea typeface="Corbel"/>
                <a:cs typeface="Corbel"/>
                <a:sym typeface="Corbel"/>
              </a:rPr>
              <a:t>Draw Level </a:t>
            </a:r>
            <a:r>
              <a:rPr b="1" lang="en-US" sz="2000">
                <a:solidFill>
                  <a:schemeClr val="dk1"/>
                </a:solidFill>
                <a:latin typeface="Corbel"/>
                <a:ea typeface="Corbel"/>
                <a:cs typeface="Corbel"/>
                <a:sym typeface="Corbel"/>
              </a:rPr>
              <a:t>2</a:t>
            </a:r>
            <a:r>
              <a:rPr b="1" i="0" lang="en-US" sz="2000" u="none" cap="none" strike="noStrike">
                <a:solidFill>
                  <a:schemeClr val="dk1"/>
                </a:solidFill>
                <a:latin typeface="Corbel"/>
                <a:ea typeface="Corbel"/>
                <a:cs typeface="Corbel"/>
                <a:sym typeface="Corbel"/>
              </a:rPr>
              <a:t> DFD</a:t>
            </a:r>
            <a:r>
              <a:rPr b="0" i="0" lang="en-US" sz="2000" u="none" cap="none" strike="noStrike">
                <a:solidFill>
                  <a:schemeClr val="dk1"/>
                </a:solidFill>
                <a:latin typeface="Corbel"/>
                <a:ea typeface="Corbel"/>
                <a:cs typeface="Corbel"/>
                <a:sym typeface="Corbel"/>
              </a:rPr>
              <a:t> for get distance sub process. Decompose get distance in two sub processes as get route and calculate distance. Data of route will sent from get route to calculate distance.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orbel"/>
              <a:ea typeface="Corbel"/>
              <a:cs typeface="Corbel"/>
              <a:sym typeface="Corbel"/>
            </a:endParaRPr>
          </a:p>
        </p:txBody>
      </p:sp>
      <p:sp>
        <p:nvSpPr>
          <p:cNvPr id="466" name="Google Shape;466;p39"/>
          <p:cNvSpPr txBox="1"/>
          <p:nvPr/>
        </p:nvSpPr>
        <p:spPr>
          <a:xfrm>
            <a:off x="3276600" y="533400"/>
            <a:ext cx="219075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Class work</a:t>
            </a:r>
            <a:endParaRPr b="0" i="0" sz="1400" u="none" cap="none" strike="noStrike">
              <a:solidFill>
                <a:srgbClr val="000000"/>
              </a:solidFill>
              <a:latin typeface="Arial"/>
              <a:ea typeface="Arial"/>
              <a:cs typeface="Arial"/>
              <a:sym typeface="Arial"/>
            </a:endParaRPr>
          </a:p>
        </p:txBody>
      </p:sp>
      <p:sp>
        <p:nvSpPr>
          <p:cNvPr id="467" name="Google Shape;467;p39"/>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0"/>
          <p:cNvSpPr txBox="1"/>
          <p:nvPr/>
        </p:nvSpPr>
        <p:spPr>
          <a:xfrm>
            <a:off x="228600" y="1676400"/>
            <a:ext cx="8610600" cy="9234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1800"/>
              <a:buFont typeface="Calibri"/>
              <a:buAutoNum type="romanLcPeriod"/>
            </a:pPr>
            <a:r>
              <a:rPr b="1" i="0" lang="en-US" sz="1800" u="none" cap="none" strike="noStrike">
                <a:solidFill>
                  <a:schemeClr val="dk1"/>
                </a:solidFill>
                <a:latin typeface="Times New Roman"/>
                <a:ea typeface="Times New Roman"/>
                <a:cs typeface="Times New Roman"/>
                <a:sym typeface="Times New Roman"/>
              </a:rPr>
              <a:t>Draw level </a:t>
            </a:r>
            <a:r>
              <a:rPr b="1" lang="en-US" sz="1800">
                <a:solidFill>
                  <a:schemeClr val="dk1"/>
                </a:solidFill>
                <a:latin typeface="Times New Roman"/>
                <a:ea typeface="Times New Roman"/>
                <a:cs typeface="Times New Roman"/>
                <a:sym typeface="Times New Roman"/>
              </a:rPr>
              <a:t>1</a:t>
            </a:r>
            <a:r>
              <a:rPr b="1" i="0" lang="en-US" sz="1800" u="none" cap="none" strike="noStrike">
                <a:solidFill>
                  <a:schemeClr val="dk1"/>
                </a:solidFill>
                <a:latin typeface="Times New Roman"/>
                <a:ea typeface="Times New Roman"/>
                <a:cs typeface="Times New Roman"/>
                <a:sym typeface="Times New Roman"/>
              </a:rPr>
              <a:t> DFD</a:t>
            </a:r>
            <a:r>
              <a:rPr b="0" i="0" lang="en-US" sz="1800" u="none" cap="none" strike="noStrike">
                <a:solidFill>
                  <a:schemeClr val="dk1"/>
                </a:solidFill>
                <a:latin typeface="Times New Roman"/>
                <a:ea typeface="Times New Roman"/>
                <a:cs typeface="Times New Roman"/>
                <a:sym typeface="Times New Roman"/>
              </a:rPr>
              <a:t> where set up destination and estimate fare process is decomposed into two sub process as get distance and calculate fare. Data of distance will sent from get distance to calculate fare.</a:t>
            </a:r>
            <a:endParaRPr b="0" i="0" sz="1400" u="none" cap="none" strike="noStrike">
              <a:solidFill>
                <a:srgbClr val="000000"/>
              </a:solidFill>
              <a:latin typeface="Arial"/>
              <a:ea typeface="Arial"/>
              <a:cs typeface="Arial"/>
              <a:sym typeface="Arial"/>
            </a:endParaRPr>
          </a:p>
        </p:txBody>
      </p:sp>
      <p:pic>
        <p:nvPicPr>
          <p:cNvPr id="473" name="Google Shape;473;p40"/>
          <p:cNvPicPr preferRelativeResize="0"/>
          <p:nvPr/>
        </p:nvPicPr>
        <p:blipFill rotWithShape="1">
          <a:blip r:embed="rId3">
            <a:alphaModFix/>
          </a:blip>
          <a:srcRect b="0" l="0" r="0" t="0"/>
          <a:stretch/>
        </p:blipFill>
        <p:spPr>
          <a:xfrm>
            <a:off x="1752600" y="3124200"/>
            <a:ext cx="6153150" cy="3108325"/>
          </a:xfrm>
          <a:prstGeom prst="rect">
            <a:avLst/>
          </a:prstGeom>
          <a:noFill/>
          <a:ln>
            <a:noFill/>
          </a:ln>
        </p:spPr>
      </p:pic>
      <p:sp>
        <p:nvSpPr>
          <p:cNvPr id="474" name="Google Shape;474;p4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1"/>
          <p:cNvSpPr txBox="1"/>
          <p:nvPr/>
        </p:nvSpPr>
        <p:spPr>
          <a:xfrm>
            <a:off x="228600" y="1676400"/>
            <a:ext cx="8610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Draw Level </a:t>
            </a:r>
            <a:r>
              <a:rPr b="1" lang="en-US" sz="1800">
                <a:solidFill>
                  <a:schemeClr val="dk1"/>
                </a:solidFill>
              </a:rPr>
              <a:t>2 </a:t>
            </a:r>
            <a:r>
              <a:rPr b="1" i="0" lang="en-US" sz="1800" u="none" cap="none" strike="noStrike">
                <a:solidFill>
                  <a:schemeClr val="dk1"/>
                </a:solidFill>
                <a:latin typeface="Arial"/>
                <a:ea typeface="Arial"/>
                <a:cs typeface="Arial"/>
                <a:sym typeface="Arial"/>
              </a:rPr>
              <a:t>DFD</a:t>
            </a:r>
            <a:r>
              <a:rPr b="0" i="0" lang="en-US" sz="1800" u="none" cap="none" strike="noStrike">
                <a:solidFill>
                  <a:schemeClr val="dk1"/>
                </a:solidFill>
                <a:latin typeface="Arial"/>
                <a:ea typeface="Arial"/>
                <a:cs typeface="Arial"/>
                <a:sym typeface="Arial"/>
              </a:rPr>
              <a:t> for get distance sub process. Decompose get distance in two sub process as get route and calculate distance. Data of route will sent from get route to calculate distance.</a:t>
            </a:r>
            <a:endParaRPr b="0" i="0" sz="1400" u="none" cap="none" strike="noStrike">
              <a:solidFill>
                <a:srgbClr val="000000"/>
              </a:solidFill>
              <a:latin typeface="Arial"/>
              <a:ea typeface="Arial"/>
              <a:cs typeface="Arial"/>
              <a:sym typeface="Arial"/>
            </a:endParaRPr>
          </a:p>
        </p:txBody>
      </p:sp>
      <p:pic>
        <p:nvPicPr>
          <p:cNvPr id="480" name="Google Shape;480;p41"/>
          <p:cNvPicPr preferRelativeResize="0"/>
          <p:nvPr/>
        </p:nvPicPr>
        <p:blipFill rotWithShape="1">
          <a:blip r:embed="rId3">
            <a:alphaModFix/>
          </a:blip>
          <a:srcRect b="0" l="0" r="0" t="0"/>
          <a:stretch/>
        </p:blipFill>
        <p:spPr>
          <a:xfrm>
            <a:off x="1081087" y="2779712"/>
            <a:ext cx="6905625" cy="3886200"/>
          </a:xfrm>
          <a:prstGeom prst="rect">
            <a:avLst/>
          </a:prstGeom>
          <a:noFill/>
          <a:ln>
            <a:noFill/>
          </a:ln>
        </p:spPr>
      </p:pic>
      <p:sp>
        <p:nvSpPr>
          <p:cNvPr id="481" name="Google Shape;481;p41"/>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686468bc17_0_485"/>
          <p:cNvSpPr txBox="1"/>
          <p:nvPr>
            <p:ph type="title"/>
          </p:nvPr>
        </p:nvSpPr>
        <p:spPr>
          <a:xfrm>
            <a:off x="982133" y="457201"/>
            <a:ext cx="6561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Review</a:t>
            </a:r>
            <a:endParaRPr/>
          </a:p>
        </p:txBody>
      </p:sp>
      <p:sp>
        <p:nvSpPr>
          <p:cNvPr id="488" name="Google Shape;488;g3686468bc17_0_485"/>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400050" lvl="0" marL="457200" rtl="0" algn="just">
              <a:spcBef>
                <a:spcPts val="360"/>
              </a:spcBef>
              <a:spcAft>
                <a:spcPts val="0"/>
              </a:spcAft>
              <a:buSzPts val="2700"/>
              <a:buChar char="•"/>
            </a:pPr>
            <a:r>
              <a:rPr lang="en-US" sz="2700"/>
              <a:t>Define the meaning and purpose of the four basic symbols found on a data flow diagram.</a:t>
            </a:r>
            <a:endParaRPr sz="2700"/>
          </a:p>
          <a:p>
            <a:pPr indent="-400050" lvl="0" marL="457200" rtl="0" algn="just">
              <a:spcBef>
                <a:spcPts val="0"/>
              </a:spcBef>
              <a:spcAft>
                <a:spcPts val="0"/>
              </a:spcAft>
              <a:buSzPts val="2700"/>
              <a:buChar char="•"/>
            </a:pPr>
            <a:r>
              <a:rPr lang="en-US" sz="2700"/>
              <a:t>Explain the concept of decomposition and why process models are created as a hierarchy of DFDs.</a:t>
            </a:r>
            <a:endParaRPr sz="2700"/>
          </a:p>
          <a:p>
            <a:pPr indent="-400050" lvl="0" marL="457200" rtl="0" algn="just">
              <a:spcBef>
                <a:spcPts val="0"/>
              </a:spcBef>
              <a:spcAft>
                <a:spcPts val="0"/>
              </a:spcAft>
              <a:buSzPts val="2700"/>
              <a:buChar char="•"/>
            </a:pPr>
            <a:r>
              <a:rPr lang="en-US" sz="2700"/>
              <a:t>Describe several common syntax and semantic errors found on DFDs.</a:t>
            </a:r>
            <a:endParaRPr sz="2700"/>
          </a:p>
          <a:p>
            <a:pPr indent="-400050" lvl="0" marL="457200" rtl="0" algn="just">
              <a:spcBef>
                <a:spcPts val="0"/>
              </a:spcBef>
              <a:spcAft>
                <a:spcPts val="0"/>
              </a:spcAft>
              <a:buSzPts val="2700"/>
              <a:buChar char="•"/>
            </a:pPr>
            <a:r>
              <a:rPr lang="en-US" sz="2700"/>
              <a:t>Discuss the process used to create a process model.</a:t>
            </a:r>
            <a:endParaRPr sz="2700"/>
          </a:p>
          <a:p>
            <a:pPr indent="-400050" lvl="0" marL="457200" rtl="0" algn="just">
              <a:spcBef>
                <a:spcPts val="0"/>
              </a:spcBef>
              <a:spcAft>
                <a:spcPts val="0"/>
              </a:spcAft>
              <a:buSzPts val="2700"/>
              <a:buChar char="•"/>
            </a:pPr>
            <a:r>
              <a:rPr lang="en-US" sz="2700"/>
              <a:t>Discuss how the process model contributes to the development of the new information system.</a:t>
            </a:r>
            <a:endParaRPr sz="2700"/>
          </a:p>
        </p:txBody>
      </p:sp>
      <p:sp>
        <p:nvSpPr>
          <p:cNvPr id="489" name="Google Shape;489;g3686468bc17_0_48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4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