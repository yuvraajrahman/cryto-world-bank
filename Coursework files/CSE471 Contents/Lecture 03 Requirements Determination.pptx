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9144000"/>
  <p:notesSz cx="9866300" cy="6735750"/>
  <p:embeddedFontLst>
    <p:embeddedFont>
      <p:font typeface="Garamond"/>
      <p:regular r:id="rId31"/>
      <p:bold r:id="rId32"/>
      <p:italic r:id="rId33"/>
      <p:boldItalic r:id="rId34"/>
    </p:embeddedFont>
    <p:embeddedFont>
      <p:font typeface="Corbel"/>
      <p:regular r:id="rId35"/>
      <p:bold r:id="rId36"/>
      <p:italic r:id="rId37"/>
      <p:boldItalic r:id="rId38"/>
    </p:embeddedFont>
    <p:embeddedFont>
      <p:font typeface="Tahoma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744">
          <p15:clr>
            <a:srgbClr val="9AA0A6"/>
          </p15:clr>
        </p15:guide>
      </p15:sldGuideLst>
    </p:ext>
    <p:ext uri="{2D200454-40CA-4A62-9FC3-DE9A4176ACB9}">
      <p15:notesGuideLst>
        <p15:guide id="1" orient="horz" pos="1591">
          <p15:clr>
            <a:srgbClr val="A4A3A4"/>
          </p15:clr>
        </p15:guide>
        <p15:guide id="2" pos="4144">
          <p15:clr>
            <a:srgbClr val="A4A3A4"/>
          </p15:clr>
        </p15:guide>
      </p15:notesGuideLst>
    </p:ext>
    <p:ext uri="GoogleSlidesCustomDataVersion2">
      <go:slidesCustomData xmlns:go="http://customooxmlschemas.google.com/" r:id="rId41" roundtripDataSignature="AMtx7miXIP7bLaQg6FJSBJZomPn39iEz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735420-9C63-452E-ABBA-B3B2E29652C1}">
  <a:tblStyle styleId="{76735420-9C63-452E-ABBA-B3B2E29652C1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AEB"/>
          </a:solidFill>
        </a:fill>
      </a:tcStyle>
    </a:wholeTbl>
    <a:band1H>
      <a:tcTxStyle/>
      <a:tcStyle>
        <a:fill>
          <a:solidFill>
            <a:srgbClr val="CBD4D5"/>
          </a:solidFill>
        </a:fill>
      </a:tcStyle>
    </a:band1H>
    <a:band2H>
      <a:tcTxStyle/>
    </a:band2H>
    <a:band1V>
      <a:tcTxStyle/>
      <a:tcStyle>
        <a:fill>
          <a:solidFill>
            <a:srgbClr val="CBD4D5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196E78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196E78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196E78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196E78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  <p:guide pos="3744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1591" orient="horz"/>
        <p:guide pos="414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ahoma-bold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Garamond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Garamond-italic.fntdata"/><Relationship Id="rId10" Type="http://schemas.openxmlformats.org/officeDocument/2006/relationships/slide" Target="slides/slide4.xml"/><Relationship Id="rId32" Type="http://schemas.openxmlformats.org/officeDocument/2006/relationships/font" Target="fonts/Garamond-bold.fntdata"/><Relationship Id="rId13" Type="http://schemas.openxmlformats.org/officeDocument/2006/relationships/slide" Target="slides/slide7.xml"/><Relationship Id="rId35" Type="http://schemas.openxmlformats.org/officeDocument/2006/relationships/font" Target="fonts/Corbel-regular.fntdata"/><Relationship Id="rId12" Type="http://schemas.openxmlformats.org/officeDocument/2006/relationships/slide" Target="slides/slide6.xml"/><Relationship Id="rId34" Type="http://schemas.openxmlformats.org/officeDocument/2006/relationships/font" Target="fonts/Garamond-boldItalic.fntdata"/><Relationship Id="rId15" Type="http://schemas.openxmlformats.org/officeDocument/2006/relationships/slide" Target="slides/slide9.xml"/><Relationship Id="rId37" Type="http://schemas.openxmlformats.org/officeDocument/2006/relationships/font" Target="fonts/Corbel-italic.fntdata"/><Relationship Id="rId14" Type="http://schemas.openxmlformats.org/officeDocument/2006/relationships/slide" Target="slides/slide8.xml"/><Relationship Id="rId36" Type="http://schemas.openxmlformats.org/officeDocument/2006/relationships/font" Target="fonts/Corbel-bold.fntdata"/><Relationship Id="rId17" Type="http://schemas.openxmlformats.org/officeDocument/2006/relationships/slide" Target="slides/slide11.xml"/><Relationship Id="rId39" Type="http://schemas.openxmlformats.org/officeDocument/2006/relationships/font" Target="fonts/Tahoma-regular.fntdata"/><Relationship Id="rId16" Type="http://schemas.openxmlformats.org/officeDocument/2006/relationships/slide" Target="slides/slide10.xml"/><Relationship Id="rId38" Type="http://schemas.openxmlformats.org/officeDocument/2006/relationships/font" Target="fonts/Corbel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591175" y="0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2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b9bb94914_0_0:notes"/>
          <p:cNvSpPr txBox="1"/>
          <p:nvPr>
            <p:ph idx="1" type="body"/>
          </p:nvPr>
        </p:nvSpPr>
        <p:spPr>
          <a:xfrm>
            <a:off x="1316038" y="3198813"/>
            <a:ext cx="7234200" cy="30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39b9bb94914_0_0:notes"/>
          <p:cNvSpPr/>
          <p:nvPr>
            <p:ph idx="2" type="sldImg"/>
          </p:nvPr>
        </p:nvSpPr>
        <p:spPr>
          <a:xfrm>
            <a:off x="3248025" y="504825"/>
            <a:ext cx="3370200" cy="252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3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f2c634373_0_2:notes"/>
          <p:cNvSpPr txBox="1"/>
          <p:nvPr>
            <p:ph idx="1" type="body"/>
          </p:nvPr>
        </p:nvSpPr>
        <p:spPr>
          <a:xfrm>
            <a:off x="1316038" y="3198813"/>
            <a:ext cx="7234200" cy="30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2ff2c634373_0_2:notes"/>
          <p:cNvSpPr/>
          <p:nvPr>
            <p:ph idx="2" type="sldImg"/>
          </p:nvPr>
        </p:nvSpPr>
        <p:spPr>
          <a:xfrm>
            <a:off x="3248025" y="504825"/>
            <a:ext cx="3370200" cy="252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31b7e05985_0_0:notes"/>
          <p:cNvSpPr/>
          <p:nvPr>
            <p:ph idx="2" type="sldImg"/>
          </p:nvPr>
        </p:nvSpPr>
        <p:spPr>
          <a:xfrm>
            <a:off x="3248025" y="504825"/>
            <a:ext cx="3370200" cy="252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31b7e05985_0_0:notes"/>
          <p:cNvSpPr txBox="1"/>
          <p:nvPr>
            <p:ph idx="1" type="body"/>
          </p:nvPr>
        </p:nvSpPr>
        <p:spPr>
          <a:xfrm>
            <a:off x="1316038" y="3198813"/>
            <a:ext cx="7234200" cy="3032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31b7e05985_0_0:notes"/>
          <p:cNvSpPr txBox="1"/>
          <p:nvPr>
            <p:ph idx="12" type="sldNum"/>
          </p:nvPr>
        </p:nvSpPr>
        <p:spPr>
          <a:xfrm>
            <a:off x="5591175" y="6399213"/>
            <a:ext cx="4275000" cy="336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1" name="Google Shape;241;p14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14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15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7" name="Google Shape;257;p16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16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5" name="Google Shape;265;p17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7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3" name="Google Shape;273;p18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18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2" name="Google Shape;282;p19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19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0" name="Google Shape;290;p20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20:notes"/>
          <p:cNvSpPr txBox="1"/>
          <p:nvPr>
            <p:ph idx="12" type="sldNum"/>
          </p:nvPr>
        </p:nvSpPr>
        <p:spPr>
          <a:xfrm>
            <a:off x="5591175" y="6399213"/>
            <a:ext cx="4275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21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2:notes"/>
          <p:cNvSpPr txBox="1"/>
          <p:nvPr>
            <p:ph idx="1" type="body"/>
          </p:nvPr>
        </p:nvSpPr>
        <p:spPr>
          <a:xfrm>
            <a:off x="1316038" y="3198813"/>
            <a:ext cx="7234237" cy="303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22:notes"/>
          <p:cNvSpPr/>
          <p:nvPr>
            <p:ph idx="2" type="sldImg"/>
          </p:nvPr>
        </p:nvSpPr>
        <p:spPr>
          <a:xfrm>
            <a:off x="3248025" y="504825"/>
            <a:ext cx="3370263" cy="252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24"/>
          <p:cNvGrpSpPr/>
          <p:nvPr/>
        </p:nvGrpSpPr>
        <p:grpSpPr>
          <a:xfrm>
            <a:off x="203200" y="0"/>
            <a:ext cx="3778250" cy="6858000"/>
            <a:chOff x="203200" y="0"/>
            <a:chExt cx="3778250" cy="6858001"/>
          </a:xfrm>
        </p:grpSpPr>
        <p:sp>
          <p:nvSpPr>
            <p:cNvPr id="28" name="Google Shape;28;p24"/>
            <p:cNvSpPr/>
            <p:nvPr/>
          </p:nvSpPr>
          <p:spPr>
            <a:xfrm>
              <a:off x="641350" y="0"/>
              <a:ext cx="1365250" cy="3971925"/>
            </a:xfrm>
            <a:custGeom>
              <a:rect b="b" l="l" r="r" t="t"/>
              <a:pathLst>
                <a:path extrusionOk="0" h="2502" w="860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9" name="Google Shape;29;p24"/>
            <p:cNvSpPr/>
            <p:nvPr/>
          </p:nvSpPr>
          <p:spPr>
            <a:xfrm>
              <a:off x="203200" y="0"/>
              <a:ext cx="1336675" cy="3862389"/>
            </a:xfrm>
            <a:custGeom>
              <a:rect b="b" l="l" r="r" t="t"/>
              <a:pathLst>
                <a:path extrusionOk="0" h="2433" w="842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30" name="Google Shape;30;p24"/>
            <p:cNvSpPr/>
            <p:nvPr/>
          </p:nvSpPr>
          <p:spPr>
            <a:xfrm>
              <a:off x="207963" y="3776664"/>
              <a:ext cx="1936750" cy="3081337"/>
            </a:xfrm>
            <a:custGeom>
              <a:rect b="b" l="l" r="r" t="t"/>
              <a:pathLst>
                <a:path extrusionOk="0" h="1941" w="1220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31" name="Google Shape;31;p24"/>
            <p:cNvSpPr/>
            <p:nvPr/>
          </p:nvSpPr>
          <p:spPr>
            <a:xfrm>
              <a:off x="646113" y="3886201"/>
              <a:ext cx="2373312" cy="2971800"/>
            </a:xfrm>
            <a:custGeom>
              <a:rect b="b" l="l" r="r" t="t"/>
              <a:pathLst>
                <a:path extrusionOk="0" h="1872" w="1495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rgbClr val="244061"/>
            </a:solidFill>
            <a:ln>
              <a:noFill/>
            </a:ln>
          </p:spPr>
        </p:sp>
        <p:sp>
          <p:nvSpPr>
            <p:cNvPr id="32" name="Google Shape;32;p24"/>
            <p:cNvSpPr/>
            <p:nvPr/>
          </p:nvSpPr>
          <p:spPr>
            <a:xfrm>
              <a:off x="641350" y="3881439"/>
              <a:ext cx="3340100" cy="2976562"/>
            </a:xfrm>
            <a:custGeom>
              <a:rect b="b" l="l" r="r" t="t"/>
              <a:pathLst>
                <a:path extrusionOk="0" h="1875" w="2104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</p:sp>
        <p:sp>
          <p:nvSpPr>
            <p:cNvPr id="33" name="Google Shape;33;p24"/>
            <p:cNvSpPr/>
            <p:nvPr/>
          </p:nvSpPr>
          <p:spPr>
            <a:xfrm>
              <a:off x="203200" y="3771901"/>
              <a:ext cx="2660650" cy="3086100"/>
            </a:xfrm>
            <a:custGeom>
              <a:rect b="b" l="l" r="r" t="t"/>
              <a:pathLst>
                <a:path extrusionOk="0" h="1944" w="1676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4" name="Google Shape;34;p24"/>
          <p:cNvSpPr/>
          <p:nvPr/>
        </p:nvSpPr>
        <p:spPr>
          <a:xfrm>
            <a:off x="203200" y="3771900"/>
            <a:ext cx="361950" cy="90488"/>
          </a:xfrm>
          <a:custGeom>
            <a:rect b="b" l="l" r="r" t="t"/>
            <a:pathLst>
              <a:path extrusionOk="0" h="57" w="228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" name="Google Shape;35;p24"/>
          <p:cNvSpPr/>
          <p:nvPr/>
        </p:nvSpPr>
        <p:spPr>
          <a:xfrm>
            <a:off x="560388" y="3867150"/>
            <a:ext cx="61912" cy="80963"/>
          </a:xfrm>
          <a:custGeom>
            <a:rect b="b" l="l" r="r" t="t"/>
            <a:pathLst>
              <a:path extrusionOk="0" h="51" w="39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6" name="Google Shape;3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54938" y="76200"/>
            <a:ext cx="1295400" cy="11890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Google Shape;37;p24"/>
          <p:cNvGrpSpPr/>
          <p:nvPr/>
        </p:nvGrpSpPr>
        <p:grpSpPr>
          <a:xfrm>
            <a:off x="990600" y="2765925"/>
            <a:ext cx="7598156" cy="281579"/>
            <a:chOff x="504" y="3635"/>
            <a:chExt cx="4786" cy="177"/>
          </a:xfrm>
        </p:grpSpPr>
        <p:sp>
          <p:nvSpPr>
            <p:cNvPr id="38" name="Google Shape;38;p24"/>
            <p:cNvSpPr/>
            <p:nvPr/>
          </p:nvSpPr>
          <p:spPr>
            <a:xfrm>
              <a:off x="504" y="3696"/>
              <a:ext cx="4752" cy="48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rotWithShape="0" algn="ctr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" name="Google Shape;39;p24"/>
            <p:cNvSpPr/>
            <p:nvPr/>
          </p:nvSpPr>
          <p:spPr>
            <a:xfrm rot="-7499842">
              <a:off x="5142" y="3646"/>
              <a:ext cx="107" cy="156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rotWithShape="0" algn="ctr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40" name="Google Shape;40;p24"/>
          <p:cNvSpPr txBox="1"/>
          <p:nvPr>
            <p:ph type="ctrTitle"/>
          </p:nvPr>
        </p:nvSpPr>
        <p:spPr>
          <a:xfrm>
            <a:off x="1739673" y="914401"/>
            <a:ext cx="6947127" cy="34882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" type="subTitle"/>
          </p:nvPr>
        </p:nvSpPr>
        <p:spPr>
          <a:xfrm>
            <a:off x="2924238" y="4402666"/>
            <a:ext cx="5762563" cy="1364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7326313" y="611663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3624263" y="6116638"/>
            <a:ext cx="3608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7400925" y="6492875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2036763" y="6473825"/>
            <a:ext cx="5314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type="title"/>
          </p:nvPr>
        </p:nvSpPr>
        <p:spPr>
          <a:xfrm>
            <a:off x="982663" y="457200"/>
            <a:ext cx="678973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1986995" y="2666998"/>
            <a:ext cx="6699805" cy="23600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1986998" y="5027070"/>
            <a:ext cx="6699802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27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8"/>
          <p:cNvSpPr txBox="1"/>
          <p:nvPr>
            <p:ph type="title"/>
          </p:nvPr>
        </p:nvSpPr>
        <p:spPr>
          <a:xfrm>
            <a:off x="964122" y="158376"/>
            <a:ext cx="679026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1" type="body"/>
          </p:nvPr>
        </p:nvSpPr>
        <p:spPr>
          <a:xfrm>
            <a:off x="982133" y="1676400"/>
            <a:ext cx="3739896" cy="43592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2" name="Google Shape;62;p28"/>
          <p:cNvSpPr txBox="1"/>
          <p:nvPr>
            <p:ph idx="2" type="body"/>
          </p:nvPr>
        </p:nvSpPr>
        <p:spPr>
          <a:xfrm>
            <a:off x="4946904" y="1676400"/>
            <a:ext cx="3739896" cy="4337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3" name="Google Shape;63;p28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982663" y="457200"/>
            <a:ext cx="678973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" type="body"/>
          </p:nvPr>
        </p:nvSpPr>
        <p:spPr>
          <a:xfrm>
            <a:off x="1329481" y="2658533"/>
            <a:ext cx="345629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36609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8" name="Google Shape;68;p29"/>
          <p:cNvSpPr txBox="1"/>
          <p:nvPr>
            <p:ph idx="2" type="body"/>
          </p:nvPr>
        </p:nvSpPr>
        <p:spPr>
          <a:xfrm>
            <a:off x="1113523" y="3335336"/>
            <a:ext cx="3672248" cy="2665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9" name="Google Shape;69;p29"/>
          <p:cNvSpPr txBox="1"/>
          <p:nvPr>
            <p:ph idx="3" type="body"/>
          </p:nvPr>
        </p:nvSpPr>
        <p:spPr>
          <a:xfrm>
            <a:off x="5161710" y="2667000"/>
            <a:ext cx="346780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36609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70" name="Google Shape;70;p29"/>
          <p:cNvSpPr txBox="1"/>
          <p:nvPr>
            <p:ph idx="4" type="body"/>
          </p:nvPr>
        </p:nvSpPr>
        <p:spPr>
          <a:xfrm>
            <a:off x="4957266" y="3335336"/>
            <a:ext cx="3672248" cy="2665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0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1"/>
          <p:cNvSpPr txBox="1"/>
          <p:nvPr>
            <p:ph type="title"/>
          </p:nvPr>
        </p:nvSpPr>
        <p:spPr>
          <a:xfrm>
            <a:off x="1113524" y="1600200"/>
            <a:ext cx="266253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" type="body"/>
          </p:nvPr>
        </p:nvSpPr>
        <p:spPr>
          <a:xfrm>
            <a:off x="3947553" y="685800"/>
            <a:ext cx="4681962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2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9" name="Google Shape;79;p31"/>
          <p:cNvSpPr txBox="1"/>
          <p:nvPr>
            <p:ph idx="2" type="body"/>
          </p:nvPr>
        </p:nvSpPr>
        <p:spPr>
          <a:xfrm>
            <a:off x="1113524" y="2971800"/>
            <a:ext cx="2662534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0" name="Google Shape;80;p31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2"/>
          <p:cNvSpPr txBox="1"/>
          <p:nvPr>
            <p:ph type="title"/>
          </p:nvPr>
        </p:nvSpPr>
        <p:spPr>
          <a:xfrm>
            <a:off x="1112332" y="1752599"/>
            <a:ext cx="40706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2"/>
          <p:cNvSpPr/>
          <p:nvPr>
            <p:ph idx="2" type="pic"/>
          </p:nvPr>
        </p:nvSpPr>
        <p:spPr>
          <a:xfrm>
            <a:off x="5697495" y="914400"/>
            <a:ext cx="2461371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2"/>
          <p:cNvSpPr txBox="1"/>
          <p:nvPr>
            <p:ph idx="1" type="body"/>
          </p:nvPr>
        </p:nvSpPr>
        <p:spPr>
          <a:xfrm>
            <a:off x="1112332" y="3124199"/>
            <a:ext cx="407067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6" name="Google Shape;86;p32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2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/>
          <p:nvPr>
            <p:ph type="title"/>
          </p:nvPr>
        </p:nvSpPr>
        <p:spPr>
          <a:xfrm>
            <a:off x="1113523" y="4732865"/>
            <a:ext cx="751599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/>
          <p:nvPr>
            <p:ph idx="2" type="pic"/>
          </p:nvPr>
        </p:nvSpPr>
        <p:spPr>
          <a:xfrm>
            <a:off x="1789975" y="932112"/>
            <a:ext cx="6171065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33"/>
          <p:cNvSpPr txBox="1"/>
          <p:nvPr>
            <p:ph idx="1" type="body"/>
          </p:nvPr>
        </p:nvSpPr>
        <p:spPr>
          <a:xfrm>
            <a:off x="1113523" y="5299603"/>
            <a:ext cx="751599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2" name="Google Shape;92;p33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3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/>
          <p:nvPr>
            <p:ph type="title"/>
          </p:nvPr>
        </p:nvSpPr>
        <p:spPr>
          <a:xfrm>
            <a:off x="1113524" y="685800"/>
            <a:ext cx="751599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2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4"/>
          <p:cNvSpPr txBox="1"/>
          <p:nvPr>
            <p:ph idx="1" type="body"/>
          </p:nvPr>
        </p:nvSpPr>
        <p:spPr>
          <a:xfrm>
            <a:off x="1113524" y="4343400"/>
            <a:ext cx="751599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34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4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5"/>
          <p:cNvSpPr txBox="1"/>
          <p:nvPr/>
        </p:nvSpPr>
        <p:spPr>
          <a:xfrm>
            <a:off x="969963" y="863600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ahoma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5"/>
          <p:cNvSpPr txBox="1"/>
          <p:nvPr/>
        </p:nvSpPr>
        <p:spPr>
          <a:xfrm>
            <a:off x="8172450" y="2819400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ahoma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5"/>
          <p:cNvSpPr txBox="1"/>
          <p:nvPr>
            <p:ph type="title"/>
          </p:nvPr>
        </p:nvSpPr>
        <p:spPr>
          <a:xfrm>
            <a:off x="1426741" y="685801"/>
            <a:ext cx="6974115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200" cap="none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5"/>
          <p:cNvSpPr txBox="1"/>
          <p:nvPr>
            <p:ph idx="1" type="body"/>
          </p:nvPr>
        </p:nvSpPr>
        <p:spPr>
          <a:xfrm>
            <a:off x="1598235" y="3428999"/>
            <a:ext cx="6631128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35"/>
          <p:cNvSpPr txBox="1"/>
          <p:nvPr>
            <p:ph idx="2" type="body"/>
          </p:nvPr>
        </p:nvSpPr>
        <p:spPr>
          <a:xfrm>
            <a:off x="1113523" y="4343400"/>
            <a:ext cx="751599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35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5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6"/>
          <p:cNvSpPr txBox="1"/>
          <p:nvPr>
            <p:ph type="title"/>
          </p:nvPr>
        </p:nvSpPr>
        <p:spPr>
          <a:xfrm>
            <a:off x="1113525" y="3308581"/>
            <a:ext cx="751598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2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6"/>
          <p:cNvSpPr txBox="1"/>
          <p:nvPr>
            <p:ph idx="1" type="body"/>
          </p:nvPr>
        </p:nvSpPr>
        <p:spPr>
          <a:xfrm>
            <a:off x="1113524" y="4777381"/>
            <a:ext cx="751599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0" name="Google Shape;110;p36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6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7"/>
          <p:cNvSpPr txBox="1"/>
          <p:nvPr/>
        </p:nvSpPr>
        <p:spPr>
          <a:xfrm>
            <a:off x="969963" y="863600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ahoma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7"/>
          <p:cNvSpPr txBox="1"/>
          <p:nvPr/>
        </p:nvSpPr>
        <p:spPr>
          <a:xfrm>
            <a:off x="8172450" y="2819400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ahoma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7"/>
          <p:cNvSpPr txBox="1"/>
          <p:nvPr>
            <p:ph type="title"/>
          </p:nvPr>
        </p:nvSpPr>
        <p:spPr>
          <a:xfrm>
            <a:off x="1426741" y="685801"/>
            <a:ext cx="6974115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200" cap="none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7"/>
          <p:cNvSpPr txBox="1"/>
          <p:nvPr>
            <p:ph idx="1" type="body"/>
          </p:nvPr>
        </p:nvSpPr>
        <p:spPr>
          <a:xfrm>
            <a:off x="1113525" y="3886200"/>
            <a:ext cx="751599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7" name="Google Shape;117;p37"/>
          <p:cNvSpPr txBox="1"/>
          <p:nvPr>
            <p:ph idx="2" type="body"/>
          </p:nvPr>
        </p:nvSpPr>
        <p:spPr>
          <a:xfrm>
            <a:off x="1113524" y="4775200"/>
            <a:ext cx="751599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37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7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8"/>
          <p:cNvSpPr txBox="1"/>
          <p:nvPr>
            <p:ph type="title"/>
          </p:nvPr>
        </p:nvSpPr>
        <p:spPr>
          <a:xfrm>
            <a:off x="1113525" y="685801"/>
            <a:ext cx="7515991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8"/>
          <p:cNvSpPr txBox="1"/>
          <p:nvPr>
            <p:ph idx="1" type="body"/>
          </p:nvPr>
        </p:nvSpPr>
        <p:spPr>
          <a:xfrm>
            <a:off x="1113524" y="3505200"/>
            <a:ext cx="7515992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3" name="Google Shape;123;p38"/>
          <p:cNvSpPr txBox="1"/>
          <p:nvPr>
            <p:ph idx="2" type="body"/>
          </p:nvPr>
        </p:nvSpPr>
        <p:spPr>
          <a:xfrm>
            <a:off x="1113524" y="4343400"/>
            <a:ext cx="751599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38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8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9"/>
          <p:cNvSpPr txBox="1"/>
          <p:nvPr>
            <p:ph type="title"/>
          </p:nvPr>
        </p:nvSpPr>
        <p:spPr>
          <a:xfrm>
            <a:off x="982663" y="457200"/>
            <a:ext cx="678973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9"/>
          <p:cNvSpPr txBox="1"/>
          <p:nvPr>
            <p:ph idx="1" type="body"/>
          </p:nvPr>
        </p:nvSpPr>
        <p:spPr>
          <a:xfrm rot="5400000">
            <a:off x="2522538" y="274638"/>
            <a:ext cx="4624387" cy="770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9" name="Google Shape;129;p39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9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0"/>
          <p:cNvSpPr txBox="1"/>
          <p:nvPr>
            <p:ph type="title"/>
          </p:nvPr>
        </p:nvSpPr>
        <p:spPr>
          <a:xfrm rot="5400000">
            <a:off x="5412754" y="2574438"/>
            <a:ext cx="5105400" cy="1328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0"/>
          <p:cNvSpPr txBox="1"/>
          <p:nvPr>
            <p:ph idx="1" type="body"/>
          </p:nvPr>
        </p:nvSpPr>
        <p:spPr>
          <a:xfrm rot="5400000">
            <a:off x="1569010" y="230314"/>
            <a:ext cx="5105400" cy="6016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4" name="Google Shape;134;p40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0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3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3"/>
          <p:cNvGrpSpPr/>
          <p:nvPr/>
        </p:nvGrpSpPr>
        <p:grpSpPr>
          <a:xfrm>
            <a:off x="0" y="0"/>
            <a:ext cx="2132013" cy="6858000"/>
            <a:chOff x="0" y="0"/>
            <a:chExt cx="2132013" cy="6858001"/>
          </a:xfrm>
        </p:grpSpPr>
        <p:sp>
          <p:nvSpPr>
            <p:cNvPr id="11" name="Google Shape;11;p23"/>
            <p:cNvSpPr/>
            <p:nvPr/>
          </p:nvSpPr>
          <p:spPr>
            <a:xfrm>
              <a:off x="0" y="0"/>
              <a:ext cx="1073150" cy="5291138"/>
            </a:xfrm>
            <a:custGeom>
              <a:rect b="b" l="l" r="r" t="t"/>
              <a:pathLst>
                <a:path extrusionOk="0" h="3333" w="676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" name="Google Shape;12;p23"/>
            <p:cNvSpPr/>
            <p:nvPr/>
          </p:nvSpPr>
          <p:spPr>
            <a:xfrm>
              <a:off x="0" y="0"/>
              <a:ext cx="758825" cy="4624389"/>
            </a:xfrm>
            <a:custGeom>
              <a:rect b="b" l="l" r="r" t="t"/>
              <a:pathLst>
                <a:path extrusionOk="0" h="2913" w="478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23"/>
            <p:cNvSpPr/>
            <p:nvPr/>
          </p:nvSpPr>
          <p:spPr>
            <a:xfrm>
              <a:off x="0" y="5662614"/>
              <a:ext cx="906463" cy="1195387"/>
            </a:xfrm>
            <a:custGeom>
              <a:rect b="b" l="l" r="r" t="t"/>
              <a:pathLst>
                <a:path extrusionOk="0" h="753" w="571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23"/>
            <p:cNvSpPr/>
            <p:nvPr/>
          </p:nvSpPr>
          <p:spPr>
            <a:xfrm>
              <a:off x="0" y="5295901"/>
              <a:ext cx="1487488" cy="1562100"/>
            </a:xfrm>
            <a:custGeom>
              <a:rect b="b" l="l" r="r" t="t"/>
              <a:pathLst>
                <a:path extrusionOk="0" h="984" w="937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4061"/>
            </a:solidFill>
            <a:ln>
              <a:noFill/>
            </a:ln>
          </p:spPr>
        </p:sp>
        <p:sp>
          <p:nvSpPr>
            <p:cNvPr id="15" name="Google Shape;15;p23"/>
            <p:cNvSpPr/>
            <p:nvPr/>
          </p:nvSpPr>
          <p:spPr>
            <a:xfrm>
              <a:off x="0" y="5257801"/>
              <a:ext cx="2132013" cy="1600200"/>
            </a:xfrm>
            <a:custGeom>
              <a:rect b="b" l="l" r="r" t="t"/>
              <a:pathLst>
                <a:path extrusionOk="0" h="1008" w="1343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</p:sp>
        <p:sp>
          <p:nvSpPr>
            <p:cNvPr id="16" name="Google Shape;16;p23"/>
            <p:cNvSpPr/>
            <p:nvPr/>
          </p:nvSpPr>
          <p:spPr>
            <a:xfrm>
              <a:off x="0" y="5357814"/>
              <a:ext cx="1377950" cy="1500187"/>
            </a:xfrm>
            <a:custGeom>
              <a:rect b="b" l="l" r="r" t="t"/>
              <a:pathLst>
                <a:path extrusionOk="0" h="945" w="868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23"/>
          <p:cNvSpPr txBox="1"/>
          <p:nvPr>
            <p:ph type="title"/>
          </p:nvPr>
        </p:nvSpPr>
        <p:spPr>
          <a:xfrm>
            <a:off x="982663" y="457200"/>
            <a:ext cx="678973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" type="body"/>
          </p:nvPr>
        </p:nvSpPr>
        <p:spPr>
          <a:xfrm>
            <a:off x="982663" y="1814513"/>
            <a:ext cx="7704137" cy="46243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76092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2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5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7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5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5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5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5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366092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23"/>
          <p:cNvSpPr txBox="1"/>
          <p:nvPr>
            <p:ph idx="10" type="dt"/>
          </p:nvPr>
        </p:nvSpPr>
        <p:spPr>
          <a:xfrm>
            <a:off x="7385050" y="6478588"/>
            <a:ext cx="857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11" type="ftr"/>
          </p:nvPr>
        </p:nvSpPr>
        <p:spPr>
          <a:xfrm>
            <a:off x="1130300" y="6492875"/>
            <a:ext cx="62277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" name="Google Shape;2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2400" y="160338"/>
            <a:ext cx="1295400" cy="1189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oogle Shape;23;p23"/>
          <p:cNvGrpSpPr/>
          <p:nvPr/>
        </p:nvGrpSpPr>
        <p:grpSpPr>
          <a:xfrm>
            <a:off x="533400" y="1318125"/>
            <a:ext cx="7598156" cy="281579"/>
            <a:chOff x="504" y="3635"/>
            <a:chExt cx="4786" cy="177"/>
          </a:xfrm>
        </p:grpSpPr>
        <p:sp>
          <p:nvSpPr>
            <p:cNvPr id="24" name="Google Shape;24;p23"/>
            <p:cNvSpPr/>
            <p:nvPr/>
          </p:nvSpPr>
          <p:spPr>
            <a:xfrm>
              <a:off x="504" y="3696"/>
              <a:ext cx="4752" cy="48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rotWithShape="0" algn="ctr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" name="Google Shape;25;p23"/>
            <p:cNvSpPr/>
            <p:nvPr/>
          </p:nvSpPr>
          <p:spPr>
            <a:xfrm rot="-7499842">
              <a:off x="5142" y="3646"/>
              <a:ext cx="107" cy="156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rotWithShape="0" algn="ctr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"/>
          <p:cNvSpPr txBox="1"/>
          <p:nvPr>
            <p:ph type="title"/>
          </p:nvPr>
        </p:nvSpPr>
        <p:spPr>
          <a:xfrm>
            <a:off x="1002613" y="2979125"/>
            <a:ext cx="656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600">
                <a:solidFill>
                  <a:schemeClr val="dk2"/>
                </a:solidFill>
              </a:rPr>
              <a:t>Requirement Analysis</a:t>
            </a:r>
            <a:endParaRPr sz="4600">
              <a:solidFill>
                <a:schemeClr val="dk2"/>
              </a:solidFill>
            </a:endParaRPr>
          </a:p>
        </p:txBody>
      </p:sp>
      <p:sp>
        <p:nvSpPr>
          <p:cNvPr id="141" name="Google Shape;141;p2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b9bb94914_0_0"/>
          <p:cNvSpPr txBox="1"/>
          <p:nvPr>
            <p:ph type="title"/>
          </p:nvPr>
        </p:nvSpPr>
        <p:spPr>
          <a:xfrm>
            <a:off x="982663" y="457200"/>
            <a:ext cx="656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337ED8"/>
                </a:solidFill>
              </a:rPr>
              <a:t>Objectives</a:t>
            </a:r>
            <a:endParaRPr/>
          </a:p>
        </p:txBody>
      </p:sp>
      <p:sp>
        <p:nvSpPr>
          <p:cNvPr descr="Rectangle: Click to edit Master text styles&#10;Second level&#10;Third level&#10;Fourth level&#10;Fifth level" id="147" name="Google Shape;147;g39b9bb94914_0_0"/>
          <p:cNvSpPr txBox="1"/>
          <p:nvPr>
            <p:ph idx="1" type="body"/>
          </p:nvPr>
        </p:nvSpPr>
        <p:spPr>
          <a:xfrm>
            <a:off x="982663" y="1600200"/>
            <a:ext cx="785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70"/>
              <a:buFont typeface="Noto Sans Symbols"/>
              <a:buNone/>
            </a:pPr>
            <a:r>
              <a:rPr lang="en-US" sz="2600"/>
              <a:t>■ Understand how to create a requirements definition.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SzPts val="3770"/>
              <a:buFont typeface="Noto Sans Symbols"/>
              <a:buNone/>
            </a:pPr>
            <a:r>
              <a:rPr lang="en-US" sz="2600"/>
              <a:t>■ Become familiar with requirements analysis techniques.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SzPts val="3770"/>
              <a:buFont typeface="Noto Sans Symbols"/>
              <a:buNone/>
            </a:pPr>
            <a:r>
              <a:rPr lang="en-US" sz="2600"/>
              <a:t>■ Understand when to use each requirements analysis technique.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SzPts val="3770"/>
              <a:buFont typeface="Noto Sans Symbols"/>
              <a:buNone/>
            </a:pPr>
            <a:r>
              <a:rPr lang="en-US" sz="2600"/>
              <a:t>■ Understand what and where to use </a:t>
            </a:r>
            <a:r>
              <a:rPr lang="en-US"/>
              <a:t>REQUIREMENTS ANALYSIS STRATEGIES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120"/>
              </a:spcBef>
              <a:spcAft>
                <a:spcPts val="0"/>
              </a:spcAft>
              <a:buSzPts val="3770"/>
              <a:buFont typeface="Noto Sans Symbols"/>
              <a:buNone/>
            </a:pPr>
            <a:r>
              <a:t/>
            </a:r>
            <a:endParaRPr sz="2600"/>
          </a:p>
        </p:txBody>
      </p:sp>
      <p:sp>
        <p:nvSpPr>
          <p:cNvPr id="148" name="Google Shape;148;g39b9bb94914_0_0"/>
          <p:cNvSpPr txBox="1"/>
          <p:nvPr>
            <p:ph idx="12" type="sldNum"/>
          </p:nvPr>
        </p:nvSpPr>
        <p:spPr>
          <a:xfrm>
            <a:off x="8245475" y="6478588"/>
            <a:ext cx="41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rPr b="1" lang="en-US" sz="2800"/>
              <a:t>Segment 1: </a:t>
            </a:r>
            <a:r>
              <a:rPr lang="en-US" sz="2800"/>
              <a:t>Requirements Specification</a:t>
            </a:r>
            <a:endParaRPr b="1" sz="2800"/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rPr b="1" lang="en-US" sz="2800"/>
              <a:t>Segment 2: </a:t>
            </a:r>
            <a:r>
              <a:rPr lang="en-US" sz="2800"/>
              <a:t>Requirement Gathering Techniques and Interview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rPr b="1" lang="en-US" sz="2800"/>
              <a:t>Segment 3</a:t>
            </a:r>
            <a:r>
              <a:rPr lang="en-US" sz="2800"/>
              <a:t>: JOINT APPLICATION DESIGN (JAD)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rPr b="1" lang="en-US" sz="2800"/>
              <a:t>Segment 4</a:t>
            </a:r>
            <a:r>
              <a:rPr lang="en-US" sz="2800"/>
              <a:t>: Other Requirement Gathering Techniques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  <a:p>
            <a:pPr indent="-2794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</p:txBody>
      </p:sp>
      <p:sp>
        <p:nvSpPr>
          <p:cNvPr id="154" name="Google Shape;154;p3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 txBox="1"/>
          <p:nvPr>
            <p:ph type="title"/>
          </p:nvPr>
        </p:nvSpPr>
        <p:spPr>
          <a:xfrm>
            <a:off x="982663" y="457200"/>
            <a:ext cx="65611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337ED8"/>
                </a:solidFill>
              </a:rPr>
              <a:t>Key Ideas</a:t>
            </a:r>
            <a:endParaRPr/>
          </a:p>
        </p:txBody>
      </p:sp>
      <p:sp>
        <p:nvSpPr>
          <p:cNvPr descr="Rectangle: Click to edit Master text styles&#10;Second level&#10;Third level&#10;Fourth level&#10;Fifth level" id="161" name="Google Shape;161;p4"/>
          <p:cNvSpPr txBox="1"/>
          <p:nvPr>
            <p:ph idx="1" type="body"/>
          </p:nvPr>
        </p:nvSpPr>
        <p:spPr>
          <a:xfrm>
            <a:off x="982663" y="1600200"/>
            <a:ext cx="78565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 goal of the analysis phase is to truly understand the requirements of the new system and develop a system that addresses them.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 first challenge is </a:t>
            </a:r>
            <a:r>
              <a:rPr lang="en-US" sz="2800">
                <a:solidFill>
                  <a:srgbClr val="FF5050"/>
                </a:solidFill>
              </a:rPr>
              <a:t>collecting and integrating the information</a:t>
            </a:r>
            <a:r>
              <a:rPr lang="en-US" sz="2800"/>
              <a:t>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 second challenge is finding the </a:t>
            </a:r>
            <a:r>
              <a:rPr lang="en-US" sz="2800">
                <a:solidFill>
                  <a:srgbClr val="FF5050"/>
                </a:solidFill>
              </a:rPr>
              <a:t>right people</a:t>
            </a:r>
            <a:r>
              <a:rPr lang="en-US" sz="2800"/>
              <a:t> to participate.</a:t>
            </a:r>
            <a:endParaRPr/>
          </a:p>
          <a:p>
            <a:pPr indent="-2794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</p:txBody>
      </p:sp>
      <p:sp>
        <p:nvSpPr>
          <p:cNvPr id="162" name="Google Shape;162;p4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/>
          <p:nvPr>
            <p:ph type="title"/>
          </p:nvPr>
        </p:nvSpPr>
        <p:spPr>
          <a:xfrm>
            <a:off x="982663" y="457200"/>
            <a:ext cx="65611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337ED8"/>
                </a:solidFill>
              </a:rPr>
              <a:t>Analysis Phase</a:t>
            </a:r>
            <a:endParaRPr/>
          </a:p>
        </p:txBody>
      </p:sp>
      <p:sp>
        <p:nvSpPr>
          <p:cNvPr descr="Rectangle: Click to edit Master text styles&#10;Second level&#10;Third level&#10;Fourth level&#10;Fifth level" id="168" name="Google Shape;168;p5"/>
          <p:cNvSpPr txBox="1"/>
          <p:nvPr>
            <p:ph idx="1" type="body"/>
          </p:nvPr>
        </p:nvSpPr>
        <p:spPr>
          <a:xfrm>
            <a:off x="982663" y="1600200"/>
            <a:ext cx="78565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66413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800"/>
              <a:t>This phase takes the general ideas in the system request and</a:t>
            </a:r>
            <a:endParaRPr/>
          </a:p>
          <a:p>
            <a:pPr indent="-269176" lvl="1" marL="7429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400"/>
              <a:t>refines them into a detailed requirements definition (this chapter), </a:t>
            </a:r>
            <a:endParaRPr/>
          </a:p>
          <a:p>
            <a:pPr indent="-269176" lvl="1" marL="7429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400"/>
              <a:t>functional models</a:t>
            </a:r>
            <a:endParaRPr/>
          </a:p>
          <a:p>
            <a:pPr indent="-269176" lvl="1" marL="7429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400"/>
              <a:t>structural models and </a:t>
            </a:r>
            <a:endParaRPr/>
          </a:p>
          <a:p>
            <a:pPr indent="-269176" lvl="1" marL="7429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400"/>
              <a:t>behavioral models </a:t>
            </a:r>
            <a:endParaRPr/>
          </a:p>
          <a:p>
            <a:pPr indent="0" lvl="1" marL="67818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None/>
            </a:pPr>
            <a:r>
              <a:t/>
            </a:r>
            <a:endParaRPr sz="2400"/>
          </a:p>
          <a:p>
            <a:pPr indent="-266413" lvl="0" marL="28575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800"/>
              <a:t>This becomes the system proposal</a:t>
            </a:r>
            <a:endParaRPr/>
          </a:p>
          <a:p>
            <a:pPr indent="-269176" lvl="1" marL="7429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400"/>
              <a:t>Includes revised project management deliverables,</a:t>
            </a:r>
            <a:endParaRPr/>
          </a:p>
          <a:p>
            <a:pPr indent="-271937" lvl="2" marL="12001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000"/>
              <a:t>feasibility analysis and </a:t>
            </a:r>
            <a:endParaRPr/>
          </a:p>
          <a:p>
            <a:pPr indent="-271937" lvl="2" marL="12001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366092"/>
              </a:buClr>
              <a:buSzPct val="145000"/>
              <a:buFont typeface="Arial"/>
              <a:buChar char="•"/>
            </a:pPr>
            <a:r>
              <a:rPr lang="en-US" sz="2000"/>
              <a:t>workplan</a:t>
            </a:r>
            <a:endParaRPr/>
          </a:p>
        </p:txBody>
      </p:sp>
      <p:sp>
        <p:nvSpPr>
          <p:cNvPr id="169" name="Google Shape;169;p5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 txBox="1"/>
          <p:nvPr>
            <p:ph type="title"/>
          </p:nvPr>
        </p:nvSpPr>
        <p:spPr>
          <a:xfrm>
            <a:off x="982663" y="457200"/>
            <a:ext cx="65611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337ED8"/>
                </a:solidFill>
              </a:rPr>
              <a:t>Requirement Specification</a:t>
            </a:r>
            <a:endParaRPr/>
          </a:p>
        </p:txBody>
      </p:sp>
      <p:sp>
        <p:nvSpPr>
          <p:cNvPr descr="Rectangle: Click to edit Master text styles&#10;Second level&#10;Third level&#10;Fourth level&#10;Fifth level" id="175" name="Google Shape;175;p6"/>
          <p:cNvSpPr txBox="1"/>
          <p:nvPr>
            <p:ph idx="1" type="body"/>
          </p:nvPr>
        </p:nvSpPr>
        <p:spPr>
          <a:xfrm>
            <a:off x="982663" y="1600200"/>
            <a:ext cx="78565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2324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640"/>
              <a:buChar char="•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1" lang="en-US" sz="2600">
                <a:latin typeface="Calibri"/>
                <a:ea typeface="Calibri"/>
                <a:cs typeface="Calibri"/>
                <a:sym typeface="Calibri"/>
              </a:rPr>
              <a:t>requirement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 is a statement of what the system must do or what characteristics it needs to have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52324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Types of requirements: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394335" lvl="1" marL="914400" rtl="0" algn="l"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What the business needs (business requirements)</a:t>
            </a:r>
            <a:endParaRPr/>
          </a:p>
          <a:p>
            <a:pPr indent="-394335" lvl="1" marL="914400" rtl="0" algn="l"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What the users need to do (user requirements)</a:t>
            </a:r>
            <a:endParaRPr/>
          </a:p>
          <a:p>
            <a:pPr indent="-394335" lvl="1" marL="914400" rtl="0" algn="l"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What the software should do (functional requirements)</a:t>
            </a:r>
            <a:endParaRPr/>
          </a:p>
          <a:p>
            <a:pPr indent="-394335" lvl="1" marL="914400" rtl="0" algn="l"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Characteristics the system should have (nonfunctional requirements)</a:t>
            </a:r>
            <a:endParaRPr/>
          </a:p>
          <a:p>
            <a:pPr indent="-394335" lvl="1" marL="914400" rtl="0" algn="l"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How the system should be built (system requirements)</a:t>
            </a:r>
            <a:endParaRPr sz="3200"/>
          </a:p>
          <a:p>
            <a:pPr indent="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None/>
            </a:pPr>
            <a:r>
              <a:t/>
            </a:r>
            <a:endParaRPr sz="3200"/>
          </a:p>
        </p:txBody>
      </p:sp>
      <p:sp>
        <p:nvSpPr>
          <p:cNvPr id="176" name="Google Shape;176;p6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 txBox="1"/>
          <p:nvPr>
            <p:ph type="title"/>
          </p:nvPr>
        </p:nvSpPr>
        <p:spPr>
          <a:xfrm>
            <a:off x="982663" y="457200"/>
            <a:ext cx="65611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solidFill>
                  <a:srgbClr val="337ED8"/>
                </a:solidFill>
              </a:rPr>
              <a:t>Functional Requirements</a:t>
            </a:r>
            <a:endParaRPr/>
          </a:p>
        </p:txBody>
      </p:sp>
      <p:sp>
        <p:nvSpPr>
          <p:cNvPr descr="Rectangle: Click to edit Master text styles&#10;Second level&#10;Third level&#10;Fourth level&#10;Fifth level" id="182" name="Google Shape;182;p7"/>
          <p:cNvSpPr txBox="1"/>
          <p:nvPr>
            <p:ph idx="1" type="body"/>
          </p:nvPr>
        </p:nvSpPr>
        <p:spPr>
          <a:xfrm>
            <a:off x="982663" y="1600200"/>
            <a:ext cx="78565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8641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 process the system should perform as a part of supporting a user task, or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641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Information the system should provide as the user performs a task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641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Specify the support the system will provide to the user in fulfilling his/her work tasks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27940" lvl="0" marL="285750" rtl="0" algn="just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</p:txBody>
      </p:sp>
      <p:sp>
        <p:nvSpPr>
          <p:cNvPr id="183" name="Google Shape;183;p7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ff2c634373_0_2"/>
          <p:cNvSpPr txBox="1"/>
          <p:nvPr>
            <p:ph type="title"/>
          </p:nvPr>
        </p:nvSpPr>
        <p:spPr>
          <a:xfrm>
            <a:off x="982663" y="457200"/>
            <a:ext cx="656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solidFill>
                  <a:srgbClr val="337ED8"/>
                </a:solidFill>
              </a:rPr>
              <a:t>Non-</a:t>
            </a:r>
            <a:r>
              <a:rPr lang="en-US" sz="3600">
                <a:solidFill>
                  <a:srgbClr val="337ED8"/>
                </a:solidFill>
              </a:rPr>
              <a:t>Functional Requirements</a:t>
            </a:r>
            <a:endParaRPr/>
          </a:p>
        </p:txBody>
      </p:sp>
      <p:sp>
        <p:nvSpPr>
          <p:cNvPr descr="Rectangle: Click to edit Master text styles&#10;Second level&#10;Third level&#10;Fourth level&#10;Fifth level" id="189" name="Google Shape;189;g2ff2c634373_0_2"/>
          <p:cNvSpPr txBox="1"/>
          <p:nvPr>
            <p:ph idx="1" type="body"/>
          </p:nvPr>
        </p:nvSpPr>
        <p:spPr>
          <a:xfrm>
            <a:off x="982663" y="1600200"/>
            <a:ext cx="785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4335" lvl="0" marL="457200" rtl="0" algn="l"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Nonfunctional requirements are “the quality attributes, design, and implementation constraints, and external interfaces which a product must have”.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4335" lvl="0" marL="457200" rtl="0" algn="l"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This requirement category includes important behavioral properties that the system must have</a:t>
            </a:r>
            <a:endParaRPr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4335" lvl="0" marL="457200" rtl="0" algn="l"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Behavioral properties the system must have</a:t>
            </a:r>
            <a:endParaRPr/>
          </a:p>
          <a:p>
            <a:pPr indent="-375285" lvl="0" marL="914400" rtl="0" algn="l">
              <a:spcBef>
                <a:spcPts val="0"/>
              </a:spcBef>
              <a:spcAft>
                <a:spcPts val="0"/>
              </a:spcAft>
              <a:buSzPts val="2310"/>
              <a:buChar char="•"/>
            </a:pPr>
            <a:r>
              <a:rPr lang="en-US" sz="2100"/>
              <a:t>Operational – physical and technical operating environment</a:t>
            </a:r>
            <a:endParaRPr sz="2100"/>
          </a:p>
          <a:p>
            <a:pPr indent="-375285" lvl="0" marL="914400" rtl="0" algn="l">
              <a:spcBef>
                <a:spcPts val="0"/>
              </a:spcBef>
              <a:spcAft>
                <a:spcPts val="0"/>
              </a:spcAft>
              <a:buSzPts val="2310"/>
              <a:buChar char="•"/>
            </a:pPr>
            <a:r>
              <a:rPr lang="en-US" sz="2100"/>
              <a:t>Performance – speed, capacity, and reliability needs</a:t>
            </a:r>
            <a:endParaRPr sz="2100"/>
          </a:p>
          <a:p>
            <a:pPr indent="-375285" lvl="0" marL="914400" rtl="0" algn="l">
              <a:spcBef>
                <a:spcPts val="0"/>
              </a:spcBef>
              <a:spcAft>
                <a:spcPts val="0"/>
              </a:spcAft>
              <a:buSzPts val="2310"/>
              <a:buChar char="•"/>
            </a:pPr>
            <a:r>
              <a:rPr lang="en-US" sz="2100"/>
              <a:t>Security – access restrictions, needed safeguards</a:t>
            </a:r>
            <a:endParaRPr sz="2100"/>
          </a:p>
          <a:p>
            <a:pPr indent="-375285" lvl="0" marL="914400" rtl="0" algn="l">
              <a:spcBef>
                <a:spcPts val="0"/>
              </a:spcBef>
              <a:spcAft>
                <a:spcPts val="0"/>
              </a:spcAft>
              <a:buSzPts val="2310"/>
              <a:buChar char="•"/>
            </a:pPr>
            <a:r>
              <a:rPr lang="en-US" sz="2100"/>
              <a:t>Cultural and political – issues that will affect the final system</a:t>
            </a:r>
            <a:endParaRPr sz="21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/>
          </a:p>
        </p:txBody>
      </p:sp>
      <p:sp>
        <p:nvSpPr>
          <p:cNvPr id="190" name="Google Shape;190;g2ff2c634373_0_2"/>
          <p:cNvSpPr txBox="1"/>
          <p:nvPr>
            <p:ph idx="12" type="sldNum"/>
          </p:nvPr>
        </p:nvSpPr>
        <p:spPr>
          <a:xfrm>
            <a:off x="8245475" y="6478588"/>
            <a:ext cx="41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 txBox="1"/>
          <p:nvPr>
            <p:ph type="title"/>
          </p:nvPr>
        </p:nvSpPr>
        <p:spPr>
          <a:xfrm>
            <a:off x="914400" y="304799"/>
            <a:ext cx="6789737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8888"/>
              <a:buNone/>
            </a:pPr>
            <a:r>
              <a:rPr lang="en-US">
                <a:solidFill>
                  <a:srgbClr val="337ED8"/>
                </a:solidFill>
              </a:rPr>
              <a:t>Functional Requirements example</a:t>
            </a:r>
            <a:endParaRPr/>
          </a:p>
        </p:txBody>
      </p:sp>
      <p:pic>
        <p:nvPicPr>
          <p:cNvPr descr="Screen Clipping" id="196" name="Google Shape;1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00199"/>
            <a:ext cx="8839200" cy="4988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 txBox="1"/>
          <p:nvPr>
            <p:ph type="title"/>
          </p:nvPr>
        </p:nvSpPr>
        <p:spPr>
          <a:xfrm>
            <a:off x="685800" y="152400"/>
            <a:ext cx="7086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209"/>
              <a:buNone/>
            </a:pPr>
            <a:r>
              <a:rPr lang="en-US" sz="3600">
                <a:solidFill>
                  <a:srgbClr val="337ED8"/>
                </a:solidFill>
              </a:rPr>
              <a:t>Nonfunctional Requirements example</a:t>
            </a:r>
            <a:endParaRPr/>
          </a:p>
        </p:txBody>
      </p:sp>
      <p:pic>
        <p:nvPicPr>
          <p:cNvPr descr="Screen Clipping" id="202" name="Google Shape;2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00200"/>
            <a:ext cx="8839200" cy="5146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 txBox="1"/>
          <p:nvPr>
            <p:ph type="title"/>
          </p:nvPr>
        </p:nvSpPr>
        <p:spPr>
          <a:xfrm>
            <a:off x="363000" y="338476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209"/>
              <a:buNone/>
            </a:pPr>
            <a:r>
              <a:rPr lang="en-US" sz="3600"/>
              <a:t>Types of Nonfunctional Requirements</a:t>
            </a:r>
            <a:endParaRPr/>
          </a:p>
        </p:txBody>
      </p:sp>
      <p:sp>
        <p:nvSpPr>
          <p:cNvPr id="208" name="Google Shape;208;p10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graphicFrame>
        <p:nvGraphicFramePr>
          <p:cNvPr descr="Table is accessible to screenreaders." id="209" name="Google Shape;209;p10"/>
          <p:cNvGraphicFramePr/>
          <p:nvPr/>
        </p:nvGraphicFramePr>
        <p:xfrm>
          <a:off x="0" y="9621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{76735420-9C63-452E-ABBA-B3B2E29652C1}</a:tableStyleId>
              </a:tblPr>
              <a:tblGrid>
                <a:gridCol w="1306925"/>
                <a:gridCol w="2333200"/>
                <a:gridCol w="5459550"/>
              </a:tblGrid>
              <a:tr h="109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Requirement</a:t>
                      </a:r>
                      <a:endParaRPr sz="1400"/>
                    </a:p>
                  </a:txBody>
                  <a:tcPr marT="45725" marB="45725" marR="130650" marL="130650" anchor="b"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400"/>
                    </a:p>
                  </a:txBody>
                  <a:tcPr marT="45725" marB="45725" marR="130650" marL="130650" anchor="b"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Examples</a:t>
                      </a:r>
                      <a:endParaRPr sz="1400"/>
                    </a:p>
                  </a:txBody>
                  <a:tcPr marT="45725" marB="45725" marR="130650" marL="130650" anchor="b"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98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Operational</a:t>
                      </a:r>
                      <a:endParaRPr sz="1400"/>
                    </a:p>
                  </a:txBody>
                  <a:tcPr marT="45725" marB="45725" marR="130650" marL="1306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physical and technical environments in which the system will operate</a:t>
                      </a:r>
                      <a:endParaRPr sz="1400"/>
                    </a:p>
                  </a:txBody>
                  <a:tcPr marT="45725" marB="45725" marR="130650" marL="1306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1600" lvl="0" marL="29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will run on </a:t>
                      </a:r>
                      <a:r>
                        <a:rPr lang="en-US"/>
                        <a:t>Android</a:t>
                      </a: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mobile devices.</a:t>
                      </a:r>
                      <a:endParaRPr/>
                    </a:p>
                    <a:p>
                      <a:pPr indent="-291600" lvl="0" marL="29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should be able to integrate with the existing inventory system.</a:t>
                      </a:r>
                      <a:endParaRPr/>
                    </a:p>
                    <a:p>
                      <a:pPr indent="-291600" lvl="0" marL="29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should be compatible with any Web browser.</a:t>
                      </a:r>
                      <a:endParaRPr sz="1400"/>
                    </a:p>
                  </a:txBody>
                  <a:tcPr marT="45725" marB="45725" marR="130650" marL="1306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87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Performance</a:t>
                      </a:r>
                      <a:endParaRPr sz="1400"/>
                    </a:p>
                  </a:txBody>
                  <a:tcPr marT="45725" marB="45725" marR="130650" marL="1306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speed, capacity, and reliability of the system</a:t>
                      </a:r>
                      <a:endParaRPr sz="1400"/>
                    </a:p>
                  </a:txBody>
                  <a:tcPr marT="45725" marB="45725" marR="130650" marL="1306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1600" lvl="0" marL="29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Any interaction between the user and the system should not exceed 2 seconds.</a:t>
                      </a:r>
                      <a:endParaRPr/>
                    </a:p>
                    <a:p>
                      <a:pPr indent="-291600" lvl="0" marL="29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downloads new status parameters within 5 minutes of a change.</a:t>
                      </a:r>
                      <a:endParaRPr/>
                    </a:p>
                    <a:p>
                      <a:pPr indent="-291600" lvl="0" marL="29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should be available for use 24 hours per day, 365 days per year.</a:t>
                      </a:r>
                      <a:endParaRPr/>
                    </a:p>
                    <a:p>
                      <a:pPr indent="-291600" lvl="0" marL="29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supports 300 simultaneous users from 9–11 a.m.; 150 simultaneous users at all other times.</a:t>
                      </a:r>
                      <a:endParaRPr sz="1400"/>
                    </a:p>
                  </a:txBody>
                  <a:tcPr marT="45725" marB="45725" marR="130650" marL="1306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1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Security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27575" marL="127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Who has authorized access to the system under what circumstances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27575" marL="127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1600" lvl="0" marL="29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 direct managers can see staff personnel records.</a:t>
                      </a:r>
                      <a:endParaRPr/>
                    </a:p>
                    <a:p>
                      <a:pPr indent="-291600" lvl="0" marL="29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Technicians can see only their own work assignments.</a:t>
                      </a:r>
                      <a:endParaRPr/>
                    </a:p>
                    <a:p>
                      <a:pPr indent="-291600" lvl="0" marL="29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includes all available safeguards from viruses, worms, Trojan horses, etc.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27575" marL="127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53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Cultural and Political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27575" marL="127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Cultural and political factors and legal requirements that affect the system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27575" marL="127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1600" lvl="0" marL="29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system should be able to distinguish between US currency and currency from other nations.</a:t>
                      </a:r>
                      <a:endParaRPr/>
                    </a:p>
                    <a:p>
                      <a:pPr indent="-291600" lvl="0" marL="29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policy is to buy computers only from Dell.</a:t>
                      </a:r>
                      <a:endParaRPr/>
                    </a:p>
                    <a:p>
                      <a:pPr indent="-291600" lvl="0" marL="29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Country managers are permitted to authorize custom user interfaces within their units.</a:t>
                      </a:r>
                      <a:endParaRPr/>
                    </a:p>
                    <a:p>
                      <a:pPr indent="-291600" lvl="0" marL="291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•"/>
                      </a:pPr>
                      <a:r>
                        <a:rPr b="0" i="0" lang="en-US" sz="14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Personal information is protected in compliance with the Data Protection Act.</a:t>
                      </a:r>
                      <a:endParaRPr b="0" i="0" sz="14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27575" marL="127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&#10;Second level&#10;Third level&#10;Fourth level&#10;Fifth level" id="214" name="Google Shape;214;p11"/>
          <p:cNvSpPr txBox="1"/>
          <p:nvPr>
            <p:ph idx="1" type="body"/>
          </p:nvPr>
        </p:nvSpPr>
        <p:spPr>
          <a:xfrm>
            <a:off x="982663" y="1600200"/>
            <a:ext cx="785653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descr="Screen Clipping" id="215" name="Google Shape;2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213" y="1417638"/>
            <a:ext cx="8791575" cy="521176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1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 txBox="1"/>
          <p:nvPr/>
        </p:nvSpPr>
        <p:spPr>
          <a:xfrm>
            <a:off x="6452968" y="6522522"/>
            <a:ext cx="19864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End of segment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Rectangle: Click to edit Master text styles&#10;Second level&#10;Third level&#10;Fourth level&#10;Fifth level" id="223" name="Google Shape;223;p13"/>
          <p:cNvSpPr txBox="1"/>
          <p:nvPr>
            <p:ph idx="1" type="body"/>
          </p:nvPr>
        </p:nvSpPr>
        <p:spPr>
          <a:xfrm>
            <a:off x="982663" y="2667000"/>
            <a:ext cx="7856537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40"/>
              <a:buFont typeface="Arial"/>
              <a:buNone/>
            </a:pPr>
            <a:r>
              <a:rPr b="1" lang="en-US" sz="3200"/>
              <a:t>Segment 2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rPr lang="en-US"/>
              <a:t>REQUIREMENTS ANALYSIS STRATEGIES</a:t>
            </a:r>
            <a:endParaRPr/>
          </a:p>
        </p:txBody>
      </p:sp>
      <p:sp>
        <p:nvSpPr>
          <p:cNvPr id="224" name="Google Shape;224;p13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"/>
          <p:cNvSpPr txBox="1"/>
          <p:nvPr>
            <p:ph type="title"/>
          </p:nvPr>
        </p:nvSpPr>
        <p:spPr>
          <a:xfrm>
            <a:off x="982133" y="228600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337ED8"/>
                </a:solidFill>
              </a:rPr>
              <a:t>Requirement Gathering Techniques</a:t>
            </a:r>
            <a:endParaRPr sz="3200">
              <a:solidFill>
                <a:srgbClr val="337ED8"/>
              </a:solidFill>
            </a:endParaRPr>
          </a:p>
        </p:txBody>
      </p:sp>
      <p:sp>
        <p:nvSpPr>
          <p:cNvPr id="230" name="Google Shape;230;p12"/>
          <p:cNvSpPr txBox="1"/>
          <p:nvPr>
            <p:ph idx="1" type="body"/>
          </p:nvPr>
        </p:nvSpPr>
        <p:spPr>
          <a:xfrm>
            <a:off x="982125" y="1963675"/>
            <a:ext cx="8027100" cy="12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90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An analyst search for requirements using a variety of techniques</a:t>
            </a:r>
            <a:endParaRPr sz="1800"/>
          </a:p>
          <a:p>
            <a:pPr indent="-1790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Make sure that the current business processes and the needs for the new system are well understood before moving into design.</a:t>
            </a:r>
            <a:endParaRPr sz="1800"/>
          </a:p>
          <a:p>
            <a:pPr indent="-1790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Five most commonly used requirements elicitation techniques:</a:t>
            </a:r>
            <a:endParaRPr sz="1800"/>
          </a:p>
          <a:p>
            <a:pPr indent="-3873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rbel"/>
              <a:buAutoNum type="arabicPeriod"/>
            </a:pPr>
            <a:r>
              <a:rPr lang="en-US" sz="1800"/>
              <a:t>Interviews</a:t>
            </a:r>
            <a:endParaRPr sz="1800"/>
          </a:p>
          <a:p>
            <a:pPr indent="-3873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rbel"/>
              <a:buAutoNum type="arabicPeriod"/>
            </a:pPr>
            <a:r>
              <a:rPr lang="en-US" sz="1800"/>
              <a:t>JAD sessions</a:t>
            </a:r>
            <a:endParaRPr sz="1800"/>
          </a:p>
          <a:p>
            <a:pPr indent="-3873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rbel"/>
              <a:buAutoNum type="arabicPeriod"/>
            </a:pPr>
            <a:r>
              <a:rPr lang="en-US" sz="1800"/>
              <a:t>Questionnaires</a:t>
            </a:r>
            <a:endParaRPr sz="1800"/>
          </a:p>
          <a:p>
            <a:pPr indent="-3873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rbel"/>
              <a:buAutoNum type="arabicPeriod"/>
            </a:pPr>
            <a:r>
              <a:rPr lang="en-US" sz="1800"/>
              <a:t>Document analysis</a:t>
            </a:r>
            <a:endParaRPr sz="1800"/>
          </a:p>
          <a:p>
            <a:pPr indent="-38735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orbel"/>
              <a:buAutoNum type="arabicPeriod"/>
            </a:pPr>
            <a:r>
              <a:rPr lang="en-US" sz="1800"/>
              <a:t>Observation.</a:t>
            </a:r>
            <a:endParaRPr sz="1800"/>
          </a:p>
        </p:txBody>
      </p:sp>
      <p:sp>
        <p:nvSpPr>
          <p:cNvPr id="231" name="Google Shape;231;p12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31b7e05985_0_0"/>
          <p:cNvSpPr txBox="1"/>
          <p:nvPr>
            <p:ph idx="1" type="body"/>
          </p:nvPr>
        </p:nvSpPr>
        <p:spPr>
          <a:xfrm>
            <a:off x="982133" y="1600199"/>
            <a:ext cx="78570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3480"/>
              <a:buFont typeface="Arial"/>
              <a:buNone/>
            </a:pPr>
            <a:r>
              <a:rPr lang="en-US"/>
              <a:t>REQUIREMENTS ANALYSIS STRATEGIES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31b7e05985_0_0"/>
          <p:cNvSpPr txBox="1"/>
          <p:nvPr>
            <p:ph idx="12" type="sldNum"/>
          </p:nvPr>
        </p:nvSpPr>
        <p:spPr>
          <a:xfrm>
            <a:off x="8245475" y="6478588"/>
            <a:ext cx="414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Problem Analysis</a:t>
            </a:r>
            <a:endParaRPr b="1"/>
          </a:p>
        </p:txBody>
      </p:sp>
      <p:sp>
        <p:nvSpPr>
          <p:cNvPr id="245" name="Google Shape;245;p14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464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Ask users to identify problems and solutions</a:t>
            </a:r>
            <a:endParaRPr/>
          </a:p>
          <a:p>
            <a:pPr indent="-294640" lvl="0" marL="285750" rtl="0" algn="l">
              <a:lnSpc>
                <a:spcPct val="8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Improvements tend to be small and incremental</a:t>
            </a:r>
            <a:endParaRPr/>
          </a:p>
          <a:p>
            <a:pPr indent="-294640" lvl="0" marL="285750" rtl="0" algn="l">
              <a:lnSpc>
                <a:spcPct val="8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Rarely finds improvements with significant business value</a:t>
            </a:r>
            <a:endParaRPr/>
          </a:p>
        </p:txBody>
      </p:sp>
      <p:sp>
        <p:nvSpPr>
          <p:cNvPr id="246" name="Google Shape;246;p14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Root Cause Analysis</a:t>
            </a:r>
            <a:endParaRPr b="1"/>
          </a:p>
        </p:txBody>
      </p:sp>
      <p:sp>
        <p:nvSpPr>
          <p:cNvPr id="253" name="Google Shape;253;p15"/>
          <p:cNvSpPr txBox="1"/>
          <p:nvPr>
            <p:ph idx="1" type="body"/>
          </p:nvPr>
        </p:nvSpPr>
        <p:spPr>
          <a:xfrm>
            <a:off x="982125" y="1600200"/>
            <a:ext cx="7934400" cy="4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464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Users are not asked for solutions, but for: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A list of (prioritized) problems.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All possible root causes for those problems.</a:t>
            </a:r>
            <a:endParaRPr/>
          </a:p>
          <a:p>
            <a:pPr indent="-294640" lvl="0" marL="285750" rtl="0" algn="l">
              <a:lnSpc>
                <a:spcPct val="8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Analysts investigate each root cause to find: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Solutions for the highest priority problems.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Root causes that are common to multiple problems. </a:t>
            </a:r>
            <a:endParaRPr/>
          </a:p>
        </p:txBody>
      </p:sp>
      <p:sp>
        <p:nvSpPr>
          <p:cNvPr id="254" name="Google Shape;254;p15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"/>
          <p:cNvSpPr txBox="1"/>
          <p:nvPr>
            <p:ph type="title"/>
          </p:nvPr>
        </p:nvSpPr>
        <p:spPr>
          <a:xfrm>
            <a:off x="982133" y="457201"/>
            <a:ext cx="6561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Duration Analysis</a:t>
            </a:r>
            <a:endParaRPr b="1"/>
          </a:p>
        </p:txBody>
      </p:sp>
      <p:sp>
        <p:nvSpPr>
          <p:cNvPr id="261" name="Google Shape;261;p16"/>
          <p:cNvSpPr txBox="1"/>
          <p:nvPr>
            <p:ph idx="1" type="body"/>
          </p:nvPr>
        </p:nvSpPr>
        <p:spPr>
          <a:xfrm>
            <a:off x="982133" y="2057399"/>
            <a:ext cx="78570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Calculate time needed for each process step</a:t>
            </a:r>
            <a:endParaRPr sz="2600"/>
          </a:p>
          <a:p>
            <a:pPr indent="-165100" lvl="0" marL="285750" rtl="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Calculate time needed for overall process</a:t>
            </a:r>
            <a:endParaRPr sz="2600"/>
          </a:p>
          <a:p>
            <a:pPr indent="-165100" lvl="0" marL="285750" rtl="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Compare the two – a large difference indicates a badly fragmented process</a:t>
            </a:r>
            <a:endParaRPr sz="2600"/>
          </a:p>
          <a:p>
            <a:pPr indent="-165100" lvl="0" marL="285750" rtl="0" algn="l">
              <a:lnSpc>
                <a:spcPct val="90000"/>
              </a:lnSpc>
              <a:spcBef>
                <a:spcPts val="124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Potential solutions:</a:t>
            </a:r>
            <a:endParaRPr sz="2600"/>
          </a:p>
          <a:p>
            <a:pPr indent="-193040" lvl="1" marL="74295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Process integration – change the process to use fewer people, each with broader responsibilities</a:t>
            </a:r>
            <a:endParaRPr sz="2600"/>
          </a:p>
          <a:p>
            <a:pPr indent="-193040" lvl="1" marL="74295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Parallelization – change the process so that individual step are performed simultaneously</a:t>
            </a:r>
            <a:endParaRPr sz="2600"/>
          </a:p>
          <a:p>
            <a:pPr indent="-2794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1800"/>
          </a:p>
        </p:txBody>
      </p:sp>
      <p:sp>
        <p:nvSpPr>
          <p:cNvPr id="262" name="Google Shape;262;p16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latin typeface="Corbel"/>
                <a:ea typeface="Corbel"/>
                <a:cs typeface="Corbel"/>
                <a:sym typeface="Corbel"/>
              </a:rPr>
              <a:t>Activity-Based Costing</a:t>
            </a:r>
            <a:endParaRPr/>
          </a:p>
        </p:txBody>
      </p:sp>
      <p:sp>
        <p:nvSpPr>
          <p:cNvPr id="269" name="Google Shape;269;p17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464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Calculate cost of each process step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Consider both direct and indirect costs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Identify most costly steps and focus improvement efforts on them</a:t>
            </a:r>
            <a:endParaRPr sz="3200"/>
          </a:p>
        </p:txBody>
      </p:sp>
      <p:sp>
        <p:nvSpPr>
          <p:cNvPr id="270" name="Google Shape;270;p17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77" name="Google Shape;277;p18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/>
              <a:t>Benchmarking</a:t>
            </a:r>
            <a:endParaRPr/>
          </a:p>
        </p:txBody>
      </p:sp>
      <p:sp>
        <p:nvSpPr>
          <p:cNvPr descr="Rectangle: Click to edit Master text styles&#10;Second level&#10;Third level&#10;Fourth level&#10;Fifth level" id="278" name="Google Shape;278;p18"/>
          <p:cNvSpPr txBox="1"/>
          <p:nvPr/>
        </p:nvSpPr>
        <p:spPr>
          <a:xfrm>
            <a:off x="571500" y="1676400"/>
            <a:ext cx="80391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464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6092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Studying how other organizations perform the same business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640" lvl="0" marL="2857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376092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Informal benchmarking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640" lvl="0" marL="2857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376092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Common for customer-facing processes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640" lvl="0" marL="2857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376092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Interact with other business’ processes as if you are a customer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857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376092"/>
              </a:buClr>
              <a:buSzPts val="464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descr="Rectangle: Click to edit Master text styles&#10;Second level&#10;Third level&#10;Fourth level&#10;Fifth level" id="279" name="Google Shape;279;p18"/>
          <p:cNvSpPr/>
          <p:nvPr/>
        </p:nvSpPr>
        <p:spPr>
          <a:xfrm>
            <a:off x="914400" y="3429000"/>
            <a:ext cx="55626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2550" lvl="1" marL="7429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ECFF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"/>
          <p:cNvSpPr txBox="1"/>
          <p:nvPr>
            <p:ph idx="12" type="sldNum"/>
          </p:nvPr>
        </p:nvSpPr>
        <p:spPr>
          <a:xfrm>
            <a:off x="2036763" y="6473825"/>
            <a:ext cx="5314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4 - </a:t>
            </a:r>
            <a:fld id="{00000000-1234-1234-1234-123412341234}" type="slidenum"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b="0" i="0"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0" i="0"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86" name="Google Shape;286;p19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/>
              <a:t>Technology Analysis</a:t>
            </a:r>
            <a:endParaRPr b="1"/>
          </a:p>
        </p:txBody>
      </p:sp>
      <p:sp>
        <p:nvSpPr>
          <p:cNvPr descr="Rectangle: Click to edit Master text styles&#10;Second level&#10;Third level&#10;Fourth level&#10;Fifth level" id="287" name="Google Shape;287;p19"/>
          <p:cNvSpPr txBox="1"/>
          <p:nvPr>
            <p:ph idx="1" type="body"/>
          </p:nvPr>
        </p:nvSpPr>
        <p:spPr>
          <a:xfrm>
            <a:off x="762000" y="1855788"/>
            <a:ext cx="81618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Analysts list important and interesting technologies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Managers list important and interesting technologies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 group identifies how each might be applied to the business and how the business might benefit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"/>
          <p:cNvSpPr txBox="1"/>
          <p:nvPr>
            <p:ph idx="12" type="sldNum"/>
          </p:nvPr>
        </p:nvSpPr>
        <p:spPr>
          <a:xfrm>
            <a:off x="2036763" y="6473825"/>
            <a:ext cx="5314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4 - </a:t>
            </a:r>
            <a:fld id="{00000000-1234-1234-1234-123412341234}" type="slidenum"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b="0" i="0"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0" i="0"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4" name="Google Shape;294;p20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/>
              <a:t>Activity Elimination</a:t>
            </a:r>
            <a:endParaRPr b="1"/>
          </a:p>
        </p:txBody>
      </p:sp>
      <p:sp>
        <p:nvSpPr>
          <p:cNvPr descr="Rectangle: Click to edit Master text styles&#10;Second level&#10;Third level&#10;Fourth level&#10;Fifth level" id="295" name="Google Shape;295;p20"/>
          <p:cNvSpPr txBox="1"/>
          <p:nvPr>
            <p:ph idx="1" type="body"/>
          </p:nvPr>
        </p:nvSpPr>
        <p:spPr>
          <a:xfrm>
            <a:off x="982133" y="1600199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Identify what would happen if each organizational activity were eliminated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Use “force-fit” to test all possibilities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1"/>
          <p:cNvSpPr txBox="1"/>
          <p:nvPr>
            <p:ph idx="12" type="sldNum"/>
          </p:nvPr>
        </p:nvSpPr>
        <p:spPr>
          <a:xfrm>
            <a:off x="2036763" y="6473825"/>
            <a:ext cx="53149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4 - </a:t>
            </a:r>
            <a:fld id="{00000000-1234-1234-1234-123412341234}" type="slidenum">
              <a:rPr b="0" i="0"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b="0" i="0"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0" i="0" sz="1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1" name="Google Shape;301;p21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Comparing Analysis Techniques</a:t>
            </a:r>
            <a:endParaRPr/>
          </a:p>
        </p:txBody>
      </p:sp>
      <p:sp>
        <p:nvSpPr>
          <p:cNvPr descr="Rectangle: Click to edit Master text styles&#10;Second level&#10;Third level&#10;Fourth level&#10;Fifth level" id="302" name="Google Shape;302;p21"/>
          <p:cNvSpPr txBox="1"/>
          <p:nvPr>
            <p:ph idx="1" type="body"/>
          </p:nvPr>
        </p:nvSpPr>
        <p:spPr>
          <a:xfrm>
            <a:off x="982133" y="1678542"/>
            <a:ext cx="7857067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9464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Potential business value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Project cost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Breadth of analysis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Risk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2"/>
          <p:cNvSpPr txBox="1"/>
          <p:nvPr>
            <p:ph type="title"/>
          </p:nvPr>
        </p:nvSpPr>
        <p:spPr>
          <a:xfrm>
            <a:off x="982133" y="457201"/>
            <a:ext cx="6561667" cy="1142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22"/>
          <p:cNvSpPr txBox="1"/>
          <p:nvPr>
            <p:ph idx="1" type="body"/>
          </p:nvPr>
        </p:nvSpPr>
        <p:spPr>
          <a:xfrm>
            <a:off x="334433" y="2286000"/>
            <a:ext cx="7857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830"/>
              <a:buNone/>
            </a:pPr>
            <a:r>
              <a:rPr lang="en-US" sz="5400"/>
              <a:t>Thank you</a:t>
            </a:r>
            <a:endParaRPr/>
          </a:p>
        </p:txBody>
      </p:sp>
      <p:sp>
        <p:nvSpPr>
          <p:cNvPr id="309" name="Google Shape;309;p22"/>
          <p:cNvSpPr txBox="1"/>
          <p:nvPr>
            <p:ph idx="12" type="sldNum"/>
          </p:nvPr>
        </p:nvSpPr>
        <p:spPr>
          <a:xfrm>
            <a:off x="8245475" y="6478588"/>
            <a:ext cx="41433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racU Theme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1999-03-22T21:30:00Z</dcterms:created>
  <dc:creator>Fred Niederman</dc:creator>
</cp:coreProperties>
</file>