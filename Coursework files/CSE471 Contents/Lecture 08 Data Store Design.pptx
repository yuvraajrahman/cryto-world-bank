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8" roundtripDataSignature="AMtx7mi+Ic/IY0Y42FovcwIyS+UmjGzn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7F09DA-276E-4245-8AA0-0449F03A52F7}">
  <a:tblStyle styleId="{6B7F09DA-276E-4245-8AA0-0449F03A52F7}"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7EAEB"/>
          </a:solidFill>
        </a:fill>
      </a:tcStyle>
    </a:wholeTbl>
    <a:band1H>
      <a:tcTxStyle/>
      <a:tcStyle>
        <a:fill>
          <a:solidFill>
            <a:srgbClr val="CBD4D5"/>
          </a:solidFill>
        </a:fill>
      </a:tcStyle>
    </a:band1H>
    <a:band2H>
      <a:tcTxStyle/>
    </a:band2H>
    <a:band1V>
      <a:tcTxStyle/>
      <a:tcStyle>
        <a:fill>
          <a:solidFill>
            <a:srgbClr val="CBD4D5"/>
          </a:solidFill>
        </a:fill>
      </a:tcStyle>
    </a:band1V>
    <a:band2V>
      <a:tcTxStyle/>
    </a:band2V>
    <a:lastCol>
      <a:tcTxStyle b="on" i="off">
        <a:font>
          <a:latin typeface="Calibri"/>
          <a:ea typeface="Calibri"/>
          <a:cs typeface="Calibri"/>
        </a:font>
        <a:srgbClr val="FFFFFF"/>
      </a:tcTxStyle>
      <a:tcStyle>
        <a:fill>
          <a:solidFill>
            <a:srgbClr val="196E78"/>
          </a:solidFill>
        </a:fill>
      </a:tcStyle>
    </a:lastCol>
    <a:firstCol>
      <a:tcTxStyle b="on" i="off">
        <a:font>
          <a:latin typeface="Calibri"/>
          <a:ea typeface="Calibri"/>
          <a:cs typeface="Calibri"/>
        </a:font>
        <a:srgbClr val="FFFFFF"/>
      </a:tcTxStyle>
      <a:tcStyle>
        <a:fill>
          <a:solidFill>
            <a:srgbClr val="196E78"/>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196E78"/>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196E78"/>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46" Type="http://schemas.openxmlformats.org/officeDocument/2006/relationships/slide" Target="slides/slide39.xml"/><Relationship Id="rId23" Type="http://schemas.openxmlformats.org/officeDocument/2006/relationships/slide" Target="slides/slide16.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48" Type="http://customschemas.google.com/relationships/presentationmetadata" Target="metadata"/><Relationship Id="rId25" Type="http://schemas.openxmlformats.org/officeDocument/2006/relationships/slide" Target="slides/slide18.xml"/><Relationship Id="rId47" Type="http://schemas.openxmlformats.org/officeDocument/2006/relationships/slide" Target="slides/slide40.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 name="Google Shape;3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4e0fa712e0_4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g34e0fa712e0_4_7: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4e0fa712e0_4_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g34e0fa712e0_4_88: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7892afeb2c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g37892afeb2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892afeb2c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7892afeb2c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7892afeb2c_0_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g37892afeb2c_0_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e0fa712e0_4_1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34e0fa712e0_4_165: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502dbfc1e4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502dbfc1e4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3502dbfc1e4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6"/>
          <p:cNvSpPr txBox="1"/>
          <p:nvPr>
            <p:ph type="ctrTitle"/>
          </p:nvPr>
        </p:nvSpPr>
        <p:spPr>
          <a:xfrm>
            <a:off x="685800" y="838200"/>
            <a:ext cx="7772400" cy="3429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36"/>
          <p:cNvSpPr txBox="1"/>
          <p:nvPr>
            <p:ph idx="1" type="subTitle"/>
          </p:nvPr>
        </p:nvSpPr>
        <p:spPr>
          <a:xfrm>
            <a:off x="304800" y="4953000"/>
            <a:ext cx="8534400" cy="6858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sz="3200">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6"/>
          <p:cNvSpPr txBox="1"/>
          <p:nvPr>
            <p:ph idx="10" type="dt"/>
          </p:nvPr>
        </p:nvSpPr>
        <p:spPr>
          <a:xfrm>
            <a:off x="457200" y="6356350"/>
            <a:ext cx="15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11-</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3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609600" lvl="0" marL="457200" algn="l">
              <a:spcBef>
                <a:spcPts val="0"/>
              </a:spcBef>
              <a:spcAft>
                <a:spcPts val="0"/>
              </a:spcAft>
              <a:buClr>
                <a:srgbClr val="0070C0"/>
              </a:buClr>
              <a:buSzPts val="6000"/>
              <a:buFont typeface="Noto Sans Symbols"/>
              <a:buChar char="▪"/>
              <a:defRPr sz="4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11-</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Column">
  <p:cSld name="Single Column">
    <p:spTree>
      <p:nvGrpSpPr>
        <p:cNvPr id="30" name="Shape 30"/>
        <p:cNvGrpSpPr/>
        <p:nvPr/>
      </p:nvGrpSpPr>
      <p:grpSpPr>
        <a:xfrm>
          <a:off x="0" y="0"/>
          <a:ext cx="0" cy="0"/>
          <a:chOff x="0" y="0"/>
          <a:chExt cx="0" cy="0"/>
        </a:xfrm>
      </p:grpSpPr>
      <p:sp>
        <p:nvSpPr>
          <p:cNvPr id="31" name="Google Shape;31;g34e0fa712e0_4_76"/>
          <p:cNvSpPr txBox="1"/>
          <p:nvPr>
            <p:ph type="title"/>
          </p:nvPr>
        </p:nvSpPr>
        <p:spPr>
          <a:xfrm>
            <a:off x="304800" y="777241"/>
            <a:ext cx="8534400" cy="9753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g34e0fa712e0_4_76"/>
          <p:cNvSpPr txBox="1"/>
          <p:nvPr>
            <p:ph idx="1" type="body"/>
          </p:nvPr>
        </p:nvSpPr>
        <p:spPr>
          <a:xfrm>
            <a:off x="304800" y="1752600"/>
            <a:ext cx="8534400" cy="44958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chemeClr val="dk1"/>
                </a:solidFill>
                <a:latin typeface="Calibri"/>
                <a:ea typeface="Calibri"/>
                <a:cs typeface="Calibri"/>
                <a:sym typeface="Calibri"/>
              </a:defRPr>
            </a:lvl1pPr>
            <a:lvl2pPr indent="-350520" lvl="1" marL="914400" marR="0" algn="l">
              <a:lnSpc>
                <a:spcPct val="90000"/>
              </a:lnSpc>
              <a:spcBef>
                <a:spcPts val="500"/>
              </a:spcBef>
              <a:spcAft>
                <a:spcPts val="0"/>
              </a:spcAft>
              <a:buClr>
                <a:schemeClr val="accent2"/>
              </a:buClr>
              <a:buSzPts val="1920"/>
              <a:buFont typeface="Courier New"/>
              <a:buChar char="o"/>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406400" lvl="3" marL="1828800" marR="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4pPr>
            <a:lvl5pPr indent="-406400" lvl="4" marL="2286000" marR="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g34e0fa712e0_4_76"/>
          <p:cNvSpPr txBox="1"/>
          <p:nvPr>
            <p:ph idx="12" type="sldNum"/>
          </p:nvPr>
        </p:nvSpPr>
        <p:spPr>
          <a:xfrm>
            <a:off x="6457950" y="6356351"/>
            <a:ext cx="23811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3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5"/>
          <p:cNvSpPr txBox="1"/>
          <p:nvPr>
            <p:ph idx="10" type="dt"/>
          </p:nvPr>
        </p:nvSpPr>
        <p:spPr>
          <a:xfrm>
            <a:off x="457200" y="6356350"/>
            <a:ext cx="15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11-</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cxnSp>
        <p:nvCxnSpPr>
          <p:cNvPr id="22" name="Google Shape;22;p37"/>
          <p:cNvCxnSpPr/>
          <p:nvPr/>
        </p:nvCxnSpPr>
        <p:spPr>
          <a:xfrm>
            <a:off x="457200" y="1447800"/>
            <a:ext cx="8229600" cy="0"/>
          </a:xfrm>
          <a:prstGeom prst="straightConnector1">
            <a:avLst/>
          </a:prstGeom>
          <a:noFill/>
          <a:ln cap="flat" cmpd="sng" w="76200">
            <a:solidFill>
              <a:srgbClr val="558ED5"/>
            </a:solidFill>
            <a:prstDash val="solid"/>
            <a:miter lim="800000"/>
            <a:headEnd len="med" w="med" type="none"/>
            <a:tailEnd len="med" w="med" type="none"/>
          </a:ln>
        </p:spPr>
      </p:cxnSp>
      <p:sp>
        <p:nvSpPr>
          <p:cNvPr id="23" name="Google Shape;23;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4" name="Google Shape;24;p3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11-</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1"/>
          <p:cNvSpPr txBox="1"/>
          <p:nvPr>
            <p:ph type="ctrTitle"/>
          </p:nvPr>
        </p:nvSpPr>
        <p:spPr>
          <a:xfrm>
            <a:off x="685800" y="1066800"/>
            <a:ext cx="7772400" cy="2819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17375E"/>
              </a:buClr>
              <a:buSzPts val="4800"/>
              <a:buFont typeface="Calibri"/>
              <a:buNone/>
            </a:pPr>
            <a:r>
              <a:rPr b="1" i="0" lang="en-US" sz="4800" u="none">
                <a:solidFill>
                  <a:srgbClr val="17375E"/>
                </a:solidFill>
                <a:latin typeface="Calibri"/>
                <a:ea typeface="Calibri"/>
                <a:cs typeface="Calibri"/>
                <a:sym typeface="Calibri"/>
              </a:rPr>
              <a:t>Systems Analysis and Design</a:t>
            </a:r>
            <a:br>
              <a:rPr b="1" i="0" lang="en-US" sz="3200" u="none">
                <a:solidFill>
                  <a:srgbClr val="17375E"/>
                </a:solidFill>
                <a:latin typeface="Calibri"/>
                <a:ea typeface="Calibri"/>
                <a:cs typeface="Calibri"/>
                <a:sym typeface="Calibri"/>
              </a:rPr>
            </a:br>
            <a:r>
              <a:rPr b="1" i="0" lang="en-US" sz="2800" u="none">
                <a:solidFill>
                  <a:srgbClr val="17375E"/>
                </a:solidFill>
                <a:latin typeface="Calibri"/>
                <a:ea typeface="Calibri"/>
                <a:cs typeface="Calibri"/>
                <a:sym typeface="Calibri"/>
              </a:rPr>
              <a:t>5th Edition</a:t>
            </a:r>
            <a:br>
              <a:rPr b="1" i="0" lang="en-US" sz="2800" u="none">
                <a:solidFill>
                  <a:srgbClr val="17375E"/>
                </a:solidFill>
                <a:latin typeface="Calibri"/>
                <a:ea typeface="Calibri"/>
                <a:cs typeface="Calibri"/>
                <a:sym typeface="Calibri"/>
              </a:rPr>
            </a:br>
            <a:br>
              <a:rPr b="1" i="0" lang="en-US" sz="2800" u="none">
                <a:solidFill>
                  <a:srgbClr val="17375E"/>
                </a:solidFill>
                <a:latin typeface="Calibri"/>
                <a:ea typeface="Calibri"/>
                <a:cs typeface="Calibri"/>
                <a:sym typeface="Calibri"/>
              </a:rPr>
            </a:br>
            <a:br>
              <a:rPr b="1" i="0" lang="en-US" sz="2800" u="none">
                <a:solidFill>
                  <a:srgbClr val="17375E"/>
                </a:solidFill>
                <a:latin typeface="Calibri"/>
                <a:ea typeface="Calibri"/>
                <a:cs typeface="Calibri"/>
                <a:sym typeface="Calibri"/>
              </a:rPr>
            </a:br>
            <a:r>
              <a:rPr b="1" i="0" lang="en-US" sz="4000" u="none">
                <a:solidFill>
                  <a:srgbClr val="17375E"/>
                </a:solidFill>
                <a:latin typeface="Calibri"/>
                <a:ea typeface="Calibri"/>
                <a:cs typeface="Calibri"/>
                <a:sym typeface="Calibri"/>
              </a:rPr>
              <a:t>Chapter 11. Data Storage Design </a:t>
            </a:r>
            <a:endParaRPr/>
          </a:p>
        </p:txBody>
      </p:sp>
      <p:sp>
        <p:nvSpPr>
          <p:cNvPr id="39" name="Google Shape;39;p1"/>
          <p:cNvSpPr txBox="1"/>
          <p:nvPr>
            <p:ph idx="1" type="subTitle"/>
          </p:nvPr>
        </p:nvSpPr>
        <p:spPr>
          <a:xfrm>
            <a:off x="533400" y="4800600"/>
            <a:ext cx="8305800" cy="838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0070C0"/>
              </a:buClr>
              <a:buSzPts val="2600"/>
              <a:buNone/>
            </a:pPr>
            <a:r>
              <a:rPr b="1" i="0" lang="en-US" sz="2600" u="none">
                <a:solidFill>
                  <a:srgbClr val="0070C0"/>
                </a:solidFill>
                <a:latin typeface="Calibri"/>
                <a:ea typeface="Calibri"/>
                <a:cs typeface="Calibri"/>
                <a:sym typeface="Calibri"/>
              </a:rPr>
              <a:t>Alan Dennis, Barbara Haley Wixom, and Roberta Roth</a:t>
            </a:r>
            <a:br>
              <a:rPr b="0" i="0" lang="en-US" sz="3000" u="none">
                <a:solidFill>
                  <a:srgbClr val="898989"/>
                </a:solidFill>
                <a:latin typeface="Calibri"/>
                <a:ea typeface="Calibri"/>
                <a:cs typeface="Calibri"/>
                <a:sym typeface="Calibri"/>
              </a:rPr>
            </a:br>
            <a:endParaRPr/>
          </a:p>
        </p:txBody>
      </p:sp>
      <p:sp>
        <p:nvSpPr>
          <p:cNvPr id="40" name="Google Shape;40;p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Chapter 11 Outline</a:t>
            </a:r>
            <a:endParaRPr/>
          </a:p>
        </p:txBody>
      </p:sp>
      <p:sp>
        <p:nvSpPr>
          <p:cNvPr id="46" name="Google Shape;46;p2"/>
          <p:cNvSpPr txBox="1"/>
          <p:nvPr>
            <p:ph idx="1" type="body"/>
          </p:nvPr>
        </p:nvSpPr>
        <p:spPr>
          <a:xfrm>
            <a:off x="457200" y="1600200"/>
            <a:ext cx="8439300" cy="3991200"/>
          </a:xfrm>
          <a:prstGeom prst="rect">
            <a:avLst/>
          </a:prstGeom>
          <a:noFill/>
          <a:ln>
            <a:noFill/>
          </a:ln>
        </p:spPr>
        <p:txBody>
          <a:bodyPr anchorCtr="0" anchor="t" bIns="45700" lIns="91425" spcFirstLastPara="1" rIns="91425" wrap="square" tIns="45700">
            <a:noAutofit/>
          </a:bodyPr>
          <a:lstStyle/>
          <a:p>
            <a:pPr indent="-368300" lvl="0" marL="342900" marR="0" rtl="0" algn="l">
              <a:lnSpc>
                <a:spcPct val="100000"/>
              </a:lnSpc>
              <a:spcBef>
                <a:spcPts val="0"/>
              </a:spcBef>
              <a:spcAft>
                <a:spcPts val="0"/>
              </a:spcAft>
              <a:buClr>
                <a:srgbClr val="0070C0"/>
              </a:buClr>
              <a:buSzPts val="5800"/>
              <a:buFont typeface="Noto Sans Symbols"/>
              <a:buChar char="▪"/>
            </a:pPr>
            <a:r>
              <a:rPr b="0" i="0" lang="en-US" sz="3800" u="none" cap="none" strike="noStrike">
                <a:solidFill>
                  <a:schemeClr val="dk1"/>
                </a:solidFill>
                <a:latin typeface="Calibri"/>
                <a:ea typeface="Calibri"/>
                <a:cs typeface="Calibri"/>
                <a:sym typeface="Calibri"/>
              </a:rPr>
              <a:t>Data storage formats.</a:t>
            </a:r>
            <a:endParaRPr sz="3800"/>
          </a:p>
          <a:p>
            <a:pPr indent="-342900" lvl="0" marL="342900" marR="0" rtl="0" algn="l">
              <a:lnSpc>
                <a:spcPct val="100000"/>
              </a:lnSpc>
              <a:spcBef>
                <a:spcPts val="0"/>
              </a:spcBef>
              <a:spcAft>
                <a:spcPts val="0"/>
              </a:spcAft>
              <a:buClr>
                <a:schemeClr val="dk1"/>
              </a:buClr>
              <a:buSzPts val="4000"/>
              <a:buFont typeface="Arial"/>
              <a:buNone/>
            </a:pPr>
            <a:r>
              <a:rPr b="0" i="0" lang="en-US" sz="3800" u="none" cap="none" strike="noStrike">
                <a:solidFill>
                  <a:schemeClr val="dk1"/>
                </a:solidFill>
                <a:latin typeface="Calibri"/>
                <a:ea typeface="Calibri"/>
                <a:cs typeface="Calibri"/>
                <a:sym typeface="Calibri"/>
              </a:rPr>
              <a:t>   - Files.</a:t>
            </a:r>
            <a:endParaRPr sz="3800"/>
          </a:p>
          <a:p>
            <a:pPr indent="-342900" lvl="0" marL="342900" marR="0" rtl="0" algn="l">
              <a:lnSpc>
                <a:spcPct val="100000"/>
              </a:lnSpc>
              <a:spcBef>
                <a:spcPts val="0"/>
              </a:spcBef>
              <a:spcAft>
                <a:spcPts val="0"/>
              </a:spcAft>
              <a:buClr>
                <a:schemeClr val="dk1"/>
              </a:buClr>
              <a:buSzPts val="4000"/>
              <a:buFont typeface="Arial"/>
              <a:buNone/>
            </a:pPr>
            <a:r>
              <a:rPr b="0" i="0" lang="en-US" sz="3800" u="none" cap="none" strike="noStrike">
                <a:solidFill>
                  <a:schemeClr val="dk1"/>
                </a:solidFill>
                <a:latin typeface="Calibri"/>
                <a:ea typeface="Calibri"/>
                <a:cs typeface="Calibri"/>
                <a:sym typeface="Calibri"/>
              </a:rPr>
              <a:t>   - Databases.</a:t>
            </a:r>
            <a:endParaRPr sz="3800"/>
          </a:p>
          <a:p>
            <a:pPr indent="-368300" lvl="0" marL="342900" marR="0" rtl="0" algn="l">
              <a:lnSpc>
                <a:spcPct val="100000"/>
              </a:lnSpc>
              <a:spcBef>
                <a:spcPts val="0"/>
              </a:spcBef>
              <a:spcAft>
                <a:spcPts val="0"/>
              </a:spcAft>
              <a:buClr>
                <a:srgbClr val="0070C0"/>
              </a:buClr>
              <a:buSzPts val="5800"/>
              <a:buFont typeface="Noto Sans Symbols"/>
              <a:buChar char="▪"/>
            </a:pPr>
            <a:r>
              <a:rPr b="0" i="0" lang="en-US" sz="3800" u="none" cap="none" strike="noStrike">
                <a:solidFill>
                  <a:schemeClr val="dk1"/>
                </a:solidFill>
                <a:latin typeface="Calibri"/>
                <a:ea typeface="Calibri"/>
                <a:cs typeface="Calibri"/>
                <a:sym typeface="Calibri"/>
              </a:rPr>
              <a:t>Moving from logical to physical data models.</a:t>
            </a:r>
            <a:endParaRPr sz="3800"/>
          </a:p>
          <a:p>
            <a:pPr indent="-368300" lvl="0" marL="342900" marR="0" rtl="0" algn="l">
              <a:lnSpc>
                <a:spcPct val="100000"/>
              </a:lnSpc>
              <a:spcBef>
                <a:spcPts val="0"/>
              </a:spcBef>
              <a:spcAft>
                <a:spcPts val="0"/>
              </a:spcAft>
              <a:buClr>
                <a:srgbClr val="0070C0"/>
              </a:buClr>
              <a:buSzPts val="5800"/>
              <a:buFont typeface="Noto Sans Symbols"/>
              <a:buChar char="▪"/>
            </a:pPr>
            <a:r>
              <a:rPr b="0" i="0" lang="en-US" sz="3800" u="none" cap="none" strike="noStrike">
                <a:solidFill>
                  <a:schemeClr val="dk1"/>
                </a:solidFill>
                <a:latin typeface="Calibri"/>
                <a:ea typeface="Calibri"/>
                <a:cs typeface="Calibri"/>
                <a:sym typeface="Calibri"/>
              </a:rPr>
              <a:t>Optimizing data storage.</a:t>
            </a:r>
            <a:endParaRPr sz="3800"/>
          </a:p>
        </p:txBody>
      </p:sp>
      <p:sp>
        <p:nvSpPr>
          <p:cNvPr id="47" name="Google Shape;47;p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48" name="Google Shape;48;p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INTRODUCTION</a:t>
            </a:r>
            <a:endParaRPr/>
          </a:p>
        </p:txBody>
      </p:sp>
      <p:sp>
        <p:nvSpPr>
          <p:cNvPr id="54" name="Google Shape;54;p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36550" lvl="0" marL="342900" marR="0" rtl="0" algn="l">
              <a:lnSpc>
                <a:spcPct val="100000"/>
              </a:lnSpc>
              <a:spcBef>
                <a:spcPts val="0"/>
              </a:spcBef>
              <a:spcAft>
                <a:spcPts val="0"/>
              </a:spcAft>
              <a:buClr>
                <a:srgbClr val="0070C0"/>
              </a:buClr>
              <a:buSzPts val="4100"/>
              <a:buFont typeface="Noto Sans Symbols"/>
              <a:buChar char="▪"/>
            </a:pPr>
            <a:r>
              <a:rPr b="0" i="0" lang="en-US" sz="2700" u="none" cap="none" strike="noStrike">
                <a:solidFill>
                  <a:schemeClr val="dk1"/>
                </a:solidFill>
                <a:latin typeface="Calibri"/>
                <a:ea typeface="Calibri"/>
                <a:cs typeface="Calibri"/>
                <a:sym typeface="Calibri"/>
              </a:rPr>
              <a:t>The </a:t>
            </a:r>
            <a:r>
              <a:rPr b="1" i="0" lang="en-US" sz="2700" u="none" cap="none" strike="noStrike">
                <a:solidFill>
                  <a:srgbClr val="FF0000"/>
                </a:solidFill>
                <a:latin typeface="Calibri"/>
                <a:ea typeface="Calibri"/>
                <a:cs typeface="Calibri"/>
                <a:sym typeface="Calibri"/>
              </a:rPr>
              <a:t>data storage function</a:t>
            </a:r>
            <a:r>
              <a:rPr b="0" i="0" lang="en-US" sz="2700" u="none" cap="none" strike="noStrike">
                <a:solidFill>
                  <a:srgbClr val="FF0000"/>
                </a:solidFill>
                <a:latin typeface="Calibri"/>
                <a:ea typeface="Calibri"/>
                <a:cs typeface="Calibri"/>
                <a:sym typeface="Calibri"/>
              </a:rPr>
              <a:t> </a:t>
            </a:r>
            <a:r>
              <a:rPr b="0" i="0" lang="en-US" sz="2700" u="none" cap="none" strike="noStrike">
                <a:solidFill>
                  <a:schemeClr val="dk1"/>
                </a:solidFill>
                <a:latin typeface="Calibri"/>
                <a:ea typeface="Calibri"/>
                <a:cs typeface="Calibri"/>
                <a:sym typeface="Calibri"/>
              </a:rPr>
              <a:t>is concerned with how data is stored and handled by programs that run the system.</a:t>
            </a:r>
            <a:endParaRPr sz="3900"/>
          </a:p>
          <a:p>
            <a:pPr indent="-336550" lvl="0" marL="342900" marR="0" rtl="0" algn="l">
              <a:lnSpc>
                <a:spcPct val="100000"/>
              </a:lnSpc>
              <a:spcBef>
                <a:spcPts val="0"/>
              </a:spcBef>
              <a:spcAft>
                <a:spcPts val="0"/>
              </a:spcAft>
              <a:buClr>
                <a:srgbClr val="0070C0"/>
              </a:buClr>
              <a:buSzPts val="4100"/>
              <a:buFont typeface="Noto Sans Symbols"/>
              <a:buChar char="▪"/>
            </a:pPr>
            <a:r>
              <a:rPr b="0" i="0" lang="en-US" sz="2700" u="none" cap="none" strike="noStrike">
                <a:solidFill>
                  <a:schemeClr val="dk1"/>
                </a:solidFill>
                <a:latin typeface="Calibri"/>
                <a:ea typeface="Calibri"/>
                <a:cs typeface="Calibri"/>
                <a:sym typeface="Calibri"/>
              </a:rPr>
              <a:t> Data storage design is to</a:t>
            </a:r>
            <a:endParaRPr sz="3900"/>
          </a:p>
          <a:p>
            <a:pPr indent="-342900" lvl="0" marL="342900" marR="0" rtl="0" algn="l">
              <a:lnSpc>
                <a:spcPct val="100000"/>
              </a:lnSpc>
              <a:spcBef>
                <a:spcPts val="0"/>
              </a:spcBef>
              <a:spcAft>
                <a:spcPts val="0"/>
              </a:spcAft>
              <a:buClr>
                <a:schemeClr val="dk1"/>
              </a:buClr>
              <a:buSzPts val="2800"/>
              <a:buFont typeface="Arial"/>
              <a:buNone/>
            </a:pPr>
            <a:r>
              <a:rPr b="0" i="0" lang="en-US" sz="2700" u="none" cap="none" strike="noStrike">
                <a:solidFill>
                  <a:schemeClr val="dk1"/>
                </a:solidFill>
                <a:latin typeface="Calibri"/>
                <a:ea typeface="Calibri"/>
                <a:cs typeface="Calibri"/>
                <a:sym typeface="Calibri"/>
              </a:rPr>
              <a:t>   - select the data storage format;</a:t>
            </a:r>
            <a:endParaRPr sz="3900"/>
          </a:p>
          <a:p>
            <a:pPr indent="-342900" lvl="0" marL="342900" marR="0" rtl="0" algn="l">
              <a:lnSpc>
                <a:spcPct val="100000"/>
              </a:lnSpc>
              <a:spcBef>
                <a:spcPts val="0"/>
              </a:spcBef>
              <a:spcAft>
                <a:spcPts val="0"/>
              </a:spcAft>
              <a:buClr>
                <a:schemeClr val="dk1"/>
              </a:buClr>
              <a:buSzPts val="2800"/>
              <a:buFont typeface="Arial"/>
              <a:buNone/>
            </a:pPr>
            <a:r>
              <a:rPr b="0" i="0" lang="en-US" sz="2700" u="none" cap="none" strike="noStrike">
                <a:solidFill>
                  <a:schemeClr val="dk1"/>
                </a:solidFill>
                <a:latin typeface="Calibri"/>
                <a:ea typeface="Calibri"/>
                <a:cs typeface="Calibri"/>
                <a:sym typeface="Calibri"/>
              </a:rPr>
              <a:t>   - convert the logical data model created during analysis into a </a:t>
            </a:r>
            <a:r>
              <a:rPr b="1" i="1" lang="en-US" sz="2700" u="none" cap="none" strike="noStrike">
                <a:solidFill>
                  <a:srgbClr val="FF0000"/>
                </a:solidFill>
                <a:latin typeface="Calibri"/>
                <a:ea typeface="Calibri"/>
                <a:cs typeface="Calibri"/>
                <a:sym typeface="Calibri"/>
              </a:rPr>
              <a:t>physical data model</a:t>
            </a:r>
            <a:r>
              <a:rPr b="0" i="0" lang="en-US" sz="2700" u="none" cap="none" strike="noStrike">
                <a:solidFill>
                  <a:schemeClr val="dk1"/>
                </a:solidFill>
                <a:latin typeface="Calibri"/>
                <a:ea typeface="Calibri"/>
                <a:cs typeface="Calibri"/>
                <a:sym typeface="Calibri"/>
              </a:rPr>
              <a:t> to reflect the implementation decision;</a:t>
            </a:r>
            <a:endParaRPr sz="3900"/>
          </a:p>
          <a:p>
            <a:pPr indent="-342900" lvl="0" marL="342900" marR="0" rtl="0" algn="l">
              <a:lnSpc>
                <a:spcPct val="100000"/>
              </a:lnSpc>
              <a:spcBef>
                <a:spcPts val="0"/>
              </a:spcBef>
              <a:spcAft>
                <a:spcPts val="0"/>
              </a:spcAft>
              <a:buClr>
                <a:schemeClr val="dk1"/>
              </a:buClr>
              <a:buSzPts val="2800"/>
              <a:buFont typeface="Arial"/>
              <a:buNone/>
            </a:pPr>
            <a:r>
              <a:rPr b="0" i="0" lang="en-US" sz="2700" u="none" cap="none" strike="noStrike">
                <a:solidFill>
                  <a:schemeClr val="dk1"/>
                </a:solidFill>
                <a:latin typeface="Calibri"/>
                <a:ea typeface="Calibri"/>
                <a:cs typeface="Calibri"/>
                <a:sym typeface="Calibri"/>
              </a:rPr>
              <a:t>   - ensure that DFDs and ERDs balance; and</a:t>
            </a:r>
            <a:endParaRPr sz="3900"/>
          </a:p>
          <a:p>
            <a:pPr indent="-342900" lvl="0" marL="342900" marR="0" rtl="0" algn="l">
              <a:lnSpc>
                <a:spcPct val="100000"/>
              </a:lnSpc>
              <a:spcBef>
                <a:spcPts val="0"/>
              </a:spcBef>
              <a:spcAft>
                <a:spcPts val="0"/>
              </a:spcAft>
              <a:buClr>
                <a:schemeClr val="dk1"/>
              </a:buClr>
              <a:buSzPts val="2800"/>
              <a:buFont typeface="Arial"/>
              <a:buNone/>
            </a:pPr>
            <a:r>
              <a:rPr b="0" i="0" lang="en-US" sz="2700" u="none" cap="none" strike="noStrike">
                <a:solidFill>
                  <a:schemeClr val="dk1"/>
                </a:solidFill>
                <a:latin typeface="Calibri"/>
                <a:ea typeface="Calibri"/>
                <a:cs typeface="Calibri"/>
                <a:sym typeface="Calibri"/>
              </a:rPr>
              <a:t>   - design the selected data storage format to optimize its processing efficiency.</a:t>
            </a:r>
            <a:endParaRPr sz="3900"/>
          </a:p>
          <a:p>
            <a:pPr indent="-165100" lvl="0" marL="342900" marR="0" rtl="0" algn="l">
              <a:spcBef>
                <a:spcPts val="560"/>
              </a:spcBef>
              <a:spcAft>
                <a:spcPts val="0"/>
              </a:spcAft>
              <a:buClr>
                <a:schemeClr val="dk1"/>
              </a:buClr>
              <a:buSzPts val="2800"/>
              <a:buFont typeface="Arial"/>
              <a:buNone/>
            </a:pPr>
            <a:r>
              <a:t/>
            </a:r>
            <a:endParaRPr b="0" i="0" sz="2700" u="none">
              <a:solidFill>
                <a:schemeClr val="dk1"/>
              </a:solidFill>
              <a:latin typeface="Calibri"/>
              <a:ea typeface="Calibri"/>
              <a:cs typeface="Calibri"/>
              <a:sym typeface="Calibri"/>
            </a:endParaRPr>
          </a:p>
        </p:txBody>
      </p:sp>
      <p:sp>
        <p:nvSpPr>
          <p:cNvPr id="55" name="Google Shape;55;p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56" name="Google Shape;56;p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g34e0fa712e0_4_7"/>
          <p:cNvSpPr txBox="1"/>
          <p:nvPr>
            <p:ph type="title"/>
          </p:nvPr>
        </p:nvSpPr>
        <p:spPr>
          <a:xfrm>
            <a:off x="304800" y="777241"/>
            <a:ext cx="85344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Data Storage Formats</a:t>
            </a:r>
            <a:endParaRPr>
              <a:solidFill>
                <a:schemeClr val="dk1"/>
              </a:solidFill>
            </a:endParaRPr>
          </a:p>
        </p:txBody>
      </p:sp>
      <p:sp>
        <p:nvSpPr>
          <p:cNvPr id="62" name="Google Shape;62;g34e0fa712e0_4_7"/>
          <p:cNvSpPr txBox="1"/>
          <p:nvPr>
            <p:ph idx="1" type="body"/>
          </p:nvPr>
        </p:nvSpPr>
        <p:spPr>
          <a:xfrm>
            <a:off x="304800" y="1752600"/>
            <a:ext cx="8534400" cy="4495800"/>
          </a:xfrm>
          <a:prstGeom prst="rect">
            <a:avLst/>
          </a:prstGeom>
          <a:noFill/>
          <a:ln>
            <a:noFill/>
          </a:ln>
        </p:spPr>
        <p:txBody>
          <a:bodyPr anchorCtr="0" anchor="t" bIns="45700" lIns="91425" spcFirstLastPara="1" rIns="91425" wrap="square" tIns="45700">
            <a:normAutofit/>
          </a:bodyPr>
          <a:lstStyle/>
          <a:p>
            <a:pPr indent="-318008" lvl="0" marL="292608" marR="0" rtl="0" algn="l">
              <a:lnSpc>
                <a:spcPct val="90000"/>
              </a:lnSpc>
              <a:spcBef>
                <a:spcPts val="0"/>
              </a:spcBef>
              <a:spcAft>
                <a:spcPts val="0"/>
              </a:spcAft>
              <a:buClr>
                <a:schemeClr val="accent2"/>
              </a:buClr>
              <a:buSzPts val="3200"/>
              <a:buFont typeface="Arial"/>
              <a:buChar char="•"/>
            </a:pPr>
            <a:r>
              <a:rPr lang="en-US" sz="3200"/>
              <a:t>Two main types of data storage formats:</a:t>
            </a:r>
            <a:endParaRPr sz="3200"/>
          </a:p>
          <a:p>
            <a:pPr indent="-345440" lvl="1" marL="621792" rtl="0" algn="l">
              <a:lnSpc>
                <a:spcPct val="90000"/>
              </a:lnSpc>
              <a:spcBef>
                <a:spcPts val="500"/>
              </a:spcBef>
              <a:spcAft>
                <a:spcPts val="0"/>
              </a:spcAft>
              <a:buSzPts val="2320"/>
              <a:buChar char="o"/>
            </a:pPr>
            <a:r>
              <a:rPr lang="en-US" sz="2800"/>
              <a:t>Files: electronic lists of data, optimized to perform a particular transaction</a:t>
            </a:r>
            <a:endParaRPr sz="2800"/>
          </a:p>
          <a:p>
            <a:pPr indent="-345440" lvl="1" marL="621792" rtl="0" algn="l">
              <a:lnSpc>
                <a:spcPct val="90000"/>
              </a:lnSpc>
              <a:spcBef>
                <a:spcPts val="500"/>
              </a:spcBef>
              <a:spcAft>
                <a:spcPts val="0"/>
              </a:spcAft>
              <a:buSzPts val="2320"/>
              <a:buChar char="o"/>
            </a:pPr>
            <a:r>
              <a:rPr lang="en-US" sz="2800"/>
              <a:t>Database: a collection of groupings of information that are related to each other in some way</a:t>
            </a:r>
            <a:endParaRPr sz="2800"/>
          </a:p>
          <a:p>
            <a:pPr indent="-318008" lvl="0" marL="292608" marR="0" rtl="0" algn="l">
              <a:lnSpc>
                <a:spcPct val="90000"/>
              </a:lnSpc>
              <a:spcBef>
                <a:spcPts val="1000"/>
              </a:spcBef>
              <a:spcAft>
                <a:spcPts val="0"/>
              </a:spcAft>
              <a:buClr>
                <a:schemeClr val="accent2"/>
              </a:buClr>
              <a:buSzPts val="3200"/>
              <a:buFont typeface="Arial"/>
              <a:buChar char="•"/>
            </a:pPr>
            <a:r>
              <a:rPr lang="en-US" sz="3200"/>
              <a:t>Database Management System (DBMS): software that creates and manipulates the databases</a:t>
            </a:r>
            <a:endParaRPr sz="3200"/>
          </a:p>
        </p:txBody>
      </p:sp>
      <p:sp>
        <p:nvSpPr>
          <p:cNvPr id="63" name="Google Shape;63;g34e0fa712e0_4_7"/>
          <p:cNvSpPr txBox="1"/>
          <p:nvPr>
            <p:ph idx="12" type="sldNum"/>
          </p:nvPr>
        </p:nvSpPr>
        <p:spPr>
          <a:xfrm>
            <a:off x="6457950" y="6356351"/>
            <a:ext cx="2381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10-</a:t>
            </a: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Files</a:t>
            </a:r>
            <a:endParaRPr/>
          </a:p>
        </p:txBody>
      </p:sp>
      <p:sp>
        <p:nvSpPr>
          <p:cNvPr id="69" name="Google Shape;69;p4"/>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11150" lvl="0" marL="342900" marR="0" rtl="0" algn="l">
              <a:lnSpc>
                <a:spcPct val="100000"/>
              </a:lnSpc>
              <a:spcBef>
                <a:spcPts val="0"/>
              </a:spcBef>
              <a:spcAft>
                <a:spcPts val="0"/>
              </a:spcAft>
              <a:buClr>
                <a:srgbClr val="0070C0"/>
              </a:buClr>
              <a:buSzPts val="4600"/>
              <a:buFont typeface="Noto Sans Symbols"/>
              <a:buChar char="▪"/>
            </a:pPr>
            <a:r>
              <a:rPr b="0" i="0" lang="en-US" sz="2900" u="none">
                <a:solidFill>
                  <a:schemeClr val="dk1"/>
                </a:solidFill>
                <a:latin typeface="Calibri"/>
                <a:ea typeface="Calibri"/>
                <a:cs typeface="Calibri"/>
                <a:sym typeface="Calibri"/>
              </a:rPr>
              <a:t>A </a:t>
            </a:r>
            <a:r>
              <a:rPr b="1" i="1" lang="en-US" sz="2900" u="none">
                <a:solidFill>
                  <a:srgbClr val="0033CC"/>
                </a:solidFill>
                <a:latin typeface="Calibri"/>
                <a:ea typeface="Calibri"/>
                <a:cs typeface="Calibri"/>
                <a:sym typeface="Calibri"/>
              </a:rPr>
              <a:t>data file</a:t>
            </a:r>
            <a:r>
              <a:rPr b="0" i="0" lang="en-US" sz="2900" u="none">
                <a:solidFill>
                  <a:schemeClr val="dk1"/>
                </a:solidFill>
                <a:latin typeface="Calibri"/>
                <a:ea typeface="Calibri"/>
                <a:cs typeface="Calibri"/>
                <a:sym typeface="Calibri"/>
              </a:rPr>
              <a:t> contains an electronic list of information that is formatted for a particular transaction.</a:t>
            </a:r>
            <a:endParaRPr sz="3500"/>
          </a:p>
          <a:p>
            <a:pPr indent="-311150" lvl="0" marL="342900" marR="0" rtl="0" algn="l">
              <a:lnSpc>
                <a:spcPct val="100000"/>
              </a:lnSpc>
              <a:spcBef>
                <a:spcPts val="0"/>
              </a:spcBef>
              <a:spcAft>
                <a:spcPts val="0"/>
              </a:spcAft>
              <a:buClr>
                <a:srgbClr val="0070C0"/>
              </a:buClr>
              <a:buSzPts val="4600"/>
              <a:buFont typeface="Noto Sans Symbols"/>
              <a:buChar char="▪"/>
            </a:pPr>
            <a:r>
              <a:rPr b="0" i="0" lang="en-US" sz="2900" u="none">
                <a:solidFill>
                  <a:schemeClr val="dk1"/>
                </a:solidFill>
                <a:latin typeface="Calibri"/>
                <a:ea typeface="Calibri"/>
                <a:cs typeface="Calibri"/>
                <a:sym typeface="Calibri"/>
              </a:rPr>
              <a:t>Typically, files are organized sequentially.</a:t>
            </a:r>
            <a:endParaRPr sz="3500"/>
          </a:p>
          <a:p>
            <a:pPr indent="-311150" lvl="0" marL="342900" marR="0" rtl="0" algn="l">
              <a:lnSpc>
                <a:spcPct val="100000"/>
              </a:lnSpc>
              <a:spcBef>
                <a:spcPts val="0"/>
              </a:spcBef>
              <a:spcAft>
                <a:spcPts val="0"/>
              </a:spcAft>
              <a:buClr>
                <a:srgbClr val="0070C0"/>
              </a:buClr>
              <a:buSzPts val="4600"/>
              <a:buFont typeface="Noto Sans Symbols"/>
              <a:buChar char="▪"/>
            </a:pPr>
            <a:r>
              <a:rPr b="0" i="0" lang="en-US" sz="2900" u="none">
                <a:solidFill>
                  <a:schemeClr val="dk1"/>
                </a:solidFill>
                <a:latin typeface="Calibri"/>
                <a:ea typeface="Calibri"/>
                <a:cs typeface="Calibri"/>
                <a:sym typeface="Calibri"/>
              </a:rPr>
              <a:t>Records can be associated with other records by </a:t>
            </a:r>
            <a:r>
              <a:rPr b="0" i="0" lang="en-US" sz="2900" u="none">
                <a:solidFill>
                  <a:srgbClr val="0033CC"/>
                </a:solidFill>
                <a:latin typeface="Calibri"/>
                <a:ea typeface="Calibri"/>
                <a:cs typeface="Calibri"/>
                <a:sym typeface="Calibri"/>
              </a:rPr>
              <a:t>pointers</a:t>
            </a:r>
            <a:r>
              <a:rPr b="1" i="1" lang="en-US" sz="2900" u="none">
                <a:solidFill>
                  <a:srgbClr val="0033CC"/>
                </a:solidFill>
                <a:latin typeface="Calibri"/>
                <a:ea typeface="Calibri"/>
                <a:cs typeface="Calibri"/>
                <a:sym typeface="Calibri"/>
              </a:rPr>
              <a:t>.</a:t>
            </a:r>
            <a:endParaRPr sz="3500"/>
          </a:p>
          <a:p>
            <a:pPr indent="-311150" lvl="0" marL="342900" marR="0" rtl="0" algn="l">
              <a:lnSpc>
                <a:spcPct val="100000"/>
              </a:lnSpc>
              <a:spcBef>
                <a:spcPts val="0"/>
              </a:spcBef>
              <a:spcAft>
                <a:spcPts val="0"/>
              </a:spcAft>
              <a:buClr>
                <a:srgbClr val="0070C0"/>
              </a:buClr>
              <a:buSzPts val="4600"/>
              <a:buFont typeface="Noto Sans Symbols"/>
              <a:buChar char="▪"/>
            </a:pPr>
            <a:r>
              <a:rPr b="0" i="0" lang="en-US" sz="2900" u="none">
                <a:solidFill>
                  <a:schemeClr val="dk1"/>
                </a:solidFill>
                <a:latin typeface="Calibri"/>
                <a:ea typeface="Calibri"/>
                <a:cs typeface="Calibri"/>
                <a:sym typeface="Calibri"/>
              </a:rPr>
              <a:t>Sometimes files are called </a:t>
            </a:r>
            <a:r>
              <a:rPr b="1" i="1" lang="en-US" sz="2900" u="none">
                <a:solidFill>
                  <a:srgbClr val="0033CC"/>
                </a:solidFill>
                <a:latin typeface="Calibri"/>
                <a:ea typeface="Calibri"/>
                <a:cs typeface="Calibri"/>
                <a:sym typeface="Calibri"/>
              </a:rPr>
              <a:t>linked Lists </a:t>
            </a:r>
            <a:r>
              <a:rPr b="0" i="0" lang="en-US" sz="2900" u="none">
                <a:solidFill>
                  <a:schemeClr val="dk1"/>
                </a:solidFill>
                <a:latin typeface="Calibri"/>
                <a:ea typeface="Calibri"/>
                <a:cs typeface="Calibri"/>
                <a:sym typeface="Calibri"/>
              </a:rPr>
              <a:t>because of the way the records are linked together using pointers.</a:t>
            </a:r>
            <a:endParaRPr sz="3500"/>
          </a:p>
          <a:p>
            <a:pPr indent="-127000" lvl="0" marL="342900" marR="0" rtl="0" algn="l">
              <a:spcBef>
                <a:spcPts val="680"/>
              </a:spcBef>
              <a:spcAft>
                <a:spcPts val="0"/>
              </a:spcAft>
              <a:buClr>
                <a:schemeClr val="dk1"/>
              </a:buClr>
              <a:buSzPts val="3400"/>
              <a:buFont typeface="Arial"/>
              <a:buNone/>
            </a:pPr>
            <a:r>
              <a:t/>
            </a:r>
            <a:endParaRPr b="0" i="0" sz="2900" u="none">
              <a:solidFill>
                <a:schemeClr val="dk1"/>
              </a:solidFill>
              <a:latin typeface="Calibri"/>
              <a:ea typeface="Calibri"/>
              <a:cs typeface="Calibri"/>
              <a:sym typeface="Calibri"/>
            </a:endParaRPr>
          </a:p>
        </p:txBody>
      </p:sp>
      <p:sp>
        <p:nvSpPr>
          <p:cNvPr id="70" name="Google Shape;70;p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71" name="Google Shape;71;p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4e0fa712e0_4_88"/>
          <p:cNvSpPr txBox="1"/>
          <p:nvPr>
            <p:ph type="title"/>
          </p:nvPr>
        </p:nvSpPr>
        <p:spPr>
          <a:xfrm>
            <a:off x="304800" y="777241"/>
            <a:ext cx="85344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Types of Files</a:t>
            </a:r>
            <a:endParaRPr/>
          </a:p>
        </p:txBody>
      </p:sp>
      <p:sp>
        <p:nvSpPr>
          <p:cNvPr id="77" name="Google Shape;77;g34e0fa712e0_4_88"/>
          <p:cNvSpPr txBox="1"/>
          <p:nvPr>
            <p:ph idx="1" type="body"/>
          </p:nvPr>
        </p:nvSpPr>
        <p:spPr>
          <a:xfrm>
            <a:off x="304800" y="1752600"/>
            <a:ext cx="85344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b="1" i="1" lang="en-US"/>
              <a:t>Master files </a:t>
            </a:r>
            <a:r>
              <a:rPr lang="en-US"/>
              <a:t>– store core information that is important to the application</a:t>
            </a:r>
            <a:endParaRPr/>
          </a:p>
          <a:p>
            <a:pPr indent="-292608" lvl="0" marL="292608" marR="0" rtl="0" algn="l">
              <a:lnSpc>
                <a:spcPct val="90000"/>
              </a:lnSpc>
              <a:spcBef>
                <a:spcPts val="1000"/>
              </a:spcBef>
              <a:spcAft>
                <a:spcPts val="0"/>
              </a:spcAft>
              <a:buClr>
                <a:schemeClr val="accent2"/>
              </a:buClr>
              <a:buSzPts val="2800"/>
              <a:buFont typeface="Arial"/>
              <a:buChar char="•"/>
            </a:pPr>
            <a:r>
              <a:rPr b="1" i="1" lang="en-US"/>
              <a:t>Look-up files </a:t>
            </a:r>
            <a:r>
              <a:rPr lang="en-US"/>
              <a:t>– contain static values</a:t>
            </a:r>
            <a:endParaRPr/>
          </a:p>
          <a:p>
            <a:pPr indent="-292608" lvl="0" marL="292608" marR="0" rtl="0" algn="l">
              <a:lnSpc>
                <a:spcPct val="90000"/>
              </a:lnSpc>
              <a:spcBef>
                <a:spcPts val="1000"/>
              </a:spcBef>
              <a:spcAft>
                <a:spcPts val="0"/>
              </a:spcAft>
              <a:buClr>
                <a:schemeClr val="accent2"/>
              </a:buClr>
              <a:buSzPts val="2800"/>
              <a:buFont typeface="Arial"/>
              <a:buChar char="•"/>
            </a:pPr>
            <a:r>
              <a:rPr b="1" i="1" lang="en-US"/>
              <a:t>Transaction files </a:t>
            </a:r>
            <a:r>
              <a:rPr lang="en-US"/>
              <a:t>– store information that can be used to update a master file</a:t>
            </a:r>
            <a:endParaRPr/>
          </a:p>
          <a:p>
            <a:pPr indent="-292608" lvl="0" marL="292608" marR="0" rtl="0" algn="l">
              <a:lnSpc>
                <a:spcPct val="90000"/>
              </a:lnSpc>
              <a:spcBef>
                <a:spcPts val="1000"/>
              </a:spcBef>
              <a:spcAft>
                <a:spcPts val="0"/>
              </a:spcAft>
              <a:buClr>
                <a:schemeClr val="accent2"/>
              </a:buClr>
              <a:buSzPts val="2800"/>
              <a:buFont typeface="Arial"/>
              <a:buChar char="•"/>
            </a:pPr>
            <a:r>
              <a:rPr b="1" i="1" lang="en-US"/>
              <a:t>Audit files </a:t>
            </a:r>
            <a:r>
              <a:rPr lang="en-US"/>
              <a:t>– record “before” and “after” images of data as the data is altered</a:t>
            </a:r>
            <a:endParaRPr/>
          </a:p>
          <a:p>
            <a:pPr indent="-292608" lvl="0" marL="292608" marR="0" rtl="0" algn="l">
              <a:lnSpc>
                <a:spcPct val="90000"/>
              </a:lnSpc>
              <a:spcBef>
                <a:spcPts val="1000"/>
              </a:spcBef>
              <a:spcAft>
                <a:spcPts val="0"/>
              </a:spcAft>
              <a:buClr>
                <a:schemeClr val="accent2"/>
              </a:buClr>
              <a:buSzPts val="2800"/>
              <a:buFont typeface="Arial"/>
              <a:buChar char="•"/>
            </a:pPr>
            <a:r>
              <a:rPr b="1" i="1" lang="en-US"/>
              <a:t>History files </a:t>
            </a:r>
            <a:r>
              <a:rPr lang="en-US"/>
              <a:t>(or archive files) – store past transactions</a:t>
            </a:r>
            <a:endParaRPr/>
          </a:p>
        </p:txBody>
      </p:sp>
      <p:sp>
        <p:nvSpPr>
          <p:cNvPr id="78" name="Google Shape;78;g34e0fa712e0_4_88"/>
          <p:cNvSpPr txBox="1"/>
          <p:nvPr>
            <p:ph idx="12" type="sldNum"/>
          </p:nvPr>
        </p:nvSpPr>
        <p:spPr>
          <a:xfrm>
            <a:off x="6457950" y="6356351"/>
            <a:ext cx="2381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10-</a:t>
            </a: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 based DB: appointment record</a:t>
            </a:r>
            <a:endParaRPr/>
          </a:p>
        </p:txBody>
      </p:sp>
      <p:sp>
        <p:nvSpPr>
          <p:cNvPr id="84" name="Google Shape;84;p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85" name="Google Shape;85;p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86" name="Google Shape;86;p5"/>
          <p:cNvPicPr preferRelativeResize="0"/>
          <p:nvPr/>
        </p:nvPicPr>
        <p:blipFill rotWithShape="1">
          <a:blip r:embed="rId3">
            <a:alphaModFix/>
          </a:blip>
          <a:srcRect b="0" l="0" r="0" t="0"/>
          <a:stretch/>
        </p:blipFill>
        <p:spPr>
          <a:xfrm>
            <a:off x="457200" y="1577975"/>
            <a:ext cx="8229600" cy="5151437"/>
          </a:xfrm>
          <a:prstGeom prst="rect">
            <a:avLst/>
          </a:prstGeom>
          <a:noFill/>
          <a:ln>
            <a:noFill/>
          </a:ln>
        </p:spPr>
      </p:pic>
      <p:sp>
        <p:nvSpPr>
          <p:cNvPr id="87" name="Google Shape;87;p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219825" y="-135700"/>
            <a:ext cx="3868500" cy="2377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Example of </a:t>
            </a:r>
            <a:br>
              <a:rPr b="1" i="0" lang="en-US" sz="4400" u="none">
                <a:solidFill>
                  <a:schemeClr val="dk1"/>
                </a:solidFill>
                <a:latin typeface="Calibri"/>
                <a:ea typeface="Calibri"/>
                <a:cs typeface="Calibri"/>
                <a:sym typeface="Calibri"/>
              </a:rPr>
            </a:br>
            <a:r>
              <a:rPr b="1" i="0" lang="en-US" sz="4400" u="none">
                <a:solidFill>
                  <a:schemeClr val="dk1"/>
                </a:solidFill>
                <a:latin typeface="Calibri"/>
                <a:ea typeface="Calibri"/>
                <a:cs typeface="Calibri"/>
                <a:sym typeface="Calibri"/>
              </a:rPr>
              <a:t>database: </a:t>
            </a:r>
            <a:br>
              <a:rPr b="1" i="0" lang="en-US" sz="4400" u="none">
                <a:solidFill>
                  <a:schemeClr val="dk1"/>
                </a:solidFill>
                <a:latin typeface="Calibri"/>
                <a:ea typeface="Calibri"/>
                <a:cs typeface="Calibri"/>
                <a:sym typeface="Calibri"/>
              </a:rPr>
            </a:br>
            <a:endParaRPr/>
          </a:p>
        </p:txBody>
      </p:sp>
      <p:sp>
        <p:nvSpPr>
          <p:cNvPr id="93" name="Google Shape;93;p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94" name="Google Shape;94;p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95" name="Google Shape;95;p6"/>
          <p:cNvPicPr preferRelativeResize="0"/>
          <p:nvPr/>
        </p:nvPicPr>
        <p:blipFill rotWithShape="1">
          <a:blip r:embed="rId3">
            <a:alphaModFix/>
          </a:blip>
          <a:srcRect b="0" l="0" r="0" t="0"/>
          <a:stretch/>
        </p:blipFill>
        <p:spPr>
          <a:xfrm>
            <a:off x="3319462" y="274637"/>
            <a:ext cx="5726113" cy="6584951"/>
          </a:xfrm>
          <a:prstGeom prst="rect">
            <a:avLst/>
          </a:prstGeom>
          <a:noFill/>
          <a:ln>
            <a:noFill/>
          </a:ln>
        </p:spPr>
      </p:pic>
      <p:sp>
        <p:nvSpPr>
          <p:cNvPr id="96" name="Google Shape;96;p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Databases</a:t>
            </a:r>
            <a:endParaRPr/>
          </a:p>
        </p:txBody>
      </p:sp>
      <p:sp>
        <p:nvSpPr>
          <p:cNvPr id="102" name="Google Shape;102;p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9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There are many types of databases:</a:t>
            </a:r>
            <a:endParaRPr/>
          </a:p>
          <a:p>
            <a:pPr indent="-425450" lvl="1" marL="742950" marR="0" rtl="0" algn="l">
              <a:lnSpc>
                <a:spcPct val="90000"/>
              </a:lnSpc>
              <a:spcBef>
                <a:spcPts val="0"/>
              </a:spcBef>
              <a:spcAft>
                <a:spcPts val="0"/>
              </a:spcAft>
              <a:buClr>
                <a:schemeClr val="dk1"/>
              </a:buClr>
              <a:buSzPts val="4000"/>
              <a:buFont typeface="Calibri"/>
              <a:buChar char="–"/>
            </a:pPr>
            <a:r>
              <a:rPr b="1" i="0" lang="en-US" sz="4100" u="none">
                <a:solidFill>
                  <a:srgbClr val="6666FF"/>
                </a:solidFill>
                <a:latin typeface="Calibri"/>
                <a:ea typeface="Calibri"/>
                <a:cs typeface="Calibri"/>
                <a:sym typeface="Calibri"/>
              </a:rPr>
              <a:t> </a:t>
            </a:r>
            <a:r>
              <a:rPr b="0" i="0" lang="en-US" sz="2500" u="none">
                <a:solidFill>
                  <a:schemeClr val="dk1"/>
                </a:solidFill>
                <a:latin typeface="Calibri"/>
                <a:ea typeface="Calibri"/>
                <a:cs typeface="Calibri"/>
                <a:sym typeface="Calibri"/>
              </a:rPr>
              <a:t>Relational database</a:t>
            </a:r>
            <a:endParaRPr sz="2500"/>
          </a:p>
          <a:p>
            <a:pPr indent="-431800" lvl="1" marL="742950" marR="0" rtl="0" algn="l">
              <a:lnSpc>
                <a:spcPct val="90000"/>
              </a:lnSpc>
              <a:spcBef>
                <a:spcPts val="0"/>
              </a:spcBef>
              <a:spcAft>
                <a:spcPts val="0"/>
              </a:spcAft>
              <a:buClr>
                <a:schemeClr val="dk1"/>
              </a:buClr>
              <a:buSzPts val="4100"/>
              <a:buFont typeface="Calibri"/>
              <a:buChar char="–"/>
            </a:pPr>
            <a:r>
              <a:rPr b="0" i="0" lang="en-US" sz="2500" u="none">
                <a:solidFill>
                  <a:schemeClr val="dk1"/>
                </a:solidFill>
                <a:latin typeface="Calibri"/>
                <a:ea typeface="Calibri"/>
                <a:cs typeface="Calibri"/>
                <a:sym typeface="Calibri"/>
              </a:rPr>
              <a:t> Object database</a:t>
            </a:r>
            <a:endParaRPr sz="2500"/>
          </a:p>
          <a:p>
            <a:pPr indent="-431800" lvl="1" marL="742950" marR="0" rtl="0" algn="l">
              <a:lnSpc>
                <a:spcPct val="90000"/>
              </a:lnSpc>
              <a:spcBef>
                <a:spcPts val="0"/>
              </a:spcBef>
              <a:spcAft>
                <a:spcPts val="0"/>
              </a:spcAft>
              <a:buClr>
                <a:schemeClr val="dk1"/>
              </a:buClr>
              <a:buSzPts val="4100"/>
              <a:buFont typeface="Calibri"/>
              <a:buChar char="–"/>
            </a:pPr>
            <a:r>
              <a:rPr b="0" i="0" lang="en-US" sz="2500" u="none">
                <a:solidFill>
                  <a:schemeClr val="dk1"/>
                </a:solidFill>
                <a:latin typeface="Calibri"/>
                <a:ea typeface="Calibri"/>
                <a:cs typeface="Calibri"/>
                <a:sym typeface="Calibri"/>
              </a:rPr>
              <a:t> Multidimensional database</a:t>
            </a:r>
            <a:endParaRPr sz="2500"/>
          </a:p>
          <a:p>
            <a:pPr indent="-431800" lvl="1" marL="742950" marR="0" rtl="0" algn="l">
              <a:lnSpc>
                <a:spcPct val="90000"/>
              </a:lnSpc>
              <a:spcBef>
                <a:spcPts val="0"/>
              </a:spcBef>
              <a:spcAft>
                <a:spcPts val="0"/>
              </a:spcAft>
              <a:buClr>
                <a:schemeClr val="dk1"/>
              </a:buClr>
              <a:buSzPts val="4100"/>
              <a:buFont typeface="Calibri"/>
              <a:buChar char="–"/>
            </a:pPr>
            <a:r>
              <a:rPr lang="en-US" sz="2500"/>
              <a:t> NoSQL database</a:t>
            </a:r>
            <a:endParaRPr sz="2500"/>
          </a:p>
          <a:p>
            <a:pPr indent="-342900" lvl="0" marL="342900" rtl="0" algn="l">
              <a:lnSpc>
                <a:spcPct val="90000"/>
              </a:lnSpc>
              <a:spcBef>
                <a:spcPts val="0"/>
              </a:spcBef>
              <a:spcAft>
                <a:spcPts val="0"/>
              </a:spcAft>
              <a:buClr>
                <a:schemeClr val="dk1"/>
              </a:buClr>
              <a:buSzPts val="1100"/>
              <a:buFont typeface="Arial"/>
              <a:buNone/>
            </a:pPr>
            <a:r>
              <a:t/>
            </a:r>
            <a:endParaRPr/>
          </a:p>
          <a:p>
            <a:pPr indent="-342900" lvl="0" marL="342900" marR="0" rtl="0" algn="l">
              <a:lnSpc>
                <a:spcPct val="90000"/>
              </a:lnSpc>
              <a:spcBef>
                <a:spcPts val="0"/>
              </a:spcBef>
              <a:spcAft>
                <a:spcPts val="0"/>
              </a:spcAft>
              <a:buClr>
                <a:schemeClr val="dk1"/>
              </a:buClr>
              <a:buSzPts val="4000"/>
              <a:buFont typeface="Arial"/>
              <a:buNone/>
            </a:pPr>
            <a:r>
              <a:t/>
            </a:r>
            <a:endParaRPr/>
          </a:p>
          <a:p>
            <a:pPr indent="-88900" lvl="0" marL="342900" marR="0" rtl="0" algn="l">
              <a:spcBef>
                <a:spcPts val="800"/>
              </a:spcBef>
              <a:spcAft>
                <a:spcPts val="0"/>
              </a:spcAft>
              <a:buClr>
                <a:schemeClr val="dk1"/>
              </a:buClr>
              <a:buSzPts val="4000"/>
              <a:buFont typeface="Arial"/>
              <a:buNone/>
            </a:pPr>
            <a:r>
              <a:t/>
            </a:r>
            <a:endParaRPr/>
          </a:p>
          <a:p>
            <a:pPr indent="-88900" lvl="0" marL="342900" marR="0" rtl="0" algn="l">
              <a:spcBef>
                <a:spcPts val="800"/>
              </a:spcBef>
              <a:spcAft>
                <a:spcPts val="0"/>
              </a:spcAft>
              <a:buClr>
                <a:schemeClr val="dk1"/>
              </a:buClr>
              <a:buSzPts val="4000"/>
              <a:buFont typeface="Arial"/>
              <a:buNone/>
            </a:pPr>
            <a:r>
              <a:t/>
            </a:r>
            <a:endParaRPr/>
          </a:p>
        </p:txBody>
      </p:sp>
      <p:sp>
        <p:nvSpPr>
          <p:cNvPr id="103" name="Google Shape;103;p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04" name="Google Shape;104;p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Relational Databases</a:t>
            </a:r>
            <a:endParaRPr/>
          </a:p>
        </p:txBody>
      </p:sp>
      <p:sp>
        <p:nvSpPr>
          <p:cNvPr id="110" name="Google Shape;110;p8"/>
          <p:cNvSpPr txBox="1"/>
          <p:nvPr>
            <p:ph idx="1" type="body"/>
          </p:nvPr>
        </p:nvSpPr>
        <p:spPr>
          <a:xfrm>
            <a:off x="457200" y="1473975"/>
            <a:ext cx="8229600" cy="4526100"/>
          </a:xfrm>
          <a:prstGeom prst="rect">
            <a:avLst/>
          </a:prstGeom>
          <a:noFill/>
          <a:ln>
            <a:noFill/>
          </a:ln>
        </p:spPr>
        <p:txBody>
          <a:bodyPr anchorCtr="0" anchor="t" bIns="45700" lIns="91425" spcFirstLastPara="1" rIns="91425" wrap="square" tIns="45700">
            <a:noAutofit/>
          </a:bodyPr>
          <a:lstStyle/>
          <a:p>
            <a:pPr indent="-330200" lvl="0" marL="342900" marR="0" rtl="0" algn="just">
              <a:lnSpc>
                <a:spcPct val="80000"/>
              </a:lnSpc>
              <a:spcBef>
                <a:spcPts val="0"/>
              </a:spcBef>
              <a:spcAft>
                <a:spcPts val="0"/>
              </a:spcAft>
              <a:buClr>
                <a:srgbClr val="0070C0"/>
              </a:buClr>
              <a:buSzPts val="4150"/>
              <a:buFont typeface="Noto Sans Symbols"/>
              <a:buChar char="▪"/>
            </a:pPr>
            <a:r>
              <a:rPr b="1" i="1" lang="en-US" sz="2700" u="none">
                <a:solidFill>
                  <a:srgbClr val="0033CC"/>
                </a:solidFill>
                <a:latin typeface="Calibri"/>
                <a:ea typeface="Calibri"/>
                <a:cs typeface="Calibri"/>
                <a:sym typeface="Calibri"/>
              </a:rPr>
              <a:t>The relational database </a:t>
            </a:r>
            <a:r>
              <a:rPr b="0" i="0" lang="en-US" sz="2700" u="none">
                <a:solidFill>
                  <a:schemeClr val="dk1"/>
                </a:solidFill>
                <a:latin typeface="Calibri"/>
                <a:ea typeface="Calibri"/>
                <a:cs typeface="Calibri"/>
                <a:sym typeface="Calibri"/>
              </a:rPr>
              <a:t>is the most popular kind of database for application development today.</a:t>
            </a:r>
            <a:endParaRPr sz="3800"/>
          </a:p>
          <a:p>
            <a:pPr indent="-330200" lvl="0" marL="342900" marR="0" rtl="0" algn="just">
              <a:lnSpc>
                <a:spcPct val="80000"/>
              </a:lnSpc>
              <a:spcBef>
                <a:spcPts val="0"/>
              </a:spcBef>
              <a:spcAft>
                <a:spcPts val="0"/>
              </a:spcAft>
              <a:buClr>
                <a:srgbClr val="0070C0"/>
              </a:buClr>
              <a:buSzPts val="4150"/>
              <a:buFont typeface="Noto Sans Symbols"/>
              <a:buChar char="▪"/>
            </a:pPr>
            <a:r>
              <a:rPr b="0" i="0" lang="en-US" sz="2700" u="none">
                <a:solidFill>
                  <a:schemeClr val="dk1"/>
                </a:solidFill>
                <a:latin typeface="Calibri"/>
                <a:ea typeface="Calibri"/>
                <a:cs typeface="Calibri"/>
                <a:sym typeface="Calibri"/>
              </a:rPr>
              <a:t>A relational database is based on collections of </a:t>
            </a:r>
            <a:r>
              <a:rPr b="1" i="1" lang="en-US" sz="2700" u="none">
                <a:solidFill>
                  <a:srgbClr val="0033CC"/>
                </a:solidFill>
                <a:latin typeface="Calibri"/>
                <a:ea typeface="Calibri"/>
                <a:cs typeface="Calibri"/>
                <a:sym typeface="Calibri"/>
              </a:rPr>
              <a:t>tables</a:t>
            </a:r>
            <a:r>
              <a:rPr b="0" i="0" lang="en-US" sz="2700" u="none">
                <a:solidFill>
                  <a:schemeClr val="dk1"/>
                </a:solidFill>
                <a:latin typeface="Calibri"/>
                <a:ea typeface="Calibri"/>
                <a:cs typeface="Calibri"/>
                <a:sym typeface="Calibri"/>
              </a:rPr>
              <a:t>, each of which has a </a:t>
            </a:r>
            <a:r>
              <a:rPr b="1" i="1" lang="en-US" sz="2700" u="none">
                <a:solidFill>
                  <a:srgbClr val="0033CC"/>
                </a:solidFill>
                <a:latin typeface="Calibri"/>
                <a:ea typeface="Calibri"/>
                <a:cs typeface="Calibri"/>
                <a:sym typeface="Calibri"/>
              </a:rPr>
              <a:t>primary key</a:t>
            </a:r>
            <a:r>
              <a:rPr b="0" i="0" lang="en-US" sz="2700" u="none">
                <a:solidFill>
                  <a:schemeClr val="dk1"/>
                </a:solidFill>
                <a:latin typeface="Calibri"/>
                <a:ea typeface="Calibri"/>
                <a:cs typeface="Calibri"/>
                <a:sym typeface="Calibri"/>
              </a:rPr>
              <a:t>.</a:t>
            </a:r>
            <a:endParaRPr sz="3800"/>
          </a:p>
          <a:p>
            <a:pPr indent="-330200" lvl="0" marL="342900" marR="0" rtl="0" algn="just">
              <a:lnSpc>
                <a:spcPct val="80000"/>
              </a:lnSpc>
              <a:spcBef>
                <a:spcPts val="0"/>
              </a:spcBef>
              <a:spcAft>
                <a:spcPts val="0"/>
              </a:spcAft>
              <a:buClr>
                <a:srgbClr val="0070C0"/>
              </a:buClr>
              <a:buSzPts val="4150"/>
              <a:buFont typeface="Noto Sans Symbols"/>
              <a:buChar char="▪"/>
            </a:pPr>
            <a:r>
              <a:rPr b="0" i="0" lang="en-US" sz="2700" u="none">
                <a:solidFill>
                  <a:schemeClr val="dk1"/>
                </a:solidFill>
                <a:latin typeface="Calibri"/>
                <a:ea typeface="Calibri"/>
                <a:cs typeface="Calibri"/>
                <a:sym typeface="Calibri"/>
              </a:rPr>
              <a:t>The tables are related to each other by the placement of the primary key from one table into the related table as a </a:t>
            </a:r>
            <a:r>
              <a:rPr b="1" i="1" lang="en-US" sz="2700" u="none">
                <a:solidFill>
                  <a:srgbClr val="0033CC"/>
                </a:solidFill>
                <a:latin typeface="Calibri"/>
                <a:ea typeface="Calibri"/>
                <a:cs typeface="Calibri"/>
                <a:sym typeface="Calibri"/>
              </a:rPr>
              <a:t>foreign key</a:t>
            </a:r>
            <a:r>
              <a:rPr b="0" i="0" lang="en-US" sz="2700" u="none">
                <a:solidFill>
                  <a:schemeClr val="dk1"/>
                </a:solidFill>
                <a:latin typeface="Calibri"/>
                <a:ea typeface="Calibri"/>
                <a:cs typeface="Calibri"/>
                <a:sym typeface="Calibri"/>
              </a:rPr>
              <a:t>.</a:t>
            </a:r>
            <a:endParaRPr sz="3800"/>
          </a:p>
          <a:p>
            <a:pPr indent="-330200" lvl="0" marL="342900" marR="0" rtl="0" algn="just">
              <a:lnSpc>
                <a:spcPct val="80000"/>
              </a:lnSpc>
              <a:spcBef>
                <a:spcPts val="0"/>
              </a:spcBef>
              <a:spcAft>
                <a:spcPts val="0"/>
              </a:spcAft>
              <a:buClr>
                <a:srgbClr val="0070C0"/>
              </a:buClr>
              <a:buSzPts val="3700"/>
              <a:buFont typeface="Noto Sans Symbols"/>
              <a:buChar char="▪"/>
            </a:pPr>
            <a:r>
              <a:rPr b="0" i="0" lang="en-US" sz="2400" u="none">
                <a:solidFill>
                  <a:schemeClr val="dk1"/>
                </a:solidFill>
                <a:latin typeface="Calibri"/>
                <a:ea typeface="Calibri"/>
                <a:cs typeface="Calibri"/>
                <a:sym typeface="Calibri"/>
              </a:rPr>
              <a:t>Most relational database management systems (RDBMS) support </a:t>
            </a:r>
            <a:r>
              <a:rPr b="1" i="1" lang="en-US" sz="2400" u="none">
                <a:solidFill>
                  <a:srgbClr val="0033CC"/>
                </a:solidFill>
                <a:latin typeface="Calibri"/>
                <a:ea typeface="Calibri"/>
                <a:cs typeface="Calibri"/>
                <a:sym typeface="Calibri"/>
              </a:rPr>
              <a:t>referential integrity</a:t>
            </a:r>
            <a:r>
              <a:rPr b="0" i="0" lang="en-US" sz="2400" u="none">
                <a:solidFill>
                  <a:schemeClr val="dk1"/>
                </a:solidFill>
                <a:latin typeface="Calibri"/>
                <a:ea typeface="Calibri"/>
                <a:cs typeface="Calibri"/>
                <a:sym typeface="Calibri"/>
              </a:rPr>
              <a:t>, or the idea of ensuring that values linking the tables together are valid and correctly synchronized.</a:t>
            </a:r>
            <a:endParaRPr sz="3800"/>
          </a:p>
          <a:p>
            <a:pPr indent="-330200" lvl="0" marL="342900" marR="0" rtl="0" algn="just">
              <a:lnSpc>
                <a:spcPct val="80000"/>
              </a:lnSpc>
              <a:spcBef>
                <a:spcPts val="0"/>
              </a:spcBef>
              <a:spcAft>
                <a:spcPts val="0"/>
              </a:spcAft>
              <a:buClr>
                <a:srgbClr val="0070C0"/>
              </a:buClr>
              <a:buSzPts val="3700"/>
              <a:buFont typeface="Noto Sans Symbols"/>
              <a:buChar char="▪"/>
            </a:pPr>
            <a:r>
              <a:rPr b="1" i="1" lang="en-US" sz="2400" u="none">
                <a:solidFill>
                  <a:srgbClr val="0033CC"/>
                </a:solidFill>
                <a:latin typeface="Calibri"/>
                <a:ea typeface="Calibri"/>
                <a:cs typeface="Calibri"/>
                <a:sym typeface="Calibri"/>
              </a:rPr>
              <a:t>Structured Query Language (SQL)</a:t>
            </a:r>
            <a:r>
              <a:rPr b="0" i="0" lang="en-US" sz="2400" u="none">
                <a:solidFill>
                  <a:schemeClr val="dk1"/>
                </a:solidFill>
                <a:latin typeface="Calibri"/>
                <a:ea typeface="Calibri"/>
                <a:cs typeface="Calibri"/>
                <a:sym typeface="Calibri"/>
              </a:rPr>
              <a:t> is the standard language for accessing the data in the tables.</a:t>
            </a:r>
            <a:endParaRPr sz="3800"/>
          </a:p>
          <a:p>
            <a:pPr indent="-66675" lvl="0" marL="342900" marR="0" rtl="0" algn="just">
              <a:lnSpc>
                <a:spcPct val="80000"/>
              </a:lnSpc>
              <a:spcBef>
                <a:spcPts val="0"/>
              </a:spcBef>
              <a:spcAft>
                <a:spcPts val="0"/>
              </a:spcAft>
              <a:buClr>
                <a:srgbClr val="0070C0"/>
              </a:buClr>
              <a:buSzPts val="4350"/>
              <a:buFont typeface="Noto Sans Symbols"/>
              <a:buNone/>
            </a:pPr>
            <a:r>
              <a:t/>
            </a:r>
            <a:endParaRPr b="0" i="0" sz="2700" u="none">
              <a:solidFill>
                <a:schemeClr val="dk1"/>
              </a:solidFill>
              <a:latin typeface="Calibri"/>
              <a:ea typeface="Calibri"/>
              <a:cs typeface="Calibri"/>
              <a:sym typeface="Calibri"/>
            </a:endParaRPr>
          </a:p>
          <a:p>
            <a:pPr indent="-158750" lvl="0" marL="342900" marR="0" rtl="0" algn="l">
              <a:spcBef>
                <a:spcPts val="580"/>
              </a:spcBef>
              <a:spcAft>
                <a:spcPts val="0"/>
              </a:spcAft>
              <a:buClr>
                <a:schemeClr val="dk1"/>
              </a:buClr>
              <a:buSzPts val="2900"/>
              <a:buFont typeface="Arial"/>
              <a:buNone/>
            </a:pPr>
            <a:r>
              <a:t/>
            </a:r>
            <a:endParaRPr b="0" i="0" sz="2700" u="none">
              <a:solidFill>
                <a:schemeClr val="dk1"/>
              </a:solidFill>
              <a:latin typeface="Calibri"/>
              <a:ea typeface="Calibri"/>
              <a:cs typeface="Calibri"/>
              <a:sym typeface="Calibri"/>
            </a:endParaRPr>
          </a:p>
        </p:txBody>
      </p:sp>
      <p:sp>
        <p:nvSpPr>
          <p:cNvPr id="111" name="Google Shape;111;p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12" name="Google Shape;112;p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118" name="Google Shape;118;p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19" name="Google Shape;119;p9"/>
          <p:cNvSpPr txBox="1"/>
          <p:nvPr>
            <p:ph idx="1" type="body"/>
          </p:nvPr>
        </p:nvSpPr>
        <p:spPr>
          <a:xfrm>
            <a:off x="263775" y="1600200"/>
            <a:ext cx="8582400" cy="4536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Relational </a:t>
            </a:r>
            <a:endParaRPr/>
          </a:p>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database </a:t>
            </a:r>
            <a:endParaRPr/>
          </a:p>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example</a:t>
            </a:r>
            <a:endParaRPr/>
          </a:p>
        </p:txBody>
      </p:sp>
      <p:pic>
        <p:nvPicPr>
          <p:cNvPr id="120" name="Google Shape;120;p9"/>
          <p:cNvPicPr preferRelativeResize="0"/>
          <p:nvPr/>
        </p:nvPicPr>
        <p:blipFill rotWithShape="1">
          <a:blip r:embed="rId3">
            <a:alphaModFix/>
          </a:blip>
          <a:srcRect b="6381" l="0" r="0" t="0"/>
          <a:stretch/>
        </p:blipFill>
        <p:spPr>
          <a:xfrm>
            <a:off x="2514600" y="30149"/>
            <a:ext cx="6629399" cy="6512301"/>
          </a:xfrm>
          <a:prstGeom prst="rect">
            <a:avLst/>
          </a:prstGeom>
          <a:noFill/>
          <a:ln>
            <a:noFill/>
          </a:ln>
        </p:spPr>
      </p:pic>
      <p:sp>
        <p:nvSpPr>
          <p:cNvPr id="121" name="Google Shape;121;p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Object Databases</a:t>
            </a:r>
            <a:endParaRPr/>
          </a:p>
        </p:txBody>
      </p:sp>
      <p:sp>
        <p:nvSpPr>
          <p:cNvPr id="127" name="Google Shape;127;p10"/>
          <p:cNvSpPr txBox="1"/>
          <p:nvPr>
            <p:ph idx="1" type="body"/>
          </p:nvPr>
        </p:nvSpPr>
        <p:spPr>
          <a:xfrm>
            <a:off x="457200" y="1521025"/>
            <a:ext cx="8229600" cy="4526100"/>
          </a:xfrm>
          <a:prstGeom prst="rect">
            <a:avLst/>
          </a:prstGeom>
          <a:noFill/>
          <a:ln>
            <a:noFill/>
          </a:ln>
        </p:spPr>
        <p:txBody>
          <a:bodyPr anchorCtr="0" anchor="t" bIns="45700" lIns="91425" spcFirstLastPara="1" rIns="91425" wrap="square" tIns="45700">
            <a:noAutofit/>
          </a:bodyPr>
          <a:lstStyle/>
          <a:p>
            <a:pPr indent="-336550" lvl="0" marL="342900" marR="0" rtl="0" algn="just">
              <a:lnSpc>
                <a:spcPct val="100000"/>
              </a:lnSpc>
              <a:spcBef>
                <a:spcPts val="0"/>
              </a:spcBef>
              <a:spcAft>
                <a:spcPts val="0"/>
              </a:spcAft>
              <a:buClr>
                <a:srgbClr val="0070C0"/>
              </a:buClr>
              <a:buSzPts val="4400"/>
              <a:buFont typeface="Noto Sans Symbols"/>
              <a:buChar char="▪"/>
            </a:pPr>
            <a:r>
              <a:rPr b="0" i="0" lang="en-US" sz="2900" u="none">
                <a:solidFill>
                  <a:schemeClr val="dk1"/>
                </a:solidFill>
                <a:latin typeface="Calibri"/>
                <a:ea typeface="Calibri"/>
                <a:cs typeface="Calibri"/>
                <a:sym typeface="Calibri"/>
              </a:rPr>
              <a:t>The </a:t>
            </a:r>
            <a:r>
              <a:rPr b="1" i="1" lang="en-US" sz="2900" u="none">
                <a:solidFill>
                  <a:srgbClr val="0033CC"/>
                </a:solidFill>
                <a:latin typeface="Calibri"/>
                <a:ea typeface="Calibri"/>
                <a:cs typeface="Calibri"/>
                <a:sym typeface="Calibri"/>
              </a:rPr>
              <a:t>object database</a:t>
            </a:r>
            <a:r>
              <a:rPr b="0" i="0" lang="en-US" sz="2900" u="none">
                <a:solidFill>
                  <a:schemeClr val="dk1"/>
                </a:solidFill>
                <a:latin typeface="Calibri"/>
                <a:ea typeface="Calibri"/>
                <a:cs typeface="Calibri"/>
                <a:sym typeface="Calibri"/>
              </a:rPr>
              <a:t>, or object-oriented database, is based on the premise of object orientation that all things should be treated as </a:t>
            </a:r>
            <a:r>
              <a:rPr b="1" i="1" lang="en-US" sz="2900" u="none">
                <a:solidFill>
                  <a:srgbClr val="0033CC"/>
                </a:solidFill>
                <a:latin typeface="Calibri"/>
                <a:ea typeface="Calibri"/>
                <a:cs typeface="Calibri"/>
                <a:sym typeface="Calibri"/>
              </a:rPr>
              <a:t>objects</a:t>
            </a:r>
            <a:r>
              <a:rPr b="0" i="0" lang="en-US" sz="2900" u="none">
                <a:solidFill>
                  <a:schemeClr val="dk1"/>
                </a:solidFill>
                <a:latin typeface="Calibri"/>
                <a:ea typeface="Calibri"/>
                <a:cs typeface="Calibri"/>
                <a:sym typeface="Calibri"/>
              </a:rPr>
              <a:t> that have both data (attributes) and processes (behaviors).</a:t>
            </a:r>
            <a:endParaRPr sz="3900"/>
          </a:p>
          <a:p>
            <a:pPr indent="-336550" lvl="0" marL="342900" marR="0" rtl="0" algn="just">
              <a:lnSpc>
                <a:spcPct val="100000"/>
              </a:lnSpc>
              <a:spcBef>
                <a:spcPts val="0"/>
              </a:spcBef>
              <a:spcAft>
                <a:spcPts val="0"/>
              </a:spcAft>
              <a:buClr>
                <a:srgbClr val="0070C0"/>
              </a:buClr>
              <a:buSzPts val="4400"/>
              <a:buFont typeface="Noto Sans Symbols"/>
              <a:buChar char="▪"/>
            </a:pPr>
            <a:r>
              <a:rPr b="0" i="0" lang="en-US" sz="2900" u="none">
                <a:solidFill>
                  <a:schemeClr val="dk1"/>
                </a:solidFill>
                <a:latin typeface="Calibri"/>
                <a:ea typeface="Calibri"/>
                <a:cs typeface="Calibri"/>
                <a:sym typeface="Calibri"/>
              </a:rPr>
              <a:t>Changes to one object have no effect on other objects because the attributes and behaviors self-contained, or encapsulated, within each one.</a:t>
            </a:r>
            <a:endParaRPr sz="3900"/>
          </a:p>
          <a:p>
            <a:pPr indent="-336550" lvl="0" marL="342900" marR="0" rtl="0" algn="just">
              <a:lnSpc>
                <a:spcPct val="100000"/>
              </a:lnSpc>
              <a:spcBef>
                <a:spcPts val="0"/>
              </a:spcBef>
              <a:spcAft>
                <a:spcPts val="0"/>
              </a:spcAft>
              <a:buClr>
                <a:srgbClr val="0070C0"/>
              </a:buClr>
              <a:buSzPts val="4400"/>
              <a:buFont typeface="Noto Sans Symbols"/>
              <a:buChar char="▪"/>
            </a:pPr>
            <a:r>
              <a:rPr b="0" i="0" lang="en-US" sz="2900" u="none">
                <a:solidFill>
                  <a:schemeClr val="dk1"/>
                </a:solidFill>
                <a:latin typeface="Calibri"/>
                <a:ea typeface="Calibri"/>
                <a:cs typeface="Calibri"/>
                <a:sym typeface="Calibri"/>
              </a:rPr>
              <a:t>This </a:t>
            </a:r>
            <a:r>
              <a:rPr b="1" i="1" lang="en-US" sz="2900" u="none">
                <a:solidFill>
                  <a:srgbClr val="0033CC"/>
                </a:solidFill>
                <a:latin typeface="Calibri"/>
                <a:ea typeface="Calibri"/>
                <a:cs typeface="Calibri"/>
                <a:sym typeface="Calibri"/>
              </a:rPr>
              <a:t>encapsulation</a:t>
            </a:r>
            <a:r>
              <a:rPr b="1" i="0" lang="en-US" sz="2900" u="none">
                <a:solidFill>
                  <a:schemeClr val="dk1"/>
                </a:solidFill>
                <a:latin typeface="Calibri"/>
                <a:ea typeface="Calibri"/>
                <a:cs typeface="Calibri"/>
                <a:sym typeface="Calibri"/>
              </a:rPr>
              <a:t> </a:t>
            </a:r>
            <a:r>
              <a:rPr b="0" i="0" lang="en-US" sz="2900" u="none">
                <a:solidFill>
                  <a:schemeClr val="dk1"/>
                </a:solidFill>
                <a:latin typeface="Calibri"/>
                <a:ea typeface="Calibri"/>
                <a:cs typeface="Calibri"/>
                <a:sym typeface="Calibri"/>
              </a:rPr>
              <a:t>allows objects to be reused.</a:t>
            </a:r>
            <a:endParaRPr sz="3900"/>
          </a:p>
        </p:txBody>
      </p:sp>
      <p:sp>
        <p:nvSpPr>
          <p:cNvPr id="128" name="Google Shape;128;p1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29" name="Google Shape;129;p1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135" name="Google Shape;135;p11"/>
          <p:cNvSpPr txBox="1"/>
          <p:nvPr>
            <p:ph idx="1" type="body"/>
          </p:nvPr>
        </p:nvSpPr>
        <p:spPr>
          <a:xfrm>
            <a:off x="457200" y="1288975"/>
            <a:ext cx="8229600" cy="4708800"/>
          </a:xfrm>
          <a:prstGeom prst="rect">
            <a:avLst/>
          </a:prstGeom>
          <a:noFill/>
          <a:ln>
            <a:noFill/>
          </a:ln>
        </p:spPr>
        <p:txBody>
          <a:bodyPr anchorCtr="0" anchor="t" bIns="45700" lIns="91425" spcFirstLastPara="1" rIns="91425" wrap="square" tIns="45700">
            <a:noAutofit/>
          </a:bodyPr>
          <a:lstStyle/>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Object Database Example</a:t>
            </a:r>
            <a:endParaRPr/>
          </a:p>
        </p:txBody>
      </p:sp>
      <p:sp>
        <p:nvSpPr>
          <p:cNvPr id="136" name="Google Shape;136;p1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37" name="Google Shape;137;p1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2_illus12" id="138" name="Google Shape;138;p11"/>
          <p:cNvPicPr preferRelativeResize="0"/>
          <p:nvPr/>
        </p:nvPicPr>
        <p:blipFill rotWithShape="1">
          <a:blip r:embed="rId3">
            <a:alphaModFix/>
          </a:blip>
          <a:srcRect b="33332" l="21568" r="21568" t="34091"/>
          <a:stretch/>
        </p:blipFill>
        <p:spPr>
          <a:xfrm>
            <a:off x="1295400" y="2286000"/>
            <a:ext cx="6934199" cy="4495800"/>
          </a:xfrm>
          <a:prstGeom prst="rect">
            <a:avLst/>
          </a:prstGeom>
          <a:noFill/>
          <a:ln>
            <a:noFill/>
          </a:ln>
        </p:spPr>
      </p:pic>
      <p:sp>
        <p:nvSpPr>
          <p:cNvPr id="139" name="Google Shape;139;p1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
                                        </p:tgtEl>
                                        <p:attrNameLst>
                                          <p:attrName>style.visibility</p:attrName>
                                        </p:attrNameLst>
                                      </p:cBhvr>
                                      <p:to>
                                        <p:strVal val="visible"/>
                                      </p:to>
                                    </p:set>
                                    <p:anim calcmode="lin" valueType="num">
                                      <p:cBhvr additive="base">
                                        <p:cTn dur="500"/>
                                        <p:tgtEl>
                                          <p:spTgt spid="13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7892afeb2c_0_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342900" lvl="0" marL="342900" rtl="0" algn="l">
              <a:spcBef>
                <a:spcPts val="0"/>
              </a:spcBef>
              <a:spcAft>
                <a:spcPts val="0"/>
              </a:spcAft>
              <a:buClr>
                <a:srgbClr val="0070C0"/>
              </a:buClr>
              <a:buSzPts val="6000"/>
              <a:buFont typeface="Noto Sans Symbols"/>
              <a:buChar char="▪"/>
            </a:pPr>
            <a:r>
              <a:rPr b="0" lang="en-US" sz="4000"/>
              <a:t>Object Database Example</a:t>
            </a:r>
            <a:endParaRPr/>
          </a:p>
        </p:txBody>
      </p:sp>
      <p:sp>
        <p:nvSpPr>
          <p:cNvPr id="145" name="Google Shape;145;g37892afeb2c_0_0"/>
          <p:cNvSpPr txBox="1"/>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b="0" i="0" sz="1400" u="none" cap="none" strike="noStrike">
              <a:solidFill>
                <a:srgbClr val="000000"/>
              </a:solidFill>
              <a:latin typeface="Arial"/>
              <a:ea typeface="Arial"/>
              <a:cs typeface="Arial"/>
              <a:sym typeface="Arial"/>
            </a:endParaRPr>
          </a:p>
        </p:txBody>
      </p:sp>
      <p:sp>
        <p:nvSpPr>
          <p:cNvPr id="146" name="Google Shape;146;g37892afeb2c_0_0"/>
          <p:cNvSpPr txBox="1"/>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47" name="Google Shape;147;g37892afeb2c_0_0"/>
          <p:cNvPicPr preferRelativeResize="0"/>
          <p:nvPr/>
        </p:nvPicPr>
        <p:blipFill rotWithShape="1">
          <a:blip r:embed="rId3">
            <a:alphaModFix/>
          </a:blip>
          <a:srcRect b="7514" l="0" r="0" t="14858"/>
          <a:stretch/>
        </p:blipFill>
        <p:spPr>
          <a:xfrm>
            <a:off x="246875" y="1930000"/>
            <a:ext cx="8004024" cy="4660099"/>
          </a:xfrm>
          <a:prstGeom prst="rect">
            <a:avLst/>
          </a:prstGeom>
          <a:noFill/>
          <a:ln>
            <a:noFill/>
          </a:ln>
        </p:spPr>
      </p:pic>
      <p:sp>
        <p:nvSpPr>
          <p:cNvPr id="148" name="Google Shape;148;g37892afeb2c_0_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7892afeb2c_0_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342900" lvl="0" marL="342900" rtl="0" algn="l">
              <a:spcBef>
                <a:spcPts val="0"/>
              </a:spcBef>
              <a:spcAft>
                <a:spcPts val="0"/>
              </a:spcAft>
              <a:buClr>
                <a:srgbClr val="0070C0"/>
              </a:buClr>
              <a:buSzPts val="6000"/>
              <a:buFont typeface="Noto Sans Symbols"/>
              <a:buChar char="▪"/>
            </a:pPr>
            <a:r>
              <a:rPr b="0" lang="en-US" sz="4000"/>
              <a:t>Object Database Example</a:t>
            </a:r>
            <a:endParaRPr/>
          </a:p>
        </p:txBody>
      </p:sp>
      <p:sp>
        <p:nvSpPr>
          <p:cNvPr id="154" name="Google Shape;154;g37892afeb2c_0_7"/>
          <p:cNvSpPr txBox="1"/>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b="0" i="0" sz="1400" u="none" cap="none" strike="noStrike">
              <a:solidFill>
                <a:srgbClr val="000000"/>
              </a:solidFill>
              <a:latin typeface="Arial"/>
              <a:ea typeface="Arial"/>
              <a:cs typeface="Arial"/>
              <a:sym typeface="Arial"/>
            </a:endParaRPr>
          </a:p>
        </p:txBody>
      </p:sp>
      <p:sp>
        <p:nvSpPr>
          <p:cNvPr id="155" name="Google Shape;155;g37892afeb2c_0_7"/>
          <p:cNvSpPr txBox="1"/>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56" name="Google Shape;156;g37892afeb2c_0_7"/>
          <p:cNvPicPr preferRelativeResize="0"/>
          <p:nvPr/>
        </p:nvPicPr>
        <p:blipFill>
          <a:blip r:embed="rId3">
            <a:alphaModFix/>
          </a:blip>
          <a:stretch>
            <a:fillRect/>
          </a:stretch>
        </p:blipFill>
        <p:spPr>
          <a:xfrm>
            <a:off x="76200" y="1592580"/>
            <a:ext cx="8991599" cy="4588816"/>
          </a:xfrm>
          <a:prstGeom prst="rect">
            <a:avLst/>
          </a:prstGeom>
          <a:noFill/>
          <a:ln>
            <a:noFill/>
          </a:ln>
        </p:spPr>
      </p:pic>
      <p:sp>
        <p:nvSpPr>
          <p:cNvPr id="157" name="Google Shape;157;g37892afeb2c_0_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Multidimensional Databases</a:t>
            </a:r>
            <a:endParaRPr/>
          </a:p>
        </p:txBody>
      </p:sp>
      <p:sp>
        <p:nvSpPr>
          <p:cNvPr id="163" name="Google Shape;163;p12"/>
          <p:cNvSpPr txBox="1"/>
          <p:nvPr>
            <p:ph idx="1" type="body"/>
          </p:nvPr>
        </p:nvSpPr>
        <p:spPr>
          <a:xfrm>
            <a:off x="457200" y="1501225"/>
            <a:ext cx="8229600" cy="5020200"/>
          </a:xfrm>
          <a:prstGeom prst="rect">
            <a:avLst/>
          </a:prstGeom>
          <a:noFill/>
          <a:ln>
            <a:noFill/>
          </a:ln>
        </p:spPr>
        <p:txBody>
          <a:bodyPr anchorCtr="0" anchor="t" bIns="45700" lIns="91425" spcFirstLastPara="1" rIns="91425" wrap="square" tIns="45700">
            <a:noAutofit/>
          </a:bodyPr>
          <a:lstStyle/>
          <a:p>
            <a:pPr indent="-301625" lvl="0" marL="342900" marR="0" rtl="0" algn="just">
              <a:lnSpc>
                <a:spcPct val="100000"/>
              </a:lnSpc>
              <a:spcBef>
                <a:spcPts val="0"/>
              </a:spcBef>
              <a:spcAft>
                <a:spcPts val="0"/>
              </a:spcAft>
              <a:buClr>
                <a:srgbClr val="0070C0"/>
              </a:buClr>
              <a:buSzPts val="3700"/>
              <a:buFont typeface="Noto Sans Symbols"/>
              <a:buChar char="▪"/>
            </a:pPr>
            <a:r>
              <a:rPr b="0" i="0" lang="en-US" sz="2800" u="none">
                <a:solidFill>
                  <a:schemeClr val="dk1"/>
                </a:solidFill>
                <a:latin typeface="Calibri"/>
                <a:ea typeface="Calibri"/>
                <a:cs typeface="Calibri"/>
                <a:sym typeface="Calibri"/>
              </a:rPr>
              <a:t>A </a:t>
            </a:r>
            <a:r>
              <a:rPr b="1" i="1" lang="en-US" sz="2800" u="none">
                <a:solidFill>
                  <a:srgbClr val="0033CC"/>
                </a:solidFill>
                <a:latin typeface="Calibri"/>
                <a:ea typeface="Calibri"/>
                <a:cs typeface="Calibri"/>
                <a:sym typeface="Calibri"/>
              </a:rPr>
              <a:t>multidimensional database </a:t>
            </a:r>
            <a:r>
              <a:rPr b="0" i="0" lang="en-US" sz="2800" u="none">
                <a:solidFill>
                  <a:schemeClr val="dk1"/>
                </a:solidFill>
                <a:latin typeface="Calibri"/>
                <a:ea typeface="Calibri"/>
                <a:cs typeface="Calibri"/>
                <a:sym typeface="Calibri"/>
              </a:rPr>
              <a:t>is a type of relational database that is used extensively in data warehousing.</a:t>
            </a:r>
            <a:endParaRPr sz="3900"/>
          </a:p>
          <a:p>
            <a:pPr indent="-301625" lvl="0" marL="342900" marR="0" rtl="0" algn="just">
              <a:lnSpc>
                <a:spcPct val="100000"/>
              </a:lnSpc>
              <a:spcBef>
                <a:spcPts val="0"/>
              </a:spcBef>
              <a:spcAft>
                <a:spcPts val="0"/>
              </a:spcAft>
              <a:buClr>
                <a:srgbClr val="0070C0"/>
              </a:buClr>
              <a:buSzPts val="3700"/>
              <a:buFont typeface="Noto Sans Symbols"/>
              <a:buChar char="▪"/>
            </a:pPr>
            <a:r>
              <a:rPr b="1" i="1" lang="en-US" sz="2800" u="none">
                <a:solidFill>
                  <a:srgbClr val="0033CC"/>
                </a:solidFill>
                <a:latin typeface="Calibri"/>
                <a:ea typeface="Calibri"/>
                <a:cs typeface="Calibri"/>
                <a:sym typeface="Calibri"/>
              </a:rPr>
              <a:t>Data warehousing </a:t>
            </a:r>
            <a:r>
              <a:rPr b="0" i="0" lang="en-US" sz="2800" u="none">
                <a:solidFill>
                  <a:schemeClr val="dk1"/>
                </a:solidFill>
                <a:latin typeface="Calibri"/>
                <a:ea typeface="Calibri"/>
                <a:cs typeface="Calibri"/>
                <a:sym typeface="Calibri"/>
              </a:rPr>
              <a:t>is the practice of taking and storing data in a data warehouse (i.e., a large database) that supports </a:t>
            </a:r>
            <a:r>
              <a:rPr b="1" i="1" lang="en-US" sz="2800" u="none">
                <a:solidFill>
                  <a:srgbClr val="0033CC"/>
                </a:solidFill>
                <a:latin typeface="Calibri"/>
                <a:ea typeface="Calibri"/>
                <a:cs typeface="Calibri"/>
                <a:sym typeface="Calibri"/>
              </a:rPr>
              <a:t>decision support systems (DSS)</a:t>
            </a:r>
            <a:r>
              <a:rPr b="0" i="0" lang="en-US" sz="2800" u="none">
                <a:solidFill>
                  <a:schemeClr val="dk1"/>
                </a:solidFill>
                <a:latin typeface="Calibri"/>
                <a:ea typeface="Calibri"/>
                <a:cs typeface="Calibri"/>
                <a:sym typeface="Calibri"/>
              </a:rPr>
              <a:t>.</a:t>
            </a:r>
            <a:endParaRPr sz="3900"/>
          </a:p>
          <a:p>
            <a:pPr indent="-301625" lvl="0" marL="342900" marR="0" rtl="0" algn="just">
              <a:lnSpc>
                <a:spcPct val="100000"/>
              </a:lnSpc>
              <a:spcBef>
                <a:spcPts val="0"/>
              </a:spcBef>
              <a:spcAft>
                <a:spcPts val="0"/>
              </a:spcAft>
              <a:buClr>
                <a:srgbClr val="0070C0"/>
              </a:buClr>
              <a:buSzPts val="3700"/>
              <a:buFont typeface="Noto Sans Symbols"/>
              <a:buChar char="▪"/>
            </a:pPr>
            <a:r>
              <a:rPr b="1" i="1" lang="en-US" sz="2800" u="none">
                <a:solidFill>
                  <a:srgbClr val="0033CC"/>
                </a:solidFill>
                <a:latin typeface="Calibri"/>
                <a:ea typeface="Calibri"/>
                <a:cs typeface="Calibri"/>
                <a:sym typeface="Calibri"/>
              </a:rPr>
              <a:t>Data marts </a:t>
            </a:r>
            <a:r>
              <a:rPr b="0" i="0" lang="en-US" sz="2800" u="none">
                <a:solidFill>
                  <a:schemeClr val="dk1"/>
                </a:solidFill>
                <a:latin typeface="Calibri"/>
                <a:ea typeface="Calibri"/>
                <a:cs typeface="Calibri"/>
                <a:sym typeface="Calibri"/>
              </a:rPr>
              <a:t>are smaller databases based on data warehouse data, and support DSS for specific departments or functional areas of the organization</a:t>
            </a:r>
            <a:r>
              <a:rPr lang="en-US" sz="2800"/>
              <a:t>.</a:t>
            </a:r>
            <a:endParaRPr b="0" i="0" sz="2400" u="none">
              <a:solidFill>
                <a:schemeClr val="dk1"/>
              </a:solidFill>
              <a:latin typeface="Calibri"/>
              <a:ea typeface="Calibri"/>
              <a:cs typeface="Calibri"/>
              <a:sym typeface="Calibri"/>
            </a:endParaRPr>
          </a:p>
        </p:txBody>
      </p:sp>
      <p:sp>
        <p:nvSpPr>
          <p:cNvPr id="164" name="Google Shape;164;p1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65" name="Google Shape;165;p1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7892afeb2c_0_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Multidimensional Databases</a:t>
            </a:r>
            <a:endParaRPr/>
          </a:p>
        </p:txBody>
      </p:sp>
      <p:sp>
        <p:nvSpPr>
          <p:cNvPr id="171" name="Google Shape;171;g37892afeb2c_0_27"/>
          <p:cNvSpPr txBox="1"/>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72" name="Google Shape;172;g37892afeb2c_0_27"/>
          <p:cNvPicPr preferRelativeResize="0"/>
          <p:nvPr/>
        </p:nvPicPr>
        <p:blipFill>
          <a:blip r:embed="rId3">
            <a:alphaModFix/>
          </a:blip>
          <a:stretch>
            <a:fillRect/>
          </a:stretch>
        </p:blipFill>
        <p:spPr>
          <a:xfrm>
            <a:off x="563088" y="1624774"/>
            <a:ext cx="8017825" cy="4788200"/>
          </a:xfrm>
          <a:prstGeom prst="rect">
            <a:avLst/>
          </a:prstGeom>
          <a:noFill/>
          <a:ln>
            <a:noFill/>
          </a:ln>
        </p:spPr>
      </p:pic>
      <p:sp>
        <p:nvSpPr>
          <p:cNvPr id="173" name="Google Shape;173;g37892afeb2c_0_2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4e0fa712e0_4_165"/>
          <p:cNvSpPr txBox="1"/>
          <p:nvPr>
            <p:ph type="title"/>
          </p:nvPr>
        </p:nvSpPr>
        <p:spPr>
          <a:xfrm>
            <a:off x="304800" y="777291"/>
            <a:ext cx="85344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NoSQL Databases</a:t>
            </a:r>
            <a:endParaRPr/>
          </a:p>
        </p:txBody>
      </p:sp>
      <p:sp>
        <p:nvSpPr>
          <p:cNvPr id="179" name="Google Shape;179;g34e0fa712e0_4_165"/>
          <p:cNvSpPr txBox="1"/>
          <p:nvPr>
            <p:ph idx="1" type="body"/>
          </p:nvPr>
        </p:nvSpPr>
        <p:spPr>
          <a:xfrm>
            <a:off x="304800" y="1752600"/>
            <a:ext cx="8534400" cy="4495800"/>
          </a:xfrm>
          <a:prstGeom prst="rect">
            <a:avLst/>
          </a:prstGeom>
          <a:noFill/>
          <a:ln>
            <a:noFill/>
          </a:ln>
        </p:spPr>
        <p:txBody>
          <a:bodyPr anchorCtr="0" anchor="t" bIns="45700" lIns="91425" spcFirstLastPara="1" rIns="91425" wrap="square" tIns="45700">
            <a:normAutofit lnSpcReduction="20000"/>
          </a:bodyPr>
          <a:lstStyle/>
          <a:p>
            <a:pPr indent="-298958" lvl="0" marL="292608" marR="0" rtl="0" algn="l">
              <a:lnSpc>
                <a:spcPct val="90000"/>
              </a:lnSpc>
              <a:spcBef>
                <a:spcPts val="0"/>
              </a:spcBef>
              <a:spcAft>
                <a:spcPts val="0"/>
              </a:spcAft>
              <a:buClr>
                <a:schemeClr val="accent2"/>
              </a:buClr>
              <a:buSzPts val="2900"/>
              <a:buFont typeface="Arial"/>
              <a:buChar char="•"/>
            </a:pPr>
            <a:r>
              <a:rPr lang="en-US" sz="2900"/>
              <a:t>Newest database approach; not based on the relational model or SQL</a:t>
            </a:r>
            <a:endParaRPr sz="2900"/>
          </a:p>
          <a:p>
            <a:pPr indent="-298958" lvl="0" marL="292608" marR="0" rtl="0" algn="l">
              <a:lnSpc>
                <a:spcPct val="90000"/>
              </a:lnSpc>
              <a:spcBef>
                <a:spcPts val="1000"/>
              </a:spcBef>
              <a:spcAft>
                <a:spcPts val="0"/>
              </a:spcAft>
              <a:buClr>
                <a:schemeClr val="accent2"/>
              </a:buClr>
              <a:buSzPts val="2900"/>
              <a:buFont typeface="Arial"/>
              <a:buChar char="•"/>
            </a:pPr>
            <a:r>
              <a:rPr lang="en-US" sz="2900"/>
              <a:t>Rapid processing on replicated database servers in the cloud</a:t>
            </a:r>
            <a:endParaRPr sz="2900"/>
          </a:p>
          <a:p>
            <a:pPr indent="-298958" lvl="0" marL="292608" marR="0" rtl="0" algn="l">
              <a:lnSpc>
                <a:spcPct val="90000"/>
              </a:lnSpc>
              <a:spcBef>
                <a:spcPts val="1000"/>
              </a:spcBef>
              <a:spcAft>
                <a:spcPts val="0"/>
              </a:spcAft>
              <a:buClr>
                <a:schemeClr val="accent2"/>
              </a:buClr>
              <a:buSzPts val="2900"/>
              <a:buFont typeface="Arial"/>
              <a:buChar char="•"/>
            </a:pPr>
            <a:r>
              <a:rPr lang="en-US" sz="2900"/>
              <a:t>Various types include:</a:t>
            </a:r>
            <a:endParaRPr sz="2900"/>
          </a:p>
          <a:p>
            <a:pPr indent="-326390" lvl="1" marL="621792" rtl="0" algn="l">
              <a:lnSpc>
                <a:spcPct val="90000"/>
              </a:lnSpc>
              <a:spcBef>
                <a:spcPts val="500"/>
              </a:spcBef>
              <a:spcAft>
                <a:spcPts val="0"/>
              </a:spcAft>
              <a:buSzPts val="2020"/>
              <a:buChar char="o"/>
            </a:pPr>
            <a:r>
              <a:rPr b="1" i="1" lang="en-US" sz="2500"/>
              <a:t>Document-oriented databases</a:t>
            </a:r>
            <a:r>
              <a:rPr lang="en-US" sz="2500"/>
              <a:t>: manage collection of documents of varying forms and structures (example: Mongo DB)</a:t>
            </a:r>
            <a:endParaRPr sz="2500"/>
          </a:p>
          <a:p>
            <a:pPr indent="-326390" lvl="1" marL="621792" rtl="0" algn="l">
              <a:lnSpc>
                <a:spcPct val="90000"/>
              </a:lnSpc>
              <a:spcBef>
                <a:spcPts val="500"/>
              </a:spcBef>
              <a:spcAft>
                <a:spcPts val="0"/>
              </a:spcAft>
              <a:buSzPts val="2020"/>
              <a:buChar char="o"/>
            </a:pPr>
            <a:r>
              <a:rPr b="1" i="1" lang="en-US" sz="2500"/>
              <a:t>Wide column databases</a:t>
            </a:r>
            <a:r>
              <a:rPr lang="en-US" sz="2500"/>
              <a:t>: store data in records holding very large numbers of dynamic columns (potentially billions of columns). Example: Bigtable, Cassandra, Dynamo</a:t>
            </a:r>
            <a:endParaRPr sz="2500"/>
          </a:p>
          <a:p>
            <a:pPr indent="-326390" lvl="1" marL="621792" rtl="0" algn="l">
              <a:lnSpc>
                <a:spcPct val="90000"/>
              </a:lnSpc>
              <a:spcBef>
                <a:spcPts val="500"/>
              </a:spcBef>
              <a:spcAft>
                <a:spcPts val="0"/>
              </a:spcAft>
              <a:buSzPts val="2020"/>
              <a:buChar char="o"/>
            </a:pPr>
            <a:r>
              <a:rPr b="1" i="1" lang="en-US" sz="2500"/>
              <a:t>Graph databases</a:t>
            </a:r>
            <a:r>
              <a:rPr lang="en-US" sz="2500"/>
              <a:t>: a collection of nodes and edges using graph theory to store, map, and query relationships</a:t>
            </a:r>
            <a:endParaRPr sz="2500"/>
          </a:p>
        </p:txBody>
      </p:sp>
      <p:sp>
        <p:nvSpPr>
          <p:cNvPr id="180" name="Google Shape;180;g34e0fa712e0_4_165"/>
          <p:cNvSpPr txBox="1"/>
          <p:nvPr>
            <p:ph idx="12" type="sldNum"/>
          </p:nvPr>
        </p:nvSpPr>
        <p:spPr>
          <a:xfrm>
            <a:off x="6457950" y="6356351"/>
            <a:ext cx="2381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10-</a:t>
            </a: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Comparing Data Storage Formats</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186" name="Google Shape;186;p1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87" name="Google Shape;187;p13"/>
          <p:cNvSpPr txBox="1"/>
          <p:nvPr/>
        </p:nvSpPr>
        <p:spPr>
          <a:xfrm>
            <a:off x="457200" y="42862"/>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Selecting a Storage Format</a:t>
            </a:r>
            <a:endParaRPr/>
          </a:p>
        </p:txBody>
      </p:sp>
      <p:graphicFrame>
        <p:nvGraphicFramePr>
          <p:cNvPr id="188" name="Google Shape;188;p13"/>
          <p:cNvGraphicFramePr/>
          <p:nvPr/>
        </p:nvGraphicFramePr>
        <p:xfrm>
          <a:off x="124400" y="1014600"/>
          <a:ext cx="3000000" cy="3000000"/>
        </p:xfrm>
        <a:graphic>
          <a:graphicData uri="http://schemas.openxmlformats.org/drawingml/2006/table">
            <a:tbl>
              <a:tblPr bandRow="1" firstRow="1">
                <a:noFill/>
                <a:tableStyleId>{6B7F09DA-276E-4245-8AA0-0449F03A52F7}</a:tableStyleId>
              </a:tblPr>
              <a:tblGrid>
                <a:gridCol w="992775"/>
                <a:gridCol w="1310450"/>
                <a:gridCol w="1191325"/>
                <a:gridCol w="1489150"/>
                <a:gridCol w="1191325"/>
                <a:gridCol w="1310450"/>
                <a:gridCol w="1409725"/>
              </a:tblGrid>
              <a:tr h="3763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US" sz="1200"/>
                        <a:t>Files</a:t>
                      </a:r>
                      <a:endParaRPr sz="1200"/>
                    </a:p>
                  </a:txBody>
                  <a:tcPr marT="45725" marB="45725" marR="91450" marL="91450"/>
                </a:tc>
                <a:tc>
                  <a:txBody>
                    <a:bodyPr/>
                    <a:lstStyle/>
                    <a:p>
                      <a:pPr indent="0" lvl="0" marL="0" marR="0" rtl="0" algn="l">
                        <a:spcBef>
                          <a:spcPts val="0"/>
                        </a:spcBef>
                        <a:spcAft>
                          <a:spcPts val="0"/>
                        </a:spcAft>
                        <a:buNone/>
                      </a:pPr>
                      <a:r>
                        <a:rPr lang="en-US" sz="1200"/>
                        <a:t>Legacy</a:t>
                      </a:r>
                      <a:br>
                        <a:rPr lang="en-US" sz="1200"/>
                      </a:br>
                      <a:r>
                        <a:rPr lang="en-US" sz="1200"/>
                        <a:t>databases</a:t>
                      </a:r>
                      <a:endParaRPr sz="1200"/>
                    </a:p>
                  </a:txBody>
                  <a:tcPr marT="45725" marB="45725" marR="91450" marL="91450"/>
                </a:tc>
                <a:tc>
                  <a:txBody>
                    <a:bodyPr/>
                    <a:lstStyle/>
                    <a:p>
                      <a:pPr indent="0" lvl="0" marL="0" marR="0" rtl="0" algn="l">
                        <a:spcBef>
                          <a:spcPts val="0"/>
                        </a:spcBef>
                        <a:spcAft>
                          <a:spcPts val="0"/>
                        </a:spcAft>
                        <a:buNone/>
                      </a:pPr>
                      <a:r>
                        <a:rPr lang="en-US" sz="1200"/>
                        <a:t>Relational</a:t>
                      </a:r>
                      <a:br>
                        <a:rPr lang="en-US" sz="1200"/>
                      </a:br>
                      <a:r>
                        <a:rPr lang="en-US" sz="1200"/>
                        <a:t>databases</a:t>
                      </a:r>
                      <a:endParaRPr sz="1200"/>
                    </a:p>
                  </a:txBody>
                  <a:tcPr marT="45725" marB="45725" marR="91450" marL="91450"/>
                </a:tc>
                <a:tc>
                  <a:txBody>
                    <a:bodyPr/>
                    <a:lstStyle/>
                    <a:p>
                      <a:pPr indent="0" lvl="0" marL="0" marR="0" rtl="0" algn="l">
                        <a:spcBef>
                          <a:spcPts val="0"/>
                        </a:spcBef>
                        <a:spcAft>
                          <a:spcPts val="0"/>
                        </a:spcAft>
                        <a:buNone/>
                      </a:pPr>
                      <a:r>
                        <a:rPr lang="en-US" sz="1200"/>
                        <a:t>Object</a:t>
                      </a:r>
                      <a:br>
                        <a:rPr lang="en-US" sz="1200"/>
                      </a:br>
                      <a:r>
                        <a:rPr lang="en-US" sz="1200"/>
                        <a:t>databases</a:t>
                      </a:r>
                      <a:endParaRPr sz="1200"/>
                    </a:p>
                  </a:txBody>
                  <a:tcPr marT="45725" marB="45725" marR="91450" marL="91450"/>
                </a:tc>
                <a:tc>
                  <a:txBody>
                    <a:bodyPr/>
                    <a:lstStyle/>
                    <a:p>
                      <a:pPr indent="0" lvl="0" marL="0" marR="0" rtl="0" algn="l">
                        <a:spcBef>
                          <a:spcPts val="0"/>
                        </a:spcBef>
                        <a:spcAft>
                          <a:spcPts val="0"/>
                        </a:spcAft>
                        <a:buNone/>
                      </a:pPr>
                      <a:r>
                        <a:rPr lang="en-US" sz="1200"/>
                        <a:t>Multidimensional</a:t>
                      </a:r>
                      <a:br>
                        <a:rPr lang="en-US" sz="1200"/>
                      </a:br>
                      <a:r>
                        <a:rPr lang="en-US" sz="1200"/>
                        <a:t>databases</a:t>
                      </a:r>
                      <a:endParaRPr sz="1200"/>
                    </a:p>
                  </a:txBody>
                  <a:tcPr marT="45725" marB="45725" marR="91450" marL="91450"/>
                </a:tc>
                <a:tc>
                  <a:txBody>
                    <a:bodyPr/>
                    <a:lstStyle/>
                    <a:p>
                      <a:pPr indent="0" lvl="0" marL="0" marR="0" rtl="0" algn="l">
                        <a:spcBef>
                          <a:spcPts val="0"/>
                        </a:spcBef>
                        <a:spcAft>
                          <a:spcPts val="0"/>
                        </a:spcAft>
                        <a:buNone/>
                      </a:pPr>
                      <a:r>
                        <a:rPr lang="en-US" sz="1200"/>
                        <a:t>NoSQL</a:t>
                      </a:r>
                      <a:br>
                        <a:rPr lang="en-US" sz="1200"/>
                      </a:br>
                      <a:r>
                        <a:rPr lang="en-US" sz="1200"/>
                        <a:t>databases</a:t>
                      </a:r>
                      <a:endParaRPr sz="1200"/>
                    </a:p>
                  </a:txBody>
                  <a:tcPr marT="45725" marB="45725" marR="91450" marL="91450"/>
                </a:tc>
              </a:tr>
              <a:tr h="677475">
                <a:tc>
                  <a:txBody>
                    <a:bodyPr/>
                    <a:lstStyle/>
                    <a:p>
                      <a:pPr indent="0" lvl="0" marL="0" marR="0" rtl="0" algn="l">
                        <a:spcBef>
                          <a:spcPts val="0"/>
                        </a:spcBef>
                        <a:spcAft>
                          <a:spcPts val="0"/>
                        </a:spcAft>
                        <a:buNone/>
                      </a:pPr>
                      <a:r>
                        <a:rPr lang="en-US" sz="1200"/>
                        <a:t>Major</a:t>
                      </a:r>
                      <a:r>
                        <a:rPr lang="en-US" sz="1200"/>
                        <a:t> strengths</a:t>
                      </a:r>
                      <a:endParaRPr sz="1200"/>
                    </a:p>
                  </a:txBody>
                  <a:tcPr marT="45725" marB="45725" marR="91450" marL="91450"/>
                </a:tc>
                <a:tc>
                  <a:txBody>
                    <a:bodyPr/>
                    <a:lstStyle/>
                    <a:p>
                      <a:pPr indent="0" lvl="0" marL="0" marR="0" rtl="0" algn="l">
                        <a:spcBef>
                          <a:spcPts val="0"/>
                        </a:spcBef>
                        <a:spcAft>
                          <a:spcPts val="0"/>
                        </a:spcAft>
                        <a:buNone/>
                      </a:pPr>
                      <a:r>
                        <a:rPr lang="en-US" sz="1200"/>
                        <a:t>Files can be designed for fast performance; good for short-term data storage.</a:t>
                      </a:r>
                      <a:endParaRPr sz="1200"/>
                    </a:p>
                  </a:txBody>
                  <a:tcPr marT="45725" marB="45725" marR="91450" marL="91450"/>
                </a:tc>
                <a:tc>
                  <a:txBody>
                    <a:bodyPr/>
                    <a:lstStyle/>
                    <a:p>
                      <a:pPr indent="0" lvl="0" marL="0" marR="0" rtl="0" algn="l">
                        <a:spcBef>
                          <a:spcPts val="0"/>
                        </a:spcBef>
                        <a:spcAft>
                          <a:spcPts val="0"/>
                        </a:spcAft>
                        <a:buNone/>
                      </a:pPr>
                      <a:r>
                        <a:rPr lang="en-US" sz="1200"/>
                        <a:t>Very mature products</a:t>
                      </a:r>
                      <a:endParaRPr sz="1200"/>
                    </a:p>
                  </a:txBody>
                  <a:tcPr marT="45725" marB="45725" marR="91450" marL="91450"/>
                </a:tc>
                <a:tc>
                  <a:txBody>
                    <a:bodyPr/>
                    <a:lstStyle/>
                    <a:p>
                      <a:pPr indent="0" lvl="0" marL="0" marR="0" rtl="0" algn="l">
                        <a:spcBef>
                          <a:spcPts val="0"/>
                        </a:spcBef>
                        <a:spcAft>
                          <a:spcPts val="0"/>
                        </a:spcAft>
                        <a:buNone/>
                      </a:pPr>
                      <a:r>
                        <a:rPr lang="en-US" sz="1200"/>
                        <a:t>Leader in the database market; can handle fast updating and querying needs</a:t>
                      </a:r>
                      <a:endParaRPr sz="1200"/>
                    </a:p>
                  </a:txBody>
                  <a:tcPr marT="45725" marB="45725" marR="91450" marL="91450"/>
                </a:tc>
                <a:tc>
                  <a:txBody>
                    <a:bodyPr/>
                    <a:lstStyle/>
                    <a:p>
                      <a:pPr indent="0" lvl="0" marL="0" marR="0" rtl="0" algn="l">
                        <a:spcBef>
                          <a:spcPts val="0"/>
                        </a:spcBef>
                        <a:spcAft>
                          <a:spcPts val="0"/>
                        </a:spcAft>
                        <a:buNone/>
                      </a:pPr>
                      <a:r>
                        <a:rPr lang="en-US" sz="1200"/>
                        <a:t>Able to handle complex data</a:t>
                      </a:r>
                      <a:endParaRPr sz="1200"/>
                    </a:p>
                  </a:txBody>
                  <a:tcPr marT="45725" marB="45725" marR="91450" marL="91450"/>
                </a:tc>
                <a:tc>
                  <a:txBody>
                    <a:bodyPr/>
                    <a:lstStyle/>
                    <a:p>
                      <a:pPr indent="0" lvl="0" marL="0" marR="0" rtl="0" algn="l">
                        <a:spcBef>
                          <a:spcPts val="0"/>
                        </a:spcBef>
                        <a:spcAft>
                          <a:spcPts val="0"/>
                        </a:spcAft>
                        <a:buNone/>
                      </a:pPr>
                      <a:r>
                        <a:rPr lang="en-US" sz="1200"/>
                        <a:t>Configured to answer business intelligence questions quickly</a:t>
                      </a:r>
                      <a:endParaRPr sz="1200"/>
                    </a:p>
                  </a:txBody>
                  <a:tcPr marT="45725" marB="45725" marR="91450" marL="91450"/>
                </a:tc>
                <a:tc>
                  <a:txBody>
                    <a:bodyPr/>
                    <a:lstStyle/>
                    <a:p>
                      <a:pPr indent="0" lvl="0" marL="0" marR="0" rtl="0" algn="l">
                        <a:spcBef>
                          <a:spcPts val="0"/>
                        </a:spcBef>
                        <a:spcAft>
                          <a:spcPts val="0"/>
                        </a:spcAft>
                        <a:buNone/>
                      </a:pPr>
                      <a:r>
                        <a:rPr lang="en-US" sz="1200"/>
                        <a:t>Designed for huge,</a:t>
                      </a:r>
                      <a:endParaRPr/>
                    </a:p>
                    <a:p>
                      <a:pPr indent="0" lvl="0" marL="0" marR="0" rtl="0" algn="l">
                        <a:spcBef>
                          <a:spcPts val="0"/>
                        </a:spcBef>
                        <a:spcAft>
                          <a:spcPts val="0"/>
                        </a:spcAft>
                        <a:buNone/>
                      </a:pPr>
                      <a:r>
                        <a:rPr lang="en-US" sz="1200"/>
                        <a:t>varied data sets</a:t>
                      </a:r>
                      <a:endParaRPr sz="1200"/>
                    </a:p>
                  </a:txBody>
                  <a:tcPr marT="45725" marB="45725" marR="91450" marL="91450"/>
                </a:tc>
              </a:tr>
              <a:tr h="526925">
                <a:tc>
                  <a:txBody>
                    <a:bodyPr/>
                    <a:lstStyle/>
                    <a:p>
                      <a:pPr indent="0" lvl="0" marL="0" marR="0" rtl="0" algn="l">
                        <a:spcBef>
                          <a:spcPts val="0"/>
                        </a:spcBef>
                        <a:spcAft>
                          <a:spcPts val="0"/>
                        </a:spcAft>
                        <a:buNone/>
                      </a:pPr>
                      <a:r>
                        <a:rPr lang="en-US" sz="1200"/>
                        <a:t>Major weaknesses</a:t>
                      </a:r>
                      <a:endParaRPr sz="1200"/>
                    </a:p>
                  </a:txBody>
                  <a:tcPr marT="45725" marB="45725" marR="91450" marL="91450"/>
                </a:tc>
                <a:tc>
                  <a:txBody>
                    <a:bodyPr/>
                    <a:lstStyle/>
                    <a:p>
                      <a:pPr indent="0" lvl="0" marL="0" marR="0" rtl="0" algn="l">
                        <a:spcBef>
                          <a:spcPts val="0"/>
                        </a:spcBef>
                        <a:spcAft>
                          <a:spcPts val="0"/>
                        </a:spcAft>
                        <a:buNone/>
                      </a:pPr>
                      <a:r>
                        <a:rPr lang="en-US" sz="1200"/>
                        <a:t>Redundant data; data must be updated using programs.</a:t>
                      </a:r>
                      <a:endParaRPr sz="1200"/>
                    </a:p>
                  </a:txBody>
                  <a:tcPr marT="45725" marB="45725" marR="91450" marL="91450"/>
                </a:tc>
                <a:tc>
                  <a:txBody>
                    <a:bodyPr/>
                    <a:lstStyle/>
                    <a:p>
                      <a:pPr indent="0" lvl="0" marL="0" marR="0" rtl="0" algn="l">
                        <a:spcBef>
                          <a:spcPts val="0"/>
                        </a:spcBef>
                        <a:spcAft>
                          <a:spcPts val="0"/>
                        </a:spcAft>
                        <a:buNone/>
                      </a:pPr>
                      <a:r>
                        <a:rPr lang="en-US" sz="1200"/>
                        <a:t>Not able to store data as</a:t>
                      </a:r>
                      <a:r>
                        <a:rPr lang="en-US" sz="1200"/>
                        <a:t> </a:t>
                      </a:r>
                      <a:r>
                        <a:rPr lang="en-US" sz="1200"/>
                        <a:t>efficiently; limited future</a:t>
                      </a:r>
                      <a:endParaRPr sz="1200"/>
                    </a:p>
                  </a:txBody>
                  <a:tcPr marT="45725" marB="45725" marR="91450" marL="91450"/>
                </a:tc>
                <a:tc>
                  <a:txBody>
                    <a:bodyPr/>
                    <a:lstStyle/>
                    <a:p>
                      <a:pPr indent="0" lvl="0" marL="0" marR="0" rtl="0" algn="l">
                        <a:spcBef>
                          <a:spcPts val="0"/>
                        </a:spcBef>
                        <a:spcAft>
                          <a:spcPts val="0"/>
                        </a:spcAft>
                        <a:buNone/>
                      </a:pPr>
                      <a:r>
                        <a:rPr lang="en-US" sz="1200"/>
                        <a:t>Cannot handle complex data</a:t>
                      </a:r>
                      <a:endParaRPr sz="1200"/>
                    </a:p>
                  </a:txBody>
                  <a:tcPr marT="45725" marB="45725" marR="91450" marL="91450"/>
                </a:tc>
                <a:tc>
                  <a:txBody>
                    <a:bodyPr/>
                    <a:lstStyle/>
                    <a:p>
                      <a:pPr indent="0" lvl="0" marL="0" marR="0" rtl="0" algn="l">
                        <a:spcBef>
                          <a:spcPts val="0"/>
                        </a:spcBef>
                        <a:spcAft>
                          <a:spcPts val="0"/>
                        </a:spcAft>
                        <a:buNone/>
                      </a:pPr>
                      <a:r>
                        <a:rPr lang="en-US" sz="1200"/>
                        <a:t>Limited market</a:t>
                      </a:r>
                      <a:endParaRPr/>
                    </a:p>
                    <a:p>
                      <a:pPr indent="0" lvl="0" marL="0" marR="0" rtl="0" algn="l">
                        <a:spcBef>
                          <a:spcPts val="0"/>
                        </a:spcBef>
                        <a:spcAft>
                          <a:spcPts val="0"/>
                        </a:spcAft>
                        <a:buNone/>
                      </a:pPr>
                      <a:r>
                        <a:rPr lang="en-US" sz="1200"/>
                        <a:t>acceptance; skills are hard to find.</a:t>
                      </a:r>
                      <a:endParaRPr sz="1200"/>
                    </a:p>
                  </a:txBody>
                  <a:tcPr marT="45725" marB="45725" marR="91450" marL="91450"/>
                </a:tc>
                <a:tc>
                  <a:txBody>
                    <a:bodyPr/>
                    <a:lstStyle/>
                    <a:p>
                      <a:pPr indent="0" lvl="0" marL="0" marR="0" rtl="0" algn="l">
                        <a:spcBef>
                          <a:spcPts val="0"/>
                        </a:spcBef>
                        <a:spcAft>
                          <a:spcPts val="0"/>
                        </a:spcAft>
                        <a:buNone/>
                      </a:pPr>
                      <a:r>
                        <a:rPr lang="en-US" sz="1200"/>
                        <a:t>Highly specialized use; skills are hard to find</a:t>
                      </a:r>
                      <a:endParaRPr sz="1200"/>
                    </a:p>
                  </a:txBody>
                  <a:tcPr marT="45725" marB="45725" marR="91450" marL="91450"/>
                </a:tc>
                <a:tc>
                  <a:txBody>
                    <a:bodyPr/>
                    <a:lstStyle/>
                    <a:p>
                      <a:pPr indent="0" lvl="0" marL="0" marR="0" rtl="0" algn="l">
                        <a:spcBef>
                          <a:spcPts val="0"/>
                        </a:spcBef>
                        <a:spcAft>
                          <a:spcPts val="0"/>
                        </a:spcAft>
                        <a:buNone/>
                      </a:pPr>
                      <a:r>
                        <a:rPr lang="en-US" sz="1200"/>
                        <a:t>New in the market, highly specialized use; skills are hard to find</a:t>
                      </a:r>
                      <a:endParaRPr sz="1200"/>
                    </a:p>
                  </a:txBody>
                  <a:tcPr marT="45725" marB="45725" marR="91450" marL="91450"/>
                </a:tc>
              </a:tr>
              <a:tr h="526925">
                <a:tc>
                  <a:txBody>
                    <a:bodyPr/>
                    <a:lstStyle/>
                    <a:p>
                      <a:pPr indent="0" lvl="0" marL="0" marR="0" rtl="0" algn="l">
                        <a:spcBef>
                          <a:spcPts val="0"/>
                        </a:spcBef>
                        <a:spcAft>
                          <a:spcPts val="0"/>
                        </a:spcAft>
                        <a:buNone/>
                      </a:pPr>
                      <a:r>
                        <a:rPr lang="en-US" sz="1200"/>
                        <a:t>Data types supported</a:t>
                      </a:r>
                      <a:endParaRPr sz="1200"/>
                    </a:p>
                  </a:txBody>
                  <a:tcPr marT="45725" marB="45725" marR="91450" marL="91450"/>
                </a:tc>
                <a:tc>
                  <a:txBody>
                    <a:bodyPr/>
                    <a:lstStyle/>
                    <a:p>
                      <a:pPr indent="0" lvl="0" marL="0" marR="0" rtl="0" algn="l">
                        <a:spcBef>
                          <a:spcPts val="0"/>
                        </a:spcBef>
                        <a:spcAft>
                          <a:spcPts val="0"/>
                        </a:spcAft>
                        <a:buNone/>
                      </a:pPr>
                      <a:r>
                        <a:rPr lang="en-US" sz="1200"/>
                        <a:t>Simple</a:t>
                      </a:r>
                      <a:endParaRPr sz="1200"/>
                    </a:p>
                  </a:txBody>
                  <a:tcPr marT="45725" marB="45725" marR="91450" marL="91450"/>
                </a:tc>
                <a:tc>
                  <a:txBody>
                    <a:bodyPr/>
                    <a:lstStyle/>
                    <a:p>
                      <a:pPr indent="0" lvl="0" marL="0" marR="0" rtl="0" algn="l">
                        <a:spcBef>
                          <a:spcPts val="0"/>
                        </a:spcBef>
                        <a:spcAft>
                          <a:spcPts val="0"/>
                        </a:spcAft>
                        <a:buNone/>
                      </a:pPr>
                      <a:r>
                        <a:rPr lang="en-US" sz="1200"/>
                        <a:t>Not recommended for new systems</a:t>
                      </a:r>
                      <a:endParaRPr sz="1200"/>
                    </a:p>
                  </a:txBody>
                  <a:tcPr marT="45725" marB="45725" marR="91450" marL="91450"/>
                </a:tc>
                <a:tc>
                  <a:txBody>
                    <a:bodyPr/>
                    <a:lstStyle/>
                    <a:p>
                      <a:pPr indent="0" lvl="0" marL="0" marR="0" rtl="0" algn="l">
                        <a:spcBef>
                          <a:spcPts val="0"/>
                        </a:spcBef>
                        <a:spcAft>
                          <a:spcPts val="0"/>
                        </a:spcAft>
                        <a:buNone/>
                      </a:pPr>
                      <a:r>
                        <a:rPr lang="en-US" sz="1200"/>
                        <a:t>Simple</a:t>
                      </a:r>
                      <a:endParaRPr sz="1200"/>
                    </a:p>
                  </a:txBody>
                  <a:tcPr marT="45725" marB="45725" marR="91450" marL="91450"/>
                </a:tc>
                <a:tc>
                  <a:txBody>
                    <a:bodyPr/>
                    <a:lstStyle/>
                    <a:p>
                      <a:pPr indent="0" lvl="0" marL="0" marR="0" rtl="0" algn="l">
                        <a:spcBef>
                          <a:spcPts val="0"/>
                        </a:spcBef>
                        <a:spcAft>
                          <a:spcPts val="0"/>
                        </a:spcAft>
                        <a:buNone/>
                      </a:pPr>
                      <a:r>
                        <a:rPr lang="en-US" sz="1200"/>
                        <a:t>Complex (e.g., video, audio, images)</a:t>
                      </a:r>
                      <a:endParaRPr sz="1200"/>
                    </a:p>
                  </a:txBody>
                  <a:tcPr marT="45725" marB="45725" marR="91450" marL="91450"/>
                </a:tc>
                <a:tc>
                  <a:txBody>
                    <a:bodyPr/>
                    <a:lstStyle/>
                    <a:p>
                      <a:pPr indent="0" lvl="0" marL="0" marR="0" rtl="0" algn="l">
                        <a:spcBef>
                          <a:spcPts val="0"/>
                        </a:spcBef>
                        <a:spcAft>
                          <a:spcPts val="0"/>
                        </a:spcAft>
                        <a:buNone/>
                      </a:pPr>
                      <a:r>
                        <a:rPr lang="en-US" sz="1200"/>
                        <a:t>Aggregated</a:t>
                      </a:r>
                      <a:endParaRPr sz="1200"/>
                    </a:p>
                  </a:txBody>
                  <a:tcPr marT="45725" marB="45725" marR="91450" marL="91450"/>
                </a:tc>
                <a:tc>
                  <a:txBody>
                    <a:bodyPr/>
                    <a:lstStyle/>
                    <a:p>
                      <a:pPr indent="0" lvl="0" marL="0" marR="0" rtl="0" algn="l">
                        <a:spcBef>
                          <a:spcPts val="0"/>
                        </a:spcBef>
                        <a:spcAft>
                          <a:spcPts val="0"/>
                        </a:spcAft>
                        <a:buNone/>
                      </a:pPr>
                      <a:r>
                        <a:rPr lang="en-US" sz="1200"/>
                        <a:t>Mixed data sets with structured and unstructured components</a:t>
                      </a:r>
                      <a:endParaRPr sz="1200"/>
                    </a:p>
                  </a:txBody>
                  <a:tcPr marT="45725" marB="45725" marR="91450" marL="91450"/>
                </a:tc>
              </a:tr>
              <a:tr h="677475">
                <a:tc>
                  <a:txBody>
                    <a:bodyPr/>
                    <a:lstStyle/>
                    <a:p>
                      <a:pPr indent="0" lvl="0" marL="0" marR="0" rtl="0" algn="l">
                        <a:spcBef>
                          <a:spcPts val="0"/>
                        </a:spcBef>
                        <a:spcAft>
                          <a:spcPts val="0"/>
                        </a:spcAft>
                        <a:buNone/>
                      </a:pPr>
                      <a:r>
                        <a:rPr lang="en-US" sz="1200"/>
                        <a:t>Application system types supported</a:t>
                      </a:r>
                      <a:endParaRPr sz="1200"/>
                    </a:p>
                  </a:txBody>
                  <a:tcPr marT="45725" marB="45725" marR="91450" marL="91450"/>
                </a:tc>
                <a:tc>
                  <a:txBody>
                    <a:bodyPr/>
                    <a:lstStyle/>
                    <a:p>
                      <a:pPr indent="0" lvl="0" marL="0" marR="0" rtl="0" algn="l">
                        <a:spcBef>
                          <a:spcPts val="0"/>
                        </a:spcBef>
                        <a:spcAft>
                          <a:spcPts val="0"/>
                        </a:spcAft>
                        <a:buNone/>
                      </a:pPr>
                      <a:r>
                        <a:rPr lang="en-US" sz="1200"/>
                        <a:t>Transaction</a:t>
                      </a:r>
                      <a:r>
                        <a:rPr lang="en-US" sz="1200"/>
                        <a:t> processing</a:t>
                      </a:r>
                      <a:endParaRPr sz="1200"/>
                    </a:p>
                  </a:txBody>
                  <a:tcPr marT="45725" marB="45725" marR="91450" marL="91450"/>
                </a:tc>
                <a:tc>
                  <a:txBody>
                    <a:bodyPr/>
                    <a:lstStyle/>
                    <a:p>
                      <a:pPr indent="0" lvl="0" marL="0" marR="0" rtl="0" algn="l">
                        <a:spcBef>
                          <a:spcPts val="0"/>
                        </a:spcBef>
                        <a:spcAft>
                          <a:spcPts val="0"/>
                        </a:spcAft>
                        <a:buNone/>
                      </a:pPr>
                      <a:r>
                        <a:rPr lang="en-US" sz="1200"/>
                        <a:t>Not</a:t>
                      </a:r>
                      <a:r>
                        <a:rPr lang="en-US" sz="1200"/>
                        <a:t> recommended for new systems</a:t>
                      </a:r>
                      <a:endParaRPr sz="1200"/>
                    </a:p>
                  </a:txBody>
                  <a:tcPr marT="45725" marB="45725" marR="91450" marL="91450"/>
                </a:tc>
                <a:tc>
                  <a:txBody>
                    <a:bodyPr/>
                    <a:lstStyle/>
                    <a:p>
                      <a:pPr indent="0" lvl="0" marL="0" marR="0" rtl="0" algn="l">
                        <a:spcBef>
                          <a:spcPts val="0"/>
                        </a:spcBef>
                        <a:spcAft>
                          <a:spcPts val="0"/>
                        </a:spcAft>
                        <a:buNone/>
                      </a:pPr>
                      <a:r>
                        <a:rPr lang="en-US" sz="1200"/>
                        <a:t>Transaction processing and decision making</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Transaction</a:t>
                      </a:r>
                      <a:r>
                        <a:rPr lang="en-US" sz="1200"/>
                        <a:t> processing</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US" sz="1200"/>
                        <a:t>Business intelligence</a:t>
                      </a:r>
                      <a:endParaRPr sz="1200"/>
                    </a:p>
                  </a:txBody>
                  <a:tcPr marT="45725" marB="45725" marR="91450" marL="91450"/>
                </a:tc>
                <a:tc>
                  <a:txBody>
                    <a:bodyPr/>
                    <a:lstStyle/>
                    <a:p>
                      <a:pPr indent="0" lvl="0" marL="0" marR="0" rtl="0" algn="l">
                        <a:spcBef>
                          <a:spcPts val="0"/>
                        </a:spcBef>
                        <a:spcAft>
                          <a:spcPts val="0"/>
                        </a:spcAft>
                        <a:buNone/>
                      </a:pPr>
                      <a:r>
                        <a:rPr lang="en-US" sz="1200"/>
                        <a:t>Business intelligence; finding patterns and relationships in mixed data</a:t>
                      </a:r>
                      <a:endParaRPr sz="1200"/>
                    </a:p>
                  </a:txBody>
                  <a:tcPr marT="45725" marB="45725" marR="91450" marL="91450"/>
                </a:tc>
              </a:tr>
              <a:tr h="526925">
                <a:tc>
                  <a:txBody>
                    <a:bodyPr/>
                    <a:lstStyle/>
                    <a:p>
                      <a:pPr indent="0" lvl="0" marL="0" marR="0" rtl="0" algn="l">
                        <a:spcBef>
                          <a:spcPts val="0"/>
                        </a:spcBef>
                        <a:spcAft>
                          <a:spcPts val="0"/>
                        </a:spcAft>
                        <a:buNone/>
                      </a:pPr>
                      <a:r>
                        <a:rPr lang="en-US" sz="1200"/>
                        <a:t>Existing data formats</a:t>
                      </a:r>
                      <a:endParaRPr sz="1200"/>
                    </a:p>
                  </a:txBody>
                  <a:tcPr marT="45725" marB="45725" marR="91450" marL="91450"/>
                </a:tc>
                <a:tc>
                  <a:txBody>
                    <a:bodyPr/>
                    <a:lstStyle/>
                    <a:p>
                      <a:pPr indent="0" lvl="0" marL="0" marR="0" rtl="0" algn="l">
                        <a:spcBef>
                          <a:spcPts val="0"/>
                        </a:spcBef>
                        <a:spcAft>
                          <a:spcPts val="0"/>
                        </a:spcAft>
                        <a:buNone/>
                      </a:pPr>
                      <a:r>
                        <a:rPr lang="en-US" sz="1200"/>
                        <a:t>Organization dependent</a:t>
                      </a:r>
                      <a:endParaRPr sz="1200"/>
                    </a:p>
                  </a:txBody>
                  <a:tcPr marT="45725" marB="45725" marR="91450" marL="91450"/>
                </a:tc>
                <a:tc>
                  <a:txBody>
                    <a:bodyPr/>
                    <a:lstStyle/>
                    <a:p>
                      <a:pPr indent="0" lvl="0" marL="0" marR="0" rtl="0" algn="l">
                        <a:spcBef>
                          <a:spcPts val="0"/>
                        </a:spcBef>
                        <a:spcAft>
                          <a:spcPts val="0"/>
                        </a:spcAft>
                        <a:buNone/>
                      </a:pPr>
                      <a:r>
                        <a:rPr lang="en-US" sz="1200"/>
                        <a:t>Organization dependent</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Organization dependent</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Organization dependent</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Organization dependent</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Organization dependent</a:t>
                      </a:r>
                      <a:endParaRPr/>
                    </a:p>
                    <a:p>
                      <a:pPr indent="0" lvl="0" marL="0" marR="0" rtl="0" algn="l">
                        <a:spcBef>
                          <a:spcPts val="0"/>
                        </a:spcBef>
                        <a:spcAft>
                          <a:spcPts val="0"/>
                        </a:spcAft>
                        <a:buNone/>
                      </a:pPr>
                      <a:r>
                        <a:t/>
                      </a:r>
                      <a:endParaRPr sz="1200"/>
                    </a:p>
                  </a:txBody>
                  <a:tcPr marT="45725" marB="45725" marR="91450" marL="91450"/>
                </a:tc>
              </a:tr>
              <a:tr h="376375">
                <a:tc>
                  <a:txBody>
                    <a:bodyPr/>
                    <a:lstStyle/>
                    <a:p>
                      <a:pPr indent="0" lvl="0" marL="0" marR="0" rtl="0" algn="l">
                        <a:spcBef>
                          <a:spcPts val="0"/>
                        </a:spcBef>
                        <a:spcAft>
                          <a:spcPts val="0"/>
                        </a:spcAft>
                        <a:buNone/>
                      </a:pPr>
                      <a:r>
                        <a:rPr lang="en-US" sz="1200"/>
                        <a:t>Future needs</a:t>
                      </a:r>
                      <a:endParaRPr sz="1200"/>
                    </a:p>
                  </a:txBody>
                  <a:tcPr marT="45725" marB="45725" marR="91450" marL="91450"/>
                </a:tc>
                <a:tc>
                  <a:txBody>
                    <a:bodyPr/>
                    <a:lstStyle/>
                    <a:p>
                      <a:pPr indent="0" lvl="0" marL="0" marR="0" rtl="0" algn="l">
                        <a:spcBef>
                          <a:spcPts val="0"/>
                        </a:spcBef>
                        <a:spcAft>
                          <a:spcPts val="0"/>
                        </a:spcAft>
                        <a:buNone/>
                      </a:pPr>
                      <a:r>
                        <a:rPr lang="en-US" sz="1200"/>
                        <a:t>Limited future prospects</a:t>
                      </a:r>
                      <a:endParaRPr sz="1200"/>
                    </a:p>
                  </a:txBody>
                  <a:tcPr marT="45725" marB="45725" marR="91450" marL="91450"/>
                </a:tc>
                <a:tc>
                  <a:txBody>
                    <a:bodyPr/>
                    <a:lstStyle/>
                    <a:p>
                      <a:pPr indent="0" lvl="0" marL="0" marR="0" rtl="0" algn="l">
                        <a:spcBef>
                          <a:spcPts val="0"/>
                        </a:spcBef>
                        <a:spcAft>
                          <a:spcPts val="0"/>
                        </a:spcAft>
                        <a:buNone/>
                      </a:pPr>
                      <a:r>
                        <a:rPr lang="en-US" sz="1200"/>
                        <a:t>Poor future prospects</a:t>
                      </a:r>
                      <a:endParaRPr sz="1200"/>
                    </a:p>
                  </a:txBody>
                  <a:tcPr marT="45725" marB="45725" marR="91450" marL="91450"/>
                </a:tc>
                <a:tc>
                  <a:txBody>
                    <a:bodyPr/>
                    <a:lstStyle/>
                    <a:p>
                      <a:pPr indent="0" lvl="0" marL="0" marR="0" rtl="0" algn="l">
                        <a:spcBef>
                          <a:spcPts val="0"/>
                        </a:spcBef>
                        <a:spcAft>
                          <a:spcPts val="0"/>
                        </a:spcAft>
                        <a:buNone/>
                      </a:pPr>
                      <a:r>
                        <a:rPr lang="en-US" sz="1200"/>
                        <a:t>Good future prospects</a:t>
                      </a:r>
                      <a:endParaRPr sz="1200"/>
                    </a:p>
                  </a:txBody>
                  <a:tcPr marT="45725" marB="45725" marR="91450" marL="91450"/>
                </a:tc>
                <a:tc>
                  <a:txBody>
                    <a:bodyPr/>
                    <a:lstStyle/>
                    <a:p>
                      <a:pPr indent="0" lvl="0" marL="0" marR="0" rtl="0" algn="l">
                        <a:spcBef>
                          <a:spcPts val="0"/>
                        </a:spcBef>
                        <a:spcAft>
                          <a:spcPts val="0"/>
                        </a:spcAft>
                        <a:buNone/>
                      </a:pPr>
                      <a:r>
                        <a:rPr lang="en-US" sz="1200"/>
                        <a:t>Uncertain future prospects</a:t>
                      </a:r>
                      <a:endParaRPr sz="1200"/>
                    </a:p>
                  </a:txBody>
                  <a:tcPr marT="45725" marB="45725" marR="91450" marL="91450"/>
                </a:tc>
                <a:tc>
                  <a:txBody>
                    <a:bodyPr/>
                    <a:lstStyle/>
                    <a:p>
                      <a:pPr indent="0" lvl="0" marL="0" marR="0" rtl="0" algn="l">
                        <a:spcBef>
                          <a:spcPts val="0"/>
                        </a:spcBef>
                        <a:spcAft>
                          <a:spcPts val="0"/>
                        </a:spcAft>
                        <a:buNone/>
                      </a:pPr>
                      <a:r>
                        <a:rPr lang="en-US" sz="1200"/>
                        <a:t>Uncertain future prospects</a:t>
                      </a:r>
                      <a:endParaRPr sz="1200"/>
                    </a:p>
                  </a:txBody>
                  <a:tcPr marT="45725" marB="45725" marR="91450" marL="91450"/>
                </a:tc>
                <a:tc>
                  <a:txBody>
                    <a:bodyPr/>
                    <a:lstStyle/>
                    <a:p>
                      <a:pPr indent="0" lvl="0" marL="0" marR="0" rtl="0" algn="l">
                        <a:spcBef>
                          <a:spcPts val="0"/>
                        </a:spcBef>
                        <a:spcAft>
                          <a:spcPts val="0"/>
                        </a:spcAft>
                        <a:buNone/>
                      </a:pPr>
                      <a:r>
                        <a:rPr lang="en-US" sz="1200"/>
                        <a:t>New, uncertain future prospects</a:t>
                      </a:r>
                      <a:endParaRPr sz="1200"/>
                    </a:p>
                  </a:txBody>
                  <a:tcPr marT="45725" marB="45725" marR="91450" marL="91450"/>
                </a:tc>
              </a:tr>
            </a:tbl>
          </a:graphicData>
        </a:graphic>
      </p:graphicFrame>
      <p:sp>
        <p:nvSpPr>
          <p:cNvPr id="189" name="Google Shape;189;p1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MOVING FROM LOGICAL TO PHYSICAL</a:t>
            </a:r>
            <a:endParaRPr/>
          </a:p>
        </p:txBody>
      </p:sp>
      <p:sp>
        <p:nvSpPr>
          <p:cNvPr id="195" name="Google Shape;195;p1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10" id="196" name="Google Shape;196;p14"/>
          <p:cNvPicPr preferRelativeResize="0"/>
          <p:nvPr/>
        </p:nvPicPr>
        <p:blipFill rotWithShape="1">
          <a:blip r:embed="rId3">
            <a:alphaModFix/>
          </a:blip>
          <a:srcRect b="0" l="0" r="0" t="0"/>
          <a:stretch/>
        </p:blipFill>
        <p:spPr>
          <a:xfrm>
            <a:off x="228600" y="1828800"/>
            <a:ext cx="8686800" cy="3313112"/>
          </a:xfrm>
          <a:prstGeom prst="rect">
            <a:avLst/>
          </a:prstGeom>
          <a:noFill/>
          <a:ln>
            <a:noFill/>
          </a:ln>
        </p:spPr>
      </p:pic>
      <p:sp>
        <p:nvSpPr>
          <p:cNvPr id="197" name="Google Shape;197;p1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6"/>
                                        </p:tgtEl>
                                        <p:attrNameLst>
                                          <p:attrName>style.visibility</p:attrName>
                                        </p:attrNameLst>
                                      </p:cBhvr>
                                      <p:to>
                                        <p:strVal val="visible"/>
                                      </p:to>
                                    </p:set>
                                    <p:anim calcmode="lin" valueType="num">
                                      <p:cBhvr additive="base">
                                        <p:cTn dur="500"/>
                                        <p:tgtEl>
                                          <p:spTgt spid="19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Conceptual, Logical and Physical</a:t>
            </a:r>
            <a:endParaRPr/>
          </a:p>
        </p:txBody>
      </p:sp>
      <p:sp>
        <p:nvSpPr>
          <p:cNvPr id="203" name="Google Shape;203;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36550" lvl="0" marL="342900" marR="0" rtl="0" algn="just">
              <a:lnSpc>
                <a:spcPct val="100000"/>
              </a:lnSpc>
              <a:spcBef>
                <a:spcPts val="0"/>
              </a:spcBef>
              <a:spcAft>
                <a:spcPts val="0"/>
              </a:spcAft>
              <a:buClr>
                <a:srgbClr val="0070C0"/>
              </a:buClr>
              <a:buSzPts val="4100"/>
              <a:buFont typeface="Noto Sans Symbols"/>
              <a:buChar char="▪"/>
            </a:pPr>
            <a:r>
              <a:rPr b="0" i="0" lang="en-US" sz="2700" u="none">
                <a:solidFill>
                  <a:schemeClr val="dk1"/>
                </a:solidFill>
                <a:latin typeface="Calibri"/>
                <a:ea typeface="Calibri"/>
                <a:cs typeface="Calibri"/>
                <a:sym typeface="Calibri"/>
              </a:rPr>
              <a:t>Conceptual, logical and physical model or ERD are three different ways of modeling data in a domain. </a:t>
            </a:r>
            <a:endParaRPr sz="3900"/>
          </a:p>
          <a:p>
            <a:pPr indent="-76200" lvl="0" marL="342900" marR="0" rtl="0" algn="just">
              <a:lnSpc>
                <a:spcPct val="100000"/>
              </a:lnSpc>
              <a:spcBef>
                <a:spcPts val="0"/>
              </a:spcBef>
              <a:spcAft>
                <a:spcPts val="0"/>
              </a:spcAft>
              <a:buClr>
                <a:srgbClr val="0070C0"/>
              </a:buClr>
              <a:buSzPts val="4200"/>
              <a:buFont typeface="Noto Sans Symbols"/>
              <a:buNone/>
            </a:pPr>
            <a:r>
              <a:t/>
            </a:r>
            <a:endParaRPr b="0" i="0" sz="2700" u="none">
              <a:solidFill>
                <a:schemeClr val="dk1"/>
              </a:solidFill>
              <a:latin typeface="Calibri"/>
              <a:ea typeface="Calibri"/>
              <a:cs typeface="Calibri"/>
              <a:sym typeface="Calibri"/>
            </a:endParaRPr>
          </a:p>
          <a:p>
            <a:pPr indent="-336550" lvl="0" marL="342900" marR="0" rtl="0" algn="just">
              <a:lnSpc>
                <a:spcPct val="100000"/>
              </a:lnSpc>
              <a:spcBef>
                <a:spcPts val="0"/>
              </a:spcBef>
              <a:spcAft>
                <a:spcPts val="0"/>
              </a:spcAft>
              <a:buClr>
                <a:srgbClr val="0070C0"/>
              </a:buClr>
              <a:buSzPts val="4100"/>
              <a:buFont typeface="Noto Sans Symbols"/>
              <a:buChar char="▪"/>
            </a:pPr>
            <a:r>
              <a:rPr b="0" i="0" lang="en-US" sz="2700" u="none">
                <a:solidFill>
                  <a:schemeClr val="dk1"/>
                </a:solidFill>
                <a:latin typeface="Calibri"/>
                <a:ea typeface="Calibri"/>
                <a:cs typeface="Calibri"/>
                <a:sym typeface="Calibri"/>
              </a:rPr>
              <a:t>Business analyst uses conceptual and logical model for modeling the data required and produced by system from a business angle</a:t>
            </a:r>
            <a:endParaRPr sz="3900"/>
          </a:p>
          <a:p>
            <a:pPr indent="-76200" lvl="0" marL="342900" marR="0" rtl="0" algn="just">
              <a:lnSpc>
                <a:spcPct val="100000"/>
              </a:lnSpc>
              <a:spcBef>
                <a:spcPts val="0"/>
              </a:spcBef>
              <a:spcAft>
                <a:spcPts val="0"/>
              </a:spcAft>
              <a:buClr>
                <a:srgbClr val="0070C0"/>
              </a:buClr>
              <a:buSzPts val="4200"/>
              <a:buFont typeface="Noto Sans Symbols"/>
              <a:buNone/>
            </a:pPr>
            <a:r>
              <a:t/>
            </a:r>
            <a:endParaRPr b="0" i="0" sz="2700" u="none">
              <a:solidFill>
                <a:schemeClr val="dk1"/>
              </a:solidFill>
              <a:latin typeface="Calibri"/>
              <a:ea typeface="Calibri"/>
              <a:cs typeface="Calibri"/>
              <a:sym typeface="Calibri"/>
            </a:endParaRPr>
          </a:p>
          <a:p>
            <a:pPr indent="-336550" lvl="0" marL="342900" marR="0" rtl="0" algn="just">
              <a:lnSpc>
                <a:spcPct val="100000"/>
              </a:lnSpc>
              <a:spcBef>
                <a:spcPts val="0"/>
              </a:spcBef>
              <a:spcAft>
                <a:spcPts val="0"/>
              </a:spcAft>
              <a:buClr>
                <a:srgbClr val="0070C0"/>
              </a:buClr>
              <a:buSzPts val="4100"/>
              <a:buFont typeface="Noto Sans Symbols"/>
              <a:buChar char="▪"/>
            </a:pPr>
            <a:r>
              <a:rPr b="0" i="0" lang="en-US" sz="2700" u="none">
                <a:solidFill>
                  <a:schemeClr val="dk1"/>
                </a:solidFill>
                <a:latin typeface="Calibri"/>
                <a:ea typeface="Calibri"/>
                <a:cs typeface="Calibri"/>
                <a:sym typeface="Calibri"/>
              </a:rPr>
              <a:t>while database designer refines the early design to produce the physical model for presenting physical database structure ready for database construction.</a:t>
            </a:r>
            <a:endParaRPr sz="3900"/>
          </a:p>
        </p:txBody>
      </p:sp>
      <p:sp>
        <p:nvSpPr>
          <p:cNvPr id="204" name="Google Shape;204;p1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05" name="Google Shape;205;p1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Conceptual Model</a:t>
            </a:r>
            <a:br>
              <a:rPr b="1" i="0" lang="en-US" sz="4400" u="none">
                <a:solidFill>
                  <a:schemeClr val="dk1"/>
                </a:solidFill>
                <a:latin typeface="Calibri"/>
                <a:ea typeface="Calibri"/>
                <a:cs typeface="Calibri"/>
                <a:sym typeface="Calibri"/>
              </a:rPr>
            </a:br>
            <a:endParaRPr/>
          </a:p>
        </p:txBody>
      </p:sp>
      <p:sp>
        <p:nvSpPr>
          <p:cNvPr id="211" name="Google Shape;211;p16"/>
          <p:cNvSpPr txBox="1"/>
          <p:nvPr>
            <p:ph idx="1" type="body"/>
          </p:nvPr>
        </p:nvSpPr>
        <p:spPr>
          <a:xfrm>
            <a:off x="76200" y="1600200"/>
            <a:ext cx="4446600" cy="4526100"/>
          </a:xfrm>
          <a:prstGeom prst="rect">
            <a:avLst/>
          </a:prstGeom>
          <a:noFill/>
          <a:ln>
            <a:noFill/>
          </a:ln>
        </p:spPr>
        <p:txBody>
          <a:bodyPr anchorCtr="0" anchor="t" bIns="45700" lIns="91425" spcFirstLastPara="1" rIns="91425" wrap="square" tIns="45700">
            <a:noAutofit/>
          </a:bodyPr>
          <a:lstStyle/>
          <a:p>
            <a:pPr indent="-323850" lvl="0" marL="342900" marR="0" rtl="0" algn="l">
              <a:lnSpc>
                <a:spcPct val="100000"/>
              </a:lnSpc>
              <a:spcBef>
                <a:spcPts val="0"/>
              </a:spcBef>
              <a:spcAft>
                <a:spcPts val="0"/>
              </a:spcAft>
              <a:buClr>
                <a:srgbClr val="0070C0"/>
              </a:buClr>
              <a:buSzPts val="3300"/>
              <a:buFont typeface="Noto Sans Symbols"/>
              <a:buChar char="▪"/>
            </a:pPr>
            <a:r>
              <a:rPr b="0" i="0" lang="en-US" sz="2100" u="none">
                <a:solidFill>
                  <a:schemeClr val="dk1"/>
                </a:solidFill>
                <a:latin typeface="Calibri"/>
                <a:ea typeface="Calibri"/>
                <a:cs typeface="Calibri"/>
                <a:sym typeface="Calibri"/>
              </a:rPr>
              <a:t>Conceptual ERD models information gathered from business requirements. </a:t>
            </a:r>
            <a:endParaRPr sz="3700"/>
          </a:p>
          <a:p>
            <a:pPr indent="-323850" lvl="0" marL="342900" marR="0" rtl="0" algn="l">
              <a:lnSpc>
                <a:spcPct val="100000"/>
              </a:lnSpc>
              <a:spcBef>
                <a:spcPts val="0"/>
              </a:spcBef>
              <a:spcAft>
                <a:spcPts val="0"/>
              </a:spcAft>
              <a:buClr>
                <a:srgbClr val="0070C0"/>
              </a:buClr>
              <a:buSzPts val="3300"/>
              <a:buFont typeface="Noto Sans Symbols"/>
              <a:buChar char="▪"/>
            </a:pPr>
            <a:r>
              <a:rPr b="0" i="0" lang="en-US" sz="2100" u="none">
                <a:solidFill>
                  <a:schemeClr val="dk1"/>
                </a:solidFill>
                <a:latin typeface="Calibri"/>
                <a:ea typeface="Calibri"/>
                <a:cs typeface="Calibri"/>
                <a:sym typeface="Calibri"/>
              </a:rPr>
              <a:t>Entities and relationships modeled in such ERD are defined around the business's need. </a:t>
            </a:r>
            <a:endParaRPr sz="3700"/>
          </a:p>
          <a:p>
            <a:pPr indent="-323850" lvl="0" marL="342900" marR="0" rtl="0" algn="l">
              <a:lnSpc>
                <a:spcPct val="100000"/>
              </a:lnSpc>
              <a:spcBef>
                <a:spcPts val="0"/>
              </a:spcBef>
              <a:spcAft>
                <a:spcPts val="0"/>
              </a:spcAft>
              <a:buClr>
                <a:srgbClr val="0070C0"/>
              </a:buClr>
              <a:buSzPts val="3300"/>
              <a:buFont typeface="Noto Sans Symbols"/>
              <a:buChar char="▪"/>
            </a:pPr>
            <a:r>
              <a:rPr b="0" i="0" lang="en-US" sz="2100" u="none">
                <a:solidFill>
                  <a:schemeClr val="dk1"/>
                </a:solidFill>
                <a:latin typeface="Calibri"/>
                <a:ea typeface="Calibri"/>
                <a:cs typeface="Calibri"/>
                <a:sym typeface="Calibri"/>
              </a:rPr>
              <a:t>The need of satisfying the database design is not considered yet. </a:t>
            </a:r>
            <a:endParaRPr sz="3700"/>
          </a:p>
        </p:txBody>
      </p:sp>
      <p:sp>
        <p:nvSpPr>
          <p:cNvPr id="212" name="Google Shape;212;p1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https://images.visual-paradigm.com/docs/vp_user_guide/11/3563/3564/3573/conceptual_erd_27340.png" id="213" name="Google Shape;213;p16"/>
          <p:cNvPicPr preferRelativeResize="0"/>
          <p:nvPr/>
        </p:nvPicPr>
        <p:blipFill rotWithShape="1">
          <a:blip r:embed="rId3">
            <a:alphaModFix/>
          </a:blip>
          <a:srcRect b="0" l="0" r="0" t="0"/>
          <a:stretch/>
        </p:blipFill>
        <p:spPr>
          <a:xfrm>
            <a:off x="4572000" y="1732825"/>
            <a:ext cx="4446587" cy="4143375"/>
          </a:xfrm>
          <a:prstGeom prst="rect">
            <a:avLst/>
          </a:prstGeom>
          <a:noFill/>
          <a:ln>
            <a:noFill/>
          </a:ln>
        </p:spPr>
      </p:pic>
      <p:sp>
        <p:nvSpPr>
          <p:cNvPr id="214" name="Google Shape;214;p1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Logical Model</a:t>
            </a:r>
            <a:br>
              <a:rPr b="1" i="0" lang="en-US" sz="4400" u="none">
                <a:solidFill>
                  <a:schemeClr val="dk1"/>
                </a:solidFill>
                <a:latin typeface="Calibri"/>
                <a:ea typeface="Calibri"/>
                <a:cs typeface="Calibri"/>
                <a:sym typeface="Calibri"/>
              </a:rPr>
            </a:br>
            <a:endParaRPr/>
          </a:p>
        </p:txBody>
      </p:sp>
      <p:pic>
        <p:nvPicPr>
          <p:cNvPr descr="https://images.visual-paradigm.com/docs/vp_user_guide/11/3563/3564/3573/logical_erd_27341.png" id="220" name="Google Shape;220;p17"/>
          <p:cNvPicPr preferRelativeResize="0"/>
          <p:nvPr/>
        </p:nvPicPr>
        <p:blipFill rotWithShape="1">
          <a:blip r:embed="rId3">
            <a:alphaModFix/>
          </a:blip>
          <a:srcRect b="0" l="0" r="0" t="0"/>
          <a:stretch/>
        </p:blipFill>
        <p:spPr>
          <a:xfrm>
            <a:off x="1498175" y="3253982"/>
            <a:ext cx="6238800" cy="3561100"/>
          </a:xfrm>
          <a:prstGeom prst="rect">
            <a:avLst/>
          </a:prstGeom>
          <a:noFill/>
          <a:ln>
            <a:noFill/>
          </a:ln>
        </p:spPr>
      </p:pic>
      <p:sp>
        <p:nvSpPr>
          <p:cNvPr id="221" name="Google Shape;221;p17"/>
          <p:cNvSpPr txBox="1"/>
          <p:nvPr>
            <p:ph idx="1" type="body"/>
          </p:nvPr>
        </p:nvSpPr>
        <p:spPr>
          <a:xfrm>
            <a:off x="170225" y="1470950"/>
            <a:ext cx="8894700" cy="17193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0070C0"/>
              </a:buClr>
              <a:buSzPts val="3000"/>
              <a:buFont typeface="Noto Sans Symbols"/>
              <a:buChar char="▪"/>
            </a:pPr>
            <a:r>
              <a:rPr b="0" i="0" lang="en-US" sz="2000" u="none">
                <a:solidFill>
                  <a:schemeClr val="dk1"/>
                </a:solidFill>
                <a:latin typeface="Calibri"/>
                <a:ea typeface="Calibri"/>
                <a:cs typeface="Calibri"/>
                <a:sym typeface="Calibri"/>
              </a:rPr>
              <a:t>Logical ERD also models information gathered from business requirements. It is more complex than conceptual model in that column types are set. Note that the setting of column types is optional and if you do that, you should be doing that to aid business analysis. It has nothing to do with database creation yet.</a:t>
            </a:r>
            <a:endParaRPr/>
          </a:p>
        </p:txBody>
      </p:sp>
      <p:sp>
        <p:nvSpPr>
          <p:cNvPr id="222" name="Google Shape;222;p1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Physical Model</a:t>
            </a:r>
            <a:endParaRPr/>
          </a:p>
        </p:txBody>
      </p:sp>
      <p:sp>
        <p:nvSpPr>
          <p:cNvPr id="228" name="Google Shape;228;p18"/>
          <p:cNvSpPr txBox="1"/>
          <p:nvPr>
            <p:ph idx="1" type="body"/>
          </p:nvPr>
        </p:nvSpPr>
        <p:spPr>
          <a:xfrm>
            <a:off x="457200" y="1530925"/>
            <a:ext cx="8229600" cy="4526100"/>
          </a:xfrm>
          <a:prstGeom prst="rect">
            <a:avLst/>
          </a:prstGeom>
          <a:noFill/>
          <a:ln>
            <a:noFill/>
          </a:ln>
        </p:spPr>
        <p:txBody>
          <a:bodyPr anchorCtr="0" anchor="t" bIns="45700" lIns="91425" spcFirstLastPara="1" rIns="91425" wrap="square" tIns="45700">
            <a:noAutofit/>
          </a:bodyPr>
          <a:lstStyle/>
          <a:p>
            <a:pPr indent="-323850" lvl="0" marL="342900" marR="0" rtl="0" algn="just">
              <a:lnSpc>
                <a:spcPct val="100000"/>
              </a:lnSpc>
              <a:spcBef>
                <a:spcPts val="0"/>
              </a:spcBef>
              <a:spcAft>
                <a:spcPts val="0"/>
              </a:spcAft>
              <a:buClr>
                <a:srgbClr val="0070C0"/>
              </a:buClr>
              <a:buSzPts val="3900"/>
              <a:buFont typeface="Noto Sans Symbols"/>
              <a:buChar char="▪"/>
            </a:pPr>
            <a:r>
              <a:rPr b="0" i="0" lang="en-US" sz="2500" u="none">
                <a:solidFill>
                  <a:schemeClr val="dk1"/>
                </a:solidFill>
                <a:latin typeface="Calibri"/>
                <a:ea typeface="Calibri"/>
                <a:cs typeface="Calibri"/>
                <a:sym typeface="Calibri"/>
              </a:rPr>
              <a:t>Actual design blueprint of a relational database. </a:t>
            </a:r>
            <a:endParaRPr sz="3700"/>
          </a:p>
          <a:p>
            <a:pPr indent="-323850" lvl="0" marL="342900" marR="0" rtl="0" algn="just">
              <a:lnSpc>
                <a:spcPct val="100000"/>
              </a:lnSpc>
              <a:spcBef>
                <a:spcPts val="0"/>
              </a:spcBef>
              <a:spcAft>
                <a:spcPts val="0"/>
              </a:spcAft>
              <a:buClr>
                <a:srgbClr val="0070C0"/>
              </a:buClr>
              <a:buSzPts val="3900"/>
              <a:buFont typeface="Noto Sans Symbols"/>
              <a:buChar char="▪"/>
            </a:pPr>
            <a:r>
              <a:rPr b="0" i="0" lang="en-US" sz="2500" u="none">
                <a:solidFill>
                  <a:schemeClr val="dk1"/>
                </a:solidFill>
                <a:latin typeface="Calibri"/>
                <a:ea typeface="Calibri"/>
                <a:cs typeface="Calibri"/>
                <a:sym typeface="Calibri"/>
              </a:rPr>
              <a:t>It represents how data should be structured and related in a specific DBMS so it is important to consider the convention and restriction of the DBMS you use when you are designing a physical ERD. </a:t>
            </a:r>
            <a:endParaRPr sz="3700"/>
          </a:p>
          <a:p>
            <a:pPr indent="-323850" lvl="0" marL="342900" marR="0" rtl="0" algn="just">
              <a:lnSpc>
                <a:spcPct val="100000"/>
              </a:lnSpc>
              <a:spcBef>
                <a:spcPts val="0"/>
              </a:spcBef>
              <a:spcAft>
                <a:spcPts val="0"/>
              </a:spcAft>
              <a:buClr>
                <a:srgbClr val="0070C0"/>
              </a:buClr>
              <a:buSzPts val="3900"/>
              <a:buFont typeface="Noto Sans Symbols"/>
              <a:buChar char="▪"/>
            </a:pPr>
            <a:r>
              <a:rPr b="0" i="0" lang="en-US" sz="2500" u="none">
                <a:solidFill>
                  <a:schemeClr val="dk1"/>
                </a:solidFill>
                <a:latin typeface="Calibri"/>
                <a:ea typeface="Calibri"/>
                <a:cs typeface="Calibri"/>
                <a:sym typeface="Calibri"/>
              </a:rPr>
              <a:t>This means that an accurate use of data type is needed for entity columns and the use of reserved words has to be avoided in naming entities and columns. </a:t>
            </a:r>
            <a:endParaRPr sz="3700"/>
          </a:p>
          <a:p>
            <a:pPr indent="-323850" lvl="0" marL="342900" marR="0" rtl="0" algn="just">
              <a:lnSpc>
                <a:spcPct val="100000"/>
              </a:lnSpc>
              <a:spcBef>
                <a:spcPts val="0"/>
              </a:spcBef>
              <a:spcAft>
                <a:spcPts val="0"/>
              </a:spcAft>
              <a:buClr>
                <a:srgbClr val="0070C0"/>
              </a:buClr>
              <a:buSzPts val="3900"/>
              <a:buFont typeface="Noto Sans Symbols"/>
              <a:buChar char="▪"/>
            </a:pPr>
            <a:r>
              <a:rPr b="0" i="0" lang="en-US" sz="2500" u="none">
                <a:solidFill>
                  <a:schemeClr val="dk1"/>
                </a:solidFill>
                <a:latin typeface="Calibri"/>
                <a:ea typeface="Calibri"/>
                <a:cs typeface="Calibri"/>
                <a:sym typeface="Calibri"/>
              </a:rPr>
              <a:t>Besides, database designers may also add primary keys, foreign keys and constraints to the design.</a:t>
            </a:r>
            <a:endParaRPr sz="3700"/>
          </a:p>
        </p:txBody>
      </p:sp>
      <p:sp>
        <p:nvSpPr>
          <p:cNvPr id="229" name="Google Shape;229;p1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30" name="Google Shape;230;p1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descr="https://images.visual-paradigm.com/docs/vp_user_guide/11/3563/3564/3573/physical_erd_27342.png" id="235" name="Google Shape;235;p19"/>
          <p:cNvPicPr preferRelativeResize="0"/>
          <p:nvPr/>
        </p:nvPicPr>
        <p:blipFill rotWithShape="1">
          <a:blip r:embed="rId3">
            <a:alphaModFix/>
          </a:blip>
          <a:srcRect b="0" l="0" r="0" t="0"/>
          <a:stretch/>
        </p:blipFill>
        <p:spPr>
          <a:xfrm>
            <a:off x="831275" y="1563725"/>
            <a:ext cx="7302326" cy="5002525"/>
          </a:xfrm>
          <a:prstGeom prst="rect">
            <a:avLst/>
          </a:prstGeom>
          <a:noFill/>
          <a:ln>
            <a:noFill/>
          </a:ln>
        </p:spPr>
      </p:pic>
      <p:sp>
        <p:nvSpPr>
          <p:cNvPr id="236" name="Google Shape;236;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Physical Model</a:t>
            </a:r>
            <a:endParaRPr/>
          </a:p>
        </p:txBody>
      </p:sp>
      <p:sp>
        <p:nvSpPr>
          <p:cNvPr id="237" name="Google Shape;237;p1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38" name="Google Shape;238;p1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Calibri"/>
              <a:buNone/>
            </a:pPr>
            <a:r>
              <a:rPr b="1" i="0" lang="en-US" sz="2400" u="none">
                <a:solidFill>
                  <a:schemeClr val="dk1"/>
                </a:solidFill>
                <a:latin typeface="Calibri"/>
                <a:ea typeface="Calibri"/>
                <a:cs typeface="Calibri"/>
                <a:sym typeface="Calibri"/>
              </a:rPr>
              <a:t>Metadata</a:t>
            </a:r>
            <a:br>
              <a:rPr b="1" i="0" lang="en-US" sz="2400" u="none">
                <a:solidFill>
                  <a:schemeClr val="dk1"/>
                </a:solidFill>
                <a:latin typeface="Calibri"/>
                <a:ea typeface="Calibri"/>
                <a:cs typeface="Calibri"/>
                <a:sym typeface="Calibri"/>
              </a:rPr>
            </a:br>
            <a:endParaRPr/>
          </a:p>
        </p:txBody>
      </p:sp>
      <p:sp>
        <p:nvSpPr>
          <p:cNvPr id="244" name="Google Shape;244;p2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12" id="245" name="Google Shape;245;p20"/>
          <p:cNvPicPr preferRelativeResize="0"/>
          <p:nvPr/>
        </p:nvPicPr>
        <p:blipFill rotWithShape="1">
          <a:blip r:embed="rId3">
            <a:alphaModFix/>
          </a:blip>
          <a:srcRect b="0" l="0" r="0" t="0"/>
          <a:stretch/>
        </p:blipFill>
        <p:spPr>
          <a:xfrm>
            <a:off x="457200" y="972475"/>
            <a:ext cx="6454375" cy="5553249"/>
          </a:xfrm>
          <a:prstGeom prst="rect">
            <a:avLst/>
          </a:prstGeom>
          <a:noFill/>
          <a:ln>
            <a:noFill/>
          </a:ln>
        </p:spPr>
      </p:pic>
      <p:sp>
        <p:nvSpPr>
          <p:cNvPr id="246" name="Google Shape;246;p2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500"/>
                                        <p:tgtEl>
                                          <p:spTgt spid="24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OPTIMIZING DATA STORAGE</a:t>
            </a:r>
            <a:endParaRPr/>
          </a:p>
        </p:txBody>
      </p:sp>
      <p:sp>
        <p:nvSpPr>
          <p:cNvPr id="252" name="Google Shape;252;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30200" lvl="0" marL="342900" marR="0" rtl="0" algn="l">
              <a:lnSpc>
                <a:spcPct val="100000"/>
              </a:lnSpc>
              <a:spcBef>
                <a:spcPts val="0"/>
              </a:spcBef>
              <a:spcAft>
                <a:spcPts val="0"/>
              </a:spcAft>
              <a:buClr>
                <a:srgbClr val="0070C0"/>
              </a:buClr>
              <a:buSzPts val="5200"/>
              <a:buFont typeface="Noto Sans Symbols"/>
              <a:buChar char="▪"/>
            </a:pPr>
            <a:r>
              <a:rPr b="0" i="0" lang="en-US" sz="3400" u="none">
                <a:solidFill>
                  <a:schemeClr val="dk1"/>
                </a:solidFill>
                <a:latin typeface="Calibri"/>
                <a:ea typeface="Calibri"/>
                <a:cs typeface="Calibri"/>
                <a:sym typeface="Calibri"/>
              </a:rPr>
              <a:t>The data storage format is now optimized for processing </a:t>
            </a:r>
            <a:r>
              <a:rPr b="0" i="0" lang="en-US" sz="3400" u="none">
                <a:solidFill>
                  <a:srgbClr val="0033CC"/>
                </a:solidFill>
                <a:latin typeface="Calibri"/>
                <a:ea typeface="Calibri"/>
                <a:cs typeface="Calibri"/>
                <a:sym typeface="Calibri"/>
              </a:rPr>
              <a:t>efficiency</a:t>
            </a:r>
            <a:r>
              <a:rPr b="0" i="0" lang="en-US" sz="3400" u="none">
                <a:solidFill>
                  <a:schemeClr val="dk1"/>
                </a:solidFill>
                <a:latin typeface="Calibri"/>
                <a:ea typeface="Calibri"/>
                <a:cs typeface="Calibri"/>
                <a:sym typeface="Calibri"/>
              </a:rPr>
              <a:t>.</a:t>
            </a:r>
            <a:endParaRPr sz="3800"/>
          </a:p>
          <a:p>
            <a:pPr indent="-330200" lvl="0" marL="342900" marR="0" rtl="0" algn="l">
              <a:lnSpc>
                <a:spcPct val="100000"/>
              </a:lnSpc>
              <a:spcBef>
                <a:spcPts val="0"/>
              </a:spcBef>
              <a:spcAft>
                <a:spcPts val="0"/>
              </a:spcAft>
              <a:buClr>
                <a:srgbClr val="0070C0"/>
              </a:buClr>
              <a:buSzPts val="5200"/>
              <a:buFont typeface="Noto Sans Symbols"/>
              <a:buChar char="▪"/>
            </a:pPr>
            <a:r>
              <a:rPr b="0" i="0" lang="en-US" sz="3400" u="none">
                <a:solidFill>
                  <a:schemeClr val="dk1"/>
                </a:solidFill>
                <a:latin typeface="Calibri"/>
                <a:ea typeface="Calibri"/>
                <a:cs typeface="Calibri"/>
                <a:sym typeface="Calibri"/>
              </a:rPr>
              <a:t>There are two primary dimensions in which to optimize a relational database: for </a:t>
            </a:r>
            <a:r>
              <a:rPr b="0" i="0" lang="en-US" sz="3400" u="none">
                <a:solidFill>
                  <a:srgbClr val="0033CC"/>
                </a:solidFill>
                <a:latin typeface="Calibri"/>
                <a:ea typeface="Calibri"/>
                <a:cs typeface="Calibri"/>
                <a:sym typeface="Calibri"/>
              </a:rPr>
              <a:t>storage efficiency </a:t>
            </a:r>
            <a:r>
              <a:rPr b="0" i="0" lang="en-US" sz="3400" u="none">
                <a:solidFill>
                  <a:schemeClr val="dk1"/>
                </a:solidFill>
                <a:latin typeface="Calibri"/>
                <a:ea typeface="Calibri"/>
                <a:cs typeface="Calibri"/>
                <a:sym typeface="Calibri"/>
              </a:rPr>
              <a:t>and for </a:t>
            </a:r>
            <a:r>
              <a:rPr b="0" i="0" lang="en-US" sz="3400" u="none">
                <a:solidFill>
                  <a:srgbClr val="0033CC"/>
                </a:solidFill>
                <a:latin typeface="Calibri"/>
                <a:ea typeface="Calibri"/>
                <a:cs typeface="Calibri"/>
                <a:sym typeface="Calibri"/>
              </a:rPr>
              <a:t>speed of access</a:t>
            </a:r>
            <a:r>
              <a:rPr b="0" i="0" lang="en-US" sz="3400" u="none">
                <a:solidFill>
                  <a:schemeClr val="dk1"/>
                </a:solidFill>
                <a:latin typeface="Calibri"/>
                <a:ea typeface="Calibri"/>
                <a:cs typeface="Calibri"/>
                <a:sym typeface="Calibri"/>
              </a:rPr>
              <a:t>.</a:t>
            </a:r>
            <a:endParaRPr sz="3800"/>
          </a:p>
          <a:p>
            <a:pPr indent="-114300" lvl="0" marL="342900" marR="0" rtl="0" algn="l">
              <a:spcBef>
                <a:spcPts val="720"/>
              </a:spcBef>
              <a:spcAft>
                <a:spcPts val="0"/>
              </a:spcAft>
              <a:buClr>
                <a:schemeClr val="dk1"/>
              </a:buClr>
              <a:buSzPts val="3600"/>
              <a:buFont typeface="Arial"/>
              <a:buNone/>
            </a:pPr>
            <a:r>
              <a:t/>
            </a:r>
            <a:endParaRPr b="0" i="0" sz="3400" u="none">
              <a:solidFill>
                <a:schemeClr val="dk1"/>
              </a:solidFill>
              <a:latin typeface="Calibri"/>
              <a:ea typeface="Calibri"/>
              <a:cs typeface="Calibri"/>
              <a:sym typeface="Calibri"/>
            </a:endParaRPr>
          </a:p>
        </p:txBody>
      </p:sp>
      <p:sp>
        <p:nvSpPr>
          <p:cNvPr id="253" name="Google Shape;253;p2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54" name="Google Shape;254;p2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Optimizing Storage Efficiency</a:t>
            </a:r>
            <a:endParaRPr/>
          </a:p>
        </p:txBody>
      </p:sp>
      <p:sp>
        <p:nvSpPr>
          <p:cNvPr id="260" name="Google Shape;260;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17500" lvl="0" marL="342900" marR="0" rtl="0" algn="just">
              <a:lnSpc>
                <a:spcPct val="100000"/>
              </a:lnSpc>
              <a:spcBef>
                <a:spcPts val="0"/>
              </a:spcBef>
              <a:spcAft>
                <a:spcPts val="0"/>
              </a:spcAft>
              <a:buClr>
                <a:srgbClr val="0070C0"/>
              </a:buClr>
              <a:buSzPts val="5000"/>
              <a:buFont typeface="Noto Sans Symbols"/>
              <a:buChar char="▪"/>
            </a:pPr>
            <a:r>
              <a:rPr b="0" i="0" lang="en-US" sz="3200" u="none">
                <a:solidFill>
                  <a:schemeClr val="dk1"/>
                </a:solidFill>
                <a:latin typeface="Calibri"/>
                <a:ea typeface="Calibri"/>
                <a:cs typeface="Calibri"/>
                <a:sym typeface="Calibri"/>
              </a:rPr>
              <a:t>The most efficient tables in a relational database in terms of storage space have </a:t>
            </a:r>
            <a:r>
              <a:rPr b="0" i="0" lang="en-US" sz="3200" u="none">
                <a:solidFill>
                  <a:srgbClr val="0033CC"/>
                </a:solidFill>
                <a:latin typeface="Calibri"/>
                <a:ea typeface="Calibri"/>
                <a:cs typeface="Calibri"/>
                <a:sym typeface="Calibri"/>
              </a:rPr>
              <a:t>no redundant data</a:t>
            </a:r>
            <a:r>
              <a:rPr b="0" i="0" lang="en-US" sz="3200" u="none">
                <a:solidFill>
                  <a:schemeClr val="dk1"/>
                </a:solidFill>
                <a:latin typeface="Calibri"/>
                <a:ea typeface="Calibri"/>
                <a:cs typeface="Calibri"/>
                <a:sym typeface="Calibri"/>
              </a:rPr>
              <a:t> and very few null values.</a:t>
            </a:r>
            <a:endParaRPr sz="3600"/>
          </a:p>
          <a:p>
            <a:pPr indent="-317500" lvl="0" marL="342900" marR="0" rtl="0" algn="just">
              <a:lnSpc>
                <a:spcPct val="100000"/>
              </a:lnSpc>
              <a:spcBef>
                <a:spcPts val="0"/>
              </a:spcBef>
              <a:spcAft>
                <a:spcPts val="0"/>
              </a:spcAft>
              <a:buClr>
                <a:srgbClr val="0070C0"/>
              </a:buClr>
              <a:buSzPts val="5000"/>
              <a:buFont typeface="Noto Sans Symbols"/>
              <a:buChar char="▪"/>
            </a:pPr>
            <a:r>
              <a:rPr b="0" i="0" lang="en-US" sz="3200" u="none">
                <a:solidFill>
                  <a:srgbClr val="0033CC"/>
                </a:solidFill>
                <a:latin typeface="Calibri"/>
                <a:ea typeface="Calibri"/>
                <a:cs typeface="Calibri"/>
                <a:sym typeface="Calibri"/>
              </a:rPr>
              <a:t>Normalization</a:t>
            </a:r>
            <a:r>
              <a:rPr b="0" i="0" lang="en-US" sz="3200" u="none">
                <a:solidFill>
                  <a:schemeClr val="dk1"/>
                </a:solidFill>
                <a:latin typeface="Calibri"/>
                <a:ea typeface="Calibri"/>
                <a:cs typeface="Calibri"/>
                <a:sym typeface="Calibri"/>
              </a:rPr>
              <a:t> is the best way to optimize data storage for efficiency.</a:t>
            </a:r>
            <a:endParaRPr sz="3600"/>
          </a:p>
        </p:txBody>
      </p:sp>
      <p:sp>
        <p:nvSpPr>
          <p:cNvPr id="261" name="Google Shape;261;p2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62" name="Google Shape;262;p2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268" name="Google Shape;268;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Optimizing data storage</a:t>
            </a:r>
            <a:endParaRPr/>
          </a:p>
        </p:txBody>
      </p:sp>
      <p:sp>
        <p:nvSpPr>
          <p:cNvPr id="269" name="Google Shape;269;p23"/>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70" name="Google Shape;270;p2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271" name="Google Shape;271;p23"/>
          <p:cNvPicPr preferRelativeResize="0"/>
          <p:nvPr/>
        </p:nvPicPr>
        <p:blipFill rotWithShape="1">
          <a:blip r:embed="rId3">
            <a:alphaModFix/>
          </a:blip>
          <a:srcRect b="0" l="0" r="0" t="0"/>
          <a:stretch/>
        </p:blipFill>
        <p:spPr>
          <a:xfrm>
            <a:off x="304800" y="368300"/>
            <a:ext cx="8312150" cy="6489700"/>
          </a:xfrm>
          <a:prstGeom prst="rect">
            <a:avLst/>
          </a:prstGeom>
          <a:noFill/>
          <a:ln>
            <a:noFill/>
          </a:ln>
        </p:spPr>
      </p:pic>
      <p:sp>
        <p:nvSpPr>
          <p:cNvPr id="272" name="Google Shape;272;p2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1"/>
                                        </p:tgtEl>
                                        <p:attrNameLst>
                                          <p:attrName>style.visibility</p:attrName>
                                        </p:attrNameLst>
                                      </p:cBhvr>
                                      <p:to>
                                        <p:strVal val="visible"/>
                                      </p:to>
                                    </p:set>
                                    <p:anim calcmode="lin" valueType="num">
                                      <p:cBhvr additive="base">
                                        <p:cTn dur="500"/>
                                        <p:tgtEl>
                                          <p:spTgt spid="27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Optimizing Access Speed</a:t>
            </a:r>
            <a:endParaRPr/>
          </a:p>
        </p:txBody>
      </p:sp>
      <p:sp>
        <p:nvSpPr>
          <p:cNvPr id="278" name="Google Shape;278;p24"/>
          <p:cNvSpPr txBox="1"/>
          <p:nvPr>
            <p:ph idx="1" type="body"/>
          </p:nvPr>
        </p:nvSpPr>
        <p:spPr>
          <a:xfrm>
            <a:off x="457200" y="1501225"/>
            <a:ext cx="8229600" cy="4357200"/>
          </a:xfrm>
          <a:prstGeom prst="rect">
            <a:avLst/>
          </a:prstGeom>
          <a:noFill/>
          <a:ln>
            <a:noFill/>
          </a:ln>
        </p:spPr>
        <p:txBody>
          <a:bodyPr anchorCtr="0" anchor="t" bIns="45700" lIns="91425" spcFirstLastPara="1" rIns="91425" wrap="square" tIns="45700">
            <a:noAutofit/>
          </a:bodyPr>
          <a:lstStyle/>
          <a:p>
            <a:pPr indent="-323850" lvl="0" marL="342900" marR="0" rtl="0" algn="l">
              <a:lnSpc>
                <a:spcPct val="110000"/>
              </a:lnSpc>
              <a:spcBef>
                <a:spcPts val="0"/>
              </a:spcBef>
              <a:spcAft>
                <a:spcPts val="0"/>
              </a:spcAft>
              <a:buClr>
                <a:srgbClr val="0070C0"/>
              </a:buClr>
              <a:buSzPts val="3600"/>
              <a:buFont typeface="Noto Sans Symbols"/>
              <a:buChar char="▪"/>
            </a:pPr>
            <a:r>
              <a:rPr b="0" i="0" lang="en-US" sz="2300" u="none">
                <a:solidFill>
                  <a:schemeClr val="dk1"/>
                </a:solidFill>
                <a:latin typeface="Calibri"/>
                <a:ea typeface="Calibri"/>
                <a:cs typeface="Calibri"/>
                <a:sym typeface="Calibri"/>
              </a:rPr>
              <a:t>After having optimized the data model design for data storage efficiency, the end result is that data are spread out across a number of tables.</a:t>
            </a:r>
            <a:endParaRPr sz="3700"/>
          </a:p>
          <a:p>
            <a:pPr indent="-323850" lvl="0" marL="342900" marR="0" rtl="0" algn="l">
              <a:lnSpc>
                <a:spcPct val="110000"/>
              </a:lnSpc>
              <a:spcBef>
                <a:spcPts val="0"/>
              </a:spcBef>
              <a:spcAft>
                <a:spcPts val="0"/>
              </a:spcAft>
              <a:buClr>
                <a:srgbClr val="0070C0"/>
              </a:buClr>
              <a:buSzPts val="3600"/>
              <a:buFont typeface="Noto Sans Symbols"/>
              <a:buChar char="▪"/>
            </a:pPr>
            <a:r>
              <a:rPr b="0" i="0" lang="en-US" sz="2300" u="none">
                <a:solidFill>
                  <a:schemeClr val="dk1"/>
                </a:solidFill>
                <a:latin typeface="Calibri"/>
                <a:ea typeface="Calibri"/>
                <a:cs typeface="Calibri"/>
                <a:sym typeface="Calibri"/>
              </a:rPr>
              <a:t>For a large relational database, it is necessary to optimize access speed.</a:t>
            </a:r>
            <a:endParaRPr sz="3700"/>
          </a:p>
          <a:p>
            <a:pPr indent="-323850" lvl="0" marL="342900" marR="0" rtl="0" algn="l">
              <a:lnSpc>
                <a:spcPct val="110000"/>
              </a:lnSpc>
              <a:spcBef>
                <a:spcPts val="0"/>
              </a:spcBef>
              <a:spcAft>
                <a:spcPts val="0"/>
              </a:spcAft>
              <a:buClr>
                <a:srgbClr val="0070C0"/>
              </a:buClr>
              <a:buSzPts val="3600"/>
              <a:buFont typeface="Noto Sans Symbols"/>
              <a:buChar char="▪"/>
            </a:pPr>
            <a:r>
              <a:rPr b="0" i="0" lang="en-US" sz="2300" u="none">
                <a:solidFill>
                  <a:schemeClr val="dk1"/>
                </a:solidFill>
                <a:latin typeface="Calibri"/>
                <a:ea typeface="Calibri"/>
                <a:cs typeface="Calibri"/>
                <a:sym typeface="Calibri"/>
              </a:rPr>
              <a:t>There are several techniques of optimizing access speed:</a:t>
            </a:r>
            <a:endParaRPr sz="3700"/>
          </a:p>
          <a:p>
            <a:pPr indent="-266700" lvl="1" marL="742950" marR="0" rtl="0" algn="l">
              <a:lnSpc>
                <a:spcPct val="110000"/>
              </a:lnSpc>
              <a:spcBef>
                <a:spcPts val="480"/>
              </a:spcBef>
              <a:spcAft>
                <a:spcPts val="0"/>
              </a:spcAft>
              <a:buClr>
                <a:schemeClr val="dk1"/>
              </a:buClr>
              <a:buSzPts val="2100"/>
              <a:buFont typeface="Arial"/>
              <a:buChar char="–"/>
            </a:pPr>
            <a:r>
              <a:rPr b="0" i="0" lang="en-US" sz="2100" u="none" cap="none" strike="noStrike">
                <a:solidFill>
                  <a:schemeClr val="dk1"/>
                </a:solidFill>
                <a:latin typeface="Calibri"/>
                <a:ea typeface="Calibri"/>
                <a:cs typeface="Calibri"/>
                <a:sym typeface="Calibri"/>
              </a:rPr>
              <a:t>Denormalization</a:t>
            </a:r>
            <a:endParaRPr sz="2500"/>
          </a:p>
          <a:p>
            <a:pPr indent="-266700" lvl="1" marL="742950" marR="0" rtl="0" algn="l">
              <a:lnSpc>
                <a:spcPct val="110000"/>
              </a:lnSpc>
              <a:spcBef>
                <a:spcPts val="480"/>
              </a:spcBef>
              <a:spcAft>
                <a:spcPts val="0"/>
              </a:spcAft>
              <a:buClr>
                <a:schemeClr val="dk1"/>
              </a:buClr>
              <a:buSzPts val="2100"/>
              <a:buFont typeface="Arial"/>
              <a:buChar char="–"/>
            </a:pPr>
            <a:r>
              <a:rPr b="0" i="0" lang="en-US" sz="2100" u="none" cap="none" strike="noStrike">
                <a:solidFill>
                  <a:schemeClr val="dk1"/>
                </a:solidFill>
                <a:latin typeface="Calibri"/>
                <a:ea typeface="Calibri"/>
                <a:cs typeface="Calibri"/>
                <a:sym typeface="Calibri"/>
              </a:rPr>
              <a:t>Clustering</a:t>
            </a:r>
            <a:endParaRPr sz="2500"/>
          </a:p>
          <a:p>
            <a:pPr indent="-266700" lvl="1" marL="742950" marR="0" rtl="0" algn="l">
              <a:lnSpc>
                <a:spcPct val="110000"/>
              </a:lnSpc>
              <a:spcBef>
                <a:spcPts val="480"/>
              </a:spcBef>
              <a:spcAft>
                <a:spcPts val="0"/>
              </a:spcAft>
              <a:buClr>
                <a:schemeClr val="dk1"/>
              </a:buClr>
              <a:buSzPts val="2100"/>
              <a:buFont typeface="Arial"/>
              <a:buChar char="–"/>
            </a:pPr>
            <a:r>
              <a:rPr b="0" i="0" lang="en-US" sz="2100" u="none" cap="none" strike="noStrike">
                <a:solidFill>
                  <a:schemeClr val="dk1"/>
                </a:solidFill>
                <a:latin typeface="Calibri"/>
                <a:ea typeface="Calibri"/>
                <a:cs typeface="Calibri"/>
                <a:sym typeface="Calibri"/>
              </a:rPr>
              <a:t>Indexing </a:t>
            </a:r>
            <a:endParaRPr sz="2500"/>
          </a:p>
          <a:p>
            <a:pPr indent="-266700" lvl="1" marL="742950" marR="0" rtl="0" algn="l">
              <a:lnSpc>
                <a:spcPct val="110000"/>
              </a:lnSpc>
              <a:spcBef>
                <a:spcPts val="480"/>
              </a:spcBef>
              <a:spcAft>
                <a:spcPts val="0"/>
              </a:spcAft>
              <a:buClr>
                <a:schemeClr val="dk1"/>
              </a:buClr>
              <a:buSzPts val="2100"/>
              <a:buFont typeface="Arial"/>
              <a:buChar char="–"/>
            </a:pPr>
            <a:r>
              <a:rPr b="0" i="0" lang="en-US" sz="2100" u="none" cap="none" strike="noStrike">
                <a:solidFill>
                  <a:schemeClr val="dk1"/>
                </a:solidFill>
                <a:latin typeface="Calibri"/>
                <a:ea typeface="Calibri"/>
                <a:cs typeface="Calibri"/>
                <a:sym typeface="Calibri"/>
              </a:rPr>
              <a:t>Estimating the size of data for hardware planning </a:t>
            </a:r>
            <a:endParaRPr sz="2500"/>
          </a:p>
          <a:p>
            <a:pPr indent="0" lvl="0" marL="342900" marR="0" rtl="0" algn="l">
              <a:lnSpc>
                <a:spcPct val="100000"/>
              </a:lnSpc>
              <a:spcBef>
                <a:spcPts val="0"/>
              </a:spcBef>
              <a:spcAft>
                <a:spcPts val="0"/>
              </a:spcAft>
              <a:buClr>
                <a:srgbClr val="0070C0"/>
              </a:buClr>
              <a:buSzPts val="5550"/>
              <a:buFont typeface="Noto Sans Symbols"/>
              <a:buNone/>
            </a:pPr>
            <a:r>
              <a:t/>
            </a:r>
            <a:endParaRPr b="0" i="0" sz="3400" u="none">
              <a:solidFill>
                <a:schemeClr val="dk1"/>
              </a:solidFill>
              <a:latin typeface="Calibri"/>
              <a:ea typeface="Calibri"/>
              <a:cs typeface="Calibri"/>
              <a:sym typeface="Calibri"/>
            </a:endParaRPr>
          </a:p>
          <a:p>
            <a:pPr indent="-107950" lvl="0" marL="342900" marR="0" rtl="0" algn="l">
              <a:spcBef>
                <a:spcPts val="740"/>
              </a:spcBef>
              <a:spcAft>
                <a:spcPts val="0"/>
              </a:spcAft>
              <a:buClr>
                <a:schemeClr val="dk1"/>
              </a:buClr>
              <a:buSzPts val="3700"/>
              <a:buFont typeface="Arial"/>
              <a:buNone/>
            </a:pPr>
            <a:r>
              <a:t/>
            </a:r>
            <a:endParaRPr b="0" i="0" sz="3400" u="none">
              <a:solidFill>
                <a:schemeClr val="dk1"/>
              </a:solidFill>
              <a:latin typeface="Calibri"/>
              <a:ea typeface="Calibri"/>
              <a:cs typeface="Calibri"/>
              <a:sym typeface="Calibri"/>
            </a:endParaRPr>
          </a:p>
        </p:txBody>
      </p:sp>
      <p:sp>
        <p:nvSpPr>
          <p:cNvPr id="279" name="Google Shape;279;p2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80" name="Google Shape;280;p2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502dbfc1e4_0_0"/>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87" name="Google Shape;287;g3502dbfc1e4_0_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502dbfc1e4_0_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pic>
        <p:nvPicPr>
          <p:cNvPr id="289" name="Google Shape;289;g3502dbfc1e4_0_0"/>
          <p:cNvPicPr preferRelativeResize="0"/>
          <p:nvPr/>
        </p:nvPicPr>
        <p:blipFill>
          <a:blip r:embed="rId3">
            <a:alphaModFix/>
          </a:blip>
          <a:stretch>
            <a:fillRect/>
          </a:stretch>
        </p:blipFill>
        <p:spPr>
          <a:xfrm>
            <a:off x="168225" y="202375"/>
            <a:ext cx="8793699" cy="65952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295" name="Google Shape;295;p26"/>
          <p:cNvSpPr txBox="1"/>
          <p:nvPr>
            <p:ph idx="1" type="body"/>
          </p:nvPr>
        </p:nvSpPr>
        <p:spPr>
          <a:xfrm>
            <a:off x="457200" y="1600200"/>
            <a:ext cx="3238500" cy="4526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There are four reasons for </a:t>
            </a:r>
            <a:r>
              <a:rPr lang="en-US" sz="2400"/>
              <a:t>D</a:t>
            </a:r>
            <a:r>
              <a:rPr lang="en-US" sz="2400"/>
              <a:t>enormalization</a:t>
            </a:r>
            <a:r>
              <a:rPr b="0" i="0" lang="en-US" sz="2400" u="none">
                <a:solidFill>
                  <a:schemeClr val="dk1"/>
                </a:solidFill>
                <a:latin typeface="Calibri"/>
                <a:ea typeface="Calibri"/>
                <a:cs typeface="Calibri"/>
                <a:sym typeface="Calibri"/>
              </a:rPr>
              <a:t>.  </a:t>
            </a:r>
            <a:endParaRPr/>
          </a:p>
        </p:txBody>
      </p:sp>
      <p:sp>
        <p:nvSpPr>
          <p:cNvPr id="296" name="Google Shape;296;p2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97" name="Google Shape;297;p2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18" id="298" name="Google Shape;298;p26"/>
          <p:cNvPicPr preferRelativeResize="0"/>
          <p:nvPr/>
        </p:nvPicPr>
        <p:blipFill rotWithShape="1">
          <a:blip r:embed="rId3">
            <a:alphaModFix/>
          </a:blip>
          <a:srcRect b="0" l="0" r="0" t="0"/>
          <a:stretch/>
        </p:blipFill>
        <p:spPr>
          <a:xfrm>
            <a:off x="3695700" y="0"/>
            <a:ext cx="5181600" cy="6842125"/>
          </a:xfrm>
          <a:prstGeom prst="rect">
            <a:avLst/>
          </a:prstGeom>
          <a:noFill/>
          <a:ln>
            <a:noFill/>
          </a:ln>
        </p:spPr>
      </p:pic>
      <p:sp>
        <p:nvSpPr>
          <p:cNvPr id="299" name="Google Shape;299;p2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8"/>
                                        </p:tgtEl>
                                        <p:attrNameLst>
                                          <p:attrName>style.visibility</p:attrName>
                                        </p:attrNameLst>
                                      </p:cBhvr>
                                      <p:to>
                                        <p:strVal val="visible"/>
                                      </p:to>
                                    </p:set>
                                    <p:anim calcmode="lin" valueType="num">
                                      <p:cBhvr additive="base">
                                        <p:cTn dur="500"/>
                                        <p:tgtEl>
                                          <p:spTgt spid="29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Clustering</a:t>
            </a:r>
            <a:endParaRPr/>
          </a:p>
        </p:txBody>
      </p:sp>
      <p:sp>
        <p:nvSpPr>
          <p:cNvPr id="305" name="Google Shape;305;p27"/>
          <p:cNvSpPr txBox="1"/>
          <p:nvPr>
            <p:ph idx="1" type="body"/>
          </p:nvPr>
        </p:nvSpPr>
        <p:spPr>
          <a:xfrm>
            <a:off x="457200" y="1587325"/>
            <a:ext cx="8229600" cy="4944300"/>
          </a:xfrm>
          <a:prstGeom prst="rect">
            <a:avLst/>
          </a:prstGeom>
          <a:noFill/>
          <a:ln>
            <a:noFill/>
          </a:ln>
        </p:spPr>
        <p:txBody>
          <a:bodyPr anchorCtr="0" anchor="t" bIns="45700" lIns="91425" spcFirstLastPara="1" rIns="91425" wrap="square" tIns="45700">
            <a:noAutofit/>
          </a:bodyPr>
          <a:lstStyle/>
          <a:p>
            <a:pPr indent="-323850" lvl="0" marL="342900" marR="0" rtl="0" algn="l">
              <a:lnSpc>
                <a:spcPct val="100000"/>
              </a:lnSpc>
              <a:spcBef>
                <a:spcPts val="0"/>
              </a:spcBef>
              <a:spcAft>
                <a:spcPts val="0"/>
              </a:spcAft>
              <a:buClr>
                <a:srgbClr val="0070C0"/>
              </a:buClr>
              <a:buSzPts val="5100"/>
              <a:buFont typeface="Noto Sans Symbols"/>
              <a:buChar char="▪"/>
            </a:pPr>
            <a:r>
              <a:rPr b="1" i="1" lang="en-US" sz="3300" u="none">
                <a:solidFill>
                  <a:srgbClr val="0033CC"/>
                </a:solidFill>
                <a:latin typeface="Calibri"/>
                <a:ea typeface="Calibri"/>
                <a:cs typeface="Calibri"/>
                <a:sym typeface="Calibri"/>
              </a:rPr>
              <a:t>Clustering</a:t>
            </a:r>
            <a:r>
              <a:rPr b="0" i="0" lang="en-US" sz="3300" u="none">
                <a:solidFill>
                  <a:schemeClr val="dk1"/>
                </a:solidFill>
                <a:latin typeface="Calibri"/>
                <a:ea typeface="Calibri"/>
                <a:cs typeface="Calibri"/>
                <a:sym typeface="Calibri"/>
              </a:rPr>
              <a:t> – placing records together physically so that like records are stored close together.</a:t>
            </a:r>
            <a:endParaRPr sz="3700"/>
          </a:p>
          <a:p>
            <a:pPr indent="-323850" lvl="0" marL="342900" marR="0" rtl="0" algn="l">
              <a:lnSpc>
                <a:spcPct val="100000"/>
              </a:lnSpc>
              <a:spcBef>
                <a:spcPts val="0"/>
              </a:spcBef>
              <a:spcAft>
                <a:spcPts val="0"/>
              </a:spcAft>
              <a:buClr>
                <a:srgbClr val="0070C0"/>
              </a:buClr>
              <a:buSzPts val="5100"/>
              <a:buFont typeface="Noto Sans Symbols"/>
              <a:buChar char="▪"/>
            </a:pPr>
            <a:r>
              <a:rPr b="1" i="1" lang="en-US" sz="3300" u="none">
                <a:solidFill>
                  <a:srgbClr val="0033CC"/>
                </a:solidFill>
                <a:latin typeface="Calibri"/>
                <a:ea typeface="Calibri"/>
                <a:cs typeface="Calibri"/>
                <a:sym typeface="Calibri"/>
              </a:rPr>
              <a:t>Intrafile clustering </a:t>
            </a:r>
            <a:r>
              <a:rPr b="0" i="0" lang="en-US" sz="3300" u="none">
                <a:solidFill>
                  <a:schemeClr val="dk1"/>
                </a:solidFill>
                <a:latin typeface="Calibri"/>
                <a:ea typeface="Calibri"/>
                <a:cs typeface="Calibri"/>
                <a:sym typeface="Calibri"/>
              </a:rPr>
              <a:t>– Similar records in the table are stored together.</a:t>
            </a:r>
            <a:endParaRPr sz="3700"/>
          </a:p>
          <a:p>
            <a:pPr indent="-323850" lvl="0" marL="342900" marR="0" rtl="0" algn="l">
              <a:lnSpc>
                <a:spcPct val="100000"/>
              </a:lnSpc>
              <a:spcBef>
                <a:spcPts val="0"/>
              </a:spcBef>
              <a:spcAft>
                <a:spcPts val="0"/>
              </a:spcAft>
              <a:buClr>
                <a:srgbClr val="0070C0"/>
              </a:buClr>
              <a:buSzPts val="5100"/>
              <a:buFont typeface="Noto Sans Symbols"/>
              <a:buChar char="▪"/>
            </a:pPr>
            <a:r>
              <a:rPr b="1" i="1" lang="en-US" sz="3300" u="none">
                <a:solidFill>
                  <a:srgbClr val="0033CC"/>
                </a:solidFill>
                <a:latin typeface="Calibri"/>
                <a:ea typeface="Calibri"/>
                <a:cs typeface="Calibri"/>
                <a:sym typeface="Calibri"/>
              </a:rPr>
              <a:t>Interfile clustering </a:t>
            </a:r>
            <a:r>
              <a:rPr b="0" i="0" lang="en-US" sz="3300" u="none">
                <a:solidFill>
                  <a:schemeClr val="dk1"/>
                </a:solidFill>
                <a:latin typeface="Calibri"/>
                <a:ea typeface="Calibri"/>
                <a:cs typeface="Calibri"/>
                <a:sym typeface="Calibri"/>
              </a:rPr>
              <a:t>– Combining records from more tha</a:t>
            </a:r>
            <a:r>
              <a:rPr lang="en-US" sz="3300"/>
              <a:t>n</a:t>
            </a:r>
            <a:r>
              <a:rPr b="0" i="0" lang="en-US" sz="3300" u="none">
                <a:solidFill>
                  <a:schemeClr val="dk1"/>
                </a:solidFill>
                <a:latin typeface="Calibri"/>
                <a:ea typeface="Calibri"/>
                <a:cs typeface="Calibri"/>
                <a:sym typeface="Calibri"/>
              </a:rPr>
              <a:t> one table that typically are retrieved together.</a:t>
            </a:r>
            <a:endParaRPr sz="3700"/>
          </a:p>
          <a:p>
            <a:pPr indent="-114300" lvl="0" marL="342900" marR="0" rtl="0" algn="l">
              <a:spcBef>
                <a:spcPts val="720"/>
              </a:spcBef>
              <a:spcAft>
                <a:spcPts val="0"/>
              </a:spcAft>
              <a:buClr>
                <a:schemeClr val="dk1"/>
              </a:buClr>
              <a:buSzPts val="3600"/>
              <a:buFont typeface="Arial"/>
              <a:buNone/>
            </a:pPr>
            <a:r>
              <a:t/>
            </a:r>
            <a:endParaRPr b="0" i="0" sz="3300" u="none">
              <a:solidFill>
                <a:schemeClr val="dk1"/>
              </a:solidFill>
              <a:latin typeface="Calibri"/>
              <a:ea typeface="Calibri"/>
              <a:cs typeface="Calibri"/>
              <a:sym typeface="Calibri"/>
            </a:endParaRPr>
          </a:p>
        </p:txBody>
      </p:sp>
      <p:sp>
        <p:nvSpPr>
          <p:cNvPr id="306" name="Google Shape;306;p2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307" name="Google Shape;307;p2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Indexing</a:t>
            </a:r>
            <a:endParaRPr/>
          </a:p>
        </p:txBody>
      </p:sp>
      <p:sp>
        <p:nvSpPr>
          <p:cNvPr id="313" name="Google Shape;313;p2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20675" lvl="0" marL="342900" marR="0" rtl="0" algn="just">
              <a:lnSpc>
                <a:spcPct val="110000"/>
              </a:lnSpc>
              <a:spcBef>
                <a:spcPts val="0"/>
              </a:spcBef>
              <a:spcAft>
                <a:spcPts val="0"/>
              </a:spcAft>
              <a:buClr>
                <a:srgbClr val="0070C0"/>
              </a:buClr>
              <a:buSzPts val="5050"/>
              <a:buFont typeface="Noto Sans Symbols"/>
              <a:buChar char="▪"/>
            </a:pPr>
            <a:r>
              <a:rPr b="0" i="0" lang="en-US" sz="3200" u="none">
                <a:solidFill>
                  <a:schemeClr val="dk1"/>
                </a:solidFill>
                <a:latin typeface="Calibri"/>
                <a:ea typeface="Calibri"/>
                <a:cs typeface="Calibri"/>
                <a:sym typeface="Calibri"/>
              </a:rPr>
              <a:t>An </a:t>
            </a:r>
            <a:r>
              <a:rPr b="1" i="1" lang="en-US" sz="3200" u="none">
                <a:solidFill>
                  <a:srgbClr val="0033CC"/>
                </a:solidFill>
                <a:latin typeface="Calibri"/>
                <a:ea typeface="Calibri"/>
                <a:cs typeface="Calibri"/>
                <a:sym typeface="Calibri"/>
              </a:rPr>
              <a:t>index</a:t>
            </a:r>
            <a:r>
              <a:rPr b="0" i="0" lang="en-US" sz="3200" u="none">
                <a:solidFill>
                  <a:schemeClr val="dk1"/>
                </a:solidFill>
                <a:latin typeface="Calibri"/>
                <a:ea typeface="Calibri"/>
                <a:cs typeface="Calibri"/>
                <a:sym typeface="Calibri"/>
              </a:rPr>
              <a:t> in data storage is a minitable (similar to an index of a book) that contains values from one or more columns in a table and the location of the values within the table.</a:t>
            </a:r>
            <a:endParaRPr sz="3500"/>
          </a:p>
          <a:p>
            <a:pPr indent="-320675" lvl="0" marL="342900" marR="0" rtl="0" algn="just">
              <a:lnSpc>
                <a:spcPct val="110000"/>
              </a:lnSpc>
              <a:spcBef>
                <a:spcPts val="0"/>
              </a:spcBef>
              <a:spcAft>
                <a:spcPts val="0"/>
              </a:spcAft>
              <a:buClr>
                <a:srgbClr val="0070C0"/>
              </a:buClr>
              <a:buSzPts val="5050"/>
              <a:buFont typeface="Noto Sans Symbols"/>
              <a:buChar char="▪"/>
            </a:pPr>
            <a:r>
              <a:rPr b="0" i="0" lang="en-US" sz="3200" u="none">
                <a:solidFill>
                  <a:schemeClr val="dk1"/>
                </a:solidFill>
                <a:latin typeface="Calibri"/>
                <a:ea typeface="Calibri"/>
                <a:cs typeface="Calibri"/>
                <a:sym typeface="Calibri"/>
              </a:rPr>
              <a:t>Indexes require overhead in that they take up space on the storage.</a:t>
            </a:r>
            <a:endParaRPr sz="3500"/>
          </a:p>
          <a:p>
            <a:pPr indent="-107950" lvl="0" marL="342900" marR="0" rtl="0" algn="l">
              <a:spcBef>
                <a:spcPts val="740"/>
              </a:spcBef>
              <a:spcAft>
                <a:spcPts val="0"/>
              </a:spcAft>
              <a:buClr>
                <a:schemeClr val="dk1"/>
              </a:buClr>
              <a:buSzPts val="3700"/>
              <a:buFont typeface="Arial"/>
              <a:buNone/>
            </a:pPr>
            <a:r>
              <a:t/>
            </a:r>
            <a:endParaRPr b="0" i="0" sz="3200" u="none">
              <a:solidFill>
                <a:schemeClr val="dk1"/>
              </a:solidFill>
              <a:latin typeface="Calibri"/>
              <a:ea typeface="Calibri"/>
              <a:cs typeface="Calibri"/>
              <a:sym typeface="Calibri"/>
            </a:endParaRPr>
          </a:p>
        </p:txBody>
      </p:sp>
      <p:sp>
        <p:nvSpPr>
          <p:cNvPr id="314" name="Google Shape;314;p2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315" name="Google Shape;315;p2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321" name="Google Shape;321;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Example of indexing</a:t>
            </a:r>
            <a:endParaRPr/>
          </a:p>
        </p:txBody>
      </p:sp>
      <p:sp>
        <p:nvSpPr>
          <p:cNvPr id="322" name="Google Shape;322;p2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323" name="Google Shape;323;p29"/>
          <p:cNvPicPr preferRelativeResize="0"/>
          <p:nvPr/>
        </p:nvPicPr>
        <p:blipFill rotWithShape="1">
          <a:blip r:embed="rId3">
            <a:alphaModFix/>
          </a:blip>
          <a:srcRect b="0" l="0" r="0" t="0"/>
          <a:stretch/>
        </p:blipFill>
        <p:spPr>
          <a:xfrm>
            <a:off x="1447800" y="2362200"/>
            <a:ext cx="6248400" cy="3875087"/>
          </a:xfrm>
          <a:prstGeom prst="rect">
            <a:avLst/>
          </a:prstGeom>
          <a:noFill/>
          <a:ln>
            <a:noFill/>
          </a:ln>
        </p:spPr>
      </p:pic>
      <p:sp>
        <p:nvSpPr>
          <p:cNvPr id="324" name="Google Shape;324;p2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330" name="Google Shape;330;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Guidelines for creating indexes</a:t>
            </a:r>
            <a:endParaRPr/>
          </a:p>
        </p:txBody>
      </p:sp>
      <p:sp>
        <p:nvSpPr>
          <p:cNvPr id="331" name="Google Shape;331;p3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20" id="332" name="Google Shape;332;p30"/>
          <p:cNvPicPr preferRelativeResize="0"/>
          <p:nvPr/>
        </p:nvPicPr>
        <p:blipFill rotWithShape="1">
          <a:blip r:embed="rId3">
            <a:alphaModFix/>
          </a:blip>
          <a:srcRect b="0" l="0" r="0" t="0"/>
          <a:stretch/>
        </p:blipFill>
        <p:spPr>
          <a:xfrm>
            <a:off x="457200" y="2895600"/>
            <a:ext cx="8686800" cy="2133600"/>
          </a:xfrm>
          <a:prstGeom prst="rect">
            <a:avLst/>
          </a:prstGeom>
          <a:noFill/>
          <a:ln>
            <a:noFill/>
          </a:ln>
        </p:spPr>
      </p:pic>
      <p:sp>
        <p:nvSpPr>
          <p:cNvPr id="333" name="Google Shape;333;p3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gtEl>
                                        <p:attrNameLst>
                                          <p:attrName>style.visibility</p:attrName>
                                        </p:attrNameLst>
                                      </p:cBhvr>
                                      <p:to>
                                        <p:strVal val="visible"/>
                                      </p:to>
                                    </p:set>
                                    <p:anim calcmode="lin" valueType="num">
                                      <p:cBhvr additive="base">
                                        <p:cTn dur="500"/>
                                        <p:tgtEl>
                                          <p:spTgt spid="33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Estimating Storage Size</a:t>
            </a:r>
            <a:endParaRPr/>
          </a:p>
        </p:txBody>
      </p:sp>
      <p:sp>
        <p:nvSpPr>
          <p:cNvPr id="339" name="Google Shape;339;p3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4500"/>
              <a:buFont typeface="Noto Sans Symbols"/>
              <a:buChar char="▪"/>
            </a:pPr>
            <a:r>
              <a:rPr b="1" i="1" lang="en-US" sz="3000" u="none">
                <a:solidFill>
                  <a:srgbClr val="0033CC"/>
                </a:solidFill>
                <a:latin typeface="Calibri"/>
                <a:ea typeface="Calibri"/>
                <a:cs typeface="Calibri"/>
                <a:sym typeface="Calibri"/>
              </a:rPr>
              <a:t>Volumetrics </a:t>
            </a:r>
            <a:r>
              <a:rPr b="0" i="0" lang="en-US" sz="3000" u="none">
                <a:solidFill>
                  <a:schemeClr val="dk1"/>
                </a:solidFill>
                <a:latin typeface="Calibri"/>
                <a:ea typeface="Calibri"/>
                <a:cs typeface="Calibri"/>
                <a:sym typeface="Calibri"/>
              </a:rPr>
              <a:t>– technique of estimating the amount of data that the hardware will need to support.</a:t>
            </a:r>
            <a:endParaRPr/>
          </a:p>
          <a:p>
            <a:pPr indent="-342900" lvl="0" marL="342900" marR="0" rtl="0" algn="l">
              <a:lnSpc>
                <a:spcPct val="100000"/>
              </a:lnSpc>
              <a:spcBef>
                <a:spcPts val="0"/>
              </a:spcBef>
              <a:spcAft>
                <a:spcPts val="0"/>
              </a:spcAft>
              <a:buClr>
                <a:schemeClr val="dk1"/>
              </a:buClr>
              <a:buSzPts val="3000"/>
              <a:buFont typeface="Arial"/>
              <a:buNone/>
            </a:pPr>
            <a:r>
              <a:rPr b="0" i="0" lang="en-US" sz="3000" u="none">
                <a:solidFill>
                  <a:schemeClr val="dk1"/>
                </a:solidFill>
                <a:latin typeface="Calibri"/>
                <a:ea typeface="Calibri"/>
                <a:cs typeface="Calibri"/>
                <a:sym typeface="Calibri"/>
              </a:rPr>
              <a:t>1. Calculate the amount of </a:t>
            </a:r>
            <a:r>
              <a:rPr b="1" i="1" lang="en-US" sz="3000" u="none">
                <a:solidFill>
                  <a:srgbClr val="0033CC"/>
                </a:solidFill>
                <a:latin typeface="Calibri"/>
                <a:ea typeface="Calibri"/>
                <a:cs typeface="Calibri"/>
                <a:sym typeface="Calibri"/>
              </a:rPr>
              <a:t>raw data </a:t>
            </a:r>
            <a:r>
              <a:rPr b="0" i="0" lang="en-US" sz="3000" u="none">
                <a:solidFill>
                  <a:schemeClr val="dk1"/>
                </a:solidFill>
                <a:latin typeface="Calibri"/>
                <a:ea typeface="Calibri"/>
                <a:cs typeface="Calibri"/>
                <a:sym typeface="Calibri"/>
              </a:rPr>
              <a:t>- all the data that are stored within the tables of the database.</a:t>
            </a:r>
            <a:endParaRPr/>
          </a:p>
          <a:p>
            <a:pPr indent="-342900" lvl="0" marL="342900" marR="0" rtl="0" algn="l">
              <a:lnSpc>
                <a:spcPct val="100000"/>
              </a:lnSpc>
              <a:spcBef>
                <a:spcPts val="0"/>
              </a:spcBef>
              <a:spcAft>
                <a:spcPts val="0"/>
              </a:spcAft>
              <a:buClr>
                <a:schemeClr val="dk1"/>
              </a:buClr>
              <a:buSzPts val="3000"/>
              <a:buFont typeface="Arial"/>
              <a:buNone/>
            </a:pPr>
            <a:r>
              <a:rPr b="0" i="0" lang="en-US" sz="3000" u="none">
                <a:solidFill>
                  <a:schemeClr val="dk1"/>
                </a:solidFill>
                <a:latin typeface="Calibri"/>
                <a:ea typeface="Calibri"/>
                <a:cs typeface="Calibri"/>
                <a:sym typeface="Calibri"/>
              </a:rPr>
              <a:t>2. Calculate the </a:t>
            </a:r>
            <a:r>
              <a:rPr b="1" i="1" lang="en-US" sz="3000" u="none">
                <a:solidFill>
                  <a:srgbClr val="0033CC"/>
                </a:solidFill>
                <a:latin typeface="Calibri"/>
                <a:ea typeface="Calibri"/>
                <a:cs typeface="Calibri"/>
                <a:sym typeface="Calibri"/>
              </a:rPr>
              <a:t>overhead</a:t>
            </a:r>
            <a:r>
              <a:rPr b="0" i="0" lang="en-US" sz="3000" u="none">
                <a:solidFill>
                  <a:schemeClr val="dk1"/>
                </a:solidFill>
                <a:latin typeface="Calibri"/>
                <a:ea typeface="Calibri"/>
                <a:cs typeface="Calibri"/>
                <a:sym typeface="Calibri"/>
              </a:rPr>
              <a:t> requirements based on the DBMS </a:t>
            </a:r>
            <a:r>
              <a:rPr lang="en-US" sz="3000"/>
              <a:t>vendor</a:t>
            </a:r>
            <a:r>
              <a:rPr b="0" i="0" lang="en-US" sz="3000" u="none">
                <a:solidFill>
                  <a:schemeClr val="dk1"/>
                </a:solidFill>
                <a:latin typeface="Calibri"/>
                <a:ea typeface="Calibri"/>
                <a:cs typeface="Calibri"/>
                <a:sym typeface="Calibri"/>
              </a:rPr>
              <a:t> recommendations.</a:t>
            </a:r>
            <a:endParaRPr/>
          </a:p>
          <a:p>
            <a:pPr indent="-342900" lvl="0" marL="342900" marR="0" rtl="0" algn="l">
              <a:lnSpc>
                <a:spcPct val="100000"/>
              </a:lnSpc>
              <a:spcBef>
                <a:spcPts val="0"/>
              </a:spcBef>
              <a:spcAft>
                <a:spcPts val="0"/>
              </a:spcAft>
              <a:buClr>
                <a:schemeClr val="dk1"/>
              </a:buClr>
              <a:buSzPts val="3000"/>
              <a:buFont typeface="Arial"/>
              <a:buNone/>
            </a:pPr>
            <a:r>
              <a:rPr b="0" i="0" lang="en-US" sz="3000" u="none">
                <a:solidFill>
                  <a:schemeClr val="dk1"/>
                </a:solidFill>
                <a:latin typeface="Calibri"/>
                <a:ea typeface="Calibri"/>
                <a:cs typeface="Calibri"/>
                <a:sym typeface="Calibri"/>
              </a:rPr>
              <a:t>3. Record the number of initial records that will be loaded into the table, as well as the expected growth per month.</a:t>
            </a:r>
            <a:endParaRPr/>
          </a:p>
          <a:p>
            <a:pPr indent="-152400" lvl="0" marL="342900" marR="0" rtl="0" algn="l">
              <a:spcBef>
                <a:spcPts val="600"/>
              </a:spcBef>
              <a:spcAft>
                <a:spcPts val="0"/>
              </a:spcAft>
              <a:buClr>
                <a:schemeClr val="dk1"/>
              </a:buClr>
              <a:buSzPts val="3000"/>
              <a:buFont typeface="Arial"/>
              <a:buNone/>
            </a:pPr>
            <a:r>
              <a:t/>
            </a:r>
            <a:endParaRPr b="0" i="0" sz="3000" u="none">
              <a:solidFill>
                <a:schemeClr val="dk1"/>
              </a:solidFill>
              <a:latin typeface="Calibri"/>
              <a:ea typeface="Calibri"/>
              <a:cs typeface="Calibri"/>
              <a:sym typeface="Calibri"/>
            </a:endParaRPr>
          </a:p>
        </p:txBody>
      </p:sp>
      <p:sp>
        <p:nvSpPr>
          <p:cNvPr id="340" name="Google Shape;340;p3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341" name="Google Shape;341;p3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a:t>Example of calculating volumetrics </a:t>
            </a:r>
            <a:endParaRPr/>
          </a:p>
        </p:txBody>
      </p:sp>
      <p:sp>
        <p:nvSpPr>
          <p:cNvPr id="347" name="Google Shape;347;p3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348" name="Google Shape;348;p3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22" id="349" name="Google Shape;349;p32"/>
          <p:cNvPicPr preferRelativeResize="0"/>
          <p:nvPr/>
        </p:nvPicPr>
        <p:blipFill rotWithShape="1">
          <a:blip r:embed="rId3">
            <a:alphaModFix/>
          </a:blip>
          <a:srcRect b="0" l="0" r="0" t="0"/>
          <a:stretch/>
        </p:blipFill>
        <p:spPr>
          <a:xfrm>
            <a:off x="315100" y="274625"/>
            <a:ext cx="8513804" cy="6858001"/>
          </a:xfrm>
          <a:prstGeom prst="rect">
            <a:avLst/>
          </a:prstGeom>
          <a:noFill/>
          <a:ln>
            <a:noFill/>
          </a:ln>
        </p:spPr>
      </p:pic>
      <p:sp>
        <p:nvSpPr>
          <p:cNvPr id="350" name="Google Shape;350;p3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
        <p:nvSpPr>
          <p:cNvPr id="351" name="Google Shape;351;p32"/>
          <p:cNvSpPr txBox="1"/>
          <p:nvPr/>
        </p:nvSpPr>
        <p:spPr>
          <a:xfrm>
            <a:off x="11448000" y="3438000"/>
            <a:ext cx="9180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9"/>
                                        </p:tgtEl>
                                        <p:attrNameLst>
                                          <p:attrName>style.visibility</p:attrName>
                                        </p:attrNameLst>
                                      </p:cBhvr>
                                      <p:to>
                                        <p:strVal val="visible"/>
                                      </p:to>
                                    </p:set>
                                    <p:anim calcmode="lin" valueType="num">
                                      <p:cBhvr additive="base">
                                        <p:cTn dur="500"/>
                                        <p:tgtEl>
                                          <p:spTgt spid="34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SUMMARY</a:t>
            </a:r>
            <a:endParaRPr/>
          </a:p>
        </p:txBody>
      </p:sp>
      <p:sp>
        <p:nvSpPr>
          <p:cNvPr id="357" name="Google Shape;357;p33"/>
          <p:cNvSpPr txBox="1"/>
          <p:nvPr>
            <p:ph idx="1" type="body"/>
          </p:nvPr>
        </p:nvSpPr>
        <p:spPr>
          <a:xfrm>
            <a:off x="457200" y="1481450"/>
            <a:ext cx="8229600" cy="4526100"/>
          </a:xfrm>
          <a:prstGeom prst="rect">
            <a:avLst/>
          </a:prstGeom>
          <a:noFill/>
          <a:ln>
            <a:noFill/>
          </a:ln>
        </p:spPr>
        <p:txBody>
          <a:bodyPr anchorCtr="0" anchor="t" bIns="45700" lIns="91425" spcFirstLastPara="1" rIns="91425" wrap="square" tIns="45700">
            <a:noAutofit/>
          </a:bodyPr>
          <a:lstStyle/>
          <a:p>
            <a:pPr indent="-323850" lvl="0" marL="342900" marR="0" rtl="0" algn="l">
              <a:lnSpc>
                <a:spcPct val="90000"/>
              </a:lnSpc>
              <a:spcBef>
                <a:spcPts val="0"/>
              </a:spcBef>
              <a:spcAft>
                <a:spcPts val="0"/>
              </a:spcAft>
              <a:buClr>
                <a:srgbClr val="0070C0"/>
              </a:buClr>
              <a:buSzPts val="3900"/>
              <a:buFont typeface="Noto Sans Symbols"/>
              <a:buChar char="▪"/>
            </a:pPr>
            <a:r>
              <a:rPr b="1" i="0" lang="en-US" sz="2500" u="none">
                <a:solidFill>
                  <a:schemeClr val="dk1"/>
                </a:solidFill>
                <a:latin typeface="Calibri"/>
                <a:ea typeface="Calibri"/>
                <a:cs typeface="Calibri"/>
                <a:sym typeface="Calibri"/>
              </a:rPr>
              <a:t>File data storage formats</a:t>
            </a:r>
            <a:endParaRPr sz="3700"/>
          </a:p>
          <a:p>
            <a:pPr indent="-342900" lvl="0" marL="342900" marR="0" rtl="0" algn="l">
              <a:lnSpc>
                <a:spcPct val="90000"/>
              </a:lnSpc>
              <a:spcBef>
                <a:spcPts val="0"/>
              </a:spcBef>
              <a:spcAft>
                <a:spcPts val="0"/>
              </a:spcAft>
              <a:buClr>
                <a:schemeClr val="dk1"/>
              </a:buClr>
              <a:buSzPts val="2800"/>
              <a:buFont typeface="Arial"/>
              <a:buNone/>
            </a:pPr>
            <a:r>
              <a:rPr b="0" i="0" lang="en-US" sz="2500" u="none">
                <a:solidFill>
                  <a:schemeClr val="dk1"/>
                </a:solidFill>
                <a:latin typeface="Calibri"/>
                <a:ea typeface="Calibri"/>
                <a:cs typeface="Calibri"/>
                <a:sym typeface="Calibri"/>
              </a:rPr>
              <a:t>  - </a:t>
            </a:r>
            <a:r>
              <a:rPr b="0" i="0" lang="en-US" sz="2500" u="none">
                <a:solidFill>
                  <a:srgbClr val="FF0000"/>
                </a:solidFill>
                <a:latin typeface="Calibri"/>
                <a:ea typeface="Calibri"/>
                <a:cs typeface="Calibri"/>
                <a:sym typeface="Calibri"/>
              </a:rPr>
              <a:t>Files</a:t>
            </a:r>
            <a:r>
              <a:rPr b="0" i="0" lang="en-US" sz="2500" u="none">
                <a:solidFill>
                  <a:schemeClr val="dk1"/>
                </a:solidFill>
                <a:latin typeface="Calibri"/>
                <a:ea typeface="Calibri"/>
                <a:cs typeface="Calibri"/>
                <a:sym typeface="Calibri"/>
              </a:rPr>
              <a:t> are electronic lists of data.</a:t>
            </a:r>
            <a:endParaRPr sz="3700"/>
          </a:p>
          <a:p>
            <a:pPr indent="-342900" lvl="0" marL="342900" marR="0" rtl="0" algn="l">
              <a:lnSpc>
                <a:spcPct val="90000"/>
              </a:lnSpc>
              <a:spcBef>
                <a:spcPts val="0"/>
              </a:spcBef>
              <a:spcAft>
                <a:spcPts val="0"/>
              </a:spcAft>
              <a:buClr>
                <a:schemeClr val="dk1"/>
              </a:buClr>
              <a:buSzPts val="2800"/>
              <a:buFont typeface="Arial"/>
              <a:buNone/>
            </a:pPr>
            <a:r>
              <a:rPr b="0" i="0" lang="en-US" sz="2500" u="none">
                <a:solidFill>
                  <a:schemeClr val="dk1"/>
                </a:solidFill>
                <a:latin typeface="Calibri"/>
                <a:ea typeface="Calibri"/>
                <a:cs typeface="Calibri"/>
                <a:sym typeface="Calibri"/>
              </a:rPr>
              <a:t>  - Five types of files: master, look-up, transaction, audit, and history.</a:t>
            </a:r>
            <a:endParaRPr sz="3700"/>
          </a:p>
          <a:p>
            <a:pPr indent="-323850" lvl="0" marL="342900" marR="0" rtl="0" algn="l">
              <a:lnSpc>
                <a:spcPct val="90000"/>
              </a:lnSpc>
              <a:spcBef>
                <a:spcPts val="0"/>
              </a:spcBef>
              <a:spcAft>
                <a:spcPts val="0"/>
              </a:spcAft>
              <a:buClr>
                <a:srgbClr val="0070C0"/>
              </a:buClr>
              <a:buSzPts val="3900"/>
              <a:buFont typeface="Noto Sans Symbols"/>
              <a:buChar char="▪"/>
            </a:pPr>
            <a:r>
              <a:rPr b="1" i="0" lang="en-US" sz="2500" u="none">
                <a:solidFill>
                  <a:schemeClr val="dk1"/>
                </a:solidFill>
                <a:latin typeface="Calibri"/>
                <a:ea typeface="Calibri"/>
                <a:cs typeface="Calibri"/>
                <a:sym typeface="Calibri"/>
              </a:rPr>
              <a:t>Database storage formats</a:t>
            </a:r>
            <a:endParaRPr sz="3700"/>
          </a:p>
          <a:p>
            <a:pPr indent="-342900" lvl="0" marL="342900" marR="0" rtl="0" algn="l">
              <a:lnSpc>
                <a:spcPct val="90000"/>
              </a:lnSpc>
              <a:spcBef>
                <a:spcPts val="0"/>
              </a:spcBef>
              <a:spcAft>
                <a:spcPts val="0"/>
              </a:spcAft>
              <a:buClr>
                <a:schemeClr val="dk1"/>
              </a:buClr>
              <a:buSzPts val="2800"/>
              <a:buFont typeface="Arial"/>
              <a:buNone/>
            </a:pPr>
            <a:r>
              <a:rPr b="0" i="0" lang="en-US" sz="2500" u="none">
                <a:solidFill>
                  <a:schemeClr val="dk1"/>
                </a:solidFill>
                <a:latin typeface="Calibri"/>
                <a:ea typeface="Calibri"/>
                <a:cs typeface="Calibri"/>
                <a:sym typeface="Calibri"/>
              </a:rPr>
              <a:t>  - A </a:t>
            </a:r>
            <a:r>
              <a:rPr b="0" i="0" lang="en-US" sz="2500" u="none">
                <a:solidFill>
                  <a:srgbClr val="FF0000"/>
                </a:solidFill>
                <a:latin typeface="Calibri"/>
                <a:ea typeface="Calibri"/>
                <a:cs typeface="Calibri"/>
                <a:sym typeface="Calibri"/>
              </a:rPr>
              <a:t>database</a:t>
            </a:r>
            <a:r>
              <a:rPr b="0" i="0" lang="en-US" sz="2500" u="none">
                <a:solidFill>
                  <a:schemeClr val="dk1"/>
                </a:solidFill>
                <a:latin typeface="Calibri"/>
                <a:ea typeface="Calibri"/>
                <a:cs typeface="Calibri"/>
                <a:sym typeface="Calibri"/>
              </a:rPr>
              <a:t> is a collection of groupings of information</a:t>
            </a:r>
            <a:endParaRPr sz="3700"/>
          </a:p>
          <a:p>
            <a:pPr indent="-342900" lvl="0" marL="342900" marR="0" rtl="0" algn="l">
              <a:lnSpc>
                <a:spcPct val="90000"/>
              </a:lnSpc>
              <a:spcBef>
                <a:spcPts val="0"/>
              </a:spcBef>
              <a:spcAft>
                <a:spcPts val="0"/>
              </a:spcAft>
              <a:buClr>
                <a:schemeClr val="dk1"/>
              </a:buClr>
              <a:buSzPts val="2800"/>
              <a:buFont typeface="Arial"/>
              <a:buNone/>
            </a:pPr>
            <a:r>
              <a:rPr b="0" i="0" lang="en-US" sz="2500" u="none">
                <a:solidFill>
                  <a:schemeClr val="dk1"/>
                </a:solidFill>
                <a:latin typeface="Calibri"/>
                <a:ea typeface="Calibri"/>
                <a:cs typeface="Calibri"/>
                <a:sym typeface="Calibri"/>
              </a:rPr>
              <a:t>  - A </a:t>
            </a:r>
            <a:r>
              <a:rPr b="0" i="0" lang="en-US" sz="2500" u="none">
                <a:solidFill>
                  <a:srgbClr val="FF0000"/>
                </a:solidFill>
                <a:latin typeface="Calibri"/>
                <a:ea typeface="Calibri"/>
                <a:cs typeface="Calibri"/>
                <a:sym typeface="Calibri"/>
              </a:rPr>
              <a:t>DBMS</a:t>
            </a:r>
            <a:r>
              <a:rPr b="0" i="0" lang="en-US" sz="2500" u="none">
                <a:solidFill>
                  <a:schemeClr val="dk1"/>
                </a:solidFill>
                <a:latin typeface="Calibri"/>
                <a:ea typeface="Calibri"/>
                <a:cs typeface="Calibri"/>
                <a:sym typeface="Calibri"/>
              </a:rPr>
              <a:t> is software that creates and manipulates these databases.</a:t>
            </a:r>
            <a:endParaRPr sz="3700"/>
          </a:p>
          <a:p>
            <a:pPr indent="-323850" lvl="0" marL="342900" marR="0" rtl="0" algn="l">
              <a:lnSpc>
                <a:spcPct val="90000"/>
              </a:lnSpc>
              <a:spcBef>
                <a:spcPts val="0"/>
              </a:spcBef>
              <a:spcAft>
                <a:spcPts val="0"/>
              </a:spcAft>
              <a:buClr>
                <a:srgbClr val="0070C0"/>
              </a:buClr>
              <a:buSzPts val="3900"/>
              <a:buFont typeface="Noto Sans Symbols"/>
              <a:buChar char="▪"/>
            </a:pPr>
            <a:r>
              <a:rPr b="1" i="0" lang="en-US" sz="2500" u="none">
                <a:solidFill>
                  <a:schemeClr val="dk1"/>
                </a:solidFill>
                <a:latin typeface="Calibri"/>
                <a:ea typeface="Calibri"/>
                <a:cs typeface="Calibri"/>
                <a:sym typeface="Calibri"/>
              </a:rPr>
              <a:t>Selecting a data storage format</a:t>
            </a:r>
            <a:endParaRPr b="0" i="0" sz="2500" u="non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Clr>
                <a:schemeClr val="dk1"/>
              </a:buClr>
              <a:buSzPts val="2800"/>
              <a:buFont typeface="Arial"/>
              <a:buNone/>
            </a:pPr>
            <a:r>
              <a:rPr b="1" i="0" lang="en-US" sz="2500" u="none">
                <a:solidFill>
                  <a:schemeClr val="dk1"/>
                </a:solidFill>
                <a:latin typeface="Calibri"/>
                <a:ea typeface="Calibri"/>
                <a:cs typeface="Calibri"/>
                <a:sym typeface="Calibri"/>
              </a:rPr>
              <a:t>  </a:t>
            </a:r>
            <a:r>
              <a:rPr b="0" i="0" lang="en-US" sz="2500" u="none">
                <a:solidFill>
                  <a:schemeClr val="dk1"/>
                </a:solidFill>
                <a:latin typeface="Calibri"/>
                <a:ea typeface="Calibri"/>
                <a:cs typeface="Calibri"/>
                <a:sym typeface="Calibri"/>
              </a:rPr>
              <a:t>- </a:t>
            </a:r>
            <a:r>
              <a:rPr b="0" i="0" lang="en-US" sz="2500" u="none">
                <a:solidFill>
                  <a:srgbClr val="FF0000"/>
                </a:solidFill>
                <a:latin typeface="Calibri"/>
                <a:ea typeface="Calibri"/>
                <a:cs typeface="Calibri"/>
                <a:sym typeface="Calibri"/>
              </a:rPr>
              <a:t>Relational databases </a:t>
            </a:r>
            <a:r>
              <a:rPr b="0" i="0" lang="en-US" sz="2500" u="none">
                <a:solidFill>
                  <a:schemeClr val="dk1"/>
                </a:solidFill>
                <a:latin typeface="Calibri"/>
                <a:ea typeface="Calibri"/>
                <a:cs typeface="Calibri"/>
                <a:sym typeface="Calibri"/>
              </a:rPr>
              <a:t>support simple data types very effectively, whereas </a:t>
            </a:r>
            <a:r>
              <a:rPr b="0" i="0" lang="en-US" sz="2500" u="none">
                <a:solidFill>
                  <a:srgbClr val="FF0000"/>
                </a:solidFill>
                <a:latin typeface="Calibri"/>
                <a:ea typeface="Calibri"/>
                <a:cs typeface="Calibri"/>
                <a:sym typeface="Calibri"/>
              </a:rPr>
              <a:t>object databases </a:t>
            </a:r>
            <a:r>
              <a:rPr b="0" i="0" lang="en-US" sz="2500" u="none">
                <a:solidFill>
                  <a:schemeClr val="dk1"/>
                </a:solidFill>
                <a:latin typeface="Calibri"/>
                <a:ea typeface="Calibri"/>
                <a:cs typeface="Calibri"/>
                <a:sym typeface="Calibri"/>
              </a:rPr>
              <a:t>are best for complex data.</a:t>
            </a:r>
            <a:endParaRPr b="1" i="0" sz="2500" u="none">
              <a:solidFill>
                <a:schemeClr val="dk1"/>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Arial"/>
              <a:buNone/>
            </a:pPr>
            <a:r>
              <a:t/>
            </a:r>
            <a:endParaRPr b="1" i="0" sz="2500" u="none">
              <a:solidFill>
                <a:schemeClr val="dk1"/>
              </a:solidFill>
              <a:latin typeface="Calibri"/>
              <a:ea typeface="Calibri"/>
              <a:cs typeface="Calibri"/>
              <a:sym typeface="Calibri"/>
            </a:endParaRPr>
          </a:p>
        </p:txBody>
      </p:sp>
      <p:sp>
        <p:nvSpPr>
          <p:cNvPr id="358" name="Google Shape;358;p3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359" name="Google Shape;359;p3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365" name="Google Shape;365;p3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30200" lvl="0" marL="342900" marR="0" rtl="0" algn="l">
              <a:lnSpc>
                <a:spcPct val="100000"/>
              </a:lnSpc>
              <a:spcBef>
                <a:spcPts val="0"/>
              </a:spcBef>
              <a:spcAft>
                <a:spcPts val="0"/>
              </a:spcAft>
              <a:buClr>
                <a:srgbClr val="0070C0"/>
              </a:buClr>
              <a:buSzPts val="4600"/>
              <a:buFont typeface="Noto Sans Symbols"/>
              <a:buChar char="▪"/>
            </a:pPr>
            <a:r>
              <a:rPr b="1" i="0" lang="en-US" sz="3000" u="none">
                <a:solidFill>
                  <a:schemeClr val="dk1"/>
                </a:solidFill>
                <a:latin typeface="Calibri"/>
                <a:ea typeface="Calibri"/>
                <a:cs typeface="Calibri"/>
                <a:sym typeface="Calibri"/>
              </a:rPr>
              <a:t>Physical entity relationship diagrams</a:t>
            </a:r>
            <a:endParaRPr sz="3800"/>
          </a:p>
          <a:p>
            <a:pPr indent="-342900" lvl="0" marL="342900" marR="0" rtl="0" algn="l">
              <a:lnSpc>
                <a:spcPct val="100000"/>
              </a:lnSpc>
              <a:spcBef>
                <a:spcPts val="0"/>
              </a:spcBef>
              <a:spcAft>
                <a:spcPts val="0"/>
              </a:spcAft>
              <a:buClr>
                <a:schemeClr val="dk1"/>
              </a:buClr>
              <a:buSzPts val="3200"/>
              <a:buFont typeface="Arial"/>
              <a:buNone/>
            </a:pPr>
            <a:r>
              <a:rPr b="0" i="0" lang="en-US" sz="3000" u="none">
                <a:solidFill>
                  <a:schemeClr val="dk1"/>
                </a:solidFill>
                <a:latin typeface="Calibri"/>
                <a:ea typeface="Calibri"/>
                <a:cs typeface="Calibri"/>
                <a:sym typeface="Calibri"/>
              </a:rPr>
              <a:t>  - </a:t>
            </a:r>
            <a:r>
              <a:rPr b="0" i="0" lang="en-US" sz="3000" u="none">
                <a:solidFill>
                  <a:srgbClr val="FF0000"/>
                </a:solidFill>
                <a:latin typeface="Calibri"/>
                <a:ea typeface="Calibri"/>
                <a:cs typeface="Calibri"/>
                <a:sym typeface="Calibri"/>
              </a:rPr>
              <a:t>Physical ERDs </a:t>
            </a:r>
            <a:r>
              <a:rPr b="0" i="0" lang="en-US" sz="3000" u="none">
                <a:solidFill>
                  <a:schemeClr val="dk1"/>
                </a:solidFill>
                <a:latin typeface="Calibri"/>
                <a:ea typeface="Calibri"/>
                <a:cs typeface="Calibri"/>
                <a:sym typeface="Calibri"/>
              </a:rPr>
              <a:t>contain references to how data will be stored in a file or database table, and </a:t>
            </a:r>
            <a:r>
              <a:rPr b="0" i="0" lang="en-US" sz="3000" u="none">
                <a:solidFill>
                  <a:srgbClr val="FF0000"/>
                </a:solidFill>
                <a:latin typeface="Calibri"/>
                <a:ea typeface="Calibri"/>
                <a:cs typeface="Calibri"/>
                <a:sym typeface="Calibri"/>
              </a:rPr>
              <a:t>metadata</a:t>
            </a:r>
            <a:r>
              <a:rPr b="0" i="0" lang="en-US" sz="3000" u="none">
                <a:solidFill>
                  <a:schemeClr val="dk1"/>
                </a:solidFill>
                <a:latin typeface="Calibri"/>
                <a:ea typeface="Calibri"/>
                <a:cs typeface="Calibri"/>
                <a:sym typeface="Calibri"/>
              </a:rPr>
              <a:t> are included.</a:t>
            </a:r>
            <a:endParaRPr sz="3800"/>
          </a:p>
          <a:p>
            <a:pPr indent="-330200" lvl="0" marL="342900" marR="0" rtl="0" algn="l">
              <a:lnSpc>
                <a:spcPct val="100000"/>
              </a:lnSpc>
              <a:spcBef>
                <a:spcPts val="0"/>
              </a:spcBef>
              <a:spcAft>
                <a:spcPts val="0"/>
              </a:spcAft>
              <a:buClr>
                <a:srgbClr val="0070C0"/>
              </a:buClr>
              <a:buSzPts val="4600"/>
              <a:buFont typeface="Noto Sans Symbols"/>
              <a:buChar char="▪"/>
            </a:pPr>
            <a:r>
              <a:rPr b="1" i="0" lang="en-US" sz="3000" u="none">
                <a:solidFill>
                  <a:schemeClr val="dk1"/>
                </a:solidFill>
                <a:latin typeface="Calibri"/>
                <a:ea typeface="Calibri"/>
                <a:cs typeface="Calibri"/>
                <a:sym typeface="Calibri"/>
              </a:rPr>
              <a:t>Optimizing data storage</a:t>
            </a:r>
            <a:endParaRPr sz="3800"/>
          </a:p>
          <a:p>
            <a:pPr indent="-342900" lvl="0" marL="342900" marR="0" rtl="0" algn="l">
              <a:lnSpc>
                <a:spcPct val="100000"/>
              </a:lnSpc>
              <a:spcBef>
                <a:spcPts val="0"/>
              </a:spcBef>
              <a:spcAft>
                <a:spcPts val="0"/>
              </a:spcAft>
              <a:buClr>
                <a:schemeClr val="dk1"/>
              </a:buClr>
              <a:buSzPts val="3200"/>
              <a:buFont typeface="Arial"/>
              <a:buNone/>
            </a:pPr>
            <a:r>
              <a:rPr b="0" i="0" lang="en-US" sz="3000" u="none">
                <a:solidFill>
                  <a:schemeClr val="dk1"/>
                </a:solidFill>
                <a:latin typeface="Calibri"/>
                <a:ea typeface="Calibri"/>
                <a:cs typeface="Calibri"/>
                <a:sym typeface="Calibri"/>
              </a:rPr>
              <a:t>  - There are two primary dimensions in which to </a:t>
            </a:r>
            <a:r>
              <a:rPr b="0" i="0" lang="en-US" sz="3000" u="none">
                <a:solidFill>
                  <a:srgbClr val="FF0000"/>
                </a:solidFill>
                <a:latin typeface="Calibri"/>
                <a:ea typeface="Calibri"/>
                <a:cs typeface="Calibri"/>
                <a:sym typeface="Calibri"/>
              </a:rPr>
              <a:t>optimize</a:t>
            </a:r>
            <a:r>
              <a:rPr b="0" i="0" lang="en-US" sz="3000" u="none">
                <a:solidFill>
                  <a:schemeClr val="dk1"/>
                </a:solidFill>
                <a:latin typeface="Calibri"/>
                <a:ea typeface="Calibri"/>
                <a:cs typeface="Calibri"/>
                <a:sym typeface="Calibri"/>
              </a:rPr>
              <a:t> a relational database: for </a:t>
            </a:r>
            <a:r>
              <a:rPr b="0" i="0" lang="en-US" sz="3000" u="none">
                <a:solidFill>
                  <a:srgbClr val="FF0000"/>
                </a:solidFill>
                <a:latin typeface="Calibri"/>
                <a:ea typeface="Calibri"/>
                <a:cs typeface="Calibri"/>
                <a:sym typeface="Calibri"/>
              </a:rPr>
              <a:t>storage efficiency</a:t>
            </a:r>
            <a:r>
              <a:rPr b="0" i="0" lang="en-US" sz="3000" u="none">
                <a:solidFill>
                  <a:schemeClr val="dk1"/>
                </a:solidFill>
                <a:latin typeface="Calibri"/>
                <a:ea typeface="Calibri"/>
                <a:cs typeface="Calibri"/>
                <a:sym typeface="Calibri"/>
              </a:rPr>
              <a:t> and </a:t>
            </a:r>
            <a:r>
              <a:rPr b="0" i="0" lang="en-US" sz="3000" u="none">
                <a:solidFill>
                  <a:srgbClr val="FF0000"/>
                </a:solidFill>
                <a:latin typeface="Calibri"/>
                <a:ea typeface="Calibri"/>
                <a:cs typeface="Calibri"/>
                <a:sym typeface="Calibri"/>
              </a:rPr>
              <a:t>for speed of access</a:t>
            </a:r>
            <a:r>
              <a:rPr b="0" i="0" lang="en-US" sz="3000" u="none">
                <a:solidFill>
                  <a:schemeClr val="dk1"/>
                </a:solidFill>
                <a:latin typeface="Calibri"/>
                <a:ea typeface="Calibri"/>
                <a:cs typeface="Calibri"/>
                <a:sym typeface="Calibri"/>
              </a:rPr>
              <a:t>.</a:t>
            </a:r>
            <a:endParaRPr sz="3800"/>
          </a:p>
          <a:p>
            <a:pPr indent="-342900" lvl="0" marL="342900" marR="0" rtl="0" algn="l">
              <a:lnSpc>
                <a:spcPct val="100000"/>
              </a:lnSpc>
              <a:spcBef>
                <a:spcPts val="0"/>
              </a:spcBef>
              <a:spcAft>
                <a:spcPts val="0"/>
              </a:spcAft>
              <a:buClr>
                <a:schemeClr val="dk1"/>
              </a:buClr>
              <a:buSzPts val="3200"/>
              <a:buFont typeface="Arial"/>
              <a:buNone/>
            </a:pPr>
            <a:r>
              <a:rPr b="0" i="0" lang="en-US" sz="3000" u="none">
                <a:solidFill>
                  <a:schemeClr val="dk1"/>
                </a:solidFill>
                <a:latin typeface="Calibri"/>
                <a:ea typeface="Calibri"/>
                <a:cs typeface="Calibri"/>
                <a:sym typeface="Calibri"/>
              </a:rPr>
              <a:t>  -  There are a number of techniques of optimizing data storage.</a:t>
            </a:r>
            <a:endParaRPr sz="3800"/>
          </a:p>
          <a:p>
            <a:pPr indent="-139700" lvl="0" marL="342900" marR="0" rtl="0" algn="l">
              <a:spcBef>
                <a:spcPts val="640"/>
              </a:spcBef>
              <a:spcAft>
                <a:spcPts val="0"/>
              </a:spcAft>
              <a:buClr>
                <a:schemeClr val="dk1"/>
              </a:buClr>
              <a:buSzPts val="3200"/>
              <a:buFont typeface="Arial"/>
              <a:buNone/>
            </a:pPr>
            <a:r>
              <a:t/>
            </a:r>
            <a:endParaRPr b="0" i="0" sz="3000" u="none">
              <a:solidFill>
                <a:schemeClr val="dk1"/>
              </a:solidFill>
              <a:latin typeface="Calibri"/>
              <a:ea typeface="Calibri"/>
              <a:cs typeface="Calibri"/>
              <a:sym typeface="Calibri"/>
            </a:endParaRPr>
          </a:p>
        </p:txBody>
      </p:sp>
      <p:sp>
        <p:nvSpPr>
          <p:cNvPr id="366" name="Google Shape;366;p3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367" name="Google Shape;367;p3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2011-06-16T14:45:20Z</dcterms:created>
  <dc:creator>Windows User</dc:creator>
</cp:coreProperties>
</file>